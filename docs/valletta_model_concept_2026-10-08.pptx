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5"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7757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7428673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domain follows from this table. The CMEMS boundary product is not expected to carry energy in the band. The harbour rows come from a one-dimensional eigenvalue calculation on the measured profile and are tested against the Senglea record on the following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comes from the long-wave eigenproblem of a channel of varying section, g d/dx(a dη/dx) + ω² b η = 0, solved on the cross-section a(x) and the surface width b(x) measured along the geodesic distance from the mouth, with the mouth correction of Rabinovich (2009, eq. 9.16). It is one-dimensional and first-order. 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Upward radar echoes from vessels, rain and spray are removed by the lower envelope of the 5 s samples, and episodes of reference offset of 1.3 to 2.1 m are removed before the spectrum is computed. The choice of windows is to be confirmed within the group. The displaced level is compatible with the radar ranging to a vessel or pontoon beneath it, which is a conjecture.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accompanying questions depend on the principal one and are ordered by that dependence. The renewal question has independent standing under the Water Framework Directive and exercises the three-dimensional and Lagrangian components of the framework. The question on the mouth is retained only if the group considers it appropriate, given the public project on the Grand Harbour entrance. On the measured profile its effect on the mode is of the same order as a metre of sea level rise, 3.1 per cent, while the Helmholtz scaling would overstate it by a factor of three to ten, and the effect on exchange is expected to be the larger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two-dimensional because the long wave is barotropic, its wavelength being hundreds of times the depth, so a depth-averaged model carries it and the vertical structure adds cost without adding to the answer. Three dimensions are reserved for the hindcast and for renewal, where stratification and vertical shear matter. The number of speeds, directions and widths is a proposal sized for cost, 96 scenarios of half a simulated day, and is open to revision. A repetition over a modified mouth would double it. The validation hindcast draws on the BLUE buoy, the HF radar and the tide gauges, and Storm Harry of January 2026 is a candidate case.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and the non-zero incoming signal from CMEMS.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27384948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would be resonant with disturbances travelling at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3246120"/>
          </a:xfrm>
          <a:prstGeom prst="roundRect">
            <a:avLst>
              <a:gd name="adj" fmla="val 1840"/>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Reading for the domain</a:t>
            </a:r>
            <a:endParaRPr lang="en-US" sz="1400" dirty="0"/>
          </a:p>
        </p:txBody>
      </p:sp>
      <p:sp>
        <p:nvSpPr>
          <p:cNvPr id="8" name="Text 5"/>
          <p:cNvSpPr txBox="1"/>
          <p:nvPr/>
        </p:nvSpPr>
        <p:spPr>
          <a:xfrm>
            <a:off x="8915400" y="2880360"/>
            <a:ext cx="2468880" cy="2560320"/>
          </a:xfrm>
          <a:prstGeom prst="rect">
            <a:avLst/>
          </a:prstGeom>
          <a:noFill/>
          <a:ln/>
        </p:spPr>
        <p:txBody>
          <a:bodyPr wrap="square" lIns="0" tIns="0" rIns="0" bIns="0" rtlCol="0" anchor="t"/>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would then hold no resonator in the band.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A domain extending over the plateau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test of the harbour estimate of the preceding slide, on which the choice of domain rests, against the spectrum of the Senglea radar gauge inside the basin (JRC TAD device 555, 5 s sampling, nine months admitted).</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1887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10896">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Observed period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Frequency</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Peak ∕ background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Relation to the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23.0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2.61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23.8</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longer than estimated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16.8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3.57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within 14.5 to 18.4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10.0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5.98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6.9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8.67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near the inlet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6"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557016">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5" name="Text 5"/>
          <p:cNvSpPr txBox="1"/>
          <p:nvPr/>
        </p:nvSpPr>
        <p:spPr>
          <a:xfrm>
            <a:off x="841248"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on monthly coverage and stability of the level. From April 2023 the level appears displaced by some 2 m and the gauge transmits by day only.</a:t>
            </a:r>
            <a:endParaRPr lang="en-US" sz="1150" dirty="0"/>
          </a:p>
        </p:txBody>
      </p:sp>
      <p:sp>
        <p:nvSpPr>
          <p:cNvPr id="9"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and Portomaso returns no data from the IOC facility on those dates.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At the estimated fundamental period of the Grand Harbour, some 17 minutes, a long wave in 16 m of water is 12.8 km long (λ = T√(gh)), far longer than any cell.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914400"/>
        </p:xfrm>
        <a:graphic>
          <a:graphicData uri="http://schemas.openxmlformats.org/drawingml/2006/table">
            <a:tbl>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7"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that period of some 17 minutes about 280 times. The 10 m of the source data is the floor, and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 foreseen</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layers are considered defensible because the domain stops short of the escarpment, the plateau gradient being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marL="0" indent="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03520"/>
            <a:ext cx="11055096" cy="1097280"/>
          </a:xfrm>
          <a:prstGeom prst="roundRect">
            <a:avLst>
              <a:gd name="adj" fmla="val 5000"/>
            </a:avLst>
          </a:prstGeom>
          <a:solidFill>
            <a:srgbClr val="EEF3F6"/>
          </a:solidFill>
          <a:ln/>
        </p:spPr>
      </p:sp>
      <p:sp>
        <p:nvSpPr>
          <p:cNvPr id="13" name="Text 10"/>
          <p:cNvSpPr txBox="1"/>
          <p:nvPr/>
        </p:nvSpPr>
        <p:spPr>
          <a:xfrm>
            <a:off x="886968" y="5394960"/>
            <a:ext cx="10424160" cy="914400"/>
          </a:xfrm>
          <a:prstGeom prst="rect">
            <a:avLst/>
          </a:prstGeom>
          <a:noFill/>
          <a:ln/>
        </p:spPr>
        <p:txBody>
          <a:bodyPr wrap="square" lIns="0" tIns="0" rIns="0" bIns="0" rtlCol="0" anchor="ctr"/>
          <a:lstStyle/>
          <a:p>
            <a:pPr marL="0" indent="0">
              <a:lnSpc>
                <a:spcPts val="1550"/>
              </a:lnSpc>
              <a:buNone/>
            </a:pPr>
            <a:r>
              <a:rPr lang="en-US" sz="1150" b="1" dirty="0">
                <a:solidFill>
                  <a:srgbClr val="1A1A1A"/>
                </a:solidFill>
                <a:latin typeface="Calibri" pitchFamily="34" charset="0"/>
                <a:ea typeface="Calibri" pitchFamily="34" charset="-122"/>
                <a:cs typeface="Calibri" pitchFamily="34" charset="-120"/>
              </a:rPr>
              <a:t>Indicative cost of the campaign. </a:t>
            </a:r>
            <a:r>
              <a:rPr lang="en-US" sz="1150" dirty="0">
                <a:solidFill>
                  <a:srgbClr val="1A1A1A"/>
                </a:solidFill>
                <a:latin typeface="Calibri" pitchFamily="34" charset="0"/>
                <a:ea typeface="Calibri" pitchFamily="34" charset="-122"/>
                <a:cs typeface="Calibri" pitchFamily="34" charset="-120"/>
              </a:rPr>
              <a:t>The sweep of the long wave in two dimensions is estimated at some 8 h of serial computation. The three-dimensional runs are assumed at 160 simulated days, namely 60 days of renewal for each of two mouth geometries, a length comparable to the renewal times of 32 to 61 days reported for Barcelona and Tarragona (Samper et al., 2022), and some 40 days of validation. They would take of the order of 45 h on 8 MPI processes, uncertain by a factor of two.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idealised test, with a Gaussian hump of water level released on a flat bed at 150 m with 1500 m cells and each case compared against a reference domain without a boundary.</a:t>
            </a:r>
            <a:endParaRPr lang="en-US" sz="1400" dirty="0"/>
          </a:p>
        </p:txBody>
      </p:sp>
      <p:pic>
        <p:nvPicPr>
          <p:cNvPr id="5" name="Image 0" descr="C:\Users\Unipa\Documents\MaltaDT\figures\riemann_pulse_test.png"/>
          <p:cNvPicPr>
            <a:picLocks noChangeAspect="1"/>
          </p:cNvPicPr>
          <p:nvPr/>
        </p:nvPicPr>
        <p:blipFill>
          <a:blip r:embed="rId3"/>
          <a:stretch>
            <a:fillRect/>
          </a:stretch>
        </p:blipFill>
        <p:spPr>
          <a:xfrm>
            <a:off x="566928" y="2103120"/>
            <a:ext cx="5623560" cy="3931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914400"/>
        </p:xfrm>
        <a:graphic>
          <a:graphicData uri="http://schemas.openxmlformats.org/drawingml/2006/table">
            <a:tbl>
              <a:tblPr/>
              <a:tblGrid>
                <a:gridCol w="2432304">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sp>
      <p:sp>
        <p:nvSpPr>
          <p:cNvPr id="8" name="Text 4"/>
          <p:cNvSpPr txBox="1"/>
          <p:nvPr/>
        </p:nvSpPr>
        <p:spPr>
          <a:xfrm>
            <a:off x="6720840" y="3785616"/>
            <a:ext cx="46268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Working configuration</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sp>
      <p:sp>
        <p:nvSpPr>
          <p:cNvPr id="11" name="Text 7"/>
          <p:cNvSpPr txBox="1"/>
          <p:nvPr/>
        </p:nvSpPr>
        <p:spPr>
          <a:xfrm>
            <a:off x="6720840" y="5193792"/>
            <a:ext cx="46268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6" name="Text 8"/>
          <p:cNvSpPr txBox="1"/>
          <p:nvPr/>
        </p:nvSpPr>
        <p:spPr>
          <a:xfrm>
            <a:off x="6720840" y="5522976"/>
            <a:ext cx="4626864" cy="40233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Existing work and the scope of the present study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Principal question and three accompanying questions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03120"/>
            <a:ext cx="11055096" cy="1234440"/>
          </a:xfrm>
          <a:prstGeom prst="roundRect">
            <a:avLst>
              <a:gd name="adj" fmla="val 4444"/>
            </a:avLst>
          </a:prstGeom>
          <a:solidFill>
            <a:srgbClr val="21295C"/>
          </a:solidFill>
          <a:ln/>
        </p:spPr>
      </p:sp>
      <p:sp>
        <p:nvSpPr>
          <p:cNvPr id="6" name="Text 4"/>
          <p:cNvSpPr txBox="1"/>
          <p:nvPr/>
        </p:nvSpPr>
        <p:spPr>
          <a:xfrm>
            <a:off x="886968" y="2212848"/>
            <a:ext cx="73152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Principal, attribution of amplification</a:t>
            </a:r>
            <a:endParaRPr lang="en-US" sz="1350" dirty="0"/>
          </a:p>
        </p:txBody>
      </p:sp>
      <p:sp>
        <p:nvSpPr>
          <p:cNvPr id="7" name="Text 5"/>
          <p:cNvSpPr txBox="1"/>
          <p:nvPr/>
        </p:nvSpPr>
        <p:spPr>
          <a:xfrm>
            <a:off x="886968" y="2523744"/>
            <a:ext cx="10424160" cy="73152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8" name="Shape 6"/>
          <p:cNvSpPr/>
          <p:nvPr/>
        </p:nvSpPr>
        <p:spPr>
          <a:xfrm>
            <a:off x="566928" y="3566160"/>
            <a:ext cx="3520440" cy="2331720"/>
          </a:xfrm>
          <a:prstGeom prst="roundRect">
            <a:avLst>
              <a:gd name="adj" fmla="val 2353"/>
            </a:avLst>
          </a:prstGeom>
          <a:solidFill>
            <a:srgbClr val="EEF3F6"/>
          </a:solidFill>
          <a:ln/>
        </p:spPr>
      </p:sp>
      <p:sp>
        <p:nvSpPr>
          <p:cNvPr id="9" name="Text 7"/>
          <p:cNvSpPr txBox="1"/>
          <p:nvPr/>
        </p:nvSpPr>
        <p:spPr>
          <a:xfrm>
            <a:off x="822960"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Applied</a:t>
            </a:r>
            <a:endParaRPr lang="en-US" sz="1350" dirty="0"/>
          </a:p>
        </p:txBody>
      </p:sp>
      <p:sp>
        <p:nvSpPr>
          <p:cNvPr id="10" name="Text 8"/>
          <p:cNvSpPr txBox="1"/>
          <p:nvPr/>
        </p:nvSpPr>
        <p:spPr>
          <a:xfrm>
            <a:off x="822960"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Which parts of the harbour system amplify most, and which geometric features control that?</a:t>
            </a:r>
            <a:endParaRPr lang="en-US" sz="1200" dirty="0"/>
          </a:p>
        </p:txBody>
      </p:sp>
      <p:sp>
        <p:nvSpPr>
          <p:cNvPr id="11" name="Text 9"/>
          <p:cNvSpPr txBox="1"/>
          <p:nvPr/>
        </p:nvSpPr>
        <p:spPr>
          <a:xfrm>
            <a:off x="822960"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a map of exposure by inlet and by quay.</a:t>
            </a:r>
            <a:endParaRPr lang="en-US" sz="1100" dirty="0"/>
          </a:p>
        </p:txBody>
      </p:sp>
      <p:sp>
        <p:nvSpPr>
          <p:cNvPr id="12" name="Shape 10"/>
          <p:cNvSpPr/>
          <p:nvPr/>
        </p:nvSpPr>
        <p:spPr>
          <a:xfrm>
            <a:off x="4334256" y="3566160"/>
            <a:ext cx="3520440" cy="2331720"/>
          </a:xfrm>
          <a:prstGeom prst="roundRect">
            <a:avLst>
              <a:gd name="adj" fmla="val 2353"/>
            </a:avLst>
          </a:prstGeom>
          <a:solidFill>
            <a:srgbClr val="EEF3F6"/>
          </a:solidFill>
          <a:ln/>
        </p:spPr>
      </p:sp>
      <p:sp>
        <p:nvSpPr>
          <p:cNvPr id="13" name="Text 11"/>
          <p:cNvSpPr txBox="1"/>
          <p:nvPr/>
        </p:nvSpPr>
        <p:spPr>
          <a:xfrm>
            <a:off x="4590288"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Renewal of harbour water</a:t>
            </a:r>
            <a:endParaRPr lang="en-US" sz="1350" dirty="0"/>
          </a:p>
        </p:txBody>
      </p:sp>
      <p:sp>
        <p:nvSpPr>
          <p:cNvPr id="14" name="Text 12"/>
          <p:cNvSpPr txBox="1"/>
          <p:nvPr/>
        </p:nvSpPr>
        <p:spPr>
          <a:xfrm>
            <a:off x="4590288"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What renews the water of a microtidal harbour, and how much of the exchange driven by long waves is renewal rather than reversible oscillation?</a:t>
            </a:r>
            <a:endParaRPr lang="en-US" sz="1200" dirty="0"/>
          </a:p>
        </p:txBody>
      </p:sp>
      <p:sp>
        <p:nvSpPr>
          <p:cNvPr id="15" name="Text 13"/>
          <p:cNvSpPr txBox="1"/>
          <p:nvPr/>
        </p:nvSpPr>
        <p:spPr>
          <a:xfrm>
            <a:off x="4590288"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residence times from three-dimensional and Lagrangian runs.</a:t>
            </a:r>
            <a:endParaRPr lang="en-US" sz="1100" dirty="0"/>
          </a:p>
        </p:txBody>
      </p:sp>
      <p:sp>
        <p:nvSpPr>
          <p:cNvPr id="16" name="Shape 14"/>
          <p:cNvSpPr/>
          <p:nvPr/>
        </p:nvSpPr>
        <p:spPr>
          <a:xfrm>
            <a:off x="8101584" y="3566160"/>
            <a:ext cx="3520440" cy="2331720"/>
          </a:xfrm>
          <a:prstGeom prst="roundRect">
            <a:avLst>
              <a:gd name="adj" fmla="val 2353"/>
            </a:avLst>
          </a:prstGeom>
          <a:solidFill>
            <a:srgbClr val="EEF3F6"/>
          </a:solidFill>
          <a:ln/>
        </p:spPr>
      </p:sp>
      <p:sp>
        <p:nvSpPr>
          <p:cNvPr id="17" name="Text 15"/>
          <p:cNvSpPr txBox="1"/>
          <p:nvPr/>
        </p:nvSpPr>
        <p:spPr>
          <a:xfrm>
            <a:off x="8357616"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Geometry of the mouth</a:t>
            </a:r>
            <a:endParaRPr lang="en-US" sz="1350" dirty="0"/>
          </a:p>
        </p:txBody>
      </p:sp>
      <p:sp>
        <p:nvSpPr>
          <p:cNvPr id="18" name="Text 16"/>
          <p:cNvSpPr txBox="1"/>
          <p:nvPr/>
        </p:nvSpPr>
        <p:spPr>
          <a:xfrm>
            <a:off x="8357616"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How sensitive are the long-wave response and the renewal to the geometry of the mouth?</a:t>
            </a:r>
            <a:endParaRPr lang="en-US" sz="1200" dirty="0"/>
          </a:p>
        </p:txBody>
      </p:sp>
      <p:sp>
        <p:nvSpPr>
          <p:cNvPr id="19" name="Text 17"/>
          <p:cNvSpPr txBox="1"/>
          <p:nvPr/>
        </p:nvSpPr>
        <p:spPr>
          <a:xfrm>
            <a:off x="8357616"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sensitivity on the class of basin, representing no particular design. A first estimate gives a lengthening of the mode by 1.5 to 4 per cent for a restriction of a quarter.</a:t>
            </a:r>
            <a:endParaRPr lang="en-US" sz="110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principal question requires a model, since no arrangement of gauges separates the three stages, and it addresses the generation of the wave, which the published work appears to leave open.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Sweep for the long wave, hindcast for validation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idealised disturbances, while circulation, sea level and waves are validated by a conventional hindcast.</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576072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Proposed sweep</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Forcing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moving pressure disturbance of fixed amplitude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Speed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6 values bracketing 94 to 155 km h⁻¹</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Direction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8, at intervals of 45°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Width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Scenarios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96, of 12 simulated hours 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Configuration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two-dimensional, barotropic, without wave coupling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6"/>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Output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sea level at one minute at the inlets and the gauges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Indicative cost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some 8 h of serial computation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8"/>
                  </a:ext>
                </a:extLst>
              </a:tr>
            </a:tbl>
          </a:graphicData>
        </a:graphic>
      </p:graphicFrame>
      <p:sp>
        <p:nvSpPr>
          <p:cNvPr id="6" name="Shape 3"/>
          <p:cNvSpPr/>
          <p:nvPr/>
        </p:nvSpPr>
        <p:spPr>
          <a:xfrm>
            <a:off x="6583680" y="2194560"/>
            <a:ext cx="5038344" cy="1481328"/>
          </a:xfrm>
          <a:prstGeom prst="roundRect">
            <a:avLst>
              <a:gd name="adj" fmla="val 3704"/>
            </a:avLst>
          </a:prstGeom>
          <a:solidFill>
            <a:srgbClr val="EEF3F6"/>
          </a:solidFill>
          <a:ln/>
        </p:spPr>
      </p:sp>
      <p:sp>
        <p:nvSpPr>
          <p:cNvPr id="7" name="Text 4"/>
          <p:cNvSpPr txBox="1"/>
          <p:nvPr/>
        </p:nvSpPr>
        <p:spPr>
          <a:xfrm>
            <a:off x="6858000" y="2359152"/>
            <a:ext cx="448970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Requirements of the sweep</a:t>
            </a:r>
            <a:endParaRPr lang="en-US" sz="1350" dirty="0"/>
          </a:p>
        </p:txBody>
      </p:sp>
      <p:sp>
        <p:nvSpPr>
          <p:cNvPr id="8" name="Text 5"/>
          <p:cNvSpPr txBox="1"/>
          <p:nvPr/>
        </p:nvSpPr>
        <p:spPr>
          <a:xfrm>
            <a:off x="6858000" y="2688336"/>
            <a:ext cx="4489704"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pressure field varying in space and time imposed in D-Flow FM, the weakly reflective boundary of the preceding slide, and a response close to linear in the amplitude of the disturbance, which is to be verified.</a:t>
            </a:r>
            <a:endParaRPr lang="en-US" sz="1150" dirty="0"/>
          </a:p>
        </p:txBody>
      </p:sp>
      <p:sp>
        <p:nvSpPr>
          <p:cNvPr id="9" name="Shape 6"/>
          <p:cNvSpPr/>
          <p:nvPr/>
        </p:nvSpPr>
        <p:spPr>
          <a:xfrm>
            <a:off x="6583680" y="3822192"/>
            <a:ext cx="5038344" cy="1810512"/>
          </a:xfrm>
          <a:prstGeom prst="roundRect">
            <a:avLst>
              <a:gd name="adj" fmla="val 3030"/>
            </a:avLst>
          </a:prstGeom>
          <a:solidFill>
            <a:srgbClr val="21295C"/>
          </a:solidFill>
          <a:ln/>
        </p:spPr>
      </p:sp>
      <p:sp>
        <p:nvSpPr>
          <p:cNvPr id="10" name="Text 7"/>
          <p:cNvSpPr txBox="1"/>
          <p:nvPr/>
        </p:nvSpPr>
        <p:spPr>
          <a:xfrm>
            <a:off x="6858000" y="3986784"/>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Hindcast and test against events</a:t>
            </a:r>
            <a:endParaRPr lang="en-US" sz="1350" dirty="0"/>
          </a:p>
        </p:txBody>
      </p:sp>
      <p:sp>
        <p:nvSpPr>
          <p:cNvPr id="11" name="Text 8"/>
          <p:cNvSpPr txBox="1"/>
          <p:nvPr/>
        </p:nvSpPr>
        <p:spPr>
          <a:xfrm>
            <a:off x="6858000" y="4315968"/>
            <a:ext cx="4489704" cy="1207008"/>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hindcast of some 40 days in three dimensions, forced by CMEMS and ERA5 with wave coupling, would validate sea level, currents and waves. The dated milgħuba events would then be located on the response surface through their one-minute pressure records, to examine whether they occur under the conditions identified as resonant.</a:t>
            </a:r>
            <a:endParaRPr lang="en-US" sz="1150" dirty="0"/>
          </a:p>
        </p:txBody>
      </p:sp>
      <p:sp>
        <p:nvSpPr>
          <p:cNvPr id="12" name="Text 9"/>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running climate scenarios through the model.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 The public records resolve none of the three.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5BA79DE4-0C66-A2CB-2B47-9F3E0C26F179}"/>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057400"/>
            <a:ext cx="155448" cy="155448"/>
          </a:xfrm>
          <a:prstGeom prst="ellipse">
            <a:avLst/>
          </a:prstGeom>
          <a:solidFill>
            <a:srgbClr val="CADCFC"/>
          </a:solidFill>
          <a:ln/>
        </p:spPr>
      </p:sp>
      <p:sp>
        <p:nvSpPr>
          <p:cNvPr id="7" name="Text 5"/>
          <p:cNvSpPr txBox="1"/>
          <p:nvPr/>
        </p:nvSpPr>
        <p:spPr>
          <a:xfrm>
            <a:off x="978408" y="196596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196596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2898648"/>
            <a:ext cx="155448" cy="155448"/>
          </a:xfrm>
          <a:prstGeom prst="ellipse">
            <a:avLst/>
          </a:prstGeom>
          <a:solidFill>
            <a:srgbClr val="CADCFC"/>
          </a:solidFill>
          <a:ln/>
        </p:spPr>
      </p:sp>
      <p:sp>
        <p:nvSpPr>
          <p:cNvPr id="10" name="Text 8"/>
          <p:cNvSpPr txBox="1"/>
          <p:nvPr/>
        </p:nvSpPr>
        <p:spPr>
          <a:xfrm>
            <a:off x="978408" y="280720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80720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Bathymetry at the heads of Msida and Pietà Creeks, remaining boundary tests, impulse response of the mesh, first three-dimensional runs.</a:t>
            </a:r>
            <a:endParaRPr lang="en-US" sz="1200" dirty="0"/>
          </a:p>
        </p:txBody>
      </p:sp>
      <p:sp>
        <p:nvSpPr>
          <p:cNvPr id="12" name="Shape 10"/>
          <p:cNvSpPr/>
          <p:nvPr/>
        </p:nvSpPr>
        <p:spPr>
          <a:xfrm>
            <a:off x="612648" y="3739896"/>
            <a:ext cx="155448" cy="155448"/>
          </a:xfrm>
          <a:prstGeom prst="ellipse">
            <a:avLst/>
          </a:prstGeom>
          <a:solidFill>
            <a:srgbClr val="EB6834"/>
          </a:solidFill>
          <a:ln/>
        </p:spPr>
      </p:sp>
      <p:sp>
        <p:nvSpPr>
          <p:cNvPr id="13" name="Text 11"/>
          <p:cNvSpPr txBox="1"/>
          <p:nvPr/>
        </p:nvSpPr>
        <p:spPr>
          <a:xfrm>
            <a:off x="978408" y="3648456"/>
            <a:ext cx="2011680" cy="301752"/>
          </a:xfrm>
          <a:prstGeom prst="rect">
            <a:avLst/>
          </a:prstGeom>
          <a:noFill/>
          <a:ln/>
        </p:spPr>
        <p:txBody>
          <a:bodyPr wrap="square" lIns="0" tIns="0" rIns="0" bIns="0" rtlCol="0" anchor="t"/>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4" name="Text 12"/>
          <p:cNvSpPr txBox="1"/>
          <p:nvPr/>
        </p:nvSpPr>
        <p:spPr>
          <a:xfrm>
            <a:off x="3035808" y="364845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abstract.</a:t>
            </a:r>
            <a:endParaRPr lang="en-US" sz="1200" dirty="0"/>
          </a:p>
        </p:txBody>
      </p:sp>
      <p:sp>
        <p:nvSpPr>
          <p:cNvPr id="15" name="Shape 13"/>
          <p:cNvSpPr/>
          <p:nvPr/>
        </p:nvSpPr>
        <p:spPr>
          <a:xfrm>
            <a:off x="612648" y="4581144"/>
            <a:ext cx="155448" cy="155448"/>
          </a:xfrm>
          <a:prstGeom prst="ellipse">
            <a:avLst/>
          </a:prstGeom>
          <a:solidFill>
            <a:srgbClr val="CADCFC"/>
          </a:solidFill>
          <a:ln/>
        </p:spPr>
      </p:sp>
      <p:sp>
        <p:nvSpPr>
          <p:cNvPr id="16" name="Text 14"/>
          <p:cNvSpPr txBox="1"/>
          <p:nvPr/>
        </p:nvSpPr>
        <p:spPr>
          <a:xfrm>
            <a:off x="978408" y="448970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7" name="Text 15"/>
          <p:cNvSpPr txBox="1"/>
          <p:nvPr/>
        </p:nvSpPr>
        <p:spPr>
          <a:xfrm>
            <a:off x="3035808" y="448970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8" name="Shape 16"/>
          <p:cNvSpPr/>
          <p:nvPr/>
        </p:nvSpPr>
        <p:spPr>
          <a:xfrm>
            <a:off x="612648" y="5422392"/>
            <a:ext cx="155448" cy="155448"/>
          </a:xfrm>
          <a:prstGeom prst="ellipse">
            <a:avLst/>
          </a:prstGeom>
          <a:solidFill>
            <a:srgbClr val="CADCFC"/>
          </a:solidFill>
          <a:ln/>
        </p:spPr>
      </p:sp>
      <p:sp>
        <p:nvSpPr>
          <p:cNvPr id="19" name="Text 17"/>
          <p:cNvSpPr txBox="1"/>
          <p:nvPr/>
        </p:nvSpPr>
        <p:spPr>
          <a:xfrm>
            <a:off x="978408" y="5330952"/>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20" name="Text 18"/>
          <p:cNvSpPr txBox="1"/>
          <p:nvPr/>
        </p:nvSpPr>
        <p:spPr>
          <a:xfrm>
            <a:off x="3035808" y="5330952"/>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Sweep of the long wave, barotropic and therefore two-dimensional, and the validation hindcast.</a:t>
            </a:r>
            <a:endParaRPr lang="en-US" sz="1200" dirty="0"/>
          </a:p>
        </p:txBody>
      </p:sp>
      <p:sp>
        <p:nvSpPr>
          <p:cNvPr id="21" name="Shape 19"/>
          <p:cNvSpPr/>
          <p:nvPr/>
        </p:nvSpPr>
        <p:spPr>
          <a:xfrm>
            <a:off x="6858000" y="1965960"/>
            <a:ext cx="4764024" cy="3108960"/>
          </a:xfrm>
          <a:prstGeom prst="roundRect">
            <a:avLst>
              <a:gd name="adj" fmla="val 1765"/>
            </a:avLst>
          </a:prstGeom>
          <a:solidFill>
            <a:srgbClr val="065A82">
              <a:alpha val="70000"/>
            </a:srgbClr>
          </a:solidFill>
          <a:ln/>
        </p:spPr>
      </p:sp>
      <p:sp>
        <p:nvSpPr>
          <p:cNvPr id="22" name="Text 20"/>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3" name="Text 21"/>
          <p:cNvSpPr txBox="1"/>
          <p:nvPr/>
        </p:nvSpPr>
        <p:spPr>
          <a:xfrm>
            <a:off x="7132320" y="2542032"/>
            <a:ext cx="4206240" cy="2286000"/>
          </a:xfrm>
          <a:prstGeom prst="rect">
            <a:avLst/>
          </a:prstGeom>
          <a:noFill/>
          <a:ln/>
        </p:spPr>
        <p:txBody>
          <a:bodyPr wrap="square" lIns="0" tIns="0" rIns="0" bIns="0" rtlCol="0" anchor="ctr"/>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so that the deliverable would be a running pilot.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This would correspond to the relocatable setup requested in the design report of the group.</a:t>
            </a:r>
            <a:endParaRPr lang="en-US" sz="1150" dirty="0"/>
          </a:p>
        </p:txBody>
      </p:sp>
      <p:sp>
        <p:nvSpPr>
          <p:cNvPr id="24" name="Text 22"/>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4234</Words>
  <Application>Microsoft Office PowerPoint</Application>
  <PresentationFormat>Widescreen</PresentationFormat>
  <Paragraphs>337</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JUNIOR</cp:lastModifiedBy>
  <cp:revision>2</cp:revision>
  <dcterms:created xsi:type="dcterms:W3CDTF">2026-10-08T10:52:52Z</dcterms:created>
  <dcterms:modified xsi:type="dcterms:W3CDTF">2026-10-08T10:53:41Z</dcterms:modified>
</cp:coreProperties>
</file>