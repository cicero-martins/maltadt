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75"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6880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7106003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contribution is framework reusability, and Valletta constitutes the harder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grids are the contribution of the group to EMODnet. The public product gives the inlets one to three cells.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domain follows from this table. The CMEMS boundary product is not expected to carry energy in the band. The harbour rows come from the eigenvalue calculation of the following slide and are tested against the Senglea record on the slide after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quarter-wave resonator is the limit of this equation for a uniform channel and the Helmholtz resonator its limit for a narrow neck ahead of a wide basin, so the geometry selects between the two idealisations. The solver returns the quarter-wave period of a uniform channel to within 0.5 per cent. The supplied coastline carries the St Elmo breakwater as a detached polygon and does not carry the Ricasoli arm as a separate feature, so the opening measures some 400 m. A narrower real opening would create the neck the supplied geometry lacks. The estimate remains first-order until the modes are extracted from the mesh.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mean spectrum with its background, the milgħuba band shaded grey and the estimated basin band shaded blue. The ratio of the spectrum to the background, in which the four peaks stand out. The largest oscillation of the admitted windows, 8 November 2021, with a range of 0.35 m at the 23-minute period. The amplitude ratio against the gauges outside the harbour. The four peaks are present on practically every day of both windows, independently of the forcing, which points to the geometry. The ratio against Marsaxlokk compares two coastal sites and is not a transfer function from the open sea.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University of Malta Newspoint for 2018 and 2019, Newsbook for 2022, MaltaToday for 2023 and 2024, the last citing the Oceanography Malta Research Group. Upward radar echoes from vessels, rain and spray are removed by the lower envelope of the 5 s samples, and episodes of reference offset of 1.3 to 2.1 m are removed before the spectrum is computed. The choice of windows is to be confirmed within the group. The displaced level is compatible with the radar ranging to a vessel or pontoon beneath it, which is a conjecture.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already in use on this coast, which is an independent check on the choice.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with the 15 m cells in the channels narrower than 150 m. Coastal zones of 1 km and 5 km cost 37 per cent less than zones of 2 km and 15 km, with the time step and the harbour response unchanged, since the time step is set by the 15 m cells alone. Refinement carried out directly in degrees yields transitions that FM rejects as not orthogonal, which is why the mesh is built in UTM. Open matters are one edge at 0.553 in the meshkernel orthogonality measure, 1,050 shore faces with a bed at or above zero,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record in the channel, where the prescribed level returns the pulse inverted and almost undiminished while the Riemann record follows the reference. A boundary cell of the square basin at 22.5 degrees. The reflection coefficient against incidence angle, with first-order theory dashed. The volume retained in the basin, which the prescribed level holds as a trapped mode. The reflected wave is the difference between each case and the reference, so incident and reflected waves need not be separated in time. The Riemann condition assumes a plane wave at normal incidence over a fluid at rest, which is why the four production cases remain to be tested. Laksono et al. (2026) apply the same boundary over the Sicilian Channel for the same reason.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relocatability requirement of the design report corresponds to the framework-transfer argument of the thesis, and the porting log is the evidence for it. The study complements the operational system in a band and at a resolution the forecasting configuration is not designed for.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is a proposal. Whether work on the generation side is already planned within the group, and how the effort would then be divided, is to be discussed directly. The applied companion is a map of exposure by inlet and quay, and the renewal question has independent standing under the Water Framework Directive.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a response curve over the class of basin. The exact geometry of any proposed structure is neither needed nor used, and the exercise carries no assessment of the project now in consultation. Whether to pursue it is among the open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speeds by eight directions by two widths, twelve hours each, barotropic and uncoupled, with a second evaluation over a modified mouth, amount to 96 simulated days and some 16 hours of serial computation. The dated events of 2019, 2022, 2023 and 2024 are the cases for the test, which is why the one-minute pressure records on those dates head the requests of the following slide.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determine whether the response surface can be tested against events at all. Sources for the events of 2022 and 2023 are press reports only, and a statement or record of the group would replace them.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Numbering continues from the preceding slide. Damage inside the port is documented for the wind-wave storms of February 2019 and February 2023. Disruption attributable to long waves specifically, held by Transport Malta and the terminals, remains open and may be raised under the second item.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decides between the two readings of the 23-minute peak. The remaining boundary tests are the residual current and the non-zero incoming signal from CMEMS. The block of 27 October to 21 November loses four working days to Delft and holds fifteen rather than nineteen. The EDITO deployment is conditional on the configuration proving stable in time, and it belongs to the last block of the period alongside the integration into the ocean.mt portal.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63751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 in western Sicily.</a:t>
            </a:r>
            <a:endParaRPr lang="en-US" sz="1450" dirty="0"/>
          </a:p>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test little. A transfer to a deep engineered harbour tests whether the pipeline is reusable or was fitted to one site.</a:t>
            </a:r>
            <a:endParaRPr lang="en-US" sz="1450" dirty="0"/>
          </a:p>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mark where the generality of the framework ends, and they are recorded as such.</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0624">
                <a:tc>
                  <a:txBody>
                    <a:bodyPr/>
                    <a:lstStyle/>
                    <a:p>
                      <a:pPr marL="0" indent="0">
                        <a:buNone/>
                      </a:pP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CDI 4036_MEPA and the national coastline, from the holdings of the group.</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marL="0" indent="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than the public EMODnet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icPr>
            <a:picLocks noChangeAspect="1"/>
          </p:cNvPicPr>
          <p:nvPr/>
        </p:nvPicPr>
        <p:blipFill>
          <a:blip r:embed="rId3"/>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marL="0" indent="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deep, would be resonant with disturbances travelling at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From 150 m on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At Ciutadella, Menorca, the reference site of the rissaga, the three stages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T = 4L∕√(gh), for the shelf and the inlets, and eigenmodes of the measured profile for the harbours, against the 0.2 to 2 cph band reported by Drago (2009).</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3"/>
          <p:cNvSpPr/>
          <p:nvPr/>
        </p:nvSpPr>
        <p:spPr>
          <a:xfrm>
            <a:off x="8641080" y="2286000"/>
            <a:ext cx="2980944" cy="3246120"/>
          </a:xfrm>
          <a:prstGeom prst="roundRect">
            <a:avLst>
              <a:gd name="adj" fmla="val 1840"/>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Reading for the domain</a:t>
            </a:r>
            <a:endParaRPr lang="en-US" sz="1400" dirty="0"/>
          </a:p>
        </p:txBody>
      </p:sp>
      <p:sp>
        <p:nvSpPr>
          <p:cNvPr id="8" name="Text 5"/>
          <p:cNvSpPr txBox="1"/>
          <p:nvPr/>
        </p:nvSpPr>
        <p:spPr>
          <a:xfrm>
            <a:off x="8915400" y="2880360"/>
            <a:ext cx="2468880" cy="2560320"/>
          </a:xfrm>
          <a:prstGeom prst="rect">
            <a:avLst/>
          </a:prstGeom>
          <a:noFill/>
          <a:ln/>
        </p:spPr>
        <p:txBody>
          <a:bodyPr wrap="square" lIns="0" tIns="0" rIns="0" bIns="0" rtlCol="0" anchor="t"/>
          <a:lstStyle/>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
</a:t>
            </a:r>
            <a:endParaRPr lang="en-US" sz="1150" dirty="0"/>
          </a:p>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would then hold no resonator in the band.
</a:t>
            </a:r>
            <a:endParaRPr lang="en-US" sz="1150" dirty="0"/>
          </a:p>
          <a:p>
            <a:pPr marL="0" indent="0">
              <a:lnSpc>
                <a:spcPts val="1500"/>
              </a:lnSpc>
              <a:buNone/>
            </a:pPr>
            <a:r>
              <a:rPr lang="en-US" sz="1150" b="1" dirty="0">
                <a:solidFill>
                  <a:srgbClr val="FFFFFF"/>
                </a:solidFill>
                <a:latin typeface="Calibri" pitchFamily="34" charset="0"/>
                <a:ea typeface="Calibri" pitchFamily="34" charset="-122"/>
                <a:cs typeface="Calibri" pitchFamily="34" charset="-120"/>
              </a:rPr>
              <a:t>A domain extending over the plateau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upper edge of the band, 2 cph, corresponds to 30 minutes, 1.6 times the upper estimate for the Grand Harbour and 2.3 times that for Marsamxett.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modes from the measured geometry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Long-wave eigenproblem of a channel of varying section, g d∕dx(a dη∕dx) + ω² b η = 0, with η = 0 at the mouth and no flux at the head, where a(x) is the cross-section and b(x) the surface width along the geodesic distance from the mouth.</a:t>
            </a:r>
            <a:endParaRPr lang="en-US" sz="1400" dirty="0"/>
          </a:p>
        </p:txBody>
      </p:sp>
      <p:pic>
        <p:nvPicPr>
          <p:cNvPr id="5" name="Image 0" descr="C:\Users\Unipa\Documents\MaltaDT\figures\basin_modes.png"/>
          <p:cNvPicPr>
            <a:picLocks noChangeAspect="1"/>
          </p:cNvPicPr>
          <p:nvPr/>
        </p:nvPicPr>
        <p:blipFill>
          <a:blip r:embed="rId3"/>
          <a:srcRect l="43939" t="370" r="6667" b="52222"/>
          <a:stretch/>
        </p:blipFill>
        <p:spPr>
          <a:xfrm>
            <a:off x="566928" y="2212848"/>
            <a:ext cx="2971800" cy="2333683"/>
          </a:xfrm>
          <a:prstGeom prst="rect">
            <a:avLst/>
          </a:prstGeom>
        </p:spPr>
      </p:pic>
      <p:pic>
        <p:nvPicPr>
          <p:cNvPr id="6" name="Image 1" descr="C:\Users\Unipa\Documents\MaltaDT\figures\basin_modes.png"/>
          <p:cNvPicPr>
            <a:picLocks noChangeAspect="1"/>
          </p:cNvPicPr>
          <p:nvPr/>
        </p:nvPicPr>
        <p:blipFill>
          <a:blip r:embed="rId3"/>
          <a:srcRect t="48148" r="50000"/>
          <a:stretch/>
        </p:blipFill>
        <p:spPr>
          <a:xfrm>
            <a:off x="3630168" y="2157984"/>
            <a:ext cx="2788920" cy="2366356"/>
          </a:xfrm>
          <a:prstGeom prst="rect">
            <a:avLst/>
          </a:prstGeom>
        </p:spPr>
      </p:pic>
      <p:sp>
        <p:nvSpPr>
          <p:cNvPr id="7" name="Text 3"/>
          <p:cNvSpPr txBox="1"/>
          <p:nvPr/>
        </p:nvSpPr>
        <p:spPr>
          <a:xfrm>
            <a:off x="566928" y="4839139"/>
            <a:ext cx="5852160" cy="457200"/>
          </a:xfrm>
          <a:prstGeom prst="rect">
            <a:avLst/>
          </a:prstGeom>
          <a:noFill/>
          <a:ln/>
        </p:spPr>
        <p:txBody>
          <a:bodyPr wrap="square" lIns="0" tIns="0" rIns="0" bIns="0" rtlCol="0" anchor="ctr"/>
          <a:lstStyle/>
          <a:p>
            <a:pPr marL="0" indent="0">
              <a:lnSpc>
                <a:spcPts val="1400"/>
              </a:lnSpc>
              <a:buNone/>
            </a:pPr>
            <a:r>
              <a:rPr lang="en-US" sz="1050" dirty="0">
                <a:solidFill>
                  <a:srgbClr val="5F6368"/>
                </a:solidFill>
                <a:latin typeface="Calibri" pitchFamily="34" charset="0"/>
                <a:ea typeface="Calibri" pitchFamily="34" charset="-122"/>
                <a:cs typeface="Calibri" pitchFamily="34" charset="-120"/>
              </a:rPr>
              <a:t>Geodesic distance from the section lines, and the cross-section a(x) of the Grand Harbour with and without the St Elmo breakwater.</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75120" y="2157984"/>
          <a:ext cx="4946904"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746504">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Basin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Section line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T₀</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Grand Harbour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outer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16.5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Grand Harbour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outer, no breakwater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16.6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Grand Harbour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inner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14.5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Marsamxett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outer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10.7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12.8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Marsamxett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inner</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12.3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hape 4"/>
          <p:cNvSpPr/>
          <p:nvPr/>
        </p:nvSpPr>
        <p:spPr>
          <a:xfrm>
            <a:off x="6675120" y="4315968"/>
            <a:ext cx="4946904" cy="1572768"/>
          </a:xfrm>
          <a:prstGeom prst="roundRect">
            <a:avLst>
              <a:gd name="adj" fmla="val 3488"/>
            </a:avLst>
          </a:prstGeom>
          <a:solidFill>
            <a:srgbClr val="21295C"/>
          </a:solidFill>
          <a:ln/>
        </p:spPr>
      </p:sp>
      <p:sp>
        <p:nvSpPr>
          <p:cNvPr id="10" name="Text 5"/>
          <p:cNvSpPr txBox="1"/>
          <p:nvPr/>
        </p:nvSpPr>
        <p:spPr>
          <a:xfrm>
            <a:off x="6949440" y="4480560"/>
            <a:ext cx="43982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Role of the St Elmo breakwater</a:t>
            </a:r>
            <a:endParaRPr lang="en-US" sz="1350" dirty="0"/>
          </a:p>
        </p:txBody>
      </p:sp>
      <p:sp>
        <p:nvSpPr>
          <p:cNvPr id="11" name="Text 6"/>
          <p:cNvSpPr txBox="1"/>
          <p:nvPr/>
        </p:nvSpPr>
        <p:spPr>
          <a:xfrm>
            <a:off x="6949440" y="4809744"/>
            <a:ext cx="4398264" cy="96926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Removing the 378 m breakwater changes the estimate by 0.1 minute. The section at the entrance, 8,780 m², is within 6 per cent of the median section of the basin, which suggests that the inertia of the mode is distributed along the harbour rather than concentrated at the mouth.</a:t>
            </a:r>
            <a:endParaRPr lang="en-US" sz="1150" dirty="0"/>
          </a:p>
        </p:txBody>
      </p:sp>
      <p:sp>
        <p:nvSpPr>
          <p:cNvPr id="12" name="Text 7"/>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T₀ omits and T includes the mouth correction of Rabinovich (2009, eq. 9.16). The calculation is one-dimensional and first-order, and only the fundamental is reported.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Sea level spectrum inside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Senglea radar gauge, JRC TAD device 555, sampled at 5 s, on the peninsula between Dockyard Creek and French Creek. Welch spectrum over 207 gap-free segments of 2048 minutes.</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8229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426464">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Period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Peak ∕ background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Relation to the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23.0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2.61 cph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23.8</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longer than estimated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3.57 cph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within 14.5 to 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10.0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5.98 cph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7.6</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6.9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8.67 cph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near the inlet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Shape 3"/>
          <p:cNvSpPr/>
          <p:nvPr/>
        </p:nvSpPr>
        <p:spPr>
          <a:xfrm>
            <a:off x="6583680" y="3840480"/>
            <a:ext cx="5038344" cy="2194560"/>
          </a:xfrm>
          <a:prstGeom prst="roundRect">
            <a:avLst>
              <a:gd name="adj" fmla="val 2500"/>
            </a:avLst>
          </a:prstGeom>
          <a:solidFill>
            <a:srgbClr val="21295C"/>
          </a:solidFill>
          <a:ln/>
        </p:spPr>
      </p:sp>
      <p:sp>
        <p:nvSpPr>
          <p:cNvPr id="6" name="Text 4"/>
          <p:cNvSpPr txBox="1"/>
          <p:nvPr/>
        </p:nvSpPr>
        <p:spPr>
          <a:xfrm>
            <a:off x="6858000" y="4005072"/>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Two readings of the 23-minute peak</a:t>
            </a:r>
            <a:endParaRPr lang="en-US" sz="1350" dirty="0"/>
          </a:p>
        </p:txBody>
      </p:sp>
      <p:sp>
        <p:nvSpPr>
          <p:cNvPr id="9" name="Text 5"/>
          <p:cNvSpPr txBox="1"/>
          <p:nvPr/>
        </p:nvSpPr>
        <p:spPr>
          <a:xfrm>
            <a:off x="6858000" y="4334256"/>
            <a:ext cx="4489704" cy="1591056"/>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It may be the fundamental of the Grand Harbour, underestimated by about a quarter in the one-dimensional calculation.</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Alternatively it may belong to the approach shared by the two harbours, the 16.8-minute peak being the fundamental.</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The modal structure computed by the model, or a second gauge, would separate the two.</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In the nine months admitted the peaks lie above the milgħuba band. Between 2 and 3 cph the amplitude at Senglea is 2.8 times that at Marsaxlokk.</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5096"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557016">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Reported effects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Senglea, public copy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25 Oct 2018</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seismic 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excursions of some 25 cm at Portomaso</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18 Jun 2019</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sea bed exposed and quay overtopped in St Paul's Bay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30 Jun 2022</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St Julian's and Qawra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no data, record resumes on 1 July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 Jul 2023</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and Xemxija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13 Jun 2024</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meteotsunami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of the main square of Msida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66928" y="4498848"/>
            <a:ext cx="5440680" cy="1481328"/>
          </a:xfrm>
          <a:prstGeom prst="roundRect">
            <a:avLst>
              <a:gd name="adj" fmla="val 3704"/>
            </a:avLst>
          </a:prstGeom>
          <a:solidFill>
            <a:srgbClr val="EEF3F6"/>
          </a:solidFill>
          <a:ln/>
        </p:spPr>
      </p:sp>
      <p:sp>
        <p:nvSpPr>
          <p:cNvPr id="7" name="Text 4"/>
          <p:cNvSpPr txBox="1"/>
          <p:nvPr/>
        </p:nvSpPr>
        <p:spPr>
          <a:xfrm>
            <a:off x="841248" y="4663440"/>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8" name="Text 5"/>
          <p:cNvSpPr txBox="1"/>
          <p:nvPr/>
        </p:nvSpPr>
        <p:spPr>
          <a:xfrm>
            <a:off x="841248"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on monthly coverage and stability of the level. From April 2023 the level appears displaced by some 2 m and the gauge transmits by day only.</a:t>
            </a:r>
            <a:endParaRPr lang="en-US" sz="1150" dirty="0"/>
          </a:p>
        </p:txBody>
      </p:sp>
      <p:sp>
        <p:nvSpPr>
          <p:cNvPr id="5" name="Shape 6"/>
          <p:cNvSpPr/>
          <p:nvPr/>
        </p:nvSpPr>
        <p:spPr>
          <a:xfrm>
            <a:off x="6181344" y="4498848"/>
            <a:ext cx="5440680" cy="1481328"/>
          </a:xfrm>
          <a:prstGeom prst="roundRect">
            <a:avLst>
              <a:gd name="adj" fmla="val 3704"/>
            </a:avLst>
          </a:prstGeom>
          <a:solidFill>
            <a:srgbClr val="21295C"/>
          </a:solidFill>
          <a:ln/>
        </p:spPr>
      </p:sp>
      <p:sp>
        <p:nvSpPr>
          <p:cNvPr id="10" name="Text 7"/>
          <p:cNvSpPr txBox="1"/>
          <p:nvPr/>
        </p:nvSpPr>
        <p:spPr>
          <a:xfrm>
            <a:off x="6455664" y="4663440"/>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1" name="Text 8"/>
          <p:cNvSpPr txBox="1"/>
          <p:nvPr/>
        </p:nvSpPr>
        <p:spPr>
          <a:xfrm>
            <a:off x="6455664"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and Portomaso returns no data from the IOC facility on those dates. The archive of the group, sea level and one-minute pressure, would therefore be the record against which the response surface is tested.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icPr>
            <a:picLocks noChangeAspect="1"/>
          </p:cNvPicPr>
          <p:nvPr/>
        </p:nvPicPr>
        <p:blipFill>
          <a:blip r:embed="rId3"/>
          <a:stretch>
            <a:fillRect/>
          </a:stretch>
        </p:blipFill>
        <p:spPr>
          <a:xfrm>
            <a:off x="566928" y="1572768"/>
            <a:ext cx="11055096" cy="4956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Resolution set by the geometry of the inlets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17-minute wave in 16 m of water is 12.8 km long, so the wavelength imposes no constraint. The planform of the inlets is the feature to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1005840"/>
          </a:xfrm>
          <a:prstGeom prst="rect">
            <a:avLst/>
          </a:prstGeom>
          <a:noFill/>
          <a:ln/>
        </p:spPr>
        <p:txBody>
          <a:bodyPr wrap="square" lIns="0" tIns="0" rIns="0" bIns="0" rtlCol="0" anchor="t"/>
          <a:lstStyle/>
          <a:p>
            <a:pPr marL="0" indent="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a:t>
            </a:r>
            <a:endParaRPr lang="en-US" sz="1250" dirty="0"/>
          </a:p>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566160"/>
          <a:ext cx="4937760" cy="914400"/>
        </p:xfrm>
        <a:graphic>
          <a:graphicData uri="http://schemas.openxmlformats.org/drawingml/2006/table">
            <a:tbl>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Cell size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channels narrower than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basins and their mouths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1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5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480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1920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26,766 faces. Under a resonant long wave the time step is 3.7 s, set by the 15 m cells of the channels, which samples a 17-minute wave some 280 times per cycle. The 10 m of the source data is the floor, and below 15 m a mesh interpolates rather than resolves.</a:t>
            </a:r>
            <a:endParaRPr lang="en-US" sz="1200" dirty="0"/>
          </a:p>
        </p:txBody>
      </p:sp>
      <p:sp>
        <p:nvSpPr>
          <p:cNvPr id="7"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Vertical, 12 to 15 sigma layers foreseen</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Sigma layers are considered defensible because the domain stops short of the escarpment, the plateau gradient being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SWAN downscaling of the group at 1∕500°, arrived at independently.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MESH</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its measured cost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Quadtree refinement by zone, built in UTM 33N and transformed to WGS84, accepted by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103120"/>
            <a:ext cx="7680960" cy="3072384"/>
          </a:xfrm>
          <a:prstGeom prst="rect">
            <a:avLst/>
          </a:prstGeom>
        </p:spPr>
      </p:pic>
      <p:sp>
        <p:nvSpPr>
          <p:cNvPr id="6" name="Text 3"/>
          <p:cNvSpPr txBox="1"/>
          <p:nvPr/>
        </p:nvSpPr>
        <p:spPr>
          <a:xfrm>
            <a:off x="8595360" y="2103120"/>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26,766</a:t>
            </a:r>
            <a:endParaRPr lang="en-US" sz="2500" dirty="0"/>
          </a:p>
        </p:txBody>
      </p:sp>
      <p:sp>
        <p:nvSpPr>
          <p:cNvPr id="7" name="Text 4"/>
          <p:cNvSpPr txBox="1"/>
          <p:nvPr/>
        </p:nvSpPr>
        <p:spPr>
          <a:xfrm>
            <a:off x="8595360" y="2560320"/>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faces, of which some 12,000</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in the harbours</a:t>
            </a:r>
            <a:endParaRPr lang="en-US" sz="1150" dirty="0"/>
          </a:p>
        </p:txBody>
      </p:sp>
      <p:sp>
        <p:nvSpPr>
          <p:cNvPr id="8" name="Text 5"/>
          <p:cNvSpPr txBox="1"/>
          <p:nvPr/>
        </p:nvSpPr>
        <p:spPr>
          <a:xfrm>
            <a:off x="8595360" y="3145536"/>
            <a:ext cx="3017520" cy="457200"/>
          </a:xfrm>
          <a:prstGeom prst="rect">
            <a:avLst/>
          </a:prstGeom>
          <a:noFill/>
          <a:ln/>
        </p:spPr>
        <p:txBody>
          <a:bodyPr wrap="square" lIns="0" tIns="0" rIns="0" bIns="0" rtlCol="0" anchor="ctr"/>
          <a:lstStyle/>
          <a:p>
            <a:pPr marL="0" indent="0">
              <a:buNone/>
            </a:pPr>
            <a:r>
              <a:rPr lang="en-US" sz="2500" b="1" dirty="0">
                <a:solidFill>
                  <a:srgbClr val="EB6834"/>
                </a:solidFill>
                <a:latin typeface="Cambria" pitchFamily="34" charset="0"/>
                <a:ea typeface="Cambria" pitchFamily="34" charset="-122"/>
                <a:cs typeface="Cambria" pitchFamily="34" charset="-120"/>
              </a:rPr>
              <a:t>3.7 s</a:t>
            </a:r>
            <a:endParaRPr lang="en-US" sz="2500" dirty="0"/>
          </a:p>
        </p:txBody>
      </p:sp>
      <p:sp>
        <p:nvSpPr>
          <p:cNvPr id="9" name="Text 6"/>
          <p:cNvSpPr txBox="1"/>
          <p:nvPr/>
        </p:nvSpPr>
        <p:spPr>
          <a:xfrm>
            <a:off x="8595360" y="3602736"/>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of 0.15 m at the boundary</a:t>
            </a:r>
            <a:endParaRPr lang="en-US" sz="1150" dirty="0"/>
          </a:p>
        </p:txBody>
      </p:sp>
      <p:sp>
        <p:nvSpPr>
          <p:cNvPr id="10" name="Text 7"/>
          <p:cNvSpPr txBox="1"/>
          <p:nvPr/>
        </p:nvSpPr>
        <p:spPr>
          <a:xfrm>
            <a:off x="8595360" y="4187952"/>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611 s</a:t>
            </a:r>
            <a:endParaRPr lang="en-US" sz="2500" dirty="0"/>
          </a:p>
        </p:txBody>
      </p:sp>
      <p:sp>
        <p:nvSpPr>
          <p:cNvPr id="11" name="Text 8"/>
          <p:cNvSpPr txBox="1"/>
          <p:nvPr/>
        </p:nvSpPr>
        <p:spPr>
          <a:xfrm>
            <a:off x="8595360" y="4645152"/>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321808"/>
            <a:ext cx="11055096" cy="841248"/>
          </a:xfrm>
          <a:prstGeom prst="roundRect">
            <a:avLst>
              <a:gd name="adj" fmla="val 6522"/>
            </a:avLst>
          </a:prstGeom>
          <a:solidFill>
            <a:srgbClr val="EEF3F6"/>
          </a:solidFill>
          <a:ln/>
        </p:spPr>
      </p:sp>
      <p:sp>
        <p:nvSpPr>
          <p:cNvPr id="13" name="Text 10"/>
          <p:cNvSpPr txBox="1"/>
          <p:nvPr/>
        </p:nvSpPr>
        <p:spPr>
          <a:xfrm>
            <a:off x="886968" y="5440680"/>
            <a:ext cx="10424160" cy="621792"/>
          </a:xfrm>
          <a:prstGeom prst="rect">
            <a:avLst/>
          </a:prstGeom>
          <a:noFill/>
          <a:ln/>
        </p:spPr>
        <p:txBody>
          <a:bodyPr wrap="square" lIns="0" tIns="0" rIns="0" bIns="0" rtlCol="0" anchor="ctr"/>
          <a:lstStyle/>
          <a:p>
            <a:pPr marL="0" indent="0">
              <a:lnSpc>
                <a:spcPts val="1600"/>
              </a:lnSpc>
              <a:buNone/>
            </a:pPr>
            <a:r>
              <a:rPr lang="en-US" sz="1200" b="1" dirty="0">
                <a:solidFill>
                  <a:srgbClr val="1A1A1A"/>
                </a:solidFill>
                <a:latin typeface="Calibri" pitchFamily="34" charset="0"/>
                <a:ea typeface="Calibri" pitchFamily="34" charset="-122"/>
                <a:cs typeface="Calibri" pitchFamily="34" charset="-120"/>
              </a:rPr>
              <a:t>Indicative cost of the campaign. </a:t>
            </a:r>
            <a:r>
              <a:rPr lang="en-US" sz="1200" dirty="0">
                <a:solidFill>
                  <a:srgbClr val="1A1A1A"/>
                </a:solidFill>
                <a:latin typeface="Calibri" pitchFamily="34" charset="0"/>
                <a:ea typeface="Calibri" pitchFamily="34" charset="-122"/>
                <a:cs typeface="Calibri" pitchFamily="34" charset="-120"/>
              </a:rPr>
              <a:t>The parametric sweep in two dimensions is estimated at some 16 h of serial computation. The three-dimensional runs of renewal and validation, 160 simulated days, would be of the order of 45 h on 8 MPI processes, scaled from the Stagnone configuration with an uncertainty of a factor of two.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OPEN BOUNDARY</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Reflection of the open boundary under a synthetic pulse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idealised test, with a Gaussian hump of water level released on a flat bed at 150 m with 1500 m cells and each case compared against a reference domain without a boundary.</a:t>
            </a:r>
            <a:endParaRPr lang="en-US" sz="1400" dirty="0"/>
          </a:p>
        </p:txBody>
      </p:sp>
      <p:pic>
        <p:nvPicPr>
          <p:cNvPr id="5" name="Image 0" descr="C:\Users\Unipa\Documents\MaltaDT\figures\riemann_pulse_test.png"/>
          <p:cNvPicPr>
            <a:picLocks noChangeAspect="1"/>
          </p:cNvPicPr>
          <p:nvPr/>
        </p:nvPicPr>
        <p:blipFill>
          <a:blip r:embed="rId3"/>
          <a:stretch>
            <a:fillRect/>
          </a:stretch>
        </p:blipFill>
        <p:spPr>
          <a:xfrm>
            <a:off x="566928" y="2103120"/>
            <a:ext cx="5623560" cy="393192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46520" y="2103120"/>
          <a:ext cx="5175504" cy="914400"/>
        </p:xfrm>
        <a:graphic>
          <a:graphicData uri="http://schemas.openxmlformats.org/drawingml/2006/table">
            <a:tbl>
              <a:tblPr/>
              <a:tblGrid>
                <a:gridCol w="2432304">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Reflected amplitude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Riemann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Prescribed level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Normal incidence, channel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 to 1.3 %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94 to 100 %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Incidence up to 30°, basin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5 to 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96 to 98 %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Corner cells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24 to 29 %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446520" y="3621024"/>
            <a:ext cx="5175504" cy="1280160"/>
          </a:xfrm>
          <a:prstGeom prst="roundRect">
            <a:avLst>
              <a:gd name="adj" fmla="val 4286"/>
            </a:avLst>
          </a:prstGeom>
          <a:solidFill>
            <a:srgbClr val="21295C"/>
          </a:solidFill>
          <a:ln/>
        </p:spPr>
      </p:sp>
      <p:sp>
        <p:nvSpPr>
          <p:cNvPr id="8" name="Text 4"/>
          <p:cNvSpPr txBox="1"/>
          <p:nvPr/>
        </p:nvSpPr>
        <p:spPr>
          <a:xfrm>
            <a:off x="6720840" y="3785616"/>
            <a:ext cx="46268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Working configuration</a:t>
            </a:r>
            <a:endParaRPr lang="en-US" sz="1350" dirty="0"/>
          </a:p>
        </p:txBody>
      </p:sp>
      <p:sp>
        <p:nvSpPr>
          <p:cNvPr id="9" name="Text 5"/>
          <p:cNvSpPr txBox="1"/>
          <p:nvPr/>
        </p:nvSpPr>
        <p:spPr>
          <a:xfrm>
            <a:off x="6720840" y="4114800"/>
            <a:ext cx="4626864" cy="67665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Riemann boundary on all open sides, its corners more than 40 km from the harbours, written as one polyline since FM reads only the first polyline of a boundary file.</a:t>
            </a:r>
            <a:endParaRPr lang="en-US" sz="1150" dirty="0"/>
          </a:p>
        </p:txBody>
      </p:sp>
      <p:sp>
        <p:nvSpPr>
          <p:cNvPr id="10" name="Shape 6"/>
          <p:cNvSpPr/>
          <p:nvPr/>
        </p:nvSpPr>
        <p:spPr>
          <a:xfrm>
            <a:off x="6446520" y="5029200"/>
            <a:ext cx="5175504" cy="1005840"/>
          </a:xfrm>
          <a:prstGeom prst="roundRect">
            <a:avLst>
              <a:gd name="adj" fmla="val 5455"/>
            </a:avLst>
          </a:prstGeom>
          <a:solidFill>
            <a:srgbClr val="EEF3F6"/>
          </a:solidFill>
          <a:ln/>
        </p:spPr>
      </p:sp>
      <p:sp>
        <p:nvSpPr>
          <p:cNvPr id="11" name="Text 7"/>
          <p:cNvSpPr txBox="1"/>
          <p:nvPr/>
        </p:nvSpPr>
        <p:spPr>
          <a:xfrm>
            <a:off x="6720840" y="5193792"/>
            <a:ext cx="462686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Cases to be tested before production</a:t>
            </a:r>
            <a:endParaRPr lang="en-US" sz="1350" dirty="0"/>
          </a:p>
        </p:txBody>
      </p:sp>
      <p:sp>
        <p:nvSpPr>
          <p:cNvPr id="12" name="Text 8"/>
          <p:cNvSpPr txBox="1"/>
          <p:nvPr/>
        </p:nvSpPr>
        <p:spPr>
          <a:xfrm>
            <a:off x="6720840" y="5522976"/>
            <a:ext cx="4626864" cy="40233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residual current across the boundary, a non-zero incoming signal from CMEMS, variable depth along the boundary, and Coriolis.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Existing work and the scope of the present study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group. </a:t>
            </a: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Operational system of the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as in the present work.</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present work is a process study conducted within the group, alongside the operational system. 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Attribution of amplification along the generation chain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Proposed formulation, submitted to the group for discussion.</a:t>
            </a:r>
            <a:endParaRPr lang="en-US" sz="1400" dirty="0"/>
          </a:p>
        </p:txBody>
      </p:sp>
      <p:sp>
        <p:nvSpPr>
          <p:cNvPr id="5" name="Shape 3"/>
          <p:cNvSpPr/>
          <p:nvPr/>
        </p:nvSpPr>
        <p:spPr>
          <a:xfrm>
            <a:off x="566928" y="2139696"/>
            <a:ext cx="11055096" cy="1298448"/>
          </a:xfrm>
          <a:prstGeom prst="roundRect">
            <a:avLst>
              <a:gd name="adj" fmla="val 4225"/>
            </a:avLst>
          </a:prstGeom>
          <a:solidFill>
            <a:srgbClr val="EEF3F6"/>
          </a:solidFill>
          <a:ln/>
        </p:spPr>
      </p:sp>
      <p:sp>
        <p:nvSpPr>
          <p:cNvPr id="6" name="Text 4"/>
          <p:cNvSpPr txBox="1"/>
          <p:nvPr/>
        </p:nvSpPr>
        <p:spPr>
          <a:xfrm>
            <a:off x="886968" y="2350008"/>
            <a:ext cx="10424160" cy="914400"/>
          </a:xfrm>
          <a:prstGeom prst="rect">
            <a:avLst/>
          </a:prstGeom>
          <a:noFill/>
          <a:ln/>
        </p:spPr>
        <p:txBody>
          <a:bodyPr wrap="square" lIns="0" tIns="0" rIns="0" bIns="0" rtlCol="0" anchor="ctr"/>
          <a:lstStyle/>
          <a:p>
            <a:pPr marL="0" indent="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7" name="Text 5"/>
          <p:cNvSpPr txBox="1"/>
          <p:nvPr/>
        </p:nvSpPr>
        <p:spPr>
          <a:xfrm>
            <a:off x="566928" y="3721608"/>
            <a:ext cx="521208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Basis for the formulation</a:t>
            </a:r>
            <a:endParaRPr lang="en-US" sz="1400" dirty="0"/>
          </a:p>
        </p:txBody>
      </p:sp>
      <p:sp>
        <p:nvSpPr>
          <p:cNvPr id="8" name="Text 6"/>
          <p:cNvSpPr txBox="1"/>
          <p:nvPr/>
        </p:nvSpPr>
        <p:spPr>
          <a:xfrm>
            <a:off x="566928" y="4069080"/>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answer requires a model, since no arrangement of gauges separates the three stages of amplification from one another.</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published work treats the response of a basin to a wave already present at its boundary, so the generation side appears to be open.</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The formulation depends on the standing of that prior work, on which the judgement of the group is sought.</a:t>
            </a:r>
            <a:endParaRPr lang="en-US" sz="1200" dirty="0"/>
          </a:p>
        </p:txBody>
      </p:sp>
      <p:sp>
        <p:nvSpPr>
          <p:cNvPr id="9" name="Text 7"/>
          <p:cNvSpPr txBox="1"/>
          <p:nvPr/>
        </p:nvSpPr>
        <p:spPr>
          <a:xfrm>
            <a:off x="6355080" y="3721608"/>
            <a:ext cx="52120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Coverage of the prior work</a:t>
            </a:r>
            <a:endParaRPr lang="en-US" sz="1400" dirty="0"/>
          </a:p>
        </p:txBody>
      </p:sp>
      <p:sp>
        <p:nvSpPr>
          <p:cNvPr id="10" name="Text 8"/>
          <p:cNvSpPr txBox="1"/>
          <p:nvPr/>
        </p:nvSpPr>
        <p:spPr>
          <a:xfrm>
            <a:off x="6355080" y="4069080"/>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Grand Harbour was modelled by ARTELIA in PHAROS, for wind-wave agitation, against a directional climate hindcast from 1992 to 2019.</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Neither appears to treat the generation of the long wave, the circulation of the harbour, or its renewal.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COUNTERFACTUAL QUESTION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Sensitivity of the basin mode to the geometry of the mouth</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academic sensitivity on the class of basin, submitted to the group for judgement. No particular design is represented.</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649224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36576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Open fraction of the section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100 m reach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250 m reach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500 m reach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Helmholtz scaling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+2.7 %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+4.0 %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+4.4 %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+8.0 %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+11.7 %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+41 %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+13.1 %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+23.3 %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+33.1 %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+100 %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+37.2 %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+62.5 %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+84.6 %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+216 %</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566928" y="4261104"/>
            <a:ext cx="6492240" cy="1005840"/>
          </a:xfrm>
          <a:prstGeom prst="rect">
            <a:avLst/>
          </a:prstGeom>
          <a:noFill/>
          <a:ln/>
        </p:spPr>
        <p:txBody>
          <a:bodyPr wrap="square" lIns="0" tIns="0" rIns="0" bIns="0" rtlCol="0" anchor="ctr"/>
          <a:lstStyle/>
          <a:p>
            <a:pPr marL="0" indent="0">
              <a:lnSpc>
                <a:spcPts val="1550"/>
              </a:lnSpc>
              <a:buNone/>
            </a:pPr>
            <a:r>
              <a:rPr lang="en-US" sz="1150" dirty="0">
                <a:solidFill>
                  <a:srgbClr val="5F6368"/>
                </a:solidFill>
                <a:latin typeface="Calibri" pitchFamily="34" charset="0"/>
                <a:ea typeface="Calibri" pitchFamily="34" charset="-122"/>
                <a:cs typeface="Calibri" pitchFamily="34" charset="-120"/>
              </a:rPr>
              <a:t>Lengthening of the fundamental period of the Grand Harbour, 16.5 minutes, for a restriction imposed on the measured profile over a reach centred on its narrowest section. The Helmholtz scaling, T ∝ a^(−1∕2), attributes the whole inertia of the mode to the mouth and, on this calculation, overstates the shift by a factor of three to ten.</a:t>
            </a:r>
            <a:endParaRPr lang="en-US" sz="1150" dirty="0"/>
          </a:p>
        </p:txBody>
      </p:sp>
      <p:sp>
        <p:nvSpPr>
          <p:cNvPr id="7" name="Shape 4"/>
          <p:cNvSpPr/>
          <p:nvPr/>
        </p:nvSpPr>
        <p:spPr>
          <a:xfrm>
            <a:off x="7360920" y="2286000"/>
            <a:ext cx="4261104" cy="1572768"/>
          </a:xfrm>
          <a:prstGeom prst="roundRect">
            <a:avLst>
              <a:gd name="adj" fmla="val 3488"/>
            </a:avLst>
          </a:prstGeom>
          <a:solidFill>
            <a:srgbClr val="EEF3F6"/>
          </a:solidFill>
          <a:ln/>
        </p:spPr>
      </p:sp>
      <p:sp>
        <p:nvSpPr>
          <p:cNvPr id="8" name="Text 5"/>
          <p:cNvSpPr txBox="1"/>
          <p:nvPr/>
        </p:nvSpPr>
        <p:spPr>
          <a:xfrm>
            <a:off x="7635240" y="2450592"/>
            <a:ext cx="371246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The magnitude in context</a:t>
            </a:r>
            <a:endParaRPr lang="en-US" sz="1350" dirty="0"/>
          </a:p>
        </p:txBody>
      </p:sp>
      <p:sp>
        <p:nvSpPr>
          <p:cNvPr id="9" name="Text 6"/>
          <p:cNvSpPr txBox="1"/>
          <p:nvPr/>
        </p:nvSpPr>
        <p:spPr>
          <a:xfrm>
            <a:off x="7635240" y="2779776"/>
            <a:ext cx="3712464" cy="96926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On the measured profile a metre of sea level rise shortens the estimated modes by 3.1 per cent, and a restriction of a quarter lengthens them by 1.5 to 4 per cent. The two perturbations appear to be of the same order.</a:t>
            </a:r>
            <a:endParaRPr lang="en-US" sz="1150" dirty="0"/>
          </a:p>
        </p:txBody>
      </p:sp>
      <p:sp>
        <p:nvSpPr>
          <p:cNvPr id="10" name="Shape 7"/>
          <p:cNvSpPr/>
          <p:nvPr/>
        </p:nvSpPr>
        <p:spPr>
          <a:xfrm>
            <a:off x="7360920" y="4005072"/>
            <a:ext cx="4261104" cy="1755648"/>
          </a:xfrm>
          <a:prstGeom prst="roundRect">
            <a:avLst>
              <a:gd name="adj" fmla="val 3125"/>
            </a:avLst>
          </a:prstGeom>
          <a:solidFill>
            <a:srgbClr val="21295C"/>
          </a:solidFill>
          <a:ln/>
        </p:spPr>
      </p:sp>
      <p:sp>
        <p:nvSpPr>
          <p:cNvPr id="11" name="Text 8"/>
          <p:cNvSpPr txBox="1"/>
          <p:nvPr/>
        </p:nvSpPr>
        <p:spPr>
          <a:xfrm>
            <a:off x="7635240" y="4169664"/>
            <a:ext cx="37124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Exchange as the quantity of interest</a:t>
            </a:r>
            <a:endParaRPr lang="en-US" sz="1350" dirty="0"/>
          </a:p>
        </p:txBody>
      </p:sp>
      <p:sp>
        <p:nvSpPr>
          <p:cNvPr id="12" name="Text 9"/>
          <p:cNvSpPr txBox="1"/>
          <p:nvPr/>
        </p:nvSpPr>
        <p:spPr>
          <a:xfrm>
            <a:off x="7635240" y="4498848"/>
            <a:ext cx="3712464" cy="115214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Reaching the observed band from 18.4 minutes would require an open fraction near 0.1 over several hundred metres. The volume exchanged per cycle scales with the open section directly, so renewal is expected to respond more strongly than the mode.</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cost is a second evaluation of the same sweep, with no new forcing, no new validation and no new configuration.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phenomenon, so a hindcast of individual events is not attempted.</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A moving pressure disturbance is imposed, and its speed, direction, width and duration are varied.</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output would be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Test against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Recorded events would then be located on the surface, to examine whether they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response surface would be a property of the geometry, whereas climate change acts on the distribution of the forcing.
</a:t>
            </a:r>
            <a:endParaRPr lang="en-US" sz="1150" dirty="0"/>
          </a:p>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The two would then separate, so that a later study with synoptic projections could apply them to the surface without repeating the hydrodynamics.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Climate scenarios would then not need to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milgħuba is reported to flood Msida, at the head of Msida Creek inside Marsamxett, together with Marsaskala, Xemxija, Marsaxlokk and Sliema.</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 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Requests on the observational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test of the response surface rests on the dated events, none of which is resolved in the public records.</a:t>
            </a:r>
            <a:endParaRPr lang="en-US" sz="1400" dirty="0"/>
          </a:p>
        </p:txBody>
      </p:sp>
      <p:sp>
        <p:nvSpPr>
          <p:cNvPr id="5" name="Shape 3"/>
          <p:cNvSpPr/>
          <p:nvPr/>
        </p:nvSpPr>
        <p:spPr>
          <a:xfrm>
            <a:off x="566928" y="2377440"/>
            <a:ext cx="402336" cy="402336"/>
          </a:xfrm>
          <a:prstGeom prst="ellipse">
            <a:avLst/>
          </a:prstGeom>
          <a:solidFill>
            <a:srgbClr val="065A82"/>
          </a:solidFill>
          <a:ln/>
        </p:spPr>
      </p:sp>
      <p:sp>
        <p:nvSpPr>
          <p:cNvPr id="6" name="Text 4"/>
          <p:cNvSpPr txBox="1"/>
          <p:nvPr/>
        </p:nvSpPr>
        <p:spPr>
          <a:xfrm>
            <a:off x="566928" y="23774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235000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from the archive of the group on the dates of the reported events</a:t>
            </a:r>
            <a:endParaRPr lang="en-US" sz="1280" dirty="0"/>
          </a:p>
        </p:txBody>
      </p:sp>
      <p:sp>
        <p:nvSpPr>
          <p:cNvPr id="8" name="Text 6"/>
          <p:cNvSpPr txBox="1"/>
          <p:nvPr/>
        </p:nvSpPr>
        <p:spPr>
          <a:xfrm>
            <a:off x="1133856" y="2834640"/>
            <a:ext cx="4828032" cy="10972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at 5 s or one minute, for 29 June to 2 July 2022, 30 June to 2 July 2023 and 12 to 14 June 2024. The public copy on the JRC server resolves none of the three.</a:t>
            </a:r>
            <a:endParaRPr lang="en-US" sz="1100" dirty="0"/>
          </a:p>
        </p:txBody>
      </p:sp>
      <p:sp>
        <p:nvSpPr>
          <p:cNvPr id="9" name="Shape 7"/>
          <p:cNvSpPr/>
          <p:nvPr/>
        </p:nvSpPr>
        <p:spPr>
          <a:xfrm>
            <a:off x="6126480" y="2377440"/>
            <a:ext cx="402336" cy="402336"/>
          </a:xfrm>
          <a:prstGeom prst="ellipse">
            <a:avLst/>
          </a:prstGeom>
          <a:solidFill>
            <a:srgbClr val="1C7293"/>
          </a:solidFill>
          <a:ln/>
        </p:spPr>
      </p:sp>
      <p:sp>
        <p:nvSpPr>
          <p:cNvPr id="10" name="Text 8"/>
          <p:cNvSpPr txBox="1"/>
          <p:nvPr/>
        </p:nvSpPr>
        <p:spPr>
          <a:xfrm>
            <a:off x="6126480" y="23774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6693408" y="235000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One-minute atmospheric pressure from the PORTO stations on the same dates</a:t>
            </a:r>
            <a:endParaRPr lang="en-US" sz="1280" dirty="0"/>
          </a:p>
        </p:txBody>
      </p:sp>
      <p:sp>
        <p:nvSpPr>
          <p:cNvPr id="12" name="Text 10"/>
          <p:cNvSpPr txBox="1"/>
          <p:nvPr/>
        </p:nvSpPr>
        <p:spPr>
          <a:xfrm>
            <a:off x="6693408" y="2834640"/>
            <a:ext cx="4828032" cy="10972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Elmo, Kordin and Msida first. The pressure signature is the disturbance that forces the milgħuba, and its speed and direction are the quantities located on the response surface.</a:t>
            </a:r>
            <a:endParaRPr lang="en-US" sz="1100" dirty="0"/>
          </a:p>
        </p:txBody>
      </p:sp>
      <p:sp>
        <p:nvSpPr>
          <p:cNvPr id="13" name="Shape 11"/>
          <p:cNvSpPr/>
          <p:nvPr/>
        </p:nvSpPr>
        <p:spPr>
          <a:xfrm>
            <a:off x="566928" y="4114800"/>
            <a:ext cx="402336" cy="402336"/>
          </a:xfrm>
          <a:prstGeom prst="ellipse">
            <a:avLst/>
          </a:prstGeom>
          <a:solidFill>
            <a:srgbClr val="065A82"/>
          </a:solidFill>
          <a:ln/>
        </p:spPr>
      </p:sp>
      <p:sp>
        <p:nvSpPr>
          <p:cNvPr id="14" name="Text 12"/>
          <p:cNvSpPr txBox="1"/>
          <p:nvPr/>
        </p:nvSpPr>
        <p:spPr>
          <a:xfrm>
            <a:off x="566928" y="41148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33856" y="408736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a:t>
            </a:r>
            <a:endParaRPr lang="en-US" sz="1280" dirty="0"/>
          </a:p>
        </p:txBody>
      </p:sp>
      <p:sp>
        <p:nvSpPr>
          <p:cNvPr id="16" name="Text 14"/>
          <p:cNvSpPr txBox="1"/>
          <p:nvPr/>
        </p:nvSpPr>
        <p:spPr>
          <a:xfrm>
            <a:off x="1133856" y="4572000"/>
            <a:ext cx="4828032" cy="10972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two windows admitted to the analysis, the cause of the gaps of 2022 and of the displacement of some 2 m from April 2023, whether the gauge was relocated, and whether the IDSL units on the JRC server are the instruments of the group.</a:t>
            </a:r>
            <a:endParaRPr lang="en-US" sz="1100" dirty="0"/>
          </a:p>
        </p:txBody>
      </p:sp>
      <p:sp>
        <p:nvSpPr>
          <p:cNvPr id="17" name="Shape 15"/>
          <p:cNvSpPr/>
          <p:nvPr/>
        </p:nvSpPr>
        <p:spPr>
          <a:xfrm>
            <a:off x="6126480" y="4114800"/>
            <a:ext cx="402336" cy="402336"/>
          </a:xfrm>
          <a:prstGeom prst="ellipse">
            <a:avLst/>
          </a:prstGeom>
          <a:solidFill>
            <a:srgbClr val="1C7293"/>
          </a:solidFill>
          <a:ln/>
        </p:spPr>
      </p:sp>
      <p:sp>
        <p:nvSpPr>
          <p:cNvPr id="18" name="Text 16"/>
          <p:cNvSpPr txBox="1"/>
          <p:nvPr/>
        </p:nvSpPr>
        <p:spPr>
          <a:xfrm>
            <a:off x="6126480" y="41148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txBox="1"/>
          <p:nvPr/>
        </p:nvSpPr>
        <p:spPr>
          <a:xfrm>
            <a:off x="6693408" y="408736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The Portomaso record at one minute or finer</a:t>
            </a:r>
            <a:endParaRPr lang="en-US" sz="1280" dirty="0"/>
          </a:p>
        </p:txBody>
      </p:sp>
      <p:sp>
        <p:nvSpPr>
          <p:cNvPr id="20" name="Text 18"/>
          <p:cNvSpPr txBox="1"/>
          <p:nvPr/>
        </p:nvSpPr>
        <p:spPr>
          <a:xfrm>
            <a:off x="6693408" y="4572000"/>
            <a:ext cx="4828032" cy="10972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A gauge outside both basins on the same coast would help separate the two readings of the 23-minute peak, and would extend the event record to the years before the Senglea installation.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 SCOPE AND CONFIGURATION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Questions on scope and configuration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 and the present geometry of the entrance</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Whether the 120 m Ricasoli arm narrows the present opening bears on the computed mode.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Extent of prior work on the generation of the wave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2007 study imposes the long wave at the offshore boundary. Unpublished material, dissertations and consultancy reports may have treated its generation over the shelf, which the published record does not show.</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Currents, stratification and waves inside and near the harbours</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No instrument reports the current field or the stratification of the inner inlets. Wave validation rests on the BLUE buoy, 3.7 km offshore, the radar wave product being derived rather than measured.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Levelling datum of the bathymetry against the zeros of the tide gauges</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The offset against the gauges used for validation remains to be established.</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Storm Harry, January 2026, as the validation case</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account of the event from the monitoring network of the group would supply the storm case for the validation of the coupled wave and current configuration.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4" name="Text 2"/>
          <p:cNvSpPr txBox="1"/>
          <p:nvPr/>
        </p:nvSpPr>
        <p:spPr>
          <a:xfrm>
            <a:off x="566928" y="960120"/>
            <a:ext cx="10058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7" name="Text 5"/>
          <p:cNvSpPr txBox="1"/>
          <p:nvPr/>
        </p:nvSpPr>
        <p:spPr>
          <a:xfrm>
            <a:off x="3035808" y="196596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9FB3D1"/>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8" name="Shape 6"/>
          <p:cNvSpPr/>
          <p:nvPr/>
        </p:nvSpPr>
        <p:spPr>
          <a:xfrm>
            <a:off x="612648" y="2898648"/>
            <a:ext cx="155448" cy="155448"/>
          </a:xfrm>
          <a:prstGeom prst="ellipse">
            <a:avLst/>
          </a:prstGeom>
          <a:solidFill>
            <a:srgbClr val="CADCFC"/>
          </a:solidFill>
          <a:ln/>
        </p:spPr>
      </p:sp>
      <p:sp>
        <p:nvSpPr>
          <p:cNvPr id="9" name="Text 7"/>
          <p:cNvSpPr txBox="1"/>
          <p:nvPr/>
        </p:nvSpPr>
        <p:spPr>
          <a:xfrm>
            <a:off x="978408" y="280720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0" name="Text 8"/>
          <p:cNvSpPr txBox="1"/>
          <p:nvPr/>
        </p:nvSpPr>
        <p:spPr>
          <a:xfrm>
            <a:off x="3035808" y="280720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9FB3D1"/>
                </a:solidFill>
                <a:latin typeface="Calibri" pitchFamily="34" charset="0"/>
                <a:ea typeface="Calibri" pitchFamily="34" charset="-122"/>
                <a:cs typeface="Calibri" pitchFamily="34" charset="-120"/>
              </a:rPr>
              <a:t>Bathymetry at the heads of Msida and Pietà Creeks, remaining boundary tests, response of the mesh to a broadband impulse.</a:t>
            </a:r>
            <a:endParaRPr lang="en-US" sz="1200" dirty="0"/>
          </a:p>
        </p:txBody>
      </p:sp>
      <p:sp>
        <p:nvSpPr>
          <p:cNvPr id="11" name="Shape 9"/>
          <p:cNvSpPr/>
          <p:nvPr/>
        </p:nvSpPr>
        <p:spPr>
          <a:xfrm>
            <a:off x="612648" y="3739896"/>
            <a:ext cx="155448" cy="155448"/>
          </a:xfrm>
          <a:prstGeom prst="ellipse">
            <a:avLst/>
          </a:prstGeom>
          <a:solidFill>
            <a:srgbClr val="EB6834"/>
          </a:solidFill>
          <a:ln/>
        </p:spPr>
      </p:sp>
      <p:sp>
        <p:nvSpPr>
          <p:cNvPr id="12" name="Text 10"/>
          <p:cNvSpPr txBox="1"/>
          <p:nvPr/>
        </p:nvSpPr>
        <p:spPr>
          <a:xfrm>
            <a:off x="978408" y="3648456"/>
            <a:ext cx="2011680" cy="301752"/>
          </a:xfrm>
          <a:prstGeom prst="rect">
            <a:avLst/>
          </a:prstGeom>
          <a:noFill/>
          <a:ln/>
        </p:spPr>
        <p:txBody>
          <a:bodyPr wrap="square" lIns="0" tIns="0" rIns="0" bIns="0" rtlCol="0" anchor="t"/>
          <a:lstStyle/>
          <a:p>
            <a:pPr marL="0" indent="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3" name="Text 11"/>
          <p:cNvSpPr txBox="1"/>
          <p:nvPr/>
        </p:nvSpPr>
        <p:spPr>
          <a:xfrm>
            <a:off x="3035808" y="364845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9FB3D1"/>
                </a:solidFill>
                <a:latin typeface="Calibri" pitchFamily="34" charset="0"/>
                <a:ea typeface="Calibri" pitchFamily="34" charset="-122"/>
                <a:cs typeface="Calibri" pitchFamily="34" charset="-120"/>
              </a:rPr>
              <a:t>Delft3D User Days abstract.</a:t>
            </a:r>
            <a:endParaRPr lang="en-US" sz="1200" dirty="0"/>
          </a:p>
        </p:txBody>
      </p:sp>
      <p:sp>
        <p:nvSpPr>
          <p:cNvPr id="14" name="Shape 12"/>
          <p:cNvSpPr/>
          <p:nvPr/>
        </p:nvSpPr>
        <p:spPr>
          <a:xfrm>
            <a:off x="612648" y="4581144"/>
            <a:ext cx="155448" cy="155448"/>
          </a:xfrm>
          <a:prstGeom prst="ellipse">
            <a:avLst/>
          </a:prstGeom>
          <a:solidFill>
            <a:srgbClr val="CADCFC"/>
          </a:solidFill>
          <a:ln/>
        </p:spPr>
      </p:sp>
      <p:sp>
        <p:nvSpPr>
          <p:cNvPr id="15" name="Text 13"/>
          <p:cNvSpPr txBox="1"/>
          <p:nvPr/>
        </p:nvSpPr>
        <p:spPr>
          <a:xfrm>
            <a:off x="978408" y="448970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035808" y="448970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9FB3D1"/>
                </a:solidFill>
                <a:latin typeface="Calibri" pitchFamily="34" charset="0"/>
                <a:ea typeface="Calibri" pitchFamily="34" charset="-122"/>
                <a:cs typeface="Calibri" pitchFamily="34" charset="-120"/>
              </a:rPr>
              <a:t>Delft3D User Days at Deltares, with the configuration questions.</a:t>
            </a:r>
            <a:endParaRPr lang="en-US" sz="1200" dirty="0"/>
          </a:p>
        </p:txBody>
      </p:sp>
      <p:sp>
        <p:nvSpPr>
          <p:cNvPr id="17" name="Shape 15"/>
          <p:cNvSpPr/>
          <p:nvPr/>
        </p:nvSpPr>
        <p:spPr>
          <a:xfrm>
            <a:off x="612648" y="5422392"/>
            <a:ext cx="155448" cy="155448"/>
          </a:xfrm>
          <a:prstGeom prst="ellipse">
            <a:avLst/>
          </a:prstGeom>
          <a:solidFill>
            <a:srgbClr val="CADCFC"/>
          </a:solidFill>
          <a:ln/>
        </p:spPr>
      </p:sp>
      <p:sp>
        <p:nvSpPr>
          <p:cNvPr id="18" name="Text 16"/>
          <p:cNvSpPr txBox="1"/>
          <p:nvPr/>
        </p:nvSpPr>
        <p:spPr>
          <a:xfrm>
            <a:off x="978408" y="5330952"/>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19" name="Text 17"/>
          <p:cNvSpPr txBox="1"/>
          <p:nvPr/>
        </p:nvSpPr>
        <p:spPr>
          <a:xfrm>
            <a:off x="3035808" y="5330952"/>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9FB3D1"/>
                </a:solidFill>
                <a:latin typeface="Calibri" pitchFamily="34" charset="0"/>
                <a:ea typeface="Calibri" pitchFamily="34" charset="-122"/>
                <a:cs typeface="Calibri" pitchFamily="34" charset="-120"/>
              </a:rPr>
              <a:t>Parametric sweep in two dimensions, first three-dimensional runs.</a:t>
            </a:r>
            <a:endParaRPr lang="en-US" sz="1200" dirty="0"/>
          </a:p>
        </p:txBody>
      </p:sp>
      <p:sp>
        <p:nvSpPr>
          <p:cNvPr id="20" name="Shape 18"/>
          <p:cNvSpPr/>
          <p:nvPr/>
        </p:nvSpPr>
        <p:spPr>
          <a:xfrm>
            <a:off x="6858000" y="1965960"/>
            <a:ext cx="4764024" cy="3108960"/>
          </a:xfrm>
          <a:prstGeom prst="roundRect">
            <a:avLst>
              <a:gd name="adj" fmla="val 1765"/>
            </a:avLst>
          </a:prstGeom>
          <a:solidFill>
            <a:srgbClr val="065A82">
              <a:alpha val="70000"/>
            </a:srgbClr>
          </a:solidFill>
          <a:ln/>
        </p:spPr>
      </p:sp>
      <p:sp>
        <p:nvSpPr>
          <p:cNvPr id="21" name="Text 19"/>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2" name="Text 20"/>
          <p:cNvSpPr txBox="1"/>
          <p:nvPr/>
        </p:nvSpPr>
        <p:spPr>
          <a:xfrm>
            <a:off x="7132320" y="2542032"/>
            <a:ext cx="4206240" cy="2286000"/>
          </a:xfrm>
          <a:prstGeom prst="rect">
            <a:avLst/>
          </a:prstGeom>
          <a:noFill/>
          <a:ln/>
        </p:spPr>
        <p:txBody>
          <a:bodyPr wrap="square" lIns="0" tIns="0" rIns="0" bIns="0" rtlCol="0" anchor="ctr"/>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so that the deliverable would be a running pilot.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This would correspond to the relocatable setup requested in the design report of the group.</a:t>
            </a:r>
            <a:endParaRPr lang="en-US" sz="1150" dirty="0"/>
          </a:p>
        </p:txBody>
      </p:sp>
      <p:sp>
        <p:nvSpPr>
          <p:cNvPr id="23" name="Text 21"/>
          <p:cNvSpPr txBox="1"/>
          <p:nvPr/>
        </p:nvSpPr>
        <p:spPr>
          <a:xfrm>
            <a:off x="566928" y="6199632"/>
            <a:ext cx="5852160" cy="274320"/>
          </a:xfrm>
          <a:prstGeom prst="rect">
            <a:avLst/>
          </a:prstGeom>
          <a:noFill/>
          <a:ln/>
        </p:spPr>
        <p:txBody>
          <a:bodyPr wrap="square" lIns="0" tIns="0" rIns="0" bIns="0" rtlCol="0" anchor="ctr"/>
          <a:lstStyle/>
          <a:p>
            <a:pPr marL="0" indent="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4863</Words>
  <Application>Microsoft Office PowerPoint</Application>
  <PresentationFormat>Widescreen</PresentationFormat>
  <Paragraphs>412</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 first results and open questions</dc:title>
  <dc:subject>PptxGenJS Presentation</dc:subject>
  <dc:creator>Cicero Martins Jr</dc:creator>
  <cp:lastModifiedBy>CICERO MARTINS JUNIOR</cp:lastModifiedBy>
  <cp:revision>2</cp:revision>
  <dcterms:created xsi:type="dcterms:W3CDTF">2026-10-08T10:21:15Z</dcterms:created>
  <dcterms:modified xsi:type="dcterms:W3CDTF">2026-10-08T10:21:16Z</dcterms:modified>
</cp:coreProperties>
</file>