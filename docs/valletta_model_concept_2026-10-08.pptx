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75"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199151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concept, the results obtained on the geometry, the open boundary, the Senglea record and the mesh, and the matters on which the continuation depends.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27938338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contribution is framework reusability, and Valletta constitutes the harder test.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 m grids are the contribution of the group to EMODnet. The public product gives the inlets one to three cells.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three-stage chain organises the study and determines the domain.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proposed domain follows from this table. The CMEMS boundary product is not expected to carry energy in the band. The harbour rows come from a one-dimensional eigenvalue calculation on the measured profile and are tested against the Senglea record on the following slide.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estimate comes from the long-wave eigenproblem of a channel of varying section, g d/dx(a dη/dx) + ω² b η = 0, solved on the cross-section a(x) and the surface width b(x) measured along the geodesic distance from the mouth, with the mouth correction of Rabinovich (2009, eq. 9.16). It is one-dimensional and first-order. Panels, from the upper left. The mean spectrum with its background, the milgħuba band shaded grey and the estimated basin band shaded blue. The ratio of the spectrum to the background. The largest oscillation of the admitted windows, 8 November 2021, with a range of 0.35 m. The amplitude ratio against the gauges outside the harbour. The peaks recur on practically every day of both windows, which points to the geometry rather than to the forcing. The section at the entrance is within 6 per cent of the median section of the basin, which suggests that the inertia of the mode is distributed along the harbour. Whether the Ricasoli arm narrows the real opening is unresolved, and a narrower opening would alter that reading.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shows the one-minute level after quality control and the daily coverage, with the two admitted windows shaded and the three events reported since installation marked in orange. On 30 June 2022 the record is absent and resumes on 1 July. In July 2023 and June 2024 the level sits some 2 m above its earlier position with coverage near a half, the gauge transmitting by day only. Sources for the events. University of Malta Newspoint for 2018 and 2019, Newsbook for 2022, MaltaToday for 2023 and 2024, the last citing the Oceanography Malta Research Group. Portomaso returns no data from the IOC facility on those dates. The choice of windows rests on monthly coverage and stability of the level and is to be confirmed within the group.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Domain B, roughly 86 by 66 km, east to 15 degrees, short of the escarpment. Stopping there is also what keeps sigma layers defensible.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for Deltares concerns whether sigma holds from 15 m to 150 m, or whether a z-sigma hybrid is indicated. The wave nest was sized from the width of the harbour entrances and landed within a quarter of the resolution already in use on this coast, which is an independent check on the choice.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panel shows the face size over the domain and the right panel the two harbours, with the 15 m cells in the channels narrower than 150 m. Coastal zones of 1 km and 5 km cost 37 per cent less than zones of 2 km and 15 km, with the time step and the harbour response unchanged, since the time step is set by the 15 m cells alone. Refinement carried out directly in degrees yields transitions that FM rejects as not orthogonal, which is why the mesh is built in UTM. Open matters are one edge at 0.553 in the meshkernel orthogonality measure, 1,050 shore faces with a bed at or above zero, and the gaps of the 10 m grid at the heads of Msida and Pietà Creeks.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Panels, from the upper left. The record in the channel, where the prescribed level returns the pulse inverted and almost undiminished while the Riemann record follows the reference. A boundary cell of the square basin at 22.5 degrees. The reflection coefficient against incidence angle, with first-order theory dashed. The volume retained in the basin, which the prescribed level holds as a trapped mode. The reflected wave is the difference between each case and the reference, so incident and reflected waves need not be separated in time. The Riemann condition assumes a plane wave at normal incidence over a fluid at rest, which is why the four production cases remain to be tested. Laksono et al. (2026) apply the same boundary over the Sicilian Channel for the same reason.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relocatability requirement of the design report corresponds to the framework-transfer argument of the thesis, and the porting log is the evidence for it. The study complements the operational system in a band and at a resolution the forecasting configuration is not designed for.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accompanying questions depend on the principal one and are ordered by that dependence. The renewal question has independent standing under the Water Framework Directive and exercises the three-dimensional and Lagrangian components of the framework. The question on the mouth is retained only if the group considers it appropriate, given the public project on the Grand Harbour entrance. On the measured profile its effect on the mode is of the same order as a metre of sea level rise, 3.1 per cent, while the Helmholtz scaling would overstate it by a factor of three to ten, and the effect on exchange is expected to be the larger one.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sweep is two-dimensional because the long wave is barotropic, its wavelength being hundreds of times the depth, so a depth-averaged model carries it and the vertical structure adds cost without adding to the answer. Three dimensions are reserved for the hindcast and for renewal, where stratification and vertical shear matter. The number of speeds, directions and widths is a proposal sized for cost, 96 scenarios of half a simulated day, and is open to revision. A repetition over a modified mouth would double it. The validation hindcast draws on the BLUE buoy, the HF radar and the tide gauges, and Storm Harry of January 2026 is a candidate case.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two determine whether the response surface can be tested against events at all. The remainder shape the scope and the configuration.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broadband impulse yields the modal structure of the harbours on the mesh, which decides between the two readings of the 23-minute peak. The remaining boundary tests are the residual current, the non-zero incoming signal from CMEMS and a pressure disturbance crossing the boundary. The sweep precedes the three-dimensional runs because it needs only the mesh, the boundary and the pressure field, whereas those runs need the full forcing chain. A few scenarios on a larger domain would show whether the extent truncates the Proudman stage. The bathymetry at the heads of Msida and Pietà Creeks is to be completed before the inlets are relied upon. The block of 27 October to 21 November loses four working days to Delft and holds fifteen rather than nineteen. The EDITO deployment is conditional on the configuration proving stable in time, and it belongs to the last block of the period alongside the integration into the ocean.mt portal.</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hyperlink" Target="https://github.com/cicero-martins/MaltaDT"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A5D452BF-98F1-D2B1-1278-01A9ACEBAB98}"/>
              </a:ext>
            </a:extLst>
          </p:cNvPr>
          <p:cNvPicPr>
            <a:picLocks noChangeAspect="1"/>
          </p:cNvPicPr>
          <p:nvPr/>
        </p:nvPicPr>
        <p:blipFill>
          <a:blip r:embed="rId3">
            <a:duotone>
              <a:prstClr val="black"/>
              <a:schemeClr val="accent1">
                <a:tint val="45000"/>
                <a:satMod val="400000"/>
              </a:schemeClr>
            </a:duotone>
          </a:blip>
          <a:srcRect t="25333"/>
          <a:stretch>
            <a:fillRect/>
          </a:stretch>
        </p:blipFill>
        <p:spPr>
          <a:xfrm>
            <a:off x="0" y="0"/>
            <a:ext cx="12242447" cy="6858000"/>
          </a:xfrm>
          <a:prstGeom prst="rect">
            <a:avLst/>
          </a:prstGeom>
        </p:spPr>
      </p:pic>
      <p:sp>
        <p:nvSpPr>
          <p:cNvPr id="2" name="Shape 0"/>
          <p:cNvSpPr/>
          <p:nvPr/>
        </p:nvSpPr>
        <p:spPr>
          <a:xfrm>
            <a:off x="8503920" y="-1280160"/>
            <a:ext cx="5120640" cy="5120640"/>
          </a:xfrm>
          <a:prstGeom prst="ellipse">
            <a:avLst/>
          </a:prstGeom>
          <a:solidFill>
            <a:srgbClr val="065A82">
              <a:alpha val="45000"/>
            </a:srgbClr>
          </a:solidFill>
          <a:ln/>
        </p:spPr>
        <p:txBody>
          <a:bodyPr/>
          <a:lstStyle/>
          <a:p>
            <a:endParaRPr lang="it-IT"/>
          </a:p>
        </p:txBody>
      </p:sp>
      <p:sp>
        <p:nvSpPr>
          <p:cNvPr id="3" name="Shape 1"/>
          <p:cNvSpPr/>
          <p:nvPr/>
        </p:nvSpPr>
        <p:spPr>
          <a:xfrm>
            <a:off x="10058400" y="3108960"/>
            <a:ext cx="2377440" cy="2377440"/>
          </a:xfrm>
          <a:prstGeom prst="ellipse">
            <a:avLst/>
          </a:prstGeom>
          <a:solidFill>
            <a:srgbClr val="EB6834">
              <a:alpha val="30000"/>
            </a:srgbClr>
          </a:solidFill>
          <a:ln/>
        </p:spPr>
        <p:txBody>
          <a:bodyPr/>
          <a:lstStyle/>
          <a:p>
            <a:endParaRPr lang="it-IT"/>
          </a:p>
        </p:txBody>
      </p:sp>
      <p:sp>
        <p:nvSpPr>
          <p:cNvPr id="5" name="Text 3"/>
          <p:cNvSpPr txBox="1"/>
          <p:nvPr/>
        </p:nvSpPr>
        <p:spPr>
          <a:xfrm>
            <a:off x="543384" y="896112"/>
            <a:ext cx="7863840" cy="86868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The Valletta harbour system</a:t>
            </a:r>
            <a:endParaRPr lang="en-US" sz="4000" dirty="0"/>
          </a:p>
        </p:txBody>
      </p:sp>
      <p:sp>
        <p:nvSpPr>
          <p:cNvPr id="6" name="Text 4"/>
          <p:cNvSpPr txBox="1"/>
          <p:nvPr/>
        </p:nvSpPr>
        <p:spPr>
          <a:xfrm>
            <a:off x="543384" y="1609344"/>
            <a:ext cx="7863840" cy="457200"/>
          </a:xfrm>
          <a:prstGeom prst="rect">
            <a:avLst/>
          </a:prstGeom>
          <a:noFill/>
          <a:ln/>
        </p:spPr>
        <p:txBody>
          <a:bodyPr wrap="square" lIns="0" tIns="0" rIns="0" bIns="0" rtlCol="0" anchor="ctr"/>
          <a:lstStyle/>
          <a:p>
            <a:pPr marL="0" indent="0">
              <a:buNone/>
            </a:pPr>
            <a:r>
              <a:rPr lang="en-US" sz="1900" dirty="0">
                <a:solidFill>
                  <a:srgbClr val="CADCFC"/>
                </a:solidFill>
                <a:latin typeface="Calibri" pitchFamily="34" charset="0"/>
                <a:ea typeface="Calibri" pitchFamily="34" charset="-122"/>
                <a:cs typeface="Calibri" pitchFamily="34" charset="-120"/>
              </a:rPr>
              <a:t>Model concept, first results and open questions</a:t>
            </a:r>
            <a:endParaRPr lang="en-US" sz="1900" dirty="0"/>
          </a:p>
        </p:txBody>
      </p:sp>
      <p:sp>
        <p:nvSpPr>
          <p:cNvPr id="7" name="Text 5"/>
          <p:cNvSpPr txBox="1"/>
          <p:nvPr/>
        </p:nvSpPr>
        <p:spPr>
          <a:xfrm>
            <a:off x="640080" y="5244084"/>
            <a:ext cx="7863840" cy="27432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Cicero Martins Jr</a:t>
            </a:r>
            <a:r>
              <a:rPr lang="en-US" sz="1300" dirty="0">
                <a:solidFill>
                  <a:srgbClr val="9FB3D1"/>
                </a:solidFill>
                <a:latin typeface="Calibri" pitchFamily="34" charset="0"/>
                <a:ea typeface="Calibri" pitchFamily="34" charset="-122"/>
                <a:cs typeface="Calibri" pitchFamily="34" charset="-120"/>
              </a:rPr>
              <a:t>   Università degli Studi di Palermo</a:t>
            </a:r>
            <a:endParaRPr lang="en-US" sz="1300" dirty="0"/>
          </a:p>
        </p:txBody>
      </p:sp>
      <p:sp>
        <p:nvSpPr>
          <p:cNvPr id="8" name="Text 6"/>
          <p:cNvSpPr txBox="1"/>
          <p:nvPr/>
        </p:nvSpPr>
        <p:spPr>
          <a:xfrm>
            <a:off x="640080" y="5545836"/>
            <a:ext cx="7863840" cy="274320"/>
          </a:xfrm>
          <a:prstGeom prst="rect">
            <a:avLst/>
          </a:prstGeom>
          <a:noFill/>
          <a:ln/>
        </p:spPr>
        <p:txBody>
          <a:bodyPr wrap="square" lIns="0" tIns="0" rIns="0" bIns="0" rtlCol="0" anchor="ctr"/>
          <a:lstStyle/>
          <a:p>
            <a:pPr marL="0" indent="0">
              <a:buNone/>
            </a:pPr>
            <a:r>
              <a:rPr lang="en-US" sz="1200" dirty="0">
                <a:solidFill>
                  <a:srgbClr val="9FB3D1"/>
                </a:solidFill>
                <a:latin typeface="Calibri" pitchFamily="34" charset="0"/>
                <a:ea typeface="Calibri" pitchFamily="34" charset="-122"/>
                <a:cs typeface="Calibri" pitchFamily="34" charset="-120"/>
              </a:rPr>
              <a:t>Visiting researcher, Oceanography Malta Research Group, University of Malta</a:t>
            </a:r>
            <a:endParaRPr lang="en-US" sz="1200" dirty="0"/>
          </a:p>
        </p:txBody>
      </p:sp>
      <p:sp>
        <p:nvSpPr>
          <p:cNvPr id="9" name="Text 7"/>
          <p:cNvSpPr txBox="1"/>
          <p:nvPr/>
        </p:nvSpPr>
        <p:spPr>
          <a:xfrm>
            <a:off x="640080" y="5856732"/>
            <a:ext cx="7863840" cy="274320"/>
          </a:xfrm>
          <a:prstGeom prst="rect">
            <a:avLst/>
          </a:prstGeom>
          <a:noFill/>
          <a:ln/>
        </p:spPr>
        <p:txBody>
          <a:bodyPr wrap="square" lIns="0" tIns="0" rIns="0" bIns="0" rtlCol="0" anchor="ctr"/>
          <a:lstStyle/>
          <a:p>
            <a:pPr marL="0" indent="0">
              <a:buNone/>
            </a:pPr>
            <a:r>
              <a:rPr lang="en-US" sz="1200" dirty="0">
                <a:solidFill>
                  <a:srgbClr val="9FB3D1"/>
                </a:solidFill>
                <a:latin typeface="Calibri" pitchFamily="34" charset="0"/>
                <a:ea typeface="Calibri" pitchFamily="34" charset="-122"/>
                <a:cs typeface="Calibri" pitchFamily="34" charset="-120"/>
              </a:rPr>
              <a:t>8 October 2026</a:t>
            </a:r>
            <a:endParaRPr lang="en-US" sz="1200" dirty="0"/>
          </a:p>
        </p:txBody>
      </p:sp>
      <p:pic>
        <p:nvPicPr>
          <p:cNvPr id="15" name="Picture 14">
            <a:extLst>
              <a:ext uri="{FF2B5EF4-FFF2-40B4-BE49-F238E27FC236}">
                <a16:creationId xmlns:a16="http://schemas.microsoft.com/office/drawing/2014/main" id="{D10377BC-A5F7-014E-C646-AF837566B665}"/>
              </a:ext>
            </a:extLst>
          </p:cNvPr>
          <p:cNvPicPr>
            <a:picLocks noChangeAspect="1"/>
          </p:cNvPicPr>
          <p:nvPr/>
        </p:nvPicPr>
        <p:blipFill>
          <a:blip r:embed="rId4">
            <a:duotone>
              <a:schemeClr val="accent5">
                <a:shade val="45000"/>
                <a:satMod val="135000"/>
              </a:schemeClr>
              <a:prstClr val="white"/>
            </a:duotone>
          </a:blip>
          <a:srcRect/>
          <a:stretch>
            <a:fillRect/>
          </a:stretch>
        </p:blipFill>
        <p:spPr>
          <a:xfrm>
            <a:off x="7685285" y="5784622"/>
            <a:ext cx="1925665" cy="640080"/>
          </a:xfrm>
          <a:prstGeom prst="rect">
            <a:avLst/>
          </a:prstGeom>
        </p:spPr>
      </p:pic>
      <p:pic>
        <p:nvPicPr>
          <p:cNvPr id="17" name="Picture 16">
            <a:extLst>
              <a:ext uri="{FF2B5EF4-FFF2-40B4-BE49-F238E27FC236}">
                <a16:creationId xmlns:a16="http://schemas.microsoft.com/office/drawing/2014/main" id="{845C1843-FD29-2BD6-C731-6C4C006CFE7A}"/>
              </a:ext>
            </a:extLst>
          </p:cNvPr>
          <p:cNvPicPr>
            <a:picLocks noChangeAspect="1"/>
          </p:cNvPicPr>
          <p:nvPr/>
        </p:nvPicPr>
        <p:blipFill>
          <a:blip r:embed="rId5">
            <a:duotone>
              <a:schemeClr val="accent5">
                <a:shade val="45000"/>
                <a:satMod val="135000"/>
              </a:schemeClr>
              <a:prstClr val="white"/>
            </a:duotone>
          </a:blip>
          <a:stretch>
            <a:fillRect/>
          </a:stretch>
        </p:blipFill>
        <p:spPr>
          <a:xfrm>
            <a:off x="8841638" y="5545836"/>
            <a:ext cx="3594202" cy="1103483"/>
          </a:xfrm>
          <a:prstGeom prst="rect">
            <a:avLst/>
          </a:prstGeom>
        </p:spPr>
      </p:pic>
    </p:spTree>
    <p:extLst>
      <p:ext uri="{BB962C8B-B14F-4D97-AF65-F5344CB8AC3E}">
        <p14:creationId xmlns:p14="http://schemas.microsoft.com/office/powerpoint/2010/main" val="39984492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ORIGIN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A framework carried across archetype</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The solver and the assembly are unchanged, while the governing physics differs.</a:t>
            </a:r>
            <a:endParaRPr lang="en-US" sz="1400" dirty="0"/>
          </a:p>
        </p:txBody>
      </p:sp>
      <p:sp>
        <p:nvSpPr>
          <p:cNvPr id="5" name="Text 3"/>
          <p:cNvSpPr txBox="1"/>
          <p:nvPr/>
        </p:nvSpPr>
        <p:spPr>
          <a:xfrm>
            <a:off x="566928" y="2057400"/>
            <a:ext cx="5212080" cy="2743200"/>
          </a:xfrm>
          <a:prstGeom prst="rect">
            <a:avLst/>
          </a:prstGeom>
          <a:noFill/>
          <a:ln/>
        </p:spPr>
        <p:txBody>
          <a:bodyPr wrap="square" lIns="0" tIns="0" rIns="0" bIns="0" rtlCol="0" anchor="ctr"/>
          <a:lstStyle/>
          <a:p>
            <a:pPr marL="0" indent="0">
              <a:lnSpc>
                <a:spcPts val="2200"/>
              </a:lnSpc>
              <a:spcAft>
                <a:spcPts val="1000"/>
              </a:spcAft>
              <a:buNone/>
            </a:pPr>
            <a:r>
              <a:rPr lang="en-US" sz="1450" dirty="0">
                <a:solidFill>
                  <a:srgbClr val="1A1A1A"/>
                </a:solidFill>
                <a:latin typeface="Calibri" pitchFamily="34" charset="0"/>
                <a:ea typeface="Calibri" pitchFamily="34" charset="-122"/>
                <a:cs typeface="Calibri" pitchFamily="34" charset="-120"/>
              </a:rPr>
              <a:t>The framework originates in the Stagnone di Marsala digital twin, a coupled Delft3D FM and SWAN model of a shallow vegetated lagoon in western Sicily.</a:t>
            </a:r>
            <a:endParaRPr lang="en-US" sz="1450" dirty="0"/>
          </a:p>
          <a:p>
            <a:pPr marL="0" indent="0">
              <a:lnSpc>
                <a:spcPts val="2200"/>
              </a:lnSpc>
              <a:spcAft>
                <a:spcPts val="1000"/>
              </a:spcAft>
              <a:buNone/>
            </a:pPr>
            <a:r>
              <a:rPr lang="en-US" sz="1450" dirty="0">
                <a:solidFill>
                  <a:srgbClr val="1A1A1A"/>
                </a:solidFill>
                <a:latin typeface="Calibri" pitchFamily="34" charset="0"/>
                <a:ea typeface="Calibri" pitchFamily="34" charset="-122"/>
                <a:cs typeface="Calibri" pitchFamily="34" charset="-120"/>
              </a:rPr>
              <a:t>A transfer to a second lagoon would remain within a single archetype and would test little. A transfer to a deep engineered harbour tests whether the pipeline is reusable or was fitted to one site.</a:t>
            </a:r>
            <a:endParaRPr lang="en-US" sz="1450" dirty="0"/>
          </a:p>
          <a:p>
            <a:pPr marL="0" indent="0">
              <a:lnSpc>
                <a:spcPts val="2200"/>
              </a:lnSpc>
              <a:buNone/>
            </a:pPr>
            <a:r>
              <a:rPr lang="en-US" sz="1450" dirty="0">
                <a:solidFill>
                  <a:srgbClr val="1A1A1A"/>
                </a:solidFill>
                <a:latin typeface="Calibri" pitchFamily="34" charset="0"/>
                <a:ea typeface="Calibri" pitchFamily="34" charset="-122"/>
                <a:cs typeface="Calibri" pitchFamily="34" charset="-120"/>
              </a:rPr>
              <a:t>The stages that transfer constitute the reuse. Those that do not mark where the generality of the framework ends, and they are recorded as such.</a:t>
            </a:r>
            <a:endParaRPr lang="en-US" sz="14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263640" y="2057400"/>
          <a:ext cx="5358384" cy="914400"/>
        </p:xfrm>
        <a:graphic>
          <a:graphicData uri="http://schemas.openxmlformats.org/drawingml/2006/table">
            <a:tbl>
              <a:tblPr/>
              <a:tblGrid>
                <a:gridCol w="1700784">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420624">
                <a:tc>
                  <a:txBody>
                    <a:bodyPr/>
                    <a:lstStyle/>
                    <a:p>
                      <a:pPr marL="0" indent="0">
                        <a:buNone/>
                      </a:pP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065A82"/>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Stagnone</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065A82"/>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Valletta</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420624">
                <a:tc>
                  <a:txBody>
                    <a:bodyPr/>
                    <a:lstStyle/>
                    <a:p>
                      <a:pPr marL="0" indent="0">
                        <a:buNone/>
                      </a:pPr>
                      <a:r>
                        <a:rPr lang="en-US" sz="1250" b="1" dirty="0">
                          <a:solidFill>
                            <a:srgbClr val="1A1A1A"/>
                          </a:solidFill>
                          <a:latin typeface="Calibri" pitchFamily="34" charset="0"/>
                          <a:ea typeface="Calibri" pitchFamily="34" charset="-122"/>
                          <a:cs typeface="Calibri" pitchFamily="34" charset="-120"/>
                        </a:rPr>
                        <a:t>Depth</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sub-metre</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12 to 20 m</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a:buNone/>
                      </a:pPr>
                      <a:r>
                        <a:rPr lang="en-US" sz="1250" b="1" dirty="0">
                          <a:solidFill>
                            <a:srgbClr val="1A1A1A"/>
                          </a:solidFill>
                          <a:latin typeface="Calibri" pitchFamily="34" charset="0"/>
                          <a:ea typeface="Calibri" pitchFamily="34" charset="-122"/>
                          <a:cs typeface="Calibri" pitchFamily="34" charset="-120"/>
                        </a:rPr>
                        <a:t>Bed</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seagrass canopy</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engineered, quay walls</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420624">
                <a:tc>
                  <a:txBody>
                    <a:bodyPr/>
                    <a:lstStyle/>
                    <a:p>
                      <a:pPr marL="0" indent="0">
                        <a:buNone/>
                      </a:pPr>
                      <a:r>
                        <a:rPr lang="en-US" sz="1250" b="1" dirty="0">
                          <a:solidFill>
                            <a:srgbClr val="1A1A1A"/>
                          </a:solidFill>
                          <a:latin typeface="Calibri" pitchFamily="34" charset="0"/>
                          <a:ea typeface="Calibri" pitchFamily="34" charset="-122"/>
                          <a:cs typeface="Calibri" pitchFamily="34" charset="-120"/>
                        </a:rPr>
                        <a:t>Boundary signal</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tide</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long wave, atmospheric</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a:buNone/>
                      </a:pPr>
                      <a:r>
                        <a:rPr lang="en-US" sz="1250" b="1" dirty="0">
                          <a:solidFill>
                            <a:srgbClr val="1A1A1A"/>
                          </a:solidFill>
                          <a:latin typeface="Calibri" pitchFamily="34" charset="0"/>
                          <a:ea typeface="Calibri" pitchFamily="34" charset="-122"/>
                          <a:cs typeface="Calibri" pitchFamily="34" charset="-120"/>
                        </a:rPr>
                        <a:t>Circulation driver</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wind</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the same long wave</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extLst>
                  <a:ext uri="{0D108BD9-81ED-4DB2-BD59-A6C34878D82A}">
                    <a16:rowId xmlns:a16="http://schemas.microsoft.com/office/drawing/2014/main" val="10004"/>
                  </a:ext>
                </a:extLst>
              </a:tr>
            </a:tbl>
          </a:graphicData>
        </a:graphic>
      </p:graphicFrame>
      <p:sp>
        <p:nvSpPr>
          <p:cNvPr id="7" name="Text 4"/>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The transfer effort is logged stage by stage as transferred, re-parameterised or not applicable. That log constitutes the methodological result.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AVAILABLE DATA</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Bathymetry and coastline, co-registered</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CDI 4036_MEPA and the national coastline, from the holdings of the group.</a:t>
            </a:r>
            <a:endParaRPr lang="en-US" sz="1400" dirty="0"/>
          </a:p>
        </p:txBody>
      </p:sp>
      <p:sp>
        <p:nvSpPr>
          <p:cNvPr id="5" name="Text 3"/>
          <p:cNvSpPr txBox="1"/>
          <p:nvPr/>
        </p:nvSpPr>
        <p:spPr>
          <a:xfrm>
            <a:off x="566928" y="2057400"/>
            <a:ext cx="2286000" cy="475488"/>
          </a:xfrm>
          <a:prstGeom prst="rect">
            <a:avLst/>
          </a:prstGeom>
          <a:noFill/>
          <a:ln/>
        </p:spPr>
        <p:txBody>
          <a:bodyPr wrap="square" lIns="0" tIns="0" rIns="0" bIns="0" rtlCol="0" anchor="ctr"/>
          <a:lstStyle/>
          <a:p>
            <a:pPr marL="0" indent="0">
              <a:buNone/>
            </a:pPr>
            <a:r>
              <a:rPr lang="en-US" sz="2700" b="1" dirty="0">
                <a:solidFill>
                  <a:srgbClr val="065A82"/>
                </a:solidFill>
                <a:latin typeface="Cambria" pitchFamily="34" charset="0"/>
                <a:ea typeface="Cambria" pitchFamily="34" charset="-122"/>
                <a:cs typeface="Cambria" pitchFamily="34" charset="-120"/>
              </a:rPr>
              <a:t>10 m</a:t>
            </a:r>
            <a:endParaRPr lang="en-US" sz="2700" dirty="0"/>
          </a:p>
        </p:txBody>
      </p:sp>
      <p:sp>
        <p:nvSpPr>
          <p:cNvPr id="6" name="Text 4"/>
          <p:cNvSpPr txBox="1"/>
          <p:nvPr/>
        </p:nvSpPr>
        <p:spPr>
          <a:xfrm>
            <a:off x="566928" y="2532888"/>
            <a:ext cx="3108960" cy="548640"/>
          </a:xfrm>
          <a:prstGeom prst="rect">
            <a:avLst/>
          </a:prstGeom>
          <a:noFill/>
          <a:ln/>
        </p:spPr>
        <p:txBody>
          <a:bodyPr wrap="square" lIns="0" tIns="0" rIns="0" bIns="0" rtlCol="0" anchor="ctr"/>
          <a:lstStyle/>
          <a:p>
            <a:pPr marL="0" indent="0">
              <a:buNone/>
            </a:pPr>
            <a:r>
              <a:rPr lang="en-US" sz="1200" dirty="0">
                <a:solidFill>
                  <a:srgbClr val="5F6368"/>
                </a:solidFill>
                <a:latin typeface="Calibri" pitchFamily="34" charset="0"/>
                <a:ea typeface="Calibri" pitchFamily="34" charset="-122"/>
                <a:cs typeface="Calibri" pitchFamily="34" charset="-120"/>
              </a:rPr>
              <a:t>merged LiDAR and sonar,</a:t>
            </a:r>
            <a:endParaRPr lang="en-US" sz="1200" dirty="0"/>
          </a:p>
          <a:p>
            <a:pPr marL="0" indent="0">
              <a:buNone/>
            </a:pPr>
            <a:r>
              <a:rPr lang="en-US" sz="1200" dirty="0">
                <a:solidFill>
                  <a:srgbClr val="5F6368"/>
                </a:solidFill>
                <a:latin typeface="Calibri" pitchFamily="34" charset="0"/>
                <a:ea typeface="Calibri" pitchFamily="34" charset="-122"/>
                <a:cs typeface="Calibri" pitchFamily="34" charset="-120"/>
              </a:rPr>
              <a:t>CDI 4036_MEPA</a:t>
            </a:r>
            <a:endParaRPr lang="en-US" sz="1200" dirty="0"/>
          </a:p>
        </p:txBody>
      </p:sp>
      <p:sp>
        <p:nvSpPr>
          <p:cNvPr id="7" name="Text 5"/>
          <p:cNvSpPr txBox="1"/>
          <p:nvPr/>
        </p:nvSpPr>
        <p:spPr>
          <a:xfrm>
            <a:off x="566928" y="3227832"/>
            <a:ext cx="2286000" cy="475488"/>
          </a:xfrm>
          <a:prstGeom prst="rect">
            <a:avLst/>
          </a:prstGeom>
          <a:noFill/>
          <a:ln/>
        </p:spPr>
        <p:txBody>
          <a:bodyPr wrap="square" lIns="0" tIns="0" rIns="0" bIns="0" rtlCol="0" anchor="ctr"/>
          <a:lstStyle/>
          <a:p>
            <a:pPr marL="0" indent="0">
              <a:buNone/>
            </a:pPr>
            <a:r>
              <a:rPr lang="en-US" sz="2700" b="1" dirty="0">
                <a:solidFill>
                  <a:srgbClr val="EB6834"/>
                </a:solidFill>
                <a:latin typeface="Cambria" pitchFamily="34" charset="0"/>
                <a:ea typeface="Cambria" pitchFamily="34" charset="-122"/>
                <a:cs typeface="Cambria" pitchFamily="34" charset="-120"/>
              </a:rPr>
              <a:t>174 to 256×</a:t>
            </a:r>
            <a:endParaRPr lang="en-US" sz="2700" dirty="0"/>
          </a:p>
        </p:txBody>
      </p:sp>
      <p:sp>
        <p:nvSpPr>
          <p:cNvPr id="8" name="Text 6"/>
          <p:cNvSpPr txBox="1"/>
          <p:nvPr/>
        </p:nvSpPr>
        <p:spPr>
          <a:xfrm>
            <a:off x="566928" y="3703320"/>
            <a:ext cx="3108960" cy="548640"/>
          </a:xfrm>
          <a:prstGeom prst="rect">
            <a:avLst/>
          </a:prstGeom>
          <a:noFill/>
          <a:ln/>
        </p:spPr>
        <p:txBody>
          <a:bodyPr wrap="square" lIns="0" tIns="0" rIns="0" bIns="0" rtlCol="0" anchor="ctr"/>
          <a:lstStyle/>
          <a:p>
            <a:pPr marL="0" indent="0">
              <a:buNone/>
            </a:pPr>
            <a:r>
              <a:rPr lang="en-US" sz="1200" dirty="0">
                <a:solidFill>
                  <a:srgbClr val="5F6368"/>
                </a:solidFill>
                <a:latin typeface="Calibri" pitchFamily="34" charset="0"/>
                <a:ea typeface="Calibri" pitchFamily="34" charset="-122"/>
                <a:cs typeface="Calibri" pitchFamily="34" charset="-120"/>
              </a:rPr>
              <a:t>more resolved water cells</a:t>
            </a:r>
            <a:endParaRPr lang="en-US" sz="1200" dirty="0"/>
          </a:p>
          <a:p>
            <a:pPr marL="0" indent="0">
              <a:buNone/>
            </a:pPr>
            <a:r>
              <a:rPr lang="en-US" sz="1200" dirty="0">
                <a:solidFill>
                  <a:srgbClr val="5F6368"/>
                </a:solidFill>
                <a:latin typeface="Calibri" pitchFamily="34" charset="0"/>
                <a:ea typeface="Calibri" pitchFamily="34" charset="-122"/>
                <a:cs typeface="Calibri" pitchFamily="34" charset="-120"/>
              </a:rPr>
              <a:t>than the public EMODnet product</a:t>
            </a:r>
            <a:endParaRPr lang="en-US" sz="1200" dirty="0"/>
          </a:p>
        </p:txBody>
      </p:sp>
      <p:sp>
        <p:nvSpPr>
          <p:cNvPr id="9" name="Text 7"/>
          <p:cNvSpPr txBox="1"/>
          <p:nvPr/>
        </p:nvSpPr>
        <p:spPr>
          <a:xfrm>
            <a:off x="566928" y="4398264"/>
            <a:ext cx="2286000" cy="475488"/>
          </a:xfrm>
          <a:prstGeom prst="rect">
            <a:avLst/>
          </a:prstGeom>
          <a:noFill/>
          <a:ln/>
        </p:spPr>
        <p:txBody>
          <a:bodyPr wrap="square" lIns="0" tIns="0" rIns="0" bIns="0" rtlCol="0" anchor="ctr"/>
          <a:lstStyle/>
          <a:p>
            <a:pPr marL="0" indent="0">
              <a:buNone/>
            </a:pPr>
            <a:r>
              <a:rPr lang="en-US" sz="2700" b="1" dirty="0">
                <a:solidFill>
                  <a:srgbClr val="065A82"/>
                </a:solidFill>
                <a:latin typeface="Cambria" pitchFamily="34" charset="0"/>
                <a:ea typeface="Cambria" pitchFamily="34" charset="-122"/>
                <a:cs typeface="Cambria" pitchFamily="34" charset="-120"/>
              </a:rPr>
              <a:t>99.5 %</a:t>
            </a:r>
            <a:endParaRPr lang="en-US" sz="2700" dirty="0"/>
          </a:p>
        </p:txBody>
      </p:sp>
      <p:sp>
        <p:nvSpPr>
          <p:cNvPr id="10" name="Text 8"/>
          <p:cNvSpPr txBox="1"/>
          <p:nvPr/>
        </p:nvSpPr>
        <p:spPr>
          <a:xfrm>
            <a:off x="566928" y="4873752"/>
            <a:ext cx="3108960" cy="548640"/>
          </a:xfrm>
          <a:prstGeom prst="rect">
            <a:avLst/>
          </a:prstGeom>
          <a:noFill/>
          <a:ln/>
        </p:spPr>
        <p:txBody>
          <a:bodyPr wrap="square" lIns="0" tIns="0" rIns="0" bIns="0" rtlCol="0" anchor="ctr"/>
          <a:lstStyle/>
          <a:p>
            <a:pPr marL="0" indent="0">
              <a:buNone/>
            </a:pPr>
            <a:r>
              <a:rPr lang="en-US" sz="1200" dirty="0">
                <a:solidFill>
                  <a:srgbClr val="5F6368"/>
                </a:solidFill>
                <a:latin typeface="Calibri" pitchFamily="34" charset="0"/>
                <a:ea typeface="Calibri" pitchFamily="34" charset="-122"/>
                <a:cs typeface="Calibri" pitchFamily="34" charset="-120"/>
              </a:rPr>
              <a:t>land and water agreement</a:t>
            </a:r>
            <a:endParaRPr lang="en-US" sz="1200" dirty="0"/>
          </a:p>
          <a:p>
            <a:pPr marL="0" indent="0">
              <a:buNone/>
            </a:pPr>
            <a:r>
              <a:rPr lang="en-US" sz="1200" dirty="0">
                <a:solidFill>
                  <a:srgbClr val="5F6368"/>
                </a:solidFill>
                <a:latin typeface="Calibri" pitchFamily="34" charset="0"/>
                <a:ea typeface="Calibri" pitchFamily="34" charset="-122"/>
                <a:cs typeface="Calibri" pitchFamily="34" charset="-120"/>
              </a:rPr>
              <a:t>with the coastline</a:t>
            </a:r>
            <a:endParaRPr lang="en-US" sz="1200" dirty="0"/>
          </a:p>
        </p:txBody>
      </p:sp>
      <p:pic>
        <p:nvPicPr>
          <p:cNvPr id="11" name="Image 0" descr="C:\Users\Unipa\Documents\MaltaDT\figures\bathymetry_overview.png"/>
          <p:cNvPicPr>
            <a:picLocks noChangeAspect="1"/>
          </p:cNvPicPr>
          <p:nvPr/>
        </p:nvPicPr>
        <p:blipFill>
          <a:blip r:embed="rId3"/>
          <a:stretch>
            <a:fillRect/>
          </a:stretch>
        </p:blipFill>
        <p:spPr>
          <a:xfrm>
            <a:off x="4160520" y="1783080"/>
            <a:ext cx="4754880" cy="4059936"/>
          </a:xfrm>
          <a:prstGeom prst="rect">
            <a:avLst/>
          </a:prstGeom>
        </p:spPr>
      </p:pic>
      <p:sp>
        <p:nvSpPr>
          <p:cNvPr id="12" name="Text 9"/>
          <p:cNvSpPr txBox="1"/>
          <p:nvPr/>
        </p:nvSpPr>
        <p:spPr>
          <a:xfrm>
            <a:off x="9189720" y="2377440"/>
            <a:ext cx="2468880" cy="2011680"/>
          </a:xfrm>
          <a:prstGeom prst="rect">
            <a:avLst/>
          </a:prstGeom>
          <a:noFill/>
          <a:ln/>
        </p:spPr>
        <p:txBody>
          <a:bodyPr wrap="square" lIns="0" tIns="0" rIns="0" bIns="0" rtlCol="0" anchor="ctr"/>
          <a:lstStyle/>
          <a:p>
            <a:pPr marL="0" indent="0">
              <a:lnSpc>
                <a:spcPts val="1600"/>
              </a:lnSpc>
              <a:buNone/>
            </a:pPr>
            <a:r>
              <a:rPr lang="en-US" sz="1150" b="1" dirty="0">
                <a:solidFill>
                  <a:srgbClr val="1A1A1A"/>
                </a:solidFill>
                <a:latin typeface="Calibri" pitchFamily="34" charset="0"/>
                <a:ea typeface="Calibri" pitchFamily="34" charset="-122"/>
                <a:cs typeface="Calibri" pitchFamily="34" charset="-120"/>
              </a:rPr>
              <a:t>Two coordinate reference conditions
</a:t>
            </a:r>
            <a:endParaRPr lang="en-US" sz="1150" dirty="0"/>
          </a:p>
          <a:p>
            <a:pPr marL="0" indent="0">
              <a:lnSpc>
                <a:spcPts val="1600"/>
              </a:lnSpc>
              <a:buNone/>
            </a:pPr>
            <a:r>
              <a:rPr lang="en-US" sz="1150" dirty="0">
                <a:solidFill>
                  <a:srgbClr val="5F6368"/>
                </a:solidFill>
                <a:latin typeface="Calibri" pitchFamily="34" charset="0"/>
                <a:ea typeface="Calibri" pitchFamily="34" charset="-122"/>
                <a:cs typeface="Calibri" pitchFamily="34" charset="-120"/>
              </a:rPr>
              <a:t>The grids do not encode their datum. Interpreted as WGS84 they are displaced by 197 m, and no error is raised.
</a:t>
            </a:r>
            <a:endParaRPr lang="en-US" sz="1150" dirty="0"/>
          </a:p>
          <a:p>
            <a:pPr marL="0" indent="0">
              <a:lnSpc>
                <a:spcPts val="1600"/>
              </a:lnSpc>
              <a:buNone/>
            </a:pPr>
            <a:r>
              <a:rPr lang="en-US" sz="1150" dirty="0">
                <a:solidFill>
                  <a:srgbClr val="5F6368"/>
                </a:solidFill>
                <a:latin typeface="Calibri" pitchFamily="34" charset="0"/>
                <a:ea typeface="Calibri" pitchFamily="34" charset="-122"/>
                <a:cs typeface="Calibri" pitchFamily="34" charset="-120"/>
              </a:rPr>
              <a:t>The bathymetry is ED50 and the coastline is WGS84, so neither overlays the other without a datum transformation.</a:t>
            </a:r>
            <a:endParaRPr lang="en-US" sz="1150" dirty="0"/>
          </a:p>
        </p:txBody>
      </p:sp>
      <p:sp>
        <p:nvSpPr>
          <p:cNvPr id="13" name="Text 10"/>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Grand Harbour 1.64 km², mean depth 15.9 m. Marsamxett 1.32 km², mean depth 13.3 m.</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THE PHENOMENON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The milgħuba as a meteotsunami</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An atmospherically generated long wave, known as rissaga in the Balearics and as marrobbio on the Sicilian shelf.</a:t>
            </a:r>
            <a:endParaRPr lang="en-US" sz="1400" dirty="0"/>
          </a:p>
        </p:txBody>
      </p:sp>
      <p:sp>
        <p:nvSpPr>
          <p:cNvPr id="5" name="Shape 3"/>
          <p:cNvSpPr/>
          <p:nvPr/>
        </p:nvSpPr>
        <p:spPr>
          <a:xfrm>
            <a:off x="566928" y="2487168"/>
            <a:ext cx="3520440" cy="2286000"/>
          </a:xfrm>
          <a:prstGeom prst="roundRect">
            <a:avLst>
              <a:gd name="adj" fmla="val 2400"/>
            </a:avLst>
          </a:prstGeom>
          <a:solidFill>
            <a:srgbClr val="EEF3F6"/>
          </a:solidFill>
          <a:ln/>
        </p:spPr>
      </p:sp>
      <p:sp>
        <p:nvSpPr>
          <p:cNvPr id="6" name="Shape 4"/>
          <p:cNvSpPr/>
          <p:nvPr/>
        </p:nvSpPr>
        <p:spPr>
          <a:xfrm>
            <a:off x="822960" y="2212848"/>
            <a:ext cx="402336" cy="402336"/>
          </a:xfrm>
          <a:prstGeom prst="ellipse">
            <a:avLst/>
          </a:prstGeom>
          <a:solidFill>
            <a:srgbClr val="EB6834"/>
          </a:solidFill>
          <a:ln/>
        </p:spPr>
      </p:sp>
      <p:sp>
        <p:nvSpPr>
          <p:cNvPr id="7" name="Text 5"/>
          <p:cNvSpPr txBox="1"/>
          <p:nvPr/>
        </p:nvSpPr>
        <p:spPr>
          <a:xfrm>
            <a:off x="822960" y="221284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txBox="1"/>
          <p:nvPr/>
        </p:nvSpPr>
        <p:spPr>
          <a:xfrm>
            <a:off x="822960" y="2788920"/>
            <a:ext cx="3017520" cy="329184"/>
          </a:xfrm>
          <a:prstGeom prst="rect">
            <a:avLst/>
          </a:prstGeom>
          <a:noFill/>
          <a:ln/>
        </p:spPr>
        <p:txBody>
          <a:bodyPr wrap="square" lIns="0" tIns="0" rIns="0" bIns="0" rtlCol="0" anchor="ctr"/>
          <a:lstStyle/>
          <a:p>
            <a:pPr marL="0" indent="0">
              <a:buNone/>
            </a:pPr>
            <a:r>
              <a:rPr lang="en-US" sz="1550" b="1" dirty="0">
                <a:solidFill>
                  <a:srgbClr val="1A1A1A"/>
                </a:solidFill>
                <a:latin typeface="Cambria" pitchFamily="34" charset="0"/>
                <a:ea typeface="Cambria" pitchFamily="34" charset="-122"/>
                <a:cs typeface="Cambria" pitchFamily="34" charset="-120"/>
              </a:rPr>
              <a:t>Proudman resonance</a:t>
            </a:r>
            <a:endParaRPr lang="en-US" sz="1550" dirty="0"/>
          </a:p>
        </p:txBody>
      </p:sp>
      <p:sp>
        <p:nvSpPr>
          <p:cNvPr id="9" name="Text 7"/>
          <p:cNvSpPr txBox="1"/>
          <p:nvPr/>
        </p:nvSpPr>
        <p:spPr>
          <a:xfrm>
            <a:off x="822960" y="3145536"/>
            <a:ext cx="3017520" cy="749808"/>
          </a:xfrm>
          <a:prstGeom prst="rect">
            <a:avLst/>
          </a:prstGeom>
          <a:noFill/>
          <a:ln/>
        </p:spPr>
        <p:txBody>
          <a:bodyPr wrap="square" lIns="0" tIns="0" rIns="0" bIns="0" rtlCol="0" anchor="ctr"/>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Energy transfers most efficiently when the atmospheric disturbance travels at the celerity of the long wave beneath it.</a:t>
            </a:r>
            <a:endParaRPr lang="en-US" sz="1200" dirty="0"/>
          </a:p>
        </p:txBody>
      </p:sp>
      <p:sp>
        <p:nvSpPr>
          <p:cNvPr id="10" name="Text 8"/>
          <p:cNvSpPr txBox="1"/>
          <p:nvPr/>
        </p:nvSpPr>
        <p:spPr>
          <a:xfrm>
            <a:off x="822960" y="3950208"/>
            <a:ext cx="3017520" cy="731520"/>
          </a:xfrm>
          <a:prstGeom prst="rect">
            <a:avLst/>
          </a:prstGeom>
          <a:noFill/>
          <a:ln/>
        </p:spPr>
        <p:txBody>
          <a:bodyPr wrap="square" lIns="0" tIns="0" rIns="0" bIns="0" rtlCol="0" anchor="ctr"/>
          <a:lstStyle/>
          <a:p>
            <a:pPr marL="0" indent="0">
              <a:lnSpc>
                <a:spcPts val="1500"/>
              </a:lnSpc>
              <a:buNone/>
            </a:pPr>
            <a:r>
              <a:rPr lang="en-US" sz="1100" b="1" dirty="0">
                <a:solidFill>
                  <a:srgbClr val="1C7293"/>
                </a:solidFill>
                <a:latin typeface="Calibri" pitchFamily="34" charset="0"/>
                <a:ea typeface="Calibri" pitchFamily="34" charset="-122"/>
                <a:cs typeface="Calibri" pitchFamily="34" charset="-120"/>
              </a:rPr>
              <a:t>The Malta Plateau, 99 to 190 m deep, would be resonant with disturbances travelling at 94 to 155 km h⁻¹.</a:t>
            </a:r>
            <a:endParaRPr lang="en-US" sz="1100" dirty="0"/>
          </a:p>
        </p:txBody>
      </p:sp>
      <p:sp>
        <p:nvSpPr>
          <p:cNvPr id="11" name="Shape 9"/>
          <p:cNvSpPr/>
          <p:nvPr/>
        </p:nvSpPr>
        <p:spPr>
          <a:xfrm>
            <a:off x="4334256" y="2487168"/>
            <a:ext cx="3520440" cy="2286000"/>
          </a:xfrm>
          <a:prstGeom prst="roundRect">
            <a:avLst>
              <a:gd name="adj" fmla="val 2400"/>
            </a:avLst>
          </a:prstGeom>
          <a:solidFill>
            <a:srgbClr val="EEF3F6"/>
          </a:solidFill>
          <a:ln/>
        </p:spPr>
      </p:sp>
      <p:sp>
        <p:nvSpPr>
          <p:cNvPr id="12" name="Shape 10"/>
          <p:cNvSpPr/>
          <p:nvPr/>
        </p:nvSpPr>
        <p:spPr>
          <a:xfrm>
            <a:off x="4590288" y="2212848"/>
            <a:ext cx="402336" cy="402336"/>
          </a:xfrm>
          <a:prstGeom prst="ellipse">
            <a:avLst/>
          </a:prstGeom>
          <a:solidFill>
            <a:srgbClr val="065A82"/>
          </a:solidFill>
          <a:ln/>
        </p:spPr>
      </p:sp>
      <p:sp>
        <p:nvSpPr>
          <p:cNvPr id="13" name="Text 11"/>
          <p:cNvSpPr txBox="1"/>
          <p:nvPr/>
        </p:nvSpPr>
        <p:spPr>
          <a:xfrm>
            <a:off x="4590288" y="221284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4" name="Text 12"/>
          <p:cNvSpPr txBox="1"/>
          <p:nvPr/>
        </p:nvSpPr>
        <p:spPr>
          <a:xfrm>
            <a:off x="4590288" y="2788920"/>
            <a:ext cx="3017520" cy="329184"/>
          </a:xfrm>
          <a:prstGeom prst="rect">
            <a:avLst/>
          </a:prstGeom>
          <a:noFill/>
          <a:ln/>
        </p:spPr>
        <p:txBody>
          <a:bodyPr wrap="square" lIns="0" tIns="0" rIns="0" bIns="0" rtlCol="0" anchor="ctr"/>
          <a:lstStyle/>
          <a:p>
            <a:pPr marL="0" indent="0">
              <a:buNone/>
            </a:pPr>
            <a:r>
              <a:rPr lang="en-US" sz="1550" b="1" dirty="0">
                <a:solidFill>
                  <a:srgbClr val="1A1A1A"/>
                </a:solidFill>
                <a:latin typeface="Cambria" pitchFamily="34" charset="0"/>
                <a:ea typeface="Cambria" pitchFamily="34" charset="-122"/>
                <a:cs typeface="Cambria" pitchFamily="34" charset="-120"/>
              </a:rPr>
              <a:t>Shoaling</a:t>
            </a:r>
            <a:endParaRPr lang="en-US" sz="1550" dirty="0"/>
          </a:p>
        </p:txBody>
      </p:sp>
      <p:sp>
        <p:nvSpPr>
          <p:cNvPr id="15" name="Text 13"/>
          <p:cNvSpPr txBox="1"/>
          <p:nvPr/>
        </p:nvSpPr>
        <p:spPr>
          <a:xfrm>
            <a:off x="4590288" y="3145536"/>
            <a:ext cx="3017520" cy="749808"/>
          </a:xfrm>
          <a:prstGeom prst="rect">
            <a:avLst/>
          </a:prstGeom>
          <a:noFill/>
          <a:ln/>
        </p:spPr>
        <p:txBody>
          <a:bodyPr wrap="square" lIns="0" tIns="0" rIns="0" bIns="0" rtlCol="0" anchor="ctr"/>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Green's law governs the amplification of the wave over the shoaling approach.</a:t>
            </a:r>
            <a:endParaRPr lang="en-US" sz="1200" dirty="0"/>
          </a:p>
        </p:txBody>
      </p:sp>
      <p:sp>
        <p:nvSpPr>
          <p:cNvPr id="16" name="Text 14"/>
          <p:cNvSpPr txBox="1"/>
          <p:nvPr/>
        </p:nvSpPr>
        <p:spPr>
          <a:xfrm>
            <a:off x="4590288" y="3950208"/>
            <a:ext cx="3017520" cy="731520"/>
          </a:xfrm>
          <a:prstGeom prst="rect">
            <a:avLst/>
          </a:prstGeom>
          <a:noFill/>
          <a:ln/>
        </p:spPr>
        <p:txBody>
          <a:bodyPr wrap="square" lIns="0" tIns="0" rIns="0" bIns="0" rtlCol="0" anchor="ctr"/>
          <a:lstStyle/>
          <a:p>
            <a:pPr marL="0" indent="0">
              <a:lnSpc>
                <a:spcPts val="1500"/>
              </a:lnSpc>
              <a:buNone/>
            </a:pPr>
            <a:r>
              <a:rPr lang="en-US" sz="1100" b="1" dirty="0">
                <a:solidFill>
                  <a:srgbClr val="1C7293"/>
                </a:solidFill>
                <a:latin typeface="Calibri" pitchFamily="34" charset="0"/>
                <a:ea typeface="Calibri" pitchFamily="34" charset="-122"/>
                <a:cs typeface="Calibri" pitchFamily="34" charset="-120"/>
              </a:rPr>
              <a:t>From 150 m on the plateau into the harbours, a factor of 1.75 to 1.84.</a:t>
            </a:r>
            <a:endParaRPr lang="en-US" sz="1100" dirty="0"/>
          </a:p>
        </p:txBody>
      </p:sp>
      <p:sp>
        <p:nvSpPr>
          <p:cNvPr id="17" name="Shape 15"/>
          <p:cNvSpPr/>
          <p:nvPr/>
        </p:nvSpPr>
        <p:spPr>
          <a:xfrm>
            <a:off x="8101584" y="2487168"/>
            <a:ext cx="3520440" cy="2286000"/>
          </a:xfrm>
          <a:prstGeom prst="roundRect">
            <a:avLst>
              <a:gd name="adj" fmla="val 2400"/>
            </a:avLst>
          </a:prstGeom>
          <a:solidFill>
            <a:srgbClr val="EEF3F6"/>
          </a:solidFill>
          <a:ln/>
        </p:spPr>
      </p:sp>
      <p:sp>
        <p:nvSpPr>
          <p:cNvPr id="18" name="Shape 16"/>
          <p:cNvSpPr/>
          <p:nvPr/>
        </p:nvSpPr>
        <p:spPr>
          <a:xfrm>
            <a:off x="8357616" y="2212848"/>
            <a:ext cx="402336" cy="402336"/>
          </a:xfrm>
          <a:prstGeom prst="ellipse">
            <a:avLst/>
          </a:prstGeom>
          <a:solidFill>
            <a:srgbClr val="065A82"/>
          </a:solidFill>
          <a:ln/>
        </p:spPr>
      </p:sp>
      <p:sp>
        <p:nvSpPr>
          <p:cNvPr id="19" name="Text 17"/>
          <p:cNvSpPr txBox="1"/>
          <p:nvPr/>
        </p:nvSpPr>
        <p:spPr>
          <a:xfrm>
            <a:off x="8357616" y="221284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0" name="Text 18"/>
          <p:cNvSpPr txBox="1"/>
          <p:nvPr/>
        </p:nvSpPr>
        <p:spPr>
          <a:xfrm>
            <a:off x="8357616" y="2788920"/>
            <a:ext cx="3017520" cy="329184"/>
          </a:xfrm>
          <a:prstGeom prst="rect">
            <a:avLst/>
          </a:prstGeom>
          <a:noFill/>
          <a:ln/>
        </p:spPr>
        <p:txBody>
          <a:bodyPr wrap="square" lIns="0" tIns="0" rIns="0" bIns="0" rtlCol="0" anchor="ctr"/>
          <a:lstStyle/>
          <a:p>
            <a:pPr marL="0" indent="0">
              <a:buNone/>
            </a:pPr>
            <a:r>
              <a:rPr lang="en-US" sz="1550" b="1" dirty="0">
                <a:solidFill>
                  <a:srgbClr val="1A1A1A"/>
                </a:solidFill>
                <a:latin typeface="Cambria" pitchFamily="34" charset="0"/>
                <a:ea typeface="Cambria" pitchFamily="34" charset="-122"/>
                <a:cs typeface="Cambria" pitchFamily="34" charset="-120"/>
              </a:rPr>
              <a:t>Basin resonance</a:t>
            </a:r>
            <a:endParaRPr lang="en-US" sz="1550" dirty="0"/>
          </a:p>
        </p:txBody>
      </p:sp>
      <p:sp>
        <p:nvSpPr>
          <p:cNvPr id="21" name="Text 19"/>
          <p:cNvSpPr txBox="1"/>
          <p:nvPr/>
        </p:nvSpPr>
        <p:spPr>
          <a:xfrm>
            <a:off x="8357616" y="3145536"/>
            <a:ext cx="3017520" cy="749808"/>
          </a:xfrm>
          <a:prstGeom prst="rect">
            <a:avLst/>
          </a:prstGeom>
          <a:noFill/>
          <a:ln/>
        </p:spPr>
        <p:txBody>
          <a:bodyPr wrap="square" lIns="0" tIns="0" rIns="0" bIns="0" rtlCol="0" anchor="ctr"/>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The geometry of the basin amplifies the wave arriving at its mouth.</a:t>
            </a:r>
            <a:endParaRPr lang="en-US" sz="1200" dirty="0"/>
          </a:p>
        </p:txBody>
      </p:sp>
      <p:sp>
        <p:nvSpPr>
          <p:cNvPr id="22" name="Text 20"/>
          <p:cNvSpPr txBox="1"/>
          <p:nvPr/>
        </p:nvSpPr>
        <p:spPr>
          <a:xfrm>
            <a:off x="8357616" y="3950208"/>
            <a:ext cx="3017520" cy="731520"/>
          </a:xfrm>
          <a:prstGeom prst="rect">
            <a:avLst/>
          </a:prstGeom>
          <a:noFill/>
          <a:ln/>
        </p:spPr>
        <p:txBody>
          <a:bodyPr wrap="square" lIns="0" tIns="0" rIns="0" bIns="0" rtlCol="0" anchor="ctr"/>
          <a:lstStyle/>
          <a:p>
            <a:pPr marL="0" indent="0">
              <a:lnSpc>
                <a:spcPts val="1500"/>
              </a:lnSpc>
              <a:buNone/>
            </a:pPr>
            <a:r>
              <a:rPr lang="en-US" sz="1100" b="1" dirty="0">
                <a:solidFill>
                  <a:srgbClr val="1C7293"/>
                </a:solidFill>
                <a:latin typeface="Calibri" pitchFamily="34" charset="0"/>
                <a:ea typeface="Calibri" pitchFamily="34" charset="-122"/>
                <a:cs typeface="Calibri" pitchFamily="34" charset="-120"/>
              </a:rPr>
              <a:t>First-order estimates place the fundamental modes at 14.5 to 18.4 minutes in the Grand Harbour and 10.4 to 12.8 in Marsamxett.</a:t>
            </a:r>
            <a:endParaRPr lang="en-US" sz="1100" dirty="0"/>
          </a:p>
        </p:txBody>
      </p:sp>
      <p:sp>
        <p:nvSpPr>
          <p:cNvPr id="23" name="Text 21"/>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At Ciutadella, Menorca, the reference site of the rissaga, the three stages compound to an order of magnitude. No equivalent decomposition has been published for Malta.</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NATURAL PERIODS</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First-order estimates of the natural periods</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Quarter-wave periods, T = 4L∕√(gh), for the shelf and the inlets, and eigenmodes of the measured profile for the harbours, against the 0.2 to 2 cph band reported by Drago (2009).</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2286000"/>
          <a:ext cx="7772400" cy="914400"/>
        </p:xfrm>
        <a:graphic>
          <a:graphicData uri="http://schemas.openxmlformats.org/drawingml/2006/table">
            <a:tbl>
              <a:tblPr/>
              <a:tblGrid>
                <a:gridCol w="26060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508760">
                  <a:extLst>
                    <a:ext uri="{9D8B030D-6E8A-4147-A177-3AD203B41FA5}">
                      <a16:colId xmlns:a16="http://schemas.microsoft.com/office/drawing/2014/main" val="20002"/>
                    </a:ext>
                  </a:extLst>
                </a:gridCol>
                <a:gridCol w="1417320">
                  <a:extLst>
                    <a:ext uri="{9D8B030D-6E8A-4147-A177-3AD203B41FA5}">
                      <a16:colId xmlns:a16="http://schemas.microsoft.com/office/drawing/2014/main" val="20003"/>
                    </a:ext>
                  </a:extLst>
                </a:gridCol>
                <a:gridCol w="868680">
                  <a:extLst>
                    <a:ext uri="{9D8B030D-6E8A-4147-A177-3AD203B41FA5}">
                      <a16:colId xmlns:a16="http://schemas.microsoft.com/office/drawing/2014/main" val="20004"/>
                    </a:ext>
                  </a:extLst>
                </a:gridCol>
              </a:tblGrid>
              <a:tr h="342900">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Basis</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Period</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Plateau to Sicily, quarter wave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90 km, 150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156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0.38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l">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extLst>
                  <a:ext uri="{0D108BD9-81ED-4DB2-BD59-A6C34878D82A}">
                    <a16:rowId xmlns:a16="http://schemas.microsoft.com/office/drawing/2014/main" val="10001"/>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Plateau to Sicily, half wave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90 km, 150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78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0.77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l">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extLst>
                  <a:ext uri="{0D108BD9-81ED-4DB2-BD59-A6C34878D82A}">
                    <a16:rowId xmlns:a16="http://schemas.microsoft.com/office/drawing/2014/main" val="10002"/>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Near plateau</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25 km, 120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49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1.24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l">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extLst>
                  <a:ext uri="{0D108BD9-81ED-4DB2-BD59-A6C34878D82A}">
                    <a16:rowId xmlns:a16="http://schemas.microsoft.com/office/drawing/2014/main" val="10003"/>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Grand Harbour</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measured profile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14.5 to 18.4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3.3 to 4.1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Marsamxett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measured profile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10.4 to 12.8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4.7 to 5.8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A 1 km inlet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1.0 km, 12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6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9.76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Shape 3"/>
          <p:cNvSpPr/>
          <p:nvPr/>
        </p:nvSpPr>
        <p:spPr>
          <a:xfrm>
            <a:off x="8641080" y="2286000"/>
            <a:ext cx="2980944" cy="3246120"/>
          </a:xfrm>
          <a:prstGeom prst="roundRect">
            <a:avLst>
              <a:gd name="adj" fmla="val 1840"/>
            </a:avLst>
          </a:prstGeom>
          <a:solidFill>
            <a:srgbClr val="21295C"/>
          </a:solidFill>
          <a:ln/>
        </p:spPr>
      </p:sp>
      <p:sp>
        <p:nvSpPr>
          <p:cNvPr id="7" name="Text 4"/>
          <p:cNvSpPr txBox="1"/>
          <p:nvPr/>
        </p:nvSpPr>
        <p:spPr>
          <a:xfrm>
            <a:off x="8915400" y="2514600"/>
            <a:ext cx="2468880" cy="292608"/>
          </a:xfrm>
          <a:prstGeom prst="rect">
            <a:avLst/>
          </a:prstGeom>
          <a:noFill/>
          <a:ln/>
        </p:spPr>
        <p:txBody>
          <a:bodyPr wrap="square" lIns="0" tIns="0" rIns="0" bIns="0" rtlCol="0" anchor="ctr"/>
          <a:lstStyle/>
          <a:p>
            <a:pPr marL="0" indent="0">
              <a:buNone/>
            </a:pPr>
            <a:r>
              <a:rPr lang="en-US" sz="1400" b="1" dirty="0">
                <a:solidFill>
                  <a:srgbClr val="EB6834"/>
                </a:solidFill>
                <a:latin typeface="Cambria" pitchFamily="34" charset="0"/>
                <a:ea typeface="Cambria" pitchFamily="34" charset="-122"/>
                <a:cs typeface="Cambria" pitchFamily="34" charset="-120"/>
              </a:rPr>
              <a:t>Reading for the domain</a:t>
            </a:r>
            <a:endParaRPr lang="en-US" sz="1400" dirty="0"/>
          </a:p>
        </p:txBody>
      </p:sp>
      <p:sp>
        <p:nvSpPr>
          <p:cNvPr id="8" name="Text 5"/>
          <p:cNvSpPr txBox="1"/>
          <p:nvPr/>
        </p:nvSpPr>
        <p:spPr>
          <a:xfrm>
            <a:off x="8915400" y="2880360"/>
            <a:ext cx="2468880" cy="2560320"/>
          </a:xfrm>
          <a:prstGeom prst="rect">
            <a:avLst/>
          </a:prstGeom>
          <a:noFill/>
          <a:ln/>
        </p:spPr>
        <p:txBody>
          <a:bodyPr wrap="square" lIns="0" tIns="0" rIns="0" bIns="0" rtlCol="0" anchor="t"/>
          <a:lstStyle/>
          <a:p>
            <a:pPr marL="0" indent="0">
              <a:lnSpc>
                <a:spcPts val="1500"/>
              </a:lnSpc>
              <a:buNone/>
            </a:pPr>
            <a:r>
              <a:rPr lang="en-US" sz="1150" dirty="0">
                <a:solidFill>
                  <a:srgbClr val="CADCFC"/>
                </a:solidFill>
                <a:latin typeface="Calibri" pitchFamily="34" charset="0"/>
                <a:ea typeface="Calibri" pitchFamily="34" charset="-122"/>
                <a:cs typeface="Calibri" pitchFamily="34" charset="-120"/>
              </a:rPr>
              <a:t>On these estimates the plateau has natural periods within the band and the harbours above it, which suggests that the harbours respond to a shelf-scale oscillation.
</a:t>
            </a:r>
            <a:endParaRPr lang="en-US" sz="1150" dirty="0"/>
          </a:p>
          <a:p>
            <a:pPr marL="0" indent="0">
              <a:lnSpc>
                <a:spcPts val="1500"/>
              </a:lnSpc>
              <a:buNone/>
            </a:pPr>
            <a:r>
              <a:rPr lang="en-US" sz="1150" dirty="0">
                <a:solidFill>
                  <a:srgbClr val="CADCFC"/>
                </a:solidFill>
                <a:latin typeface="Calibri" pitchFamily="34" charset="0"/>
                <a:ea typeface="Calibri" pitchFamily="34" charset="-122"/>
                <a:cs typeface="Calibri" pitchFamily="34" charset="-120"/>
              </a:rPr>
              <a:t>A domain confined to the harbours would then hold no resonator in the band.
</a:t>
            </a:r>
            <a:endParaRPr lang="en-US" sz="1150" dirty="0"/>
          </a:p>
          <a:p>
            <a:pPr marL="0" indent="0">
              <a:lnSpc>
                <a:spcPts val="1500"/>
              </a:lnSpc>
              <a:buNone/>
            </a:pPr>
            <a:r>
              <a:rPr lang="en-US" sz="1150" b="1" dirty="0">
                <a:solidFill>
                  <a:srgbClr val="FFFFFF"/>
                </a:solidFill>
                <a:latin typeface="Calibri" pitchFamily="34" charset="0"/>
                <a:ea typeface="Calibri" pitchFamily="34" charset="-122"/>
                <a:cs typeface="Calibri" pitchFamily="34" charset="-120"/>
              </a:rPr>
              <a:t>A domain extending over the plateau is therefore proposed.</a:t>
            </a:r>
            <a:endParaRPr lang="en-US" sz="1150" dirty="0"/>
          </a:p>
        </p:txBody>
      </p:sp>
      <p:sp>
        <p:nvSpPr>
          <p:cNvPr id="9" name="Text 6"/>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The upper edge of the band, 2 cph, corresponds to 30 minutes, 1.6 times the upper estimate for the Grand Harbour and 2.3 times that for Marsamxett.</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BASIN MODES</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Estimated and observed modes of the Grand Harbour</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A test of the harbour estimate of the preceding slide, on which the choice of domain rests, against the spectrum of the Senglea radar gauge inside the basin (JRC TAD device 555, 5 s sampling, nine months admitted).</a:t>
            </a:r>
            <a:endParaRPr lang="en-US" sz="1400" dirty="0"/>
          </a:p>
        </p:txBody>
      </p:sp>
      <p:pic>
        <p:nvPicPr>
          <p:cNvPr id="5" name="Image 0" descr="C:\Users\Unipa\Documents\MaltaDT\figures\senglea_spectrum.png"/>
          <p:cNvPicPr>
            <a:picLocks noChangeAspect="1"/>
          </p:cNvPicPr>
          <p:nvPr/>
        </p:nvPicPr>
        <p:blipFill>
          <a:blip r:embed="rId3"/>
          <a:stretch>
            <a:fillRect/>
          </a:stretch>
        </p:blipFill>
        <p:spPr>
          <a:xfrm>
            <a:off x="566928" y="2103120"/>
            <a:ext cx="5760720" cy="3931920"/>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583680" y="2103120"/>
          <a:ext cx="5038344" cy="914400"/>
        </p:xfrm>
        <a:graphic>
          <a:graphicData uri="http://schemas.openxmlformats.org/drawingml/2006/table">
            <a:tbl>
              <a:tblPr/>
              <a:tblGrid>
                <a:gridCol w="118872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1152144">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310896">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Observed period</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100" b="1" dirty="0">
                          <a:solidFill>
                            <a:srgbClr val="FFFFFF"/>
                          </a:solidFill>
                          <a:latin typeface="Calibri" pitchFamily="34" charset="0"/>
                          <a:ea typeface="Calibri" pitchFamily="34" charset="-122"/>
                          <a:cs typeface="Calibri" pitchFamily="34" charset="-120"/>
                        </a:rPr>
                        <a:t>Frequency</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100" b="1" dirty="0">
                          <a:solidFill>
                            <a:srgbClr val="FFFFFF"/>
                          </a:solidFill>
                          <a:latin typeface="Calibri" pitchFamily="34" charset="0"/>
                          <a:ea typeface="Calibri" pitchFamily="34" charset="-122"/>
                          <a:cs typeface="Calibri" pitchFamily="34" charset="-120"/>
                        </a:rPr>
                        <a:t>Peak ∕ background</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Relation to the estimate</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10896">
                <a:tc>
                  <a:txBody>
                    <a:bodyPr/>
                    <a:lstStyle/>
                    <a:p>
                      <a:pPr marL="0" indent="0" algn="l">
                        <a:buNone/>
                      </a:pPr>
                      <a:r>
                        <a:rPr lang="en-US" sz="1100" b="1" dirty="0">
                          <a:solidFill>
                            <a:srgbClr val="1A1A1A"/>
                          </a:solidFill>
                          <a:latin typeface="Calibri" pitchFamily="34" charset="0"/>
                          <a:ea typeface="Calibri" pitchFamily="34" charset="-122"/>
                          <a:cs typeface="Calibri" pitchFamily="34" charset="-120"/>
                        </a:rPr>
                        <a:t>23.0 min</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A1A1A"/>
                          </a:solidFill>
                          <a:latin typeface="Calibri" pitchFamily="34" charset="0"/>
                          <a:ea typeface="Calibri" pitchFamily="34" charset="-122"/>
                          <a:cs typeface="Calibri" pitchFamily="34" charset="-120"/>
                        </a:rPr>
                        <a:t>2.61 cph</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A1A1A"/>
                          </a:solidFill>
                          <a:latin typeface="Calibri" pitchFamily="34" charset="0"/>
                          <a:ea typeface="Calibri" pitchFamily="34" charset="-122"/>
                          <a:cs typeface="Calibri" pitchFamily="34" charset="-120"/>
                        </a:rPr>
                        <a:t>23.8</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A1A1A"/>
                          </a:solidFill>
                          <a:latin typeface="Calibri" pitchFamily="34" charset="0"/>
                          <a:ea typeface="Calibri" pitchFamily="34" charset="-122"/>
                          <a:cs typeface="Calibri" pitchFamily="34" charset="-120"/>
                        </a:rPr>
                        <a:t>longer than estimated</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lgn="l">
                        <a:buNone/>
                      </a:pPr>
                      <a:r>
                        <a:rPr lang="en-US" sz="1100" b="1" dirty="0">
                          <a:solidFill>
                            <a:srgbClr val="1A1A1A"/>
                          </a:solidFill>
                          <a:latin typeface="Calibri" pitchFamily="34" charset="0"/>
                          <a:ea typeface="Calibri" pitchFamily="34" charset="-122"/>
                          <a:cs typeface="Calibri" pitchFamily="34" charset="-120"/>
                        </a:rPr>
                        <a:t>16.8 min</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100" dirty="0">
                          <a:solidFill>
                            <a:srgbClr val="1A1A1A"/>
                          </a:solidFill>
                          <a:latin typeface="Calibri" pitchFamily="34" charset="0"/>
                          <a:ea typeface="Calibri" pitchFamily="34" charset="-122"/>
                          <a:cs typeface="Calibri" pitchFamily="34" charset="-120"/>
                        </a:rPr>
                        <a:t>3.57 cph</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100" dirty="0">
                          <a:solidFill>
                            <a:srgbClr val="1A1A1A"/>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100" dirty="0">
                          <a:solidFill>
                            <a:srgbClr val="1A1A1A"/>
                          </a:solidFill>
                          <a:latin typeface="Calibri" pitchFamily="34" charset="0"/>
                          <a:ea typeface="Calibri" pitchFamily="34" charset="-122"/>
                          <a:cs typeface="Calibri" pitchFamily="34" charset="-120"/>
                        </a:rPr>
                        <a:t>within 14.5 to 18.4 min</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310896">
                <a:tc>
                  <a:txBody>
                    <a:bodyPr/>
                    <a:lstStyle/>
                    <a:p>
                      <a:pPr marL="0" indent="0" algn="l">
                        <a:buNone/>
                      </a:pPr>
                      <a:r>
                        <a:rPr lang="en-US" sz="1100" b="1" dirty="0">
                          <a:solidFill>
                            <a:srgbClr val="1A1A1A"/>
                          </a:solidFill>
                          <a:latin typeface="Calibri" pitchFamily="34" charset="0"/>
                          <a:ea typeface="Calibri" pitchFamily="34" charset="-122"/>
                          <a:cs typeface="Calibri" pitchFamily="34" charset="-120"/>
                        </a:rPr>
                        <a:t>10.0 min</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A1A1A"/>
                          </a:solidFill>
                          <a:latin typeface="Calibri" pitchFamily="34" charset="0"/>
                          <a:ea typeface="Calibri" pitchFamily="34" charset="-122"/>
                          <a:cs typeface="Calibri" pitchFamily="34" charset="-120"/>
                        </a:rPr>
                        <a:t>5.98 cph</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A1A1A"/>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lgn="l">
                        <a:buNone/>
                      </a:pPr>
                      <a:r>
                        <a:rPr lang="en-US" sz="1100" b="1" dirty="0">
                          <a:solidFill>
                            <a:srgbClr val="1A1A1A"/>
                          </a:solidFill>
                          <a:latin typeface="Calibri" pitchFamily="34" charset="0"/>
                          <a:ea typeface="Calibri" pitchFamily="34" charset="-122"/>
                          <a:cs typeface="Calibri" pitchFamily="34" charset="-120"/>
                        </a:rPr>
                        <a:t>6.9 min</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100" dirty="0">
                          <a:solidFill>
                            <a:srgbClr val="1A1A1A"/>
                          </a:solidFill>
                          <a:latin typeface="Calibri" pitchFamily="34" charset="0"/>
                          <a:ea typeface="Calibri" pitchFamily="34" charset="-122"/>
                          <a:cs typeface="Calibri" pitchFamily="34" charset="-120"/>
                        </a:rPr>
                        <a:t>8.67 cph</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100" dirty="0">
                          <a:solidFill>
                            <a:srgbClr val="1A1A1A"/>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100" dirty="0">
                          <a:solidFill>
                            <a:srgbClr val="1A1A1A"/>
                          </a:solidFill>
                          <a:latin typeface="Calibri" pitchFamily="34" charset="0"/>
                          <a:ea typeface="Calibri" pitchFamily="34" charset="-122"/>
                          <a:cs typeface="Calibri" pitchFamily="34" charset="-120"/>
                        </a:rPr>
                        <a:t>near the inlet estimate</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4"/>
                  </a:ext>
                </a:extLst>
              </a:tr>
            </a:tbl>
          </a:graphicData>
        </a:graphic>
      </p:graphicFrame>
      <p:sp>
        <p:nvSpPr>
          <p:cNvPr id="6" name="Shape 3"/>
          <p:cNvSpPr/>
          <p:nvPr/>
        </p:nvSpPr>
        <p:spPr>
          <a:xfrm>
            <a:off x="6583680" y="3785616"/>
            <a:ext cx="5038344" cy="2249424"/>
          </a:xfrm>
          <a:prstGeom prst="roundRect">
            <a:avLst>
              <a:gd name="adj" fmla="val 2439"/>
            </a:avLst>
          </a:prstGeom>
          <a:solidFill>
            <a:srgbClr val="21295C"/>
          </a:solidFill>
          <a:ln/>
        </p:spPr>
      </p:sp>
      <p:sp>
        <p:nvSpPr>
          <p:cNvPr id="8" name="Text 4"/>
          <p:cNvSpPr txBox="1"/>
          <p:nvPr/>
        </p:nvSpPr>
        <p:spPr>
          <a:xfrm>
            <a:off x="6858000" y="3950208"/>
            <a:ext cx="4489704"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Preliminary reading</a:t>
            </a:r>
            <a:endParaRPr lang="en-US" sz="1350" dirty="0"/>
          </a:p>
        </p:txBody>
      </p:sp>
      <p:sp>
        <p:nvSpPr>
          <p:cNvPr id="9" name="Text 5"/>
          <p:cNvSpPr txBox="1"/>
          <p:nvPr/>
        </p:nvSpPr>
        <p:spPr>
          <a:xfrm>
            <a:off x="6858000" y="4279392"/>
            <a:ext cx="4489704" cy="1645920"/>
          </a:xfrm>
          <a:prstGeom prst="rect">
            <a:avLst/>
          </a:prstGeom>
          <a:noFill/>
          <a:ln/>
        </p:spPr>
        <p:txBody>
          <a:bodyPr wrap="square" lIns="0" tIns="0" rIns="0" bIns="0" rtlCol="0" anchor="t"/>
          <a:lstStyle/>
          <a:p>
            <a:pPr marL="342900" indent="-342900">
              <a:lnSpc>
                <a:spcPts val="1550"/>
              </a:lnSpc>
              <a:spcAft>
                <a:spcPts val="500"/>
              </a:spcAft>
              <a:buSzPct val="100000"/>
              <a:buChar char="•"/>
            </a:pPr>
            <a:r>
              <a:rPr lang="en-US" sz="1150" dirty="0">
                <a:solidFill>
                  <a:srgbClr val="CADCFC"/>
                </a:solidFill>
                <a:latin typeface="Calibri" pitchFamily="34" charset="0"/>
                <a:ea typeface="Calibri" pitchFamily="34" charset="-122"/>
                <a:cs typeface="Calibri" pitchFamily="34" charset="-120"/>
              </a:rPr>
              <a:t>The observed peaks lie above the milgħuba band, in agreement with the estimate.</a:t>
            </a:r>
            <a:endParaRPr lang="en-US" sz="1150" dirty="0"/>
          </a:p>
          <a:p>
            <a:pPr marL="342900" indent="-342900">
              <a:lnSpc>
                <a:spcPts val="1550"/>
              </a:lnSpc>
              <a:spcAft>
                <a:spcPts val="500"/>
              </a:spcAft>
              <a:buSzPct val="100000"/>
              <a:buChar char="•"/>
            </a:pPr>
            <a:r>
              <a:rPr lang="en-US" sz="1150" dirty="0">
                <a:solidFill>
                  <a:srgbClr val="CADCFC"/>
                </a:solidFill>
                <a:latin typeface="Calibri" pitchFamily="34" charset="0"/>
                <a:ea typeface="Calibri" pitchFamily="34" charset="-122"/>
                <a:cs typeface="Calibri" pitchFamily="34" charset="-120"/>
              </a:rPr>
              <a:t>The dominant peak, at 23 minutes, is longer than estimated. It may be the fundamental, underestimated by the calculation, or a mode of the approach shared by the two harbours.</a:t>
            </a:r>
            <a:endParaRPr lang="en-US" sz="1150" dirty="0"/>
          </a:p>
          <a:p>
            <a:pPr marL="342900" indent="-342900">
              <a:lnSpc>
                <a:spcPts val="1550"/>
              </a:lnSpc>
              <a:buSzPct val="100000"/>
              <a:buChar char="•"/>
            </a:pPr>
            <a:r>
              <a:rPr lang="en-US" sz="1150" dirty="0">
                <a:solidFill>
                  <a:srgbClr val="CADCFC"/>
                </a:solidFill>
                <a:latin typeface="Calibri" pitchFamily="34" charset="0"/>
                <a:ea typeface="Calibri" pitchFamily="34" charset="-122"/>
                <a:cs typeface="Calibri" pitchFamily="34" charset="-120"/>
              </a:rPr>
              <a:t>On the supplied coastline, removing the St Elmo breakwater changes the estimate by 0.1 minute.</a:t>
            </a:r>
            <a:endParaRPr lang="en-US" sz="1150" dirty="0"/>
          </a:p>
        </p:txBody>
      </p:sp>
      <p:sp>
        <p:nvSpPr>
          <p:cNvPr id="10" name="Text 6"/>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A single gauge does not separate the two readings of the 23-minute peak. The modal structure computed on the mesh, or a second gauge, would.</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OBSERVATIONS</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Reported events against the public record</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The public copy of the Senglea record covers 43 per cent of the span from June 2021 to December 2024, and transmission ceased on 13 December 2024.</a:t>
            </a:r>
            <a:endParaRPr lang="en-US" sz="1400" dirty="0"/>
          </a:p>
        </p:txBody>
      </p:sp>
      <p:pic>
        <p:nvPicPr>
          <p:cNvPr id="5" name="Image 0" descr="C:\Users\Unipa\Documents\MaltaDT\figures\senglea_coverage_events.png"/>
          <p:cNvPicPr>
            <a:picLocks noChangeAspect="1"/>
          </p:cNvPicPr>
          <p:nvPr/>
        </p:nvPicPr>
        <p:blipFill>
          <a:blip r:embed="rId3"/>
          <a:stretch>
            <a:fillRect/>
          </a:stretch>
        </p:blipFill>
        <p:spPr>
          <a:xfrm>
            <a:off x="566928" y="2057400"/>
            <a:ext cx="6858000" cy="2633472"/>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589520" y="2057400"/>
          <a:ext cx="4032504" cy="914400"/>
        </p:xfrm>
        <a:graphic>
          <a:graphicData uri="http://schemas.openxmlformats.org/drawingml/2006/table">
            <a:tbl>
              <a:tblPr/>
              <a:tblGrid>
                <a:gridCol w="96012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335024">
                  <a:extLst>
                    <a:ext uri="{9D8B030D-6E8A-4147-A177-3AD203B41FA5}">
                      <a16:colId xmlns:a16="http://schemas.microsoft.com/office/drawing/2014/main" val="20002"/>
                    </a:ext>
                  </a:extLst>
                </a:gridCol>
              </a:tblGrid>
              <a:tr h="457200">
                <a:tc>
                  <a:txBody>
                    <a:bodyPr/>
                    <a:lstStyle/>
                    <a:p>
                      <a:pPr marL="0" indent="0" algn="l">
                        <a:buNone/>
                      </a:pPr>
                      <a:r>
                        <a:rPr lang="en-US" sz="1050" b="1" dirty="0">
                          <a:solidFill>
                            <a:srgbClr val="FFFFFF"/>
                          </a:solidFill>
                          <a:latin typeface="Calibri" pitchFamily="34" charset="0"/>
                          <a:ea typeface="Calibri" pitchFamily="34" charset="-122"/>
                          <a:cs typeface="Calibri" pitchFamily="34" charset="-120"/>
                        </a:rPr>
                        <a:t>Date</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r>
                        <a:rPr lang="en-US" sz="1050" b="1" dirty="0">
                          <a:solidFill>
                            <a:srgbClr val="FFFFFF"/>
                          </a:solidFill>
                          <a:latin typeface="Calibri" pitchFamily="34" charset="0"/>
                          <a:ea typeface="Calibri" pitchFamily="34" charset="-122"/>
                          <a:cs typeface="Calibri" pitchFamily="34" charset="-120"/>
                        </a:rPr>
                        <a:t>Reported effects</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r>
                        <a:rPr lang="en-US" sz="1050" b="1" dirty="0">
                          <a:solidFill>
                            <a:srgbClr val="FFFFFF"/>
                          </a:solidFill>
                          <a:latin typeface="Calibri" pitchFamily="34" charset="0"/>
                          <a:ea typeface="Calibri" pitchFamily="34" charset="-122"/>
                          <a:cs typeface="Calibri" pitchFamily="34" charset="-120"/>
                        </a:rPr>
                        <a:t>Record</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457200">
                <a:tc>
                  <a:txBody>
                    <a:bodyPr/>
                    <a:lstStyle/>
                    <a:p>
                      <a:pPr marL="0" indent="0" algn="l">
                        <a:buNone/>
                      </a:pPr>
                      <a:r>
                        <a:rPr lang="en-US" sz="1050" b="1" dirty="0">
                          <a:solidFill>
                            <a:srgbClr val="1A1A1A"/>
                          </a:solidFill>
                          <a:latin typeface="Calibri" pitchFamily="34" charset="0"/>
                          <a:ea typeface="Calibri" pitchFamily="34" charset="-122"/>
                          <a:cs typeface="Calibri" pitchFamily="34" charset="-120"/>
                        </a:rPr>
                        <a:t>30 Jun 2022</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1A1A"/>
                          </a:solidFill>
                          <a:latin typeface="Calibri" pitchFamily="34" charset="0"/>
                          <a:ea typeface="Calibri" pitchFamily="34" charset="-122"/>
                          <a:cs typeface="Calibri" pitchFamily="34" charset="-120"/>
                        </a:rPr>
                        <a:t>flooding at Marsaskala, St Julian's and Qawra</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1A1A"/>
                          </a:solidFill>
                          <a:latin typeface="Calibri" pitchFamily="34" charset="0"/>
                          <a:ea typeface="Calibri" pitchFamily="34" charset="-122"/>
                          <a:cs typeface="Calibri" pitchFamily="34" charset="-120"/>
                        </a:rPr>
                        <a:t>no data</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050" b="1" dirty="0">
                          <a:solidFill>
                            <a:srgbClr val="1A1A1A"/>
                          </a:solidFill>
                          <a:latin typeface="Calibri" pitchFamily="34" charset="0"/>
                          <a:ea typeface="Calibri" pitchFamily="34" charset="-122"/>
                          <a:cs typeface="Calibri" pitchFamily="34" charset="-120"/>
                        </a:rPr>
                        <a:t>1 Jul 2023</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050" dirty="0">
                          <a:solidFill>
                            <a:srgbClr val="1A1A1A"/>
                          </a:solidFill>
                          <a:latin typeface="Calibri" pitchFamily="34" charset="0"/>
                          <a:ea typeface="Calibri" pitchFamily="34" charset="-122"/>
                          <a:cs typeface="Calibri" pitchFamily="34" charset="-120"/>
                        </a:rPr>
                        <a:t>flooding at Marsaskala and Xemxija</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050" dirty="0">
                          <a:solidFill>
                            <a:srgbClr val="1A1A1A"/>
                          </a:solidFill>
                          <a:latin typeface="Calibri" pitchFamily="34" charset="0"/>
                          <a:ea typeface="Calibri" pitchFamily="34" charset="-122"/>
                          <a:cs typeface="Calibri" pitchFamily="34" charset="-120"/>
                        </a:rPr>
                        <a:t>displaced level, not usable</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457200">
                <a:tc>
                  <a:txBody>
                    <a:bodyPr/>
                    <a:lstStyle/>
                    <a:p>
                      <a:pPr marL="0" indent="0" algn="l">
                        <a:buNone/>
                      </a:pPr>
                      <a:r>
                        <a:rPr lang="en-US" sz="1050" b="1" dirty="0">
                          <a:solidFill>
                            <a:srgbClr val="1A1A1A"/>
                          </a:solidFill>
                          <a:latin typeface="Calibri" pitchFamily="34" charset="0"/>
                          <a:ea typeface="Calibri" pitchFamily="34" charset="-122"/>
                          <a:cs typeface="Calibri" pitchFamily="34" charset="-120"/>
                        </a:rPr>
                        <a:t>13 Jun 2024</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1A1A"/>
                          </a:solidFill>
                          <a:latin typeface="Calibri" pitchFamily="34" charset="0"/>
                          <a:ea typeface="Calibri" pitchFamily="34" charset="-122"/>
                          <a:cs typeface="Calibri" pitchFamily="34" charset="-120"/>
                        </a:rPr>
                        <a:t>flooding of the main square of Msida</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1A1A"/>
                          </a:solidFill>
                          <a:latin typeface="Calibri" pitchFamily="34" charset="0"/>
                          <a:ea typeface="Calibri" pitchFamily="34" charset="-122"/>
                          <a:cs typeface="Calibri" pitchFamily="34" charset="-120"/>
                        </a:rPr>
                        <a:t>displaced level, not usable</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Text 3"/>
          <p:cNvSpPr txBox="1"/>
          <p:nvPr/>
        </p:nvSpPr>
        <p:spPr>
          <a:xfrm>
            <a:off x="7589520" y="4023360"/>
            <a:ext cx="4032504" cy="640080"/>
          </a:xfrm>
          <a:prstGeom prst="rect">
            <a:avLst/>
          </a:prstGeom>
          <a:noFill/>
          <a:ln/>
        </p:spPr>
        <p:txBody>
          <a:bodyPr wrap="square" lIns="0" tIns="0" rIns="0" bIns="0" rtlCol="0" anchor="t"/>
          <a:lstStyle/>
          <a:p>
            <a:pPr marL="0" indent="0">
              <a:lnSpc>
                <a:spcPts val="1400"/>
              </a:lnSpc>
              <a:buNone/>
            </a:pPr>
            <a:r>
              <a:rPr lang="en-US" sz="1050" dirty="0">
                <a:solidFill>
                  <a:srgbClr val="5F6368"/>
                </a:solidFill>
                <a:latin typeface="Calibri" pitchFamily="34" charset="0"/>
                <a:ea typeface="Calibri" pitchFamily="34" charset="-122"/>
                <a:cs typeface="Calibri" pitchFamily="34" charset="-120"/>
              </a:rPr>
              <a:t>Two earlier events, the seismic tsunami of 25 October 2018 and the milgħuba of 18 June 2019, precede the installation of the gauge in June 2021.</a:t>
            </a:r>
            <a:endParaRPr lang="en-US" sz="1050" dirty="0"/>
          </a:p>
        </p:txBody>
      </p:sp>
      <p:sp>
        <p:nvSpPr>
          <p:cNvPr id="6" name="Shape 4"/>
          <p:cNvSpPr/>
          <p:nvPr/>
        </p:nvSpPr>
        <p:spPr>
          <a:xfrm>
            <a:off x="566928" y="4846320"/>
            <a:ext cx="5440680" cy="1371600"/>
          </a:xfrm>
          <a:prstGeom prst="roundRect">
            <a:avLst>
              <a:gd name="adj" fmla="val 4000"/>
            </a:avLst>
          </a:prstGeom>
          <a:solidFill>
            <a:srgbClr val="EEF3F6"/>
          </a:solidFill>
          <a:ln/>
        </p:spPr>
      </p:sp>
      <p:sp>
        <p:nvSpPr>
          <p:cNvPr id="9" name="Text 5"/>
          <p:cNvSpPr txBox="1"/>
          <p:nvPr/>
        </p:nvSpPr>
        <p:spPr>
          <a:xfrm>
            <a:off x="841248" y="5010912"/>
            <a:ext cx="4892040" cy="274320"/>
          </a:xfrm>
          <a:prstGeom prst="rect">
            <a:avLst/>
          </a:prstGeom>
          <a:noFill/>
          <a:ln/>
        </p:spPr>
        <p:txBody>
          <a:bodyPr wrap="square" lIns="0" tIns="0" rIns="0" bIns="0" rtlCol="0" anchor="ctr"/>
          <a:lstStyle/>
          <a:p>
            <a:pPr marL="0" indent="0">
              <a:buNone/>
            </a:pPr>
            <a:r>
              <a:rPr lang="en-US" sz="1350" b="1" dirty="0">
                <a:solidFill>
                  <a:srgbClr val="065A82"/>
                </a:solidFill>
                <a:latin typeface="Cambria" pitchFamily="34" charset="0"/>
                <a:ea typeface="Cambria" pitchFamily="34" charset="-122"/>
                <a:cs typeface="Cambria" pitchFamily="34" charset="-120"/>
              </a:rPr>
              <a:t>State of the record</a:t>
            </a:r>
            <a:endParaRPr lang="en-US" sz="1350" dirty="0"/>
          </a:p>
        </p:txBody>
      </p:sp>
      <p:sp>
        <p:nvSpPr>
          <p:cNvPr id="10" name="Text 6"/>
          <p:cNvSpPr txBox="1"/>
          <p:nvPr/>
        </p:nvSpPr>
        <p:spPr>
          <a:xfrm>
            <a:off x="841248" y="5340096"/>
            <a:ext cx="4892040" cy="768096"/>
          </a:xfrm>
          <a:prstGeom prst="rect">
            <a:avLst/>
          </a:prstGeom>
          <a:noFill/>
          <a:ln/>
        </p:spPr>
        <p:txBody>
          <a:bodyPr wrap="square" lIns="0" tIns="0" rIns="0" bIns="0" rtlCol="0" anchor="t"/>
          <a:lstStyle/>
          <a:p>
            <a:pPr marL="0" indent="0">
              <a:lnSpc>
                <a:spcPts val="1550"/>
              </a:lnSpc>
              <a:buNone/>
            </a:pPr>
            <a:r>
              <a:rPr lang="en-US" sz="1150" dirty="0">
                <a:solidFill>
                  <a:srgbClr val="1A1A1A"/>
                </a:solidFill>
                <a:latin typeface="Calibri" pitchFamily="34" charset="0"/>
                <a:ea typeface="Calibri" pitchFamily="34" charset="-122"/>
                <a:cs typeface="Calibri" pitchFamily="34" charset="-120"/>
              </a:rPr>
              <a:t>Two windows are provisionally admitted to the analysis, 24 June to 31 December 2021 and 1 December 2022 to 31 March 2023. From April 2023 the level appears displaced by some 2 m and the gauge transmits by day only.</a:t>
            </a:r>
            <a:endParaRPr lang="en-US" sz="1150" dirty="0"/>
          </a:p>
        </p:txBody>
      </p:sp>
      <p:sp>
        <p:nvSpPr>
          <p:cNvPr id="11" name="Shape 7"/>
          <p:cNvSpPr/>
          <p:nvPr/>
        </p:nvSpPr>
        <p:spPr>
          <a:xfrm>
            <a:off x="6181344" y="4846320"/>
            <a:ext cx="5440680" cy="1371600"/>
          </a:xfrm>
          <a:prstGeom prst="roundRect">
            <a:avLst>
              <a:gd name="adj" fmla="val 4000"/>
            </a:avLst>
          </a:prstGeom>
          <a:solidFill>
            <a:srgbClr val="21295C"/>
          </a:solidFill>
          <a:ln/>
        </p:spPr>
      </p:sp>
      <p:sp>
        <p:nvSpPr>
          <p:cNvPr id="12" name="Text 8"/>
          <p:cNvSpPr txBox="1"/>
          <p:nvPr/>
        </p:nvSpPr>
        <p:spPr>
          <a:xfrm>
            <a:off x="6455664" y="5010912"/>
            <a:ext cx="4892040"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Consequence for the study</a:t>
            </a:r>
            <a:endParaRPr lang="en-US" sz="1350" dirty="0"/>
          </a:p>
        </p:txBody>
      </p:sp>
      <p:sp>
        <p:nvSpPr>
          <p:cNvPr id="13" name="Text 9"/>
          <p:cNvSpPr txBox="1"/>
          <p:nvPr/>
        </p:nvSpPr>
        <p:spPr>
          <a:xfrm>
            <a:off x="6455664" y="5340096"/>
            <a:ext cx="4892040" cy="768096"/>
          </a:xfrm>
          <a:prstGeom prst="rect">
            <a:avLst/>
          </a:prstGeom>
          <a:noFill/>
          <a:ln/>
        </p:spPr>
        <p:txBody>
          <a:bodyPr wrap="square" lIns="0" tIns="0" rIns="0" bIns="0" rtlCol="0" anchor="t"/>
          <a:lstStyle/>
          <a:p>
            <a:pPr marL="0" indent="0">
              <a:lnSpc>
                <a:spcPts val="1550"/>
              </a:lnSpc>
              <a:buNone/>
            </a:pPr>
            <a:r>
              <a:rPr lang="en-US" sz="1150" dirty="0">
                <a:solidFill>
                  <a:srgbClr val="CADCFC"/>
                </a:solidFill>
                <a:latin typeface="Calibri" pitchFamily="34" charset="0"/>
                <a:ea typeface="Calibri" pitchFamily="34" charset="-122"/>
                <a:cs typeface="Calibri" pitchFamily="34" charset="-120"/>
              </a:rPr>
              <a:t>None of the three events since installation is resolved in the public copy. The archive of the group, sea level and one-minute pressure, would therefore be the record against which the response surface is tested.</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MODEL CONCEPT, EXTENT</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Extent over the plateau, and its cost</a:t>
            </a:r>
            <a:endParaRPr lang="en-US" sz="3200" dirty="0"/>
          </a:p>
        </p:txBody>
      </p:sp>
      <p:pic>
        <p:nvPicPr>
          <p:cNvPr id="4" name="Image 0" descr="C:\Users\Unipa\Documents\MaltaDT\figures\domain_design.png"/>
          <p:cNvPicPr>
            <a:picLocks noChangeAspect="1"/>
          </p:cNvPicPr>
          <p:nvPr/>
        </p:nvPicPr>
        <p:blipFill>
          <a:blip r:embed="rId3"/>
          <a:stretch>
            <a:fillRect/>
          </a:stretch>
        </p:blipFill>
        <p:spPr>
          <a:xfrm>
            <a:off x="566928" y="1572768"/>
            <a:ext cx="11055096" cy="495604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MODEL CONCEPT, DISCRETISATION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Resolution set by the geometry of the inlets</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At the estimated fundamental period of the Grand Harbour, some 17 minutes, a long wave in 16 m of water is 12.8 km long (λ = T√(gh)), far longer than any cell. The planform of the inlets is the feature to be resolved.</a:t>
            </a:r>
            <a:endParaRPr lang="en-US" sz="1400" dirty="0"/>
          </a:p>
        </p:txBody>
      </p:sp>
      <p:sp>
        <p:nvSpPr>
          <p:cNvPr id="5" name="Text 3"/>
          <p:cNvSpPr txBox="1"/>
          <p:nvPr/>
        </p:nvSpPr>
        <p:spPr>
          <a:xfrm>
            <a:off x="566928" y="2103120"/>
            <a:ext cx="5029200" cy="292608"/>
          </a:xfrm>
          <a:prstGeom prst="rect">
            <a:avLst/>
          </a:prstGeom>
          <a:noFill/>
          <a:ln/>
        </p:spPr>
        <p:txBody>
          <a:bodyPr wrap="square" lIns="0" tIns="0" rIns="0" bIns="0" rtlCol="0" anchor="ctr"/>
          <a:lstStyle/>
          <a:p>
            <a:pPr marL="0" indent="0">
              <a:buNone/>
            </a:pPr>
            <a:r>
              <a:rPr lang="en-US" sz="1400" b="1" dirty="0">
                <a:solidFill>
                  <a:srgbClr val="065A82"/>
                </a:solidFill>
                <a:latin typeface="Cambria" pitchFamily="34" charset="0"/>
                <a:ea typeface="Cambria" pitchFamily="34" charset="-122"/>
                <a:cs typeface="Cambria" pitchFamily="34" charset="-120"/>
              </a:rPr>
              <a:t>Measured channel width</a:t>
            </a:r>
            <a:endParaRPr lang="en-US" sz="1400" dirty="0"/>
          </a:p>
        </p:txBody>
      </p:sp>
      <p:sp>
        <p:nvSpPr>
          <p:cNvPr id="6" name="Text 4"/>
          <p:cNvSpPr txBox="1"/>
          <p:nvPr/>
        </p:nvSpPr>
        <p:spPr>
          <a:xfrm>
            <a:off x="566928" y="2450592"/>
            <a:ext cx="4937760" cy="1005840"/>
          </a:xfrm>
          <a:prstGeom prst="rect">
            <a:avLst/>
          </a:prstGeom>
          <a:noFill/>
          <a:ln/>
        </p:spPr>
        <p:txBody>
          <a:bodyPr wrap="square" lIns="0" tIns="0" rIns="0" bIns="0" rtlCol="0" anchor="t"/>
          <a:lstStyle/>
          <a:p>
            <a:pPr marL="0" indent="0">
              <a:lnSpc>
                <a:spcPts val="1700"/>
              </a:lnSpc>
              <a:spcAft>
                <a:spcPts val="800"/>
              </a:spcAft>
              <a:buNone/>
            </a:pPr>
            <a:r>
              <a:rPr lang="en-US" sz="1250" dirty="0">
                <a:solidFill>
                  <a:srgbClr val="1A1A1A"/>
                </a:solidFill>
                <a:latin typeface="Calibri" pitchFamily="34" charset="0"/>
                <a:ea typeface="Calibri" pitchFamily="34" charset="-122"/>
                <a:cs typeface="Calibri" pitchFamily="34" charset="-120"/>
              </a:rPr>
              <a:t>Half the channel length of Marsamxett is narrower than 135 m, and a third narrower than 50 m.</a:t>
            </a:r>
            <a:endParaRPr lang="en-US" sz="1250" dirty="0"/>
          </a:p>
          <a:p>
            <a:pPr marL="0" indent="0">
              <a:lnSpc>
                <a:spcPts val="1700"/>
              </a:lnSpc>
              <a:buNone/>
            </a:pPr>
            <a:r>
              <a:rPr lang="en-US" sz="1250" dirty="0">
                <a:solidFill>
                  <a:srgbClr val="1A1A1A"/>
                </a:solidFill>
                <a:latin typeface="Calibri" pitchFamily="34" charset="0"/>
                <a:ea typeface="Calibri" pitchFamily="34" charset="-122"/>
                <a:cs typeface="Calibri" pitchFamily="34" charset="-120"/>
              </a:rPr>
              <a:t>Four to five cells carry the conveyance of a channel, eight to ten resolve the flow across it.</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3566160"/>
          <a:ext cx="4937760" cy="914400"/>
        </p:xfrm>
        <a:graphic>
          <a:graphicData uri="http://schemas.openxmlformats.org/drawingml/2006/table">
            <a:tbl>
              <a:tblPr/>
              <a:tblGrid>
                <a:gridCol w="35661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342900">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Zone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Cell size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42900">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Harbour channels narrower than 150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b="1" dirty="0">
                          <a:solidFill>
                            <a:srgbClr val="1A1A1A"/>
                          </a:solidFill>
                          <a:latin typeface="Calibri" pitchFamily="34" charset="0"/>
                          <a:ea typeface="Calibri" pitchFamily="34" charset="-122"/>
                          <a:cs typeface="Calibri" pitchFamily="34" charset="-120"/>
                        </a:rPr>
                        <a:t>15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2900">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Harbour basins and their mouths</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200" b="1" dirty="0">
                          <a:solidFill>
                            <a:srgbClr val="1A1A1A"/>
                          </a:solidFill>
                          <a:latin typeface="Calibri" pitchFamily="34" charset="0"/>
                          <a:ea typeface="Calibri" pitchFamily="34" charset="-122"/>
                          <a:cs typeface="Calibri" pitchFamily="34" charset="-120"/>
                        </a:rPr>
                        <a:t>30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342900">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Within 1 km of the coast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b="1" dirty="0">
                          <a:solidFill>
                            <a:srgbClr val="1A1A1A"/>
                          </a:solidFill>
                          <a:latin typeface="Calibri" pitchFamily="34" charset="0"/>
                          <a:ea typeface="Calibri" pitchFamily="34" charset="-122"/>
                          <a:cs typeface="Calibri" pitchFamily="34" charset="-120"/>
                        </a:rPr>
                        <a:t>120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2900">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Within 5 km of the coast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200" b="1" dirty="0">
                          <a:solidFill>
                            <a:srgbClr val="1A1A1A"/>
                          </a:solidFill>
                          <a:latin typeface="Calibri" pitchFamily="34" charset="0"/>
                          <a:ea typeface="Calibri" pitchFamily="34" charset="-122"/>
                          <a:cs typeface="Calibri" pitchFamily="34" charset="-120"/>
                        </a:rPr>
                        <a:t>480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4"/>
                  </a:ext>
                </a:extLst>
              </a:tr>
              <a:tr h="342900">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Open plateau</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b="1" dirty="0">
                          <a:solidFill>
                            <a:srgbClr val="1A1A1A"/>
                          </a:solidFill>
                          <a:latin typeface="Calibri" pitchFamily="34" charset="0"/>
                          <a:ea typeface="Calibri" pitchFamily="34" charset="-122"/>
                          <a:cs typeface="Calibri" pitchFamily="34" charset="-120"/>
                        </a:rPr>
                        <a:t>1920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8" name="Shape 5"/>
          <p:cNvSpPr/>
          <p:nvPr/>
        </p:nvSpPr>
        <p:spPr>
          <a:xfrm>
            <a:off x="5989320" y="2103120"/>
            <a:ext cx="5632704" cy="1481328"/>
          </a:xfrm>
          <a:prstGeom prst="roundRect">
            <a:avLst>
              <a:gd name="adj" fmla="val 3704"/>
            </a:avLst>
          </a:prstGeom>
          <a:solidFill>
            <a:srgbClr val="EEF3F6"/>
          </a:solidFill>
          <a:ln/>
        </p:spPr>
      </p:sp>
      <p:sp>
        <p:nvSpPr>
          <p:cNvPr id="9" name="Text 6"/>
          <p:cNvSpPr txBox="1"/>
          <p:nvPr/>
        </p:nvSpPr>
        <p:spPr>
          <a:xfrm>
            <a:off x="6263640" y="2286000"/>
            <a:ext cx="5120640" cy="274320"/>
          </a:xfrm>
          <a:prstGeom prst="rect">
            <a:avLst/>
          </a:prstGeom>
          <a:noFill/>
          <a:ln/>
        </p:spPr>
        <p:txBody>
          <a:bodyPr wrap="square" lIns="0" tIns="0" rIns="0" bIns="0" rtlCol="0" anchor="ctr"/>
          <a:lstStyle/>
          <a:p>
            <a:pPr marL="0" indent="0">
              <a:buNone/>
            </a:pPr>
            <a:r>
              <a:rPr lang="en-US" sz="1400" b="1" dirty="0">
                <a:solidFill>
                  <a:srgbClr val="065A82"/>
                </a:solidFill>
                <a:latin typeface="Cambria" pitchFamily="34" charset="0"/>
                <a:ea typeface="Cambria" pitchFamily="34" charset="-122"/>
                <a:cs typeface="Cambria" pitchFamily="34" charset="-120"/>
              </a:rPr>
              <a:t>Mesh and time step</a:t>
            </a:r>
            <a:endParaRPr lang="en-US" sz="1400" dirty="0"/>
          </a:p>
        </p:txBody>
      </p:sp>
      <p:sp>
        <p:nvSpPr>
          <p:cNvPr id="7" name="Text 7"/>
          <p:cNvSpPr txBox="1"/>
          <p:nvPr/>
        </p:nvSpPr>
        <p:spPr>
          <a:xfrm>
            <a:off x="6263640" y="2615184"/>
            <a:ext cx="5120640" cy="868680"/>
          </a:xfrm>
          <a:prstGeom prst="rect">
            <a:avLst/>
          </a:prstGeom>
          <a:noFill/>
          <a:ln/>
        </p:spPr>
        <p:txBody>
          <a:bodyPr wrap="square" lIns="0" tIns="0" rIns="0" bIns="0" rtlCol="0" anchor="ctr"/>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26,766 faces. Under a resonant long wave the time step is 3.7 s, set by the 15 m cells of the channels, which samples that period of some 17 minutes about 280 times. The 10 m of the source data is the floor, and below 15 m a mesh interpolates rather than resolves.</a:t>
            </a:r>
            <a:endParaRPr lang="en-US" sz="1200" dirty="0"/>
          </a:p>
        </p:txBody>
      </p:sp>
      <p:sp>
        <p:nvSpPr>
          <p:cNvPr id="11" name="Shape 8"/>
          <p:cNvSpPr/>
          <p:nvPr/>
        </p:nvSpPr>
        <p:spPr>
          <a:xfrm>
            <a:off x="5989320" y="3730752"/>
            <a:ext cx="5632704" cy="1874520"/>
          </a:xfrm>
          <a:prstGeom prst="roundRect">
            <a:avLst>
              <a:gd name="adj" fmla="val 2927"/>
            </a:avLst>
          </a:prstGeom>
          <a:solidFill>
            <a:srgbClr val="21295C"/>
          </a:solidFill>
          <a:ln/>
        </p:spPr>
      </p:sp>
      <p:sp>
        <p:nvSpPr>
          <p:cNvPr id="12" name="Text 9"/>
          <p:cNvSpPr txBox="1"/>
          <p:nvPr/>
        </p:nvSpPr>
        <p:spPr>
          <a:xfrm>
            <a:off x="6263640" y="3913632"/>
            <a:ext cx="5120640" cy="274320"/>
          </a:xfrm>
          <a:prstGeom prst="rect">
            <a:avLst/>
          </a:prstGeom>
          <a:noFill/>
          <a:ln/>
        </p:spPr>
        <p:txBody>
          <a:bodyPr wrap="square" lIns="0" tIns="0" rIns="0" bIns="0" rtlCol="0" anchor="ctr"/>
          <a:lstStyle/>
          <a:p>
            <a:pPr marL="0" indent="0">
              <a:buNone/>
            </a:pPr>
            <a:r>
              <a:rPr lang="en-US" sz="1400" b="1" dirty="0">
                <a:solidFill>
                  <a:srgbClr val="EB6834"/>
                </a:solidFill>
                <a:latin typeface="Cambria" pitchFamily="34" charset="0"/>
                <a:ea typeface="Cambria" pitchFamily="34" charset="-122"/>
                <a:cs typeface="Cambria" pitchFamily="34" charset="-120"/>
              </a:rPr>
              <a:t>Vertical, 12 to 15 sigma layers foreseen</a:t>
            </a:r>
            <a:endParaRPr lang="en-US" sz="1400" dirty="0"/>
          </a:p>
        </p:txBody>
      </p:sp>
      <p:sp>
        <p:nvSpPr>
          <p:cNvPr id="13" name="Text 10"/>
          <p:cNvSpPr txBox="1"/>
          <p:nvPr/>
        </p:nvSpPr>
        <p:spPr>
          <a:xfrm>
            <a:off x="6263640" y="4242816"/>
            <a:ext cx="5120640" cy="1188720"/>
          </a:xfrm>
          <a:prstGeom prst="rect">
            <a:avLst/>
          </a:prstGeom>
          <a:noFill/>
          <a:ln/>
        </p:spPr>
        <p:txBody>
          <a:bodyPr wrap="square" lIns="0" tIns="0" rIns="0" bIns="0" rtlCol="0" anchor="ctr"/>
          <a:lstStyle/>
          <a:p>
            <a:pPr marL="0" indent="0">
              <a:lnSpc>
                <a:spcPts val="1600"/>
              </a:lnSpc>
              <a:buNone/>
            </a:pPr>
            <a:r>
              <a:rPr lang="en-US" sz="1200" dirty="0">
                <a:solidFill>
                  <a:srgbClr val="CADCFC"/>
                </a:solidFill>
                <a:latin typeface="Calibri" pitchFamily="34" charset="0"/>
                <a:ea typeface="Calibri" pitchFamily="34" charset="-122"/>
                <a:cs typeface="Calibri" pitchFamily="34" charset="-120"/>
              </a:rPr>
              <a:t>The count is set by residence time, not by the seiche, which is barotropic. Fifteen layers give roughly one metre at the bed in the basins.
</a:t>
            </a:r>
            <a:endParaRPr lang="en-US" sz="1200" dirty="0"/>
          </a:p>
          <a:p>
            <a:pPr marL="0" indent="0">
              <a:lnSpc>
                <a:spcPts val="1600"/>
              </a:lnSpc>
              <a:buNone/>
            </a:pPr>
            <a:r>
              <a:rPr lang="en-US" sz="1200" dirty="0">
                <a:solidFill>
                  <a:srgbClr val="CADCFC"/>
                </a:solidFill>
                <a:latin typeface="Calibri" pitchFamily="34" charset="0"/>
                <a:ea typeface="Calibri" pitchFamily="34" charset="-122"/>
                <a:cs typeface="Calibri" pitchFamily="34" charset="-120"/>
              </a:rPr>
              <a:t>Sigma layers are considered defensible because the domain stops short of the escarpment, the plateau gradient being one part in a thousand.</a:t>
            </a:r>
            <a:endParaRPr lang="en-US" sz="1200" dirty="0"/>
          </a:p>
        </p:txBody>
      </p:sp>
      <p:sp>
        <p:nvSpPr>
          <p:cNvPr id="14" name="Text 11"/>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On the wave side, two nested SWAN grids at 1200 and 250 m. The finer agrees with the SWAN downscaling of the group at 1∕500°, arrived at independently.</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MODEL CONCEPT, MESH</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Working mesh and its measured cost</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Quadtree refinement by zone, built in UTM 33N and transformed to WGS84, accepted by D-Flow FM 2026.01 at rest and under a forced long wave.</a:t>
            </a:r>
            <a:endParaRPr lang="en-US" sz="1400" dirty="0"/>
          </a:p>
        </p:txBody>
      </p:sp>
      <p:pic>
        <p:nvPicPr>
          <p:cNvPr id="5" name="Image 0" descr="C:\Users\Unipa\Documents\MaltaDT\figures\mesh_v02.png"/>
          <p:cNvPicPr>
            <a:picLocks noChangeAspect="1"/>
          </p:cNvPicPr>
          <p:nvPr/>
        </p:nvPicPr>
        <p:blipFill>
          <a:blip r:embed="rId3"/>
          <a:stretch>
            <a:fillRect/>
          </a:stretch>
        </p:blipFill>
        <p:spPr>
          <a:xfrm>
            <a:off x="566928" y="2103120"/>
            <a:ext cx="7680960" cy="3072384"/>
          </a:xfrm>
          <a:prstGeom prst="rect">
            <a:avLst/>
          </a:prstGeom>
        </p:spPr>
      </p:pic>
      <p:sp>
        <p:nvSpPr>
          <p:cNvPr id="6" name="Text 3"/>
          <p:cNvSpPr txBox="1"/>
          <p:nvPr/>
        </p:nvSpPr>
        <p:spPr>
          <a:xfrm>
            <a:off x="8595360" y="2103120"/>
            <a:ext cx="3017520" cy="457200"/>
          </a:xfrm>
          <a:prstGeom prst="rect">
            <a:avLst/>
          </a:prstGeom>
          <a:noFill/>
          <a:ln/>
        </p:spPr>
        <p:txBody>
          <a:bodyPr wrap="square" lIns="0" tIns="0" rIns="0" bIns="0" rtlCol="0" anchor="ctr"/>
          <a:lstStyle/>
          <a:p>
            <a:pPr marL="0" indent="0">
              <a:buNone/>
            </a:pPr>
            <a:r>
              <a:rPr lang="en-US" sz="2500" b="1" dirty="0">
                <a:solidFill>
                  <a:srgbClr val="065A82"/>
                </a:solidFill>
                <a:latin typeface="Cambria" pitchFamily="34" charset="0"/>
                <a:ea typeface="Cambria" pitchFamily="34" charset="-122"/>
                <a:cs typeface="Cambria" pitchFamily="34" charset="-120"/>
              </a:rPr>
              <a:t>26,766</a:t>
            </a:r>
            <a:endParaRPr lang="en-US" sz="2500" dirty="0"/>
          </a:p>
        </p:txBody>
      </p:sp>
      <p:sp>
        <p:nvSpPr>
          <p:cNvPr id="7" name="Text 4"/>
          <p:cNvSpPr txBox="1"/>
          <p:nvPr/>
        </p:nvSpPr>
        <p:spPr>
          <a:xfrm>
            <a:off x="8595360" y="2560320"/>
            <a:ext cx="3017520" cy="457200"/>
          </a:xfrm>
          <a:prstGeom prst="rect">
            <a:avLst/>
          </a:prstGeom>
          <a:noFill/>
          <a:ln/>
        </p:spPr>
        <p:txBody>
          <a:bodyPr wrap="square" lIns="0" tIns="0" rIns="0" bIns="0" rtlCol="0" anchor="ctr"/>
          <a:lstStyle/>
          <a:p>
            <a:pPr marL="0" indent="0">
              <a:buNone/>
            </a:pPr>
            <a:r>
              <a:rPr lang="en-US" sz="1150" dirty="0">
                <a:solidFill>
                  <a:srgbClr val="5F6368"/>
                </a:solidFill>
                <a:latin typeface="Calibri" pitchFamily="34" charset="0"/>
                <a:ea typeface="Calibri" pitchFamily="34" charset="-122"/>
                <a:cs typeface="Calibri" pitchFamily="34" charset="-120"/>
              </a:rPr>
              <a:t>faces, of which some 12,000</a:t>
            </a:r>
            <a:endParaRPr lang="en-US" sz="1150" dirty="0"/>
          </a:p>
          <a:p>
            <a:pPr marL="0" indent="0">
              <a:buNone/>
            </a:pPr>
            <a:r>
              <a:rPr lang="en-US" sz="1150" dirty="0">
                <a:solidFill>
                  <a:srgbClr val="5F6368"/>
                </a:solidFill>
                <a:latin typeface="Calibri" pitchFamily="34" charset="0"/>
                <a:ea typeface="Calibri" pitchFamily="34" charset="-122"/>
                <a:cs typeface="Calibri" pitchFamily="34" charset="-120"/>
              </a:rPr>
              <a:t>in the harbours</a:t>
            </a:r>
            <a:endParaRPr lang="en-US" sz="1150" dirty="0"/>
          </a:p>
        </p:txBody>
      </p:sp>
      <p:sp>
        <p:nvSpPr>
          <p:cNvPr id="8" name="Text 5"/>
          <p:cNvSpPr txBox="1"/>
          <p:nvPr/>
        </p:nvSpPr>
        <p:spPr>
          <a:xfrm>
            <a:off x="8595360" y="3145536"/>
            <a:ext cx="3017520" cy="457200"/>
          </a:xfrm>
          <a:prstGeom prst="rect">
            <a:avLst/>
          </a:prstGeom>
          <a:noFill/>
          <a:ln/>
        </p:spPr>
        <p:txBody>
          <a:bodyPr wrap="square" lIns="0" tIns="0" rIns="0" bIns="0" rtlCol="0" anchor="ctr"/>
          <a:lstStyle/>
          <a:p>
            <a:pPr marL="0" indent="0">
              <a:buNone/>
            </a:pPr>
            <a:r>
              <a:rPr lang="en-US" sz="2500" b="1" dirty="0">
                <a:solidFill>
                  <a:srgbClr val="EB6834"/>
                </a:solidFill>
                <a:latin typeface="Cambria" pitchFamily="34" charset="0"/>
                <a:ea typeface="Cambria" pitchFamily="34" charset="-122"/>
                <a:cs typeface="Cambria" pitchFamily="34" charset="-120"/>
              </a:rPr>
              <a:t>3.7 s</a:t>
            </a:r>
            <a:endParaRPr lang="en-US" sz="2500" dirty="0"/>
          </a:p>
        </p:txBody>
      </p:sp>
      <p:sp>
        <p:nvSpPr>
          <p:cNvPr id="9" name="Text 6"/>
          <p:cNvSpPr txBox="1"/>
          <p:nvPr/>
        </p:nvSpPr>
        <p:spPr>
          <a:xfrm>
            <a:off x="8595360" y="3602736"/>
            <a:ext cx="3017520" cy="457200"/>
          </a:xfrm>
          <a:prstGeom prst="rect">
            <a:avLst/>
          </a:prstGeom>
          <a:noFill/>
          <a:ln/>
        </p:spPr>
        <p:txBody>
          <a:bodyPr wrap="square" lIns="0" tIns="0" rIns="0" bIns="0" rtlCol="0" anchor="ctr"/>
          <a:lstStyle/>
          <a:p>
            <a:pPr marL="0" indent="0">
              <a:buNone/>
            </a:pPr>
            <a:r>
              <a:rPr lang="en-US" sz="1150" dirty="0">
                <a:solidFill>
                  <a:srgbClr val="5F6368"/>
                </a:solidFill>
                <a:latin typeface="Calibri" pitchFamily="34" charset="0"/>
                <a:ea typeface="Calibri" pitchFamily="34" charset="-122"/>
                <a:cs typeface="Calibri" pitchFamily="34" charset="-120"/>
              </a:rPr>
              <a:t>time step under a 25-minute wave</a:t>
            </a:r>
            <a:endParaRPr lang="en-US" sz="1150" dirty="0"/>
          </a:p>
          <a:p>
            <a:pPr marL="0" indent="0">
              <a:buNone/>
            </a:pPr>
            <a:r>
              <a:rPr lang="en-US" sz="1150" dirty="0">
                <a:solidFill>
                  <a:srgbClr val="5F6368"/>
                </a:solidFill>
                <a:latin typeface="Calibri" pitchFamily="34" charset="0"/>
                <a:ea typeface="Calibri" pitchFamily="34" charset="-122"/>
                <a:cs typeface="Calibri" pitchFamily="34" charset="-120"/>
              </a:rPr>
              <a:t>of 0.15 m at the boundary</a:t>
            </a:r>
            <a:endParaRPr lang="en-US" sz="1150" dirty="0"/>
          </a:p>
        </p:txBody>
      </p:sp>
      <p:sp>
        <p:nvSpPr>
          <p:cNvPr id="10" name="Text 7"/>
          <p:cNvSpPr txBox="1"/>
          <p:nvPr/>
        </p:nvSpPr>
        <p:spPr>
          <a:xfrm>
            <a:off x="8595360" y="4187952"/>
            <a:ext cx="3017520" cy="457200"/>
          </a:xfrm>
          <a:prstGeom prst="rect">
            <a:avLst/>
          </a:prstGeom>
          <a:noFill/>
          <a:ln/>
        </p:spPr>
        <p:txBody>
          <a:bodyPr wrap="square" lIns="0" tIns="0" rIns="0" bIns="0" rtlCol="0" anchor="ctr"/>
          <a:lstStyle/>
          <a:p>
            <a:pPr marL="0" indent="0">
              <a:buNone/>
            </a:pPr>
            <a:r>
              <a:rPr lang="en-US" sz="2500" b="1" dirty="0">
                <a:solidFill>
                  <a:srgbClr val="065A82"/>
                </a:solidFill>
                <a:latin typeface="Cambria" pitchFamily="34" charset="0"/>
                <a:ea typeface="Cambria" pitchFamily="34" charset="-122"/>
                <a:cs typeface="Cambria" pitchFamily="34" charset="-120"/>
              </a:rPr>
              <a:t>611 s</a:t>
            </a:r>
            <a:endParaRPr lang="en-US" sz="2500" dirty="0"/>
          </a:p>
        </p:txBody>
      </p:sp>
      <p:sp>
        <p:nvSpPr>
          <p:cNvPr id="11" name="Text 8"/>
          <p:cNvSpPr txBox="1"/>
          <p:nvPr/>
        </p:nvSpPr>
        <p:spPr>
          <a:xfrm>
            <a:off x="8595360" y="4645152"/>
            <a:ext cx="3017520" cy="457200"/>
          </a:xfrm>
          <a:prstGeom prst="rect">
            <a:avLst/>
          </a:prstGeom>
          <a:noFill/>
          <a:ln/>
        </p:spPr>
        <p:txBody>
          <a:bodyPr wrap="square" lIns="0" tIns="0" rIns="0" bIns="0" rtlCol="0" anchor="ctr"/>
          <a:lstStyle/>
          <a:p>
            <a:pPr marL="0" indent="0">
              <a:buNone/>
            </a:pPr>
            <a:r>
              <a:rPr lang="en-US" sz="1150" dirty="0">
                <a:solidFill>
                  <a:srgbClr val="5F6368"/>
                </a:solidFill>
                <a:latin typeface="Calibri" pitchFamily="34" charset="0"/>
                <a:ea typeface="Calibri" pitchFamily="34" charset="-122"/>
                <a:cs typeface="Calibri" pitchFamily="34" charset="-120"/>
              </a:rPr>
              <a:t>wall time per simulated day,</a:t>
            </a:r>
            <a:endParaRPr lang="en-US" sz="1150" dirty="0"/>
          </a:p>
          <a:p>
            <a:pPr marL="0" indent="0">
              <a:buNone/>
            </a:pPr>
            <a:r>
              <a:rPr lang="en-US" sz="1150" dirty="0">
                <a:solidFill>
                  <a:srgbClr val="5F6368"/>
                </a:solidFill>
                <a:latin typeface="Calibri" pitchFamily="34" charset="0"/>
                <a:ea typeface="Calibri" pitchFamily="34" charset="-122"/>
                <a:cs typeface="Calibri" pitchFamily="34" charset="-120"/>
              </a:rPr>
              <a:t>two-dimensional, serial</a:t>
            </a:r>
            <a:endParaRPr lang="en-US" sz="1150" dirty="0"/>
          </a:p>
        </p:txBody>
      </p:sp>
      <p:sp>
        <p:nvSpPr>
          <p:cNvPr id="12" name="Shape 9"/>
          <p:cNvSpPr/>
          <p:nvPr/>
        </p:nvSpPr>
        <p:spPr>
          <a:xfrm>
            <a:off x="566928" y="5303520"/>
            <a:ext cx="11055096" cy="1097280"/>
          </a:xfrm>
          <a:prstGeom prst="roundRect">
            <a:avLst>
              <a:gd name="adj" fmla="val 5000"/>
            </a:avLst>
          </a:prstGeom>
          <a:solidFill>
            <a:srgbClr val="EEF3F6"/>
          </a:solidFill>
          <a:ln/>
        </p:spPr>
      </p:sp>
      <p:sp>
        <p:nvSpPr>
          <p:cNvPr id="13" name="Text 10"/>
          <p:cNvSpPr txBox="1"/>
          <p:nvPr/>
        </p:nvSpPr>
        <p:spPr>
          <a:xfrm>
            <a:off x="886968" y="5394960"/>
            <a:ext cx="10424160" cy="914400"/>
          </a:xfrm>
          <a:prstGeom prst="rect">
            <a:avLst/>
          </a:prstGeom>
          <a:noFill/>
          <a:ln/>
        </p:spPr>
        <p:txBody>
          <a:bodyPr wrap="square" lIns="0" tIns="0" rIns="0" bIns="0" rtlCol="0" anchor="ctr"/>
          <a:lstStyle/>
          <a:p>
            <a:pPr marL="0" indent="0">
              <a:lnSpc>
                <a:spcPts val="1550"/>
              </a:lnSpc>
              <a:buNone/>
            </a:pPr>
            <a:r>
              <a:rPr lang="en-US" sz="1150" b="1" dirty="0">
                <a:solidFill>
                  <a:srgbClr val="1A1A1A"/>
                </a:solidFill>
                <a:latin typeface="Calibri" pitchFamily="34" charset="0"/>
                <a:ea typeface="Calibri" pitchFamily="34" charset="-122"/>
                <a:cs typeface="Calibri" pitchFamily="34" charset="-120"/>
              </a:rPr>
              <a:t>Indicative cost of the campaign. </a:t>
            </a:r>
            <a:r>
              <a:rPr lang="en-US" sz="1150" dirty="0">
                <a:solidFill>
                  <a:srgbClr val="1A1A1A"/>
                </a:solidFill>
                <a:latin typeface="Calibri" pitchFamily="34" charset="0"/>
                <a:ea typeface="Calibri" pitchFamily="34" charset="-122"/>
                <a:cs typeface="Calibri" pitchFamily="34" charset="-120"/>
              </a:rPr>
              <a:t>The sweep of the long wave in two dimensions is estimated at some 8 h of serial computation. The three-dimensional runs are assumed at 160 simulated days, namely 60 days of renewal for each of two mouth geometries, a length comparable to the renewal times of 32 to 61 days reported for Barcelona and Tarragona (Samper et al., 2022), and some 40 days of validation. They would take of the order of 45 h on 8 MPI processes, uncertain by a factor of two.</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MODEL CONCEPT, OPEN BOUNDARY</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Reflection of the open boundary under a synthetic pulse</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An idealised test, with a Gaussian hump of water level released on a flat bed at 150 m with 1500 m cells and each case compared against a reference domain without a boundary.</a:t>
            </a:r>
            <a:endParaRPr lang="en-US" sz="1400" dirty="0"/>
          </a:p>
        </p:txBody>
      </p:sp>
      <p:pic>
        <p:nvPicPr>
          <p:cNvPr id="5" name="Image 0" descr="C:\Users\Unipa\Documents\MaltaDT\figures\riemann_pulse_test.png"/>
          <p:cNvPicPr>
            <a:picLocks noChangeAspect="1"/>
          </p:cNvPicPr>
          <p:nvPr/>
        </p:nvPicPr>
        <p:blipFill>
          <a:blip r:embed="rId3"/>
          <a:stretch>
            <a:fillRect/>
          </a:stretch>
        </p:blipFill>
        <p:spPr>
          <a:xfrm>
            <a:off x="566928" y="2103120"/>
            <a:ext cx="5623560" cy="3931920"/>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46520" y="2103120"/>
          <a:ext cx="5175504" cy="914400"/>
        </p:xfrm>
        <a:graphic>
          <a:graphicData uri="http://schemas.openxmlformats.org/drawingml/2006/table">
            <a:tbl>
              <a:tblPr/>
              <a:tblGrid>
                <a:gridCol w="2432304">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347472">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Reflected amplitude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Riemann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Prescribed level</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47472">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Normal incidence, channel</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0.3 to 1.3 %</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94 to 100 %</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Incidence up to 30°, basin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5 to 9 %</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96 to 98 %</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347472">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Corner cells</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24 to 29 %</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103 %</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Shape 3"/>
          <p:cNvSpPr/>
          <p:nvPr/>
        </p:nvSpPr>
        <p:spPr>
          <a:xfrm>
            <a:off x="6446520" y="3621024"/>
            <a:ext cx="5175504" cy="1280160"/>
          </a:xfrm>
          <a:prstGeom prst="roundRect">
            <a:avLst>
              <a:gd name="adj" fmla="val 4286"/>
            </a:avLst>
          </a:prstGeom>
          <a:solidFill>
            <a:srgbClr val="21295C"/>
          </a:solidFill>
          <a:ln/>
        </p:spPr>
      </p:sp>
      <p:sp>
        <p:nvSpPr>
          <p:cNvPr id="8" name="Text 4"/>
          <p:cNvSpPr txBox="1"/>
          <p:nvPr/>
        </p:nvSpPr>
        <p:spPr>
          <a:xfrm>
            <a:off x="6720840" y="3785616"/>
            <a:ext cx="4626864"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Working configuration</a:t>
            </a:r>
            <a:endParaRPr lang="en-US" sz="1350" dirty="0"/>
          </a:p>
        </p:txBody>
      </p:sp>
      <p:sp>
        <p:nvSpPr>
          <p:cNvPr id="9" name="Text 5"/>
          <p:cNvSpPr txBox="1"/>
          <p:nvPr/>
        </p:nvSpPr>
        <p:spPr>
          <a:xfrm>
            <a:off x="6720840" y="4114800"/>
            <a:ext cx="4626864" cy="676656"/>
          </a:xfrm>
          <a:prstGeom prst="rect">
            <a:avLst/>
          </a:prstGeom>
          <a:noFill/>
          <a:ln/>
        </p:spPr>
        <p:txBody>
          <a:bodyPr wrap="square" lIns="0" tIns="0" rIns="0" bIns="0" rtlCol="0" anchor="t"/>
          <a:lstStyle/>
          <a:p>
            <a:pPr marL="0" indent="0">
              <a:lnSpc>
                <a:spcPts val="1550"/>
              </a:lnSpc>
              <a:buNone/>
            </a:pPr>
            <a:r>
              <a:rPr lang="en-US" sz="1150" dirty="0">
                <a:solidFill>
                  <a:srgbClr val="CADCFC"/>
                </a:solidFill>
                <a:latin typeface="Calibri" pitchFamily="34" charset="0"/>
                <a:ea typeface="Calibri" pitchFamily="34" charset="-122"/>
                <a:cs typeface="Calibri" pitchFamily="34" charset="-120"/>
              </a:rPr>
              <a:t>A Riemann boundary on all open sides, its corners more than 40 km from the harbours, written as one polyline since FM reads only the first polyline of a boundary file.</a:t>
            </a:r>
            <a:endParaRPr lang="en-US" sz="1150" dirty="0"/>
          </a:p>
        </p:txBody>
      </p:sp>
      <p:sp>
        <p:nvSpPr>
          <p:cNvPr id="10" name="Shape 6"/>
          <p:cNvSpPr/>
          <p:nvPr/>
        </p:nvSpPr>
        <p:spPr>
          <a:xfrm>
            <a:off x="6446520" y="5029200"/>
            <a:ext cx="5175504" cy="1005840"/>
          </a:xfrm>
          <a:prstGeom prst="roundRect">
            <a:avLst>
              <a:gd name="adj" fmla="val 5455"/>
            </a:avLst>
          </a:prstGeom>
          <a:solidFill>
            <a:srgbClr val="EEF3F6"/>
          </a:solidFill>
          <a:ln/>
        </p:spPr>
      </p:sp>
      <p:sp>
        <p:nvSpPr>
          <p:cNvPr id="11" name="Text 7"/>
          <p:cNvSpPr txBox="1"/>
          <p:nvPr/>
        </p:nvSpPr>
        <p:spPr>
          <a:xfrm>
            <a:off x="6720840" y="5193792"/>
            <a:ext cx="4626864" cy="274320"/>
          </a:xfrm>
          <a:prstGeom prst="rect">
            <a:avLst/>
          </a:prstGeom>
          <a:noFill/>
          <a:ln/>
        </p:spPr>
        <p:txBody>
          <a:bodyPr wrap="square" lIns="0" tIns="0" rIns="0" bIns="0" rtlCol="0" anchor="ctr"/>
          <a:lstStyle/>
          <a:p>
            <a:pPr marL="0" indent="0">
              <a:buNone/>
            </a:pPr>
            <a:r>
              <a:rPr lang="en-US" sz="1350" b="1" dirty="0">
                <a:solidFill>
                  <a:srgbClr val="065A82"/>
                </a:solidFill>
                <a:latin typeface="Cambria" pitchFamily="34" charset="0"/>
                <a:ea typeface="Cambria" pitchFamily="34" charset="-122"/>
                <a:cs typeface="Cambria" pitchFamily="34" charset="-120"/>
              </a:rPr>
              <a:t>Cases to be tested before production</a:t>
            </a:r>
            <a:endParaRPr lang="en-US" sz="1350" dirty="0"/>
          </a:p>
        </p:txBody>
      </p:sp>
      <p:sp>
        <p:nvSpPr>
          <p:cNvPr id="6" name="Text 8"/>
          <p:cNvSpPr txBox="1"/>
          <p:nvPr/>
        </p:nvSpPr>
        <p:spPr>
          <a:xfrm>
            <a:off x="6720840" y="5522976"/>
            <a:ext cx="4626864" cy="402336"/>
          </a:xfrm>
          <a:prstGeom prst="rect">
            <a:avLst/>
          </a:prstGeom>
          <a:noFill/>
          <a:ln/>
        </p:spPr>
        <p:txBody>
          <a:bodyPr wrap="square" lIns="0" tIns="0" rIns="0" bIns="0" rtlCol="0" anchor="t"/>
          <a:lstStyle/>
          <a:p>
            <a:pPr marL="0" indent="0">
              <a:lnSpc>
                <a:spcPts val="1550"/>
              </a:lnSpc>
              <a:buNone/>
            </a:pPr>
            <a:r>
              <a:rPr lang="en-US" sz="1150" dirty="0">
                <a:solidFill>
                  <a:srgbClr val="1A1A1A"/>
                </a:solidFill>
                <a:latin typeface="Calibri" pitchFamily="34" charset="0"/>
                <a:ea typeface="Calibri" pitchFamily="34" charset="-122"/>
                <a:cs typeface="Calibri" pitchFamily="34" charset="-120"/>
              </a:rPr>
              <a:t>A residual current across the boundary, a non-zero incoming signal from CMEMS, variable depth along the boundary, and Coriolis.</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PRIOR WORK AND SETTING</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Existing work and the scope of the present study</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The Grand Harbour has been modelled before, and the group operates a forecasting system over the same waters.</a:t>
            </a:r>
            <a:endParaRPr lang="en-US" sz="1400" dirty="0"/>
          </a:p>
        </p:txBody>
      </p:sp>
      <p:sp>
        <p:nvSpPr>
          <p:cNvPr id="5" name="Text 3"/>
          <p:cNvSpPr txBox="1"/>
          <p:nvPr/>
        </p:nvSpPr>
        <p:spPr>
          <a:xfrm>
            <a:off x="566928" y="2103120"/>
            <a:ext cx="5394960" cy="292608"/>
          </a:xfrm>
          <a:prstGeom prst="rect">
            <a:avLst/>
          </a:prstGeom>
          <a:noFill/>
          <a:ln/>
        </p:spPr>
        <p:txBody>
          <a:bodyPr wrap="square" lIns="0" tIns="0" rIns="0" bIns="0" rtlCol="0" anchor="ctr"/>
          <a:lstStyle/>
          <a:p>
            <a:pPr marL="0" indent="0">
              <a:buNone/>
            </a:pPr>
            <a:r>
              <a:rPr lang="en-US" sz="1400" b="1" dirty="0">
                <a:solidFill>
                  <a:srgbClr val="065A82"/>
                </a:solidFill>
                <a:latin typeface="Cambria" pitchFamily="34" charset="0"/>
                <a:ea typeface="Cambria" pitchFamily="34" charset="-122"/>
                <a:cs typeface="Cambria" pitchFamily="34" charset="-120"/>
              </a:rPr>
              <a:t>The two studies that bear on the site</a:t>
            </a:r>
            <a:endParaRPr lang="en-US" sz="1400" dirty="0"/>
          </a:p>
        </p:txBody>
      </p:sp>
      <p:sp>
        <p:nvSpPr>
          <p:cNvPr id="6" name="Text 4"/>
          <p:cNvSpPr txBox="1"/>
          <p:nvPr/>
        </p:nvSpPr>
        <p:spPr>
          <a:xfrm>
            <a:off x="566928" y="2468880"/>
            <a:ext cx="5394960" cy="2651760"/>
          </a:xfrm>
          <a:prstGeom prst="rect">
            <a:avLst/>
          </a:prstGeom>
          <a:noFill/>
          <a:ln/>
        </p:spPr>
        <p:txBody>
          <a:bodyPr wrap="square" lIns="0" tIns="0" rIns="0" bIns="0" rtlCol="0" anchor="ctr"/>
          <a:lstStyle/>
          <a:p>
            <a:pPr marL="0" indent="0">
              <a:lnSpc>
                <a:spcPts val="1650"/>
              </a:lnSpc>
              <a:buNone/>
            </a:pPr>
            <a:r>
              <a:rPr lang="en-US" sz="1200" b="1" dirty="0">
                <a:solidFill>
                  <a:srgbClr val="1A1A1A"/>
                </a:solidFill>
                <a:latin typeface="Calibri" pitchFamily="34" charset="0"/>
                <a:ea typeface="Calibri" pitchFamily="34" charset="-122"/>
                <a:cs typeface="Calibri" pitchFamily="34" charset="-120"/>
              </a:rPr>
              <a:t>Mazas and Farrugia, ARTELIA and Infrastructure Malta. </a:t>
            </a:r>
            <a:r>
              <a:rPr lang="en-US" sz="1200" dirty="0">
                <a:solidFill>
                  <a:srgbClr val="1A1A1A"/>
                </a:solidFill>
                <a:latin typeface="Calibri" pitchFamily="34" charset="0"/>
                <a:ea typeface="Calibri" pitchFamily="34" charset="-122"/>
                <a:cs typeface="Calibri" pitchFamily="34" charset="-120"/>
              </a:rPr>
              <a:t>The Grand Harbour modelled for wind-wave agitation in PHAROS, against a directional climate hindcast from 1992 to 2019. Damage in the port documented for the storms of February 2019 and February 2023.
</a:t>
            </a:r>
            <a:endParaRPr lang="en-US" sz="1200" dirty="0"/>
          </a:p>
          <a:p>
            <a:pPr marL="0" indent="0">
              <a:lnSpc>
                <a:spcPts val="1650"/>
              </a:lnSpc>
              <a:buNone/>
            </a:pPr>
            <a:r>
              <a:rPr lang="en-US" sz="1200" b="1" dirty="0">
                <a:solidFill>
                  <a:srgbClr val="1A1A1A"/>
                </a:solidFill>
                <a:latin typeface="Calibri" pitchFamily="34" charset="0"/>
                <a:ea typeface="Calibri" pitchFamily="34" charset="-122"/>
                <a:cs typeface="Calibri" pitchFamily="34" charset="-120"/>
              </a:rPr>
              <a:t>Drago (2018), the design report of the group. </a:t>
            </a:r>
            <a:r>
              <a:rPr lang="en-US" sz="1200" dirty="0">
                <a:solidFill>
                  <a:srgbClr val="1A1A1A"/>
                </a:solidFill>
                <a:latin typeface="Calibri" pitchFamily="34" charset="0"/>
                <a:ea typeface="Calibri" pitchFamily="34" charset="-122"/>
                <a:cs typeface="Calibri" pitchFamily="34" charset="-120"/>
              </a:rPr>
              <a:t>A relocatable model setup is requested for ad hoc local domains, and harbour flushing at the five principal harbours appears among the process-model targets, with the Deltares suite among the families to review.</a:t>
            </a:r>
            <a:endParaRPr lang="en-US" sz="1200" dirty="0"/>
          </a:p>
        </p:txBody>
      </p:sp>
      <p:sp>
        <p:nvSpPr>
          <p:cNvPr id="7" name="Shape 5"/>
          <p:cNvSpPr/>
          <p:nvPr/>
        </p:nvSpPr>
        <p:spPr>
          <a:xfrm>
            <a:off x="6355080" y="2103120"/>
            <a:ext cx="5266944" cy="3035808"/>
          </a:xfrm>
          <a:prstGeom prst="roundRect">
            <a:avLst>
              <a:gd name="adj" fmla="val 1807"/>
            </a:avLst>
          </a:prstGeom>
          <a:solidFill>
            <a:srgbClr val="21295C"/>
          </a:solidFill>
          <a:ln/>
        </p:spPr>
      </p:sp>
      <p:sp>
        <p:nvSpPr>
          <p:cNvPr id="8" name="Text 6"/>
          <p:cNvSpPr txBox="1"/>
          <p:nvPr/>
        </p:nvSpPr>
        <p:spPr>
          <a:xfrm>
            <a:off x="6629400" y="2304288"/>
            <a:ext cx="4754880" cy="274320"/>
          </a:xfrm>
          <a:prstGeom prst="rect">
            <a:avLst/>
          </a:prstGeom>
          <a:noFill/>
          <a:ln/>
        </p:spPr>
        <p:txBody>
          <a:bodyPr wrap="square" lIns="0" tIns="0" rIns="0" bIns="0" rtlCol="0" anchor="ctr"/>
          <a:lstStyle/>
          <a:p>
            <a:pPr marL="0" indent="0">
              <a:buNone/>
            </a:pPr>
            <a:r>
              <a:rPr lang="en-US" sz="1400" b="1" dirty="0">
                <a:solidFill>
                  <a:srgbClr val="EB6834"/>
                </a:solidFill>
                <a:latin typeface="Cambria" pitchFamily="34" charset="0"/>
                <a:ea typeface="Cambria" pitchFamily="34" charset="-122"/>
                <a:cs typeface="Cambria" pitchFamily="34" charset="-120"/>
              </a:rPr>
              <a:t>Operational system of the group</a:t>
            </a:r>
            <a:endParaRPr lang="en-US" sz="1400" dirty="0"/>
          </a:p>
        </p:txBody>
      </p:sp>
      <p:sp>
        <p:nvSpPr>
          <p:cNvPr id="9" name="Text 7"/>
          <p:cNvSpPr txBox="1"/>
          <p:nvPr/>
        </p:nvSpPr>
        <p:spPr>
          <a:xfrm>
            <a:off x="6629400" y="2651760"/>
            <a:ext cx="4754880" cy="2331720"/>
          </a:xfrm>
          <a:prstGeom prst="rect">
            <a:avLst/>
          </a:prstGeom>
          <a:noFill/>
          <a:ln/>
        </p:spPr>
        <p:txBody>
          <a:bodyPr wrap="square" lIns="0" tIns="0" rIns="0" bIns="0" rtlCol="0" anchor="ctr"/>
          <a:lstStyle/>
          <a:p>
            <a:pPr marL="342900" indent="-342900">
              <a:lnSpc>
                <a:spcPts val="1500"/>
              </a:lnSpc>
              <a:spcAft>
                <a:spcPts val="800"/>
              </a:spcAft>
              <a:buSzPct val="100000"/>
              <a:buChar char="•"/>
            </a:pPr>
            <a:r>
              <a:rPr lang="en-US" sz="1150" dirty="0">
                <a:solidFill>
                  <a:srgbClr val="CADCFC"/>
                </a:solidFill>
                <a:latin typeface="Calibri" pitchFamily="34" charset="0"/>
                <a:ea typeface="Calibri" pitchFamily="34" charset="-122"/>
                <a:cs typeface="Calibri" pitchFamily="34" charset="-120"/>
              </a:rPr>
              <a:t>ROSARIO, Princeton Ocean Model, 1∕64° and 1∕96°, nested into CMEMS.</a:t>
            </a:r>
            <a:endParaRPr lang="en-US" sz="1150" dirty="0"/>
          </a:p>
          <a:p>
            <a:pPr marL="342900" indent="-342900">
              <a:lnSpc>
                <a:spcPts val="1500"/>
              </a:lnSpc>
              <a:spcAft>
                <a:spcPts val="800"/>
              </a:spcAft>
              <a:buSzPct val="100000"/>
              <a:buChar char="•"/>
            </a:pPr>
            <a:r>
              <a:rPr lang="en-US" sz="1150" dirty="0">
                <a:solidFill>
                  <a:srgbClr val="CADCFC"/>
                </a:solidFill>
                <a:latin typeface="Calibri" pitchFamily="34" charset="0"/>
                <a:ea typeface="Calibri" pitchFamily="34" charset="-122"/>
                <a:cs typeface="Calibri" pitchFamily="34" charset="-120"/>
              </a:rPr>
              <a:t>SWAN downscaled to the embayments at 1∕500°, about 200 m.</a:t>
            </a:r>
            <a:endParaRPr lang="en-US" sz="1150" dirty="0"/>
          </a:p>
          <a:p>
            <a:pPr marL="342900" indent="-342900">
              <a:lnSpc>
                <a:spcPts val="1500"/>
              </a:lnSpc>
              <a:spcAft>
                <a:spcPts val="800"/>
              </a:spcAft>
              <a:buSzPct val="100000"/>
              <a:buChar char="•"/>
            </a:pPr>
            <a:r>
              <a:rPr lang="en-US" sz="1150" dirty="0">
                <a:solidFill>
                  <a:srgbClr val="CADCFC"/>
                </a:solidFill>
                <a:latin typeface="Calibri" pitchFamily="34" charset="0"/>
                <a:ea typeface="Calibri" pitchFamily="34" charset="-122"/>
                <a:cs typeface="Calibri" pitchFamily="34" charset="-120"/>
              </a:rPr>
              <a:t>ROSARIO-SHYFEM, unstructured, three-dimensional, operational to a four-day forecast, from a few kilometres to 50 m at the coast, with Lagrangian particle tracking.</a:t>
            </a:r>
            <a:endParaRPr lang="en-US" sz="1150" dirty="0"/>
          </a:p>
          <a:p>
            <a:pPr marL="342900" indent="-342900">
              <a:lnSpc>
                <a:spcPts val="1500"/>
              </a:lnSpc>
              <a:buSzPct val="100000"/>
              <a:buChar char="•"/>
            </a:pPr>
            <a:r>
              <a:rPr lang="en-US" sz="1150" dirty="0">
                <a:solidFill>
                  <a:srgbClr val="CADCFC"/>
                </a:solidFill>
                <a:latin typeface="Calibri" pitchFamily="34" charset="0"/>
                <a:ea typeface="Calibri" pitchFamily="34" charset="-122"/>
                <a:cs typeface="Calibri" pitchFamily="34" charset="-120"/>
              </a:rPr>
              <a:t>Boundary conditions derived from CMEMS, as in the present work.</a:t>
            </a:r>
            <a:endParaRPr lang="en-US" sz="1150" dirty="0"/>
          </a:p>
        </p:txBody>
      </p:sp>
      <p:sp>
        <p:nvSpPr>
          <p:cNvPr id="10" name="Shape 8"/>
          <p:cNvSpPr/>
          <p:nvPr/>
        </p:nvSpPr>
        <p:spPr>
          <a:xfrm>
            <a:off x="566928" y="5321808"/>
            <a:ext cx="11055096" cy="841248"/>
          </a:xfrm>
          <a:prstGeom prst="roundRect">
            <a:avLst>
              <a:gd name="adj" fmla="val 6522"/>
            </a:avLst>
          </a:prstGeom>
          <a:solidFill>
            <a:srgbClr val="EEF3F6"/>
          </a:solidFill>
          <a:ln/>
        </p:spPr>
      </p:sp>
      <p:sp>
        <p:nvSpPr>
          <p:cNvPr id="11" name="Text 9"/>
          <p:cNvSpPr txBox="1"/>
          <p:nvPr/>
        </p:nvSpPr>
        <p:spPr>
          <a:xfrm>
            <a:off x="886968" y="5477256"/>
            <a:ext cx="10424160" cy="566928"/>
          </a:xfrm>
          <a:prstGeom prst="rect">
            <a:avLst/>
          </a:prstGeom>
          <a:noFill/>
          <a:ln/>
        </p:spPr>
        <p:txBody>
          <a:bodyPr wrap="square" lIns="0" tIns="0" rIns="0" bIns="0" rtlCol="0" anchor="ctr"/>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The present work is a process study conducted within the group, alongside the operational system. It differs in the resolution inside the basins, 15 to 30 m against 50 m, in the coupling to a spectral wave model, and in the frequency band it addresses.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RESEARCH QUESTIONS</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Principal question and three accompanying questions</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Proposed formulation, submitted to the group for discussion.</a:t>
            </a:r>
            <a:endParaRPr lang="en-US" sz="1400" dirty="0"/>
          </a:p>
        </p:txBody>
      </p:sp>
      <p:sp>
        <p:nvSpPr>
          <p:cNvPr id="5" name="Shape 3"/>
          <p:cNvSpPr/>
          <p:nvPr/>
        </p:nvSpPr>
        <p:spPr>
          <a:xfrm>
            <a:off x="566928" y="2103120"/>
            <a:ext cx="11055096" cy="1234440"/>
          </a:xfrm>
          <a:prstGeom prst="roundRect">
            <a:avLst>
              <a:gd name="adj" fmla="val 4444"/>
            </a:avLst>
          </a:prstGeom>
          <a:solidFill>
            <a:srgbClr val="21295C"/>
          </a:solidFill>
          <a:ln/>
        </p:spPr>
      </p:sp>
      <p:sp>
        <p:nvSpPr>
          <p:cNvPr id="6" name="Text 4"/>
          <p:cNvSpPr txBox="1"/>
          <p:nvPr/>
        </p:nvSpPr>
        <p:spPr>
          <a:xfrm>
            <a:off x="886968" y="2212848"/>
            <a:ext cx="7315200"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Principal, attribution of amplification</a:t>
            </a:r>
            <a:endParaRPr lang="en-US" sz="1350" dirty="0"/>
          </a:p>
        </p:txBody>
      </p:sp>
      <p:sp>
        <p:nvSpPr>
          <p:cNvPr id="7" name="Text 5"/>
          <p:cNvSpPr txBox="1"/>
          <p:nvPr/>
        </p:nvSpPr>
        <p:spPr>
          <a:xfrm>
            <a:off x="886968" y="2523744"/>
            <a:ext cx="10424160" cy="731520"/>
          </a:xfrm>
          <a:prstGeom prst="rect">
            <a:avLst/>
          </a:prstGeom>
          <a:noFill/>
          <a:ln/>
        </p:spPr>
        <p:txBody>
          <a:bodyPr wrap="square" lIns="0" tIns="0" rIns="0" bIns="0" rtlCol="0" anchor="t"/>
          <a:lstStyle/>
          <a:p>
            <a:pPr marL="0" indent="0">
              <a:lnSpc>
                <a:spcPts val="1900"/>
              </a:lnSpc>
              <a:buNone/>
            </a:pPr>
            <a:r>
              <a:rPr lang="en-US" sz="1350" i="1" dirty="0">
                <a:solidFill>
                  <a:srgbClr val="FFFFFF"/>
                </a:solidFill>
                <a:latin typeface="Cambria" pitchFamily="34" charset="0"/>
                <a:ea typeface="Cambria" pitchFamily="34" charset="-122"/>
                <a:cs typeface="Cambria" pitchFamily="34" charset="-120"/>
              </a:rPr>
              <a:t>Of the amplification between the open sea and the heads of the Valletta harbours, how is it partitioned between Proudman resonance over the plateau, shoaling on the approach, and resonance of the basins, and which disturbance speeds and directions maximise that chain?</a:t>
            </a:r>
            <a:endParaRPr lang="en-US" sz="1350" dirty="0"/>
          </a:p>
        </p:txBody>
      </p:sp>
      <p:sp>
        <p:nvSpPr>
          <p:cNvPr id="8" name="Shape 6"/>
          <p:cNvSpPr/>
          <p:nvPr/>
        </p:nvSpPr>
        <p:spPr>
          <a:xfrm>
            <a:off x="566928" y="3566160"/>
            <a:ext cx="3520440" cy="2331720"/>
          </a:xfrm>
          <a:prstGeom prst="roundRect">
            <a:avLst>
              <a:gd name="adj" fmla="val 2353"/>
            </a:avLst>
          </a:prstGeom>
          <a:solidFill>
            <a:srgbClr val="EEF3F6"/>
          </a:solidFill>
          <a:ln/>
        </p:spPr>
      </p:sp>
      <p:sp>
        <p:nvSpPr>
          <p:cNvPr id="9" name="Text 7"/>
          <p:cNvSpPr txBox="1"/>
          <p:nvPr/>
        </p:nvSpPr>
        <p:spPr>
          <a:xfrm>
            <a:off x="822960" y="3703320"/>
            <a:ext cx="3017520" cy="292608"/>
          </a:xfrm>
          <a:prstGeom prst="rect">
            <a:avLst/>
          </a:prstGeom>
          <a:noFill/>
          <a:ln/>
        </p:spPr>
        <p:txBody>
          <a:bodyPr wrap="square" lIns="0" tIns="0" rIns="0" bIns="0" rtlCol="0" anchor="ctr"/>
          <a:lstStyle/>
          <a:p>
            <a:pPr marL="0" indent="0">
              <a:buNone/>
            </a:pPr>
            <a:r>
              <a:rPr lang="en-US" sz="1350" b="1" dirty="0">
                <a:solidFill>
                  <a:srgbClr val="065A82"/>
                </a:solidFill>
                <a:latin typeface="Cambria" pitchFamily="34" charset="0"/>
                <a:ea typeface="Cambria" pitchFamily="34" charset="-122"/>
                <a:cs typeface="Cambria" pitchFamily="34" charset="-120"/>
              </a:rPr>
              <a:t>Applied</a:t>
            </a:r>
            <a:endParaRPr lang="en-US" sz="1350" dirty="0"/>
          </a:p>
        </p:txBody>
      </p:sp>
      <p:sp>
        <p:nvSpPr>
          <p:cNvPr id="10" name="Text 8"/>
          <p:cNvSpPr txBox="1"/>
          <p:nvPr/>
        </p:nvSpPr>
        <p:spPr>
          <a:xfrm>
            <a:off x="822960" y="4041648"/>
            <a:ext cx="3017520" cy="868680"/>
          </a:xfrm>
          <a:prstGeom prst="rect">
            <a:avLst/>
          </a:prstGeom>
          <a:noFill/>
          <a:ln/>
        </p:spPr>
        <p:txBody>
          <a:bodyPr wrap="square" lIns="0" tIns="0" rIns="0" bIns="0" rtlCol="0" anchor="t"/>
          <a:lstStyle/>
          <a:p>
            <a:pPr marL="0" indent="0">
              <a:lnSpc>
                <a:spcPts val="1600"/>
              </a:lnSpc>
              <a:buNone/>
            </a:pPr>
            <a:r>
              <a:rPr lang="en-US" sz="1200" i="1" dirty="0">
                <a:solidFill>
                  <a:srgbClr val="1A1A1A"/>
                </a:solidFill>
                <a:latin typeface="Cambria" pitchFamily="34" charset="0"/>
                <a:ea typeface="Cambria" pitchFamily="34" charset="-122"/>
                <a:cs typeface="Cambria" pitchFamily="34" charset="-120"/>
              </a:rPr>
              <a:t>Which parts of the harbour system amplify most, and which geometric features control that?</a:t>
            </a:r>
            <a:endParaRPr lang="en-US" sz="1200" dirty="0"/>
          </a:p>
        </p:txBody>
      </p:sp>
      <p:sp>
        <p:nvSpPr>
          <p:cNvPr id="11" name="Text 9"/>
          <p:cNvSpPr txBox="1"/>
          <p:nvPr/>
        </p:nvSpPr>
        <p:spPr>
          <a:xfrm>
            <a:off x="822960" y="4937760"/>
            <a:ext cx="3017520" cy="868680"/>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Expected output, a map of exposure by inlet and by quay.</a:t>
            </a:r>
            <a:endParaRPr lang="en-US" sz="1100" dirty="0"/>
          </a:p>
        </p:txBody>
      </p:sp>
      <p:sp>
        <p:nvSpPr>
          <p:cNvPr id="12" name="Shape 10"/>
          <p:cNvSpPr/>
          <p:nvPr/>
        </p:nvSpPr>
        <p:spPr>
          <a:xfrm>
            <a:off x="4334256" y="3566160"/>
            <a:ext cx="3520440" cy="2331720"/>
          </a:xfrm>
          <a:prstGeom prst="roundRect">
            <a:avLst>
              <a:gd name="adj" fmla="val 2353"/>
            </a:avLst>
          </a:prstGeom>
          <a:solidFill>
            <a:srgbClr val="EEF3F6"/>
          </a:solidFill>
          <a:ln/>
        </p:spPr>
      </p:sp>
      <p:sp>
        <p:nvSpPr>
          <p:cNvPr id="13" name="Text 11"/>
          <p:cNvSpPr txBox="1"/>
          <p:nvPr/>
        </p:nvSpPr>
        <p:spPr>
          <a:xfrm>
            <a:off x="4590288" y="3703320"/>
            <a:ext cx="3017520" cy="292608"/>
          </a:xfrm>
          <a:prstGeom prst="rect">
            <a:avLst/>
          </a:prstGeom>
          <a:noFill/>
          <a:ln/>
        </p:spPr>
        <p:txBody>
          <a:bodyPr wrap="square" lIns="0" tIns="0" rIns="0" bIns="0" rtlCol="0" anchor="ctr"/>
          <a:lstStyle/>
          <a:p>
            <a:pPr marL="0" indent="0">
              <a:buNone/>
            </a:pPr>
            <a:r>
              <a:rPr lang="en-US" sz="1350" b="1" dirty="0">
                <a:solidFill>
                  <a:srgbClr val="065A82"/>
                </a:solidFill>
                <a:latin typeface="Cambria" pitchFamily="34" charset="0"/>
                <a:ea typeface="Cambria" pitchFamily="34" charset="-122"/>
                <a:cs typeface="Cambria" pitchFamily="34" charset="-120"/>
              </a:rPr>
              <a:t>Renewal of harbour water</a:t>
            </a:r>
            <a:endParaRPr lang="en-US" sz="1350" dirty="0"/>
          </a:p>
        </p:txBody>
      </p:sp>
      <p:sp>
        <p:nvSpPr>
          <p:cNvPr id="14" name="Text 12"/>
          <p:cNvSpPr txBox="1"/>
          <p:nvPr/>
        </p:nvSpPr>
        <p:spPr>
          <a:xfrm>
            <a:off x="4590288" y="4041648"/>
            <a:ext cx="3017520" cy="868680"/>
          </a:xfrm>
          <a:prstGeom prst="rect">
            <a:avLst/>
          </a:prstGeom>
          <a:noFill/>
          <a:ln/>
        </p:spPr>
        <p:txBody>
          <a:bodyPr wrap="square" lIns="0" tIns="0" rIns="0" bIns="0" rtlCol="0" anchor="t"/>
          <a:lstStyle/>
          <a:p>
            <a:pPr marL="0" indent="0">
              <a:lnSpc>
                <a:spcPts val="1600"/>
              </a:lnSpc>
              <a:buNone/>
            </a:pPr>
            <a:r>
              <a:rPr lang="en-US" sz="1200" i="1" dirty="0">
                <a:solidFill>
                  <a:srgbClr val="1A1A1A"/>
                </a:solidFill>
                <a:latin typeface="Cambria" pitchFamily="34" charset="0"/>
                <a:ea typeface="Cambria" pitchFamily="34" charset="-122"/>
                <a:cs typeface="Cambria" pitchFamily="34" charset="-120"/>
              </a:rPr>
              <a:t>What renews the water of a microtidal harbour, and how much of the exchange driven by long waves is renewal rather than reversible oscillation?</a:t>
            </a:r>
            <a:endParaRPr lang="en-US" sz="1200" dirty="0"/>
          </a:p>
        </p:txBody>
      </p:sp>
      <p:sp>
        <p:nvSpPr>
          <p:cNvPr id="15" name="Text 13"/>
          <p:cNvSpPr txBox="1"/>
          <p:nvPr/>
        </p:nvSpPr>
        <p:spPr>
          <a:xfrm>
            <a:off x="4590288" y="4937760"/>
            <a:ext cx="3017520" cy="868680"/>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Expected output, residence times from three-dimensional and Lagrangian runs.</a:t>
            </a:r>
            <a:endParaRPr lang="en-US" sz="1100" dirty="0"/>
          </a:p>
        </p:txBody>
      </p:sp>
      <p:sp>
        <p:nvSpPr>
          <p:cNvPr id="16" name="Shape 14"/>
          <p:cNvSpPr/>
          <p:nvPr/>
        </p:nvSpPr>
        <p:spPr>
          <a:xfrm>
            <a:off x="8101584" y="3566160"/>
            <a:ext cx="3520440" cy="2331720"/>
          </a:xfrm>
          <a:prstGeom prst="roundRect">
            <a:avLst>
              <a:gd name="adj" fmla="val 2353"/>
            </a:avLst>
          </a:prstGeom>
          <a:solidFill>
            <a:srgbClr val="EEF3F6"/>
          </a:solidFill>
          <a:ln/>
        </p:spPr>
      </p:sp>
      <p:sp>
        <p:nvSpPr>
          <p:cNvPr id="17" name="Text 15"/>
          <p:cNvSpPr txBox="1"/>
          <p:nvPr/>
        </p:nvSpPr>
        <p:spPr>
          <a:xfrm>
            <a:off x="8357616" y="3703320"/>
            <a:ext cx="3017520" cy="292608"/>
          </a:xfrm>
          <a:prstGeom prst="rect">
            <a:avLst/>
          </a:prstGeom>
          <a:noFill/>
          <a:ln/>
        </p:spPr>
        <p:txBody>
          <a:bodyPr wrap="square" lIns="0" tIns="0" rIns="0" bIns="0" rtlCol="0" anchor="ctr"/>
          <a:lstStyle/>
          <a:p>
            <a:pPr marL="0" indent="0">
              <a:buNone/>
            </a:pPr>
            <a:r>
              <a:rPr lang="en-US" sz="1350" b="1" dirty="0">
                <a:solidFill>
                  <a:srgbClr val="065A82"/>
                </a:solidFill>
                <a:latin typeface="Cambria" pitchFamily="34" charset="0"/>
                <a:ea typeface="Cambria" pitchFamily="34" charset="-122"/>
                <a:cs typeface="Cambria" pitchFamily="34" charset="-120"/>
              </a:rPr>
              <a:t>Geometry of the mouth</a:t>
            </a:r>
            <a:endParaRPr lang="en-US" sz="1350" dirty="0"/>
          </a:p>
        </p:txBody>
      </p:sp>
      <p:sp>
        <p:nvSpPr>
          <p:cNvPr id="18" name="Text 16"/>
          <p:cNvSpPr txBox="1"/>
          <p:nvPr/>
        </p:nvSpPr>
        <p:spPr>
          <a:xfrm>
            <a:off x="8357616" y="4041648"/>
            <a:ext cx="3017520" cy="868680"/>
          </a:xfrm>
          <a:prstGeom prst="rect">
            <a:avLst/>
          </a:prstGeom>
          <a:noFill/>
          <a:ln/>
        </p:spPr>
        <p:txBody>
          <a:bodyPr wrap="square" lIns="0" tIns="0" rIns="0" bIns="0" rtlCol="0" anchor="t"/>
          <a:lstStyle/>
          <a:p>
            <a:pPr marL="0" indent="0">
              <a:lnSpc>
                <a:spcPts val="1600"/>
              </a:lnSpc>
              <a:buNone/>
            </a:pPr>
            <a:r>
              <a:rPr lang="en-US" sz="1200" i="1" dirty="0">
                <a:solidFill>
                  <a:srgbClr val="1A1A1A"/>
                </a:solidFill>
                <a:latin typeface="Cambria" pitchFamily="34" charset="0"/>
                <a:ea typeface="Cambria" pitchFamily="34" charset="-122"/>
                <a:cs typeface="Cambria" pitchFamily="34" charset="-120"/>
              </a:rPr>
              <a:t>How sensitive are the long-wave response and the renewal to the geometry of the mouth?</a:t>
            </a:r>
            <a:endParaRPr lang="en-US" sz="1200" dirty="0"/>
          </a:p>
        </p:txBody>
      </p:sp>
      <p:sp>
        <p:nvSpPr>
          <p:cNvPr id="19" name="Text 17"/>
          <p:cNvSpPr txBox="1"/>
          <p:nvPr/>
        </p:nvSpPr>
        <p:spPr>
          <a:xfrm>
            <a:off x="8357616" y="4937760"/>
            <a:ext cx="3017520" cy="868680"/>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A sensitivity on the class of basin, representing no particular design. A first estimate gives a lengthening of the mode by 1.5 to 4 per cent for a restriction of a quarter.</a:t>
            </a:r>
            <a:endParaRPr lang="en-US" sz="1100" dirty="0"/>
          </a:p>
        </p:txBody>
      </p:sp>
      <p:sp>
        <p:nvSpPr>
          <p:cNvPr id="20" name="Text 18"/>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The principal question requires a model, since no arrangement of gauges separates the three stages, and it addresses the generation of the wave, which the published work appears to leave open.</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EXPERIMENTAL DESIGN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Sweep for the long wave, hindcast for validation</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ERA5 does not resolve the atmospheric gravity waves associated with the milgħuba, so the long wave is studied by a sweep of idealised disturbances, while circulation, sea level and waves are validated by a conventional hindcast.</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2194560"/>
          <a:ext cx="576072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tblGrid>
              <a:tr h="365760">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Proposed sweep</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65760">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Forcing</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moving pressure disturbance of fixed amplitude</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Speed</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6 values bracketing 94 to 155 km h⁻¹</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365760">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Direction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8, at intervals of 45°</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Width</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4"/>
                  </a:ext>
                </a:extLst>
              </a:tr>
              <a:tr h="365760">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Scenarios</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96, of 12 simulated hours each</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Configuration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two-dimensional, barotropic, without wave coupling</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6"/>
                  </a:ext>
                </a:extLst>
              </a:tr>
              <a:tr h="365760">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Output</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sea level at one minute at the inlets and the gauges</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65760">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Indicative cost</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some 8 h of serial computation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8"/>
                  </a:ext>
                </a:extLst>
              </a:tr>
            </a:tbl>
          </a:graphicData>
        </a:graphic>
      </p:graphicFrame>
      <p:sp>
        <p:nvSpPr>
          <p:cNvPr id="6" name="Shape 3"/>
          <p:cNvSpPr/>
          <p:nvPr/>
        </p:nvSpPr>
        <p:spPr>
          <a:xfrm>
            <a:off x="6583680" y="2194560"/>
            <a:ext cx="5038344" cy="1481328"/>
          </a:xfrm>
          <a:prstGeom prst="roundRect">
            <a:avLst>
              <a:gd name="adj" fmla="val 3704"/>
            </a:avLst>
          </a:prstGeom>
          <a:solidFill>
            <a:srgbClr val="EEF3F6"/>
          </a:solidFill>
          <a:ln/>
        </p:spPr>
      </p:sp>
      <p:sp>
        <p:nvSpPr>
          <p:cNvPr id="7" name="Text 4"/>
          <p:cNvSpPr txBox="1"/>
          <p:nvPr/>
        </p:nvSpPr>
        <p:spPr>
          <a:xfrm>
            <a:off x="6858000" y="2359152"/>
            <a:ext cx="4489704" cy="274320"/>
          </a:xfrm>
          <a:prstGeom prst="rect">
            <a:avLst/>
          </a:prstGeom>
          <a:noFill/>
          <a:ln/>
        </p:spPr>
        <p:txBody>
          <a:bodyPr wrap="square" lIns="0" tIns="0" rIns="0" bIns="0" rtlCol="0" anchor="ctr"/>
          <a:lstStyle/>
          <a:p>
            <a:pPr marL="0" indent="0">
              <a:buNone/>
            </a:pPr>
            <a:r>
              <a:rPr lang="en-US" sz="1350" b="1" dirty="0">
                <a:solidFill>
                  <a:srgbClr val="065A82"/>
                </a:solidFill>
                <a:latin typeface="Cambria" pitchFamily="34" charset="0"/>
                <a:ea typeface="Cambria" pitchFamily="34" charset="-122"/>
                <a:cs typeface="Cambria" pitchFamily="34" charset="-120"/>
              </a:rPr>
              <a:t>Requirements of the sweep</a:t>
            </a:r>
            <a:endParaRPr lang="en-US" sz="1350" dirty="0"/>
          </a:p>
        </p:txBody>
      </p:sp>
      <p:sp>
        <p:nvSpPr>
          <p:cNvPr id="8" name="Text 5"/>
          <p:cNvSpPr txBox="1"/>
          <p:nvPr/>
        </p:nvSpPr>
        <p:spPr>
          <a:xfrm>
            <a:off x="6858000" y="2688336"/>
            <a:ext cx="4489704" cy="877824"/>
          </a:xfrm>
          <a:prstGeom prst="rect">
            <a:avLst/>
          </a:prstGeom>
          <a:noFill/>
          <a:ln/>
        </p:spPr>
        <p:txBody>
          <a:bodyPr wrap="square" lIns="0" tIns="0" rIns="0" bIns="0" rtlCol="0" anchor="t"/>
          <a:lstStyle/>
          <a:p>
            <a:pPr marL="0" indent="0">
              <a:lnSpc>
                <a:spcPts val="1550"/>
              </a:lnSpc>
              <a:buNone/>
            </a:pPr>
            <a:r>
              <a:rPr lang="en-US" sz="1150" dirty="0">
                <a:solidFill>
                  <a:srgbClr val="1A1A1A"/>
                </a:solidFill>
                <a:latin typeface="Calibri" pitchFamily="34" charset="0"/>
                <a:ea typeface="Calibri" pitchFamily="34" charset="-122"/>
                <a:cs typeface="Calibri" pitchFamily="34" charset="-120"/>
              </a:rPr>
              <a:t>A pressure field varying in space and time imposed in D-Flow FM, the weakly reflective boundary of the preceding slide, and a response close to linear in the amplitude of the disturbance, which is to be verified.</a:t>
            </a:r>
            <a:endParaRPr lang="en-US" sz="1150" dirty="0"/>
          </a:p>
        </p:txBody>
      </p:sp>
      <p:sp>
        <p:nvSpPr>
          <p:cNvPr id="9" name="Shape 6"/>
          <p:cNvSpPr/>
          <p:nvPr/>
        </p:nvSpPr>
        <p:spPr>
          <a:xfrm>
            <a:off x="6583680" y="3822192"/>
            <a:ext cx="5038344" cy="1810512"/>
          </a:xfrm>
          <a:prstGeom prst="roundRect">
            <a:avLst>
              <a:gd name="adj" fmla="val 3030"/>
            </a:avLst>
          </a:prstGeom>
          <a:solidFill>
            <a:srgbClr val="21295C"/>
          </a:solidFill>
          <a:ln/>
        </p:spPr>
      </p:sp>
      <p:sp>
        <p:nvSpPr>
          <p:cNvPr id="10" name="Text 7"/>
          <p:cNvSpPr txBox="1"/>
          <p:nvPr/>
        </p:nvSpPr>
        <p:spPr>
          <a:xfrm>
            <a:off x="6858000" y="3986784"/>
            <a:ext cx="4489704"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Hindcast and test against events</a:t>
            </a:r>
            <a:endParaRPr lang="en-US" sz="1350" dirty="0"/>
          </a:p>
        </p:txBody>
      </p:sp>
      <p:sp>
        <p:nvSpPr>
          <p:cNvPr id="11" name="Text 8"/>
          <p:cNvSpPr txBox="1"/>
          <p:nvPr/>
        </p:nvSpPr>
        <p:spPr>
          <a:xfrm>
            <a:off x="6858000" y="4315968"/>
            <a:ext cx="4489704" cy="1207008"/>
          </a:xfrm>
          <a:prstGeom prst="rect">
            <a:avLst/>
          </a:prstGeom>
          <a:noFill/>
          <a:ln/>
        </p:spPr>
        <p:txBody>
          <a:bodyPr wrap="square" lIns="0" tIns="0" rIns="0" bIns="0" rtlCol="0" anchor="t"/>
          <a:lstStyle/>
          <a:p>
            <a:pPr marL="0" indent="0">
              <a:lnSpc>
                <a:spcPts val="1550"/>
              </a:lnSpc>
              <a:buNone/>
            </a:pPr>
            <a:r>
              <a:rPr lang="en-US" sz="1150" dirty="0">
                <a:solidFill>
                  <a:srgbClr val="CADCFC"/>
                </a:solidFill>
                <a:latin typeface="Calibri" pitchFamily="34" charset="0"/>
                <a:ea typeface="Calibri" pitchFamily="34" charset="-122"/>
                <a:cs typeface="Calibri" pitchFamily="34" charset="-120"/>
              </a:rPr>
              <a:t>A hindcast of some 40 days in three dimensions, forced by CMEMS and ERA5 with wave coupling, would validate sea level, currents and waves. The dated milgħuba events would then be located on the response surface through their one-minute pressure records, to examine whether they occur under the conditions identified as resonant.</a:t>
            </a:r>
            <a:endParaRPr lang="en-US" sz="1150" dirty="0"/>
          </a:p>
        </p:txBody>
      </p:sp>
      <p:sp>
        <p:nvSpPr>
          <p:cNvPr id="12" name="Text 9"/>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The response surface would be a property of the geometry, so projected changes in the forcing could be applied to it without running climate scenarios through the model.</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OPEN QUESTIONS</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Open questions for the continuation</a:t>
            </a:r>
            <a:endParaRPr lang="en-US" sz="3200" dirty="0"/>
          </a:p>
        </p:txBody>
      </p:sp>
      <p:sp>
        <p:nvSpPr>
          <p:cNvPr id="4" name="Shape 2"/>
          <p:cNvSpPr/>
          <p:nvPr/>
        </p:nvSpPr>
        <p:spPr>
          <a:xfrm>
            <a:off x="566928" y="1874520"/>
            <a:ext cx="402336" cy="402336"/>
          </a:xfrm>
          <a:prstGeom prst="ellipse">
            <a:avLst/>
          </a:prstGeom>
          <a:solidFill>
            <a:srgbClr val="065A82"/>
          </a:solidFill>
          <a:ln/>
        </p:spPr>
      </p:sp>
      <p:sp>
        <p:nvSpPr>
          <p:cNvPr id="5" name="Text 3"/>
          <p:cNvSpPr txBox="1"/>
          <p:nvPr/>
        </p:nvSpPr>
        <p:spPr>
          <a:xfrm>
            <a:off x="566928" y="18745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133856" y="1847088"/>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Sea level and one-minute pressure from the archive of the group on the dates of the events</a:t>
            </a:r>
            <a:endParaRPr lang="en-US" sz="1280" dirty="0"/>
          </a:p>
        </p:txBody>
      </p:sp>
      <p:sp>
        <p:nvSpPr>
          <p:cNvPr id="7" name="Text 5"/>
          <p:cNvSpPr txBox="1"/>
          <p:nvPr/>
        </p:nvSpPr>
        <p:spPr>
          <a:xfrm>
            <a:off x="1133856" y="2331720"/>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Senglea and Delimara for 29 June to 2 July 2022, 30 June to 2 July 2023 and 12 to 14 June 2024, with PORTO pressure at Elmo, Kordin and Msida. The public records resolve none of the three.</a:t>
            </a:r>
            <a:endParaRPr lang="en-US" sz="1100" dirty="0"/>
          </a:p>
        </p:txBody>
      </p:sp>
      <p:sp>
        <p:nvSpPr>
          <p:cNvPr id="8" name="Shape 6"/>
          <p:cNvSpPr/>
          <p:nvPr/>
        </p:nvSpPr>
        <p:spPr>
          <a:xfrm>
            <a:off x="6126480" y="1874520"/>
            <a:ext cx="402336" cy="402336"/>
          </a:xfrm>
          <a:prstGeom prst="ellipse">
            <a:avLst/>
          </a:prstGeom>
          <a:solidFill>
            <a:srgbClr val="1C7293"/>
          </a:solidFill>
          <a:ln/>
        </p:spPr>
      </p:sp>
      <p:sp>
        <p:nvSpPr>
          <p:cNvPr id="9" name="Text 7"/>
          <p:cNvSpPr txBox="1"/>
          <p:nvPr/>
        </p:nvSpPr>
        <p:spPr>
          <a:xfrm>
            <a:off x="6126480" y="18745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6693408" y="1847088"/>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History of the Senglea installation, and Portomaso at one minute</a:t>
            </a:r>
            <a:endParaRPr lang="en-US" sz="1280" dirty="0"/>
          </a:p>
        </p:txBody>
      </p:sp>
      <p:sp>
        <p:nvSpPr>
          <p:cNvPr id="11" name="Text 9"/>
          <p:cNvSpPr txBox="1"/>
          <p:nvPr/>
        </p:nvSpPr>
        <p:spPr>
          <a:xfrm>
            <a:off x="6693408" y="2331720"/>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Confirmation of the windows admitted and the cause of the displacement from April 2023. A gauge outside both basins would help separate the readings of the 23-minute peak.</a:t>
            </a:r>
            <a:endParaRPr lang="en-US" sz="1100" dirty="0"/>
          </a:p>
        </p:txBody>
      </p:sp>
      <p:sp>
        <p:nvSpPr>
          <p:cNvPr id="12" name="Shape 10"/>
          <p:cNvSpPr/>
          <p:nvPr/>
        </p:nvSpPr>
        <p:spPr>
          <a:xfrm>
            <a:off x="566928" y="3355848"/>
            <a:ext cx="402336" cy="402336"/>
          </a:xfrm>
          <a:prstGeom prst="ellipse">
            <a:avLst/>
          </a:prstGeom>
          <a:solidFill>
            <a:srgbClr val="065A82"/>
          </a:solidFill>
          <a:ln/>
        </p:spPr>
      </p:sp>
      <p:sp>
        <p:nvSpPr>
          <p:cNvPr id="13" name="Text 11"/>
          <p:cNvSpPr txBox="1"/>
          <p:nvPr/>
        </p:nvSpPr>
        <p:spPr>
          <a:xfrm>
            <a:off x="566928" y="335584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133856" y="3328416"/>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Appropriateness of the sensitivity exercise on the harbour mouth</a:t>
            </a:r>
            <a:endParaRPr lang="en-US" sz="1280" dirty="0"/>
          </a:p>
        </p:txBody>
      </p:sp>
      <p:sp>
        <p:nvSpPr>
          <p:cNvPr id="15" name="Text 13"/>
          <p:cNvSpPr txBox="1"/>
          <p:nvPr/>
        </p:nvSpPr>
        <p:spPr>
          <a:xfrm>
            <a:off x="1133856" y="3813048"/>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The exercise is a response curve over the class of basin and carries no assessment of the project in consultation. The present geometry of the entrance, the Ricasoli arm in particular, bears on the estimate.</a:t>
            </a:r>
            <a:endParaRPr lang="en-US" sz="1100" dirty="0"/>
          </a:p>
        </p:txBody>
      </p:sp>
      <p:sp>
        <p:nvSpPr>
          <p:cNvPr id="16" name="Shape 14"/>
          <p:cNvSpPr/>
          <p:nvPr/>
        </p:nvSpPr>
        <p:spPr>
          <a:xfrm>
            <a:off x="6126480" y="3355848"/>
            <a:ext cx="402336" cy="402336"/>
          </a:xfrm>
          <a:prstGeom prst="ellipse">
            <a:avLst/>
          </a:prstGeom>
          <a:solidFill>
            <a:srgbClr val="1C7293"/>
          </a:solidFill>
          <a:ln/>
        </p:spPr>
      </p:sp>
      <p:sp>
        <p:nvSpPr>
          <p:cNvPr id="17" name="Text 15"/>
          <p:cNvSpPr txBox="1"/>
          <p:nvPr/>
        </p:nvSpPr>
        <p:spPr>
          <a:xfrm>
            <a:off x="6126480" y="335584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8" name="Text 16"/>
          <p:cNvSpPr txBox="1"/>
          <p:nvPr/>
        </p:nvSpPr>
        <p:spPr>
          <a:xfrm>
            <a:off x="6693408" y="3328416"/>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Prior work on the generation of the wave</a:t>
            </a:r>
            <a:endParaRPr lang="en-US" sz="1280" dirty="0"/>
          </a:p>
        </p:txBody>
      </p:sp>
      <p:sp>
        <p:nvSpPr>
          <p:cNvPr id="19" name="Text 17"/>
          <p:cNvSpPr txBox="1"/>
          <p:nvPr/>
        </p:nvSpPr>
        <p:spPr>
          <a:xfrm>
            <a:off x="6693408" y="3813048"/>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Published work imposes the long wave at the offshore boundary. Unpublished material may have treated its generation over the shelf, in which case the question would be reformulated.</a:t>
            </a:r>
            <a:endParaRPr lang="en-US" sz="1100" dirty="0"/>
          </a:p>
        </p:txBody>
      </p:sp>
      <p:sp>
        <p:nvSpPr>
          <p:cNvPr id="20" name="Shape 18"/>
          <p:cNvSpPr/>
          <p:nvPr/>
        </p:nvSpPr>
        <p:spPr>
          <a:xfrm>
            <a:off x="566928" y="4837176"/>
            <a:ext cx="402336" cy="402336"/>
          </a:xfrm>
          <a:prstGeom prst="ellipse">
            <a:avLst/>
          </a:prstGeom>
          <a:solidFill>
            <a:srgbClr val="065A82"/>
          </a:solidFill>
          <a:ln/>
        </p:spPr>
      </p:sp>
      <p:sp>
        <p:nvSpPr>
          <p:cNvPr id="21" name="Text 19"/>
          <p:cNvSpPr txBox="1"/>
          <p:nvPr/>
        </p:nvSpPr>
        <p:spPr>
          <a:xfrm>
            <a:off x="566928" y="4837176"/>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2" name="Text 20"/>
          <p:cNvSpPr txBox="1"/>
          <p:nvPr/>
        </p:nvSpPr>
        <p:spPr>
          <a:xfrm>
            <a:off x="1133856" y="4809744"/>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Elements of ROSARIO-SHYFEM to be reflected in the configuration</a:t>
            </a:r>
            <a:endParaRPr lang="en-US" sz="1280" dirty="0"/>
          </a:p>
        </p:txBody>
      </p:sp>
      <p:sp>
        <p:nvSpPr>
          <p:cNvPr id="23" name="Text 21"/>
          <p:cNvSpPr txBox="1"/>
          <p:nvPr/>
        </p:nvSpPr>
        <p:spPr>
          <a:xfrm>
            <a:off x="1133856" y="5294376"/>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The treatment of the open boundary and the bathymetry inside the harbours, in particular at the heads of Msida and Pietà Creeks, where the 10 m grid has gaps.</a:t>
            </a:r>
            <a:endParaRPr lang="en-US" sz="1100" dirty="0"/>
          </a:p>
        </p:txBody>
      </p:sp>
      <p:sp>
        <p:nvSpPr>
          <p:cNvPr id="24" name="Shape 22"/>
          <p:cNvSpPr/>
          <p:nvPr/>
        </p:nvSpPr>
        <p:spPr>
          <a:xfrm>
            <a:off x="6126480" y="4837176"/>
            <a:ext cx="402336" cy="402336"/>
          </a:xfrm>
          <a:prstGeom prst="ellipse">
            <a:avLst/>
          </a:prstGeom>
          <a:solidFill>
            <a:srgbClr val="1C7293"/>
          </a:solidFill>
          <a:ln/>
        </p:spPr>
      </p:sp>
      <p:sp>
        <p:nvSpPr>
          <p:cNvPr id="25" name="Text 23"/>
          <p:cNvSpPr txBox="1"/>
          <p:nvPr/>
        </p:nvSpPr>
        <p:spPr>
          <a:xfrm>
            <a:off x="6126480" y="4837176"/>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6" name="Text 24"/>
          <p:cNvSpPr txBox="1"/>
          <p:nvPr/>
        </p:nvSpPr>
        <p:spPr>
          <a:xfrm>
            <a:off x="6693408" y="4809744"/>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Data for validation</a:t>
            </a:r>
            <a:endParaRPr lang="en-US" sz="1280" dirty="0"/>
          </a:p>
        </p:txBody>
      </p:sp>
      <p:sp>
        <p:nvSpPr>
          <p:cNvPr id="27" name="Text 25"/>
          <p:cNvSpPr txBox="1"/>
          <p:nvPr/>
        </p:nvSpPr>
        <p:spPr>
          <a:xfrm>
            <a:off x="6693408" y="5294376"/>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Currents and stratification inside the harbours, waves beyond the BLUE buoy, the levelling datum of the bathymetry against the gauge zeros, and Storm Harry, January 2026, as a possible case.</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21295C"/>
        </a:solidFill>
        <a:effectLst/>
      </p:bgPr>
    </p:bg>
    <p:spTree>
      <p:nvGrpSpPr>
        <p:cNvPr id="1" name=""/>
        <p:cNvGrpSpPr/>
        <p:nvPr/>
      </p:nvGrpSpPr>
      <p:grpSpPr>
        <a:xfrm>
          <a:off x="0" y="0"/>
          <a:ext cx="0" cy="0"/>
          <a:chOff x="0" y="0"/>
          <a:chExt cx="0" cy="0"/>
        </a:xfrm>
      </p:grpSpPr>
      <p:pic>
        <p:nvPicPr>
          <p:cNvPr id="25" name="Picture 24">
            <a:extLst>
              <a:ext uri="{FF2B5EF4-FFF2-40B4-BE49-F238E27FC236}">
                <a16:creationId xmlns:a16="http://schemas.microsoft.com/office/drawing/2014/main" id="{40741E20-3BC2-4BEC-7C7D-43364A8CBCE2}"/>
              </a:ext>
            </a:extLst>
          </p:cNvPr>
          <p:cNvPicPr>
            <a:picLocks noChangeAspect="1"/>
          </p:cNvPicPr>
          <p:nvPr/>
        </p:nvPicPr>
        <p:blipFill>
          <a:blip r:embed="rId3">
            <a:duotone>
              <a:prstClr val="black"/>
              <a:schemeClr val="accent1">
                <a:tint val="45000"/>
                <a:satMod val="400000"/>
              </a:schemeClr>
            </a:duotone>
          </a:blip>
          <a:srcRect t="25333"/>
          <a:stretch>
            <a:fillRect/>
          </a:stretch>
        </p:blipFill>
        <p:spPr>
          <a:xfrm>
            <a:off x="0" y="0"/>
            <a:ext cx="12242447" cy="6858000"/>
          </a:xfrm>
          <a:prstGeom prst="rect">
            <a:avLst/>
          </a:prstGeom>
        </p:spPr>
      </p:pic>
      <p:sp>
        <p:nvSpPr>
          <p:cNvPr id="2" name="Shape 0"/>
          <p:cNvSpPr/>
          <p:nvPr/>
        </p:nvSpPr>
        <p:spPr>
          <a:xfrm>
            <a:off x="0" y="0"/>
            <a:ext cx="12188952" cy="6858000"/>
          </a:xfrm>
          <a:prstGeom prst="rect">
            <a:avLst/>
          </a:prstGeom>
          <a:solidFill>
            <a:srgbClr val="21295C">
              <a:alpha val="70000"/>
            </a:srgbClr>
          </a:solidFill>
          <a:ln w="12700">
            <a:solidFill>
              <a:srgbClr val="21295C">
                <a:alpha val="0"/>
              </a:srgbClr>
            </a:solidFill>
            <a:prstDash val="solid"/>
          </a:ln>
        </p:spPr>
      </p:sp>
      <p:sp>
        <p:nvSpPr>
          <p:cNvPr id="3" name="Shape 1"/>
          <p:cNvSpPr/>
          <p:nvPr/>
        </p:nvSpPr>
        <p:spPr>
          <a:xfrm>
            <a:off x="-1737360" y="3840480"/>
            <a:ext cx="4754880" cy="4754880"/>
          </a:xfrm>
          <a:prstGeom prst="ellipse">
            <a:avLst/>
          </a:prstGeom>
          <a:solidFill>
            <a:srgbClr val="065A82">
              <a:alpha val="40000"/>
            </a:srgbClr>
          </a:solidFill>
          <a:ln/>
        </p:spPr>
      </p:sp>
      <p:sp>
        <p:nvSpPr>
          <p:cNvPr id="4" name="Text 2"/>
          <p:cNvSpPr txBox="1"/>
          <p:nvPr/>
        </p:nvSpPr>
        <p:spPr>
          <a:xfrm>
            <a:off x="566928" y="640080"/>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SEQUENCE</a:t>
            </a:r>
            <a:endParaRPr lang="en-US" sz="1200" dirty="0"/>
          </a:p>
        </p:txBody>
      </p:sp>
      <p:sp>
        <p:nvSpPr>
          <p:cNvPr id="5" name="Text 3"/>
          <p:cNvSpPr txBox="1"/>
          <p:nvPr/>
        </p:nvSpPr>
        <p:spPr>
          <a:xfrm>
            <a:off x="566928" y="960120"/>
            <a:ext cx="10058400" cy="64008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Planned sequence to the first production runs</a:t>
            </a:r>
            <a:endParaRPr lang="en-US" sz="3000" dirty="0"/>
          </a:p>
        </p:txBody>
      </p:sp>
      <p:sp>
        <p:nvSpPr>
          <p:cNvPr id="6" name="Shape 4"/>
          <p:cNvSpPr/>
          <p:nvPr/>
        </p:nvSpPr>
        <p:spPr>
          <a:xfrm>
            <a:off x="612648" y="2057400"/>
            <a:ext cx="155448" cy="155448"/>
          </a:xfrm>
          <a:prstGeom prst="ellipse">
            <a:avLst/>
          </a:prstGeom>
          <a:solidFill>
            <a:srgbClr val="CADCFC"/>
          </a:solidFill>
          <a:ln/>
        </p:spPr>
      </p:sp>
      <p:sp>
        <p:nvSpPr>
          <p:cNvPr id="7" name="Text 5"/>
          <p:cNvSpPr txBox="1"/>
          <p:nvPr/>
        </p:nvSpPr>
        <p:spPr>
          <a:xfrm>
            <a:off x="978408" y="1965960"/>
            <a:ext cx="2011680" cy="301752"/>
          </a:xfrm>
          <a:prstGeom prst="rect">
            <a:avLst/>
          </a:prstGeom>
          <a:noFill/>
          <a:ln/>
        </p:spPr>
        <p:txBody>
          <a:bodyPr wrap="square" lIns="0" tIns="0" rIns="0" bIns="0" rtlCol="0" anchor="t"/>
          <a:lstStyle/>
          <a:p>
            <a:pPr marL="0" indent="0">
              <a:buNone/>
            </a:pPr>
            <a:r>
              <a:rPr lang="en-US" sz="1300" b="1" dirty="0">
                <a:solidFill>
                  <a:srgbClr val="FFFFFF"/>
                </a:solidFill>
                <a:latin typeface="Calibri" pitchFamily="34" charset="0"/>
                <a:ea typeface="Calibri" pitchFamily="34" charset="-122"/>
                <a:cs typeface="Calibri" pitchFamily="34" charset="-120"/>
              </a:rPr>
              <a:t>To date</a:t>
            </a:r>
            <a:endParaRPr lang="en-US" sz="1300" dirty="0"/>
          </a:p>
        </p:txBody>
      </p:sp>
      <p:sp>
        <p:nvSpPr>
          <p:cNvPr id="8" name="Text 6"/>
          <p:cNvSpPr txBox="1"/>
          <p:nvPr/>
        </p:nvSpPr>
        <p:spPr>
          <a:xfrm>
            <a:off x="3035808" y="1965960"/>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DCE7F5"/>
                </a:solidFill>
                <a:latin typeface="Calibri" pitchFamily="34" charset="0"/>
                <a:ea typeface="Calibri" pitchFamily="34" charset="-122"/>
                <a:cs typeface="Calibri" pitchFamily="34" charset="-120"/>
              </a:rPr>
              <a:t>First-order basin modes, pulse test of the boundary, Senglea spectrum, working mesh.</a:t>
            </a:r>
            <a:endParaRPr lang="en-US" sz="1200" dirty="0"/>
          </a:p>
        </p:txBody>
      </p:sp>
      <p:sp>
        <p:nvSpPr>
          <p:cNvPr id="9" name="Shape 7"/>
          <p:cNvSpPr/>
          <p:nvPr/>
        </p:nvSpPr>
        <p:spPr>
          <a:xfrm>
            <a:off x="612648" y="2898648"/>
            <a:ext cx="155448" cy="155448"/>
          </a:xfrm>
          <a:prstGeom prst="ellipse">
            <a:avLst/>
          </a:prstGeom>
          <a:solidFill>
            <a:srgbClr val="CADCFC"/>
          </a:solidFill>
          <a:ln/>
        </p:spPr>
      </p:sp>
      <p:sp>
        <p:nvSpPr>
          <p:cNvPr id="10" name="Text 8"/>
          <p:cNvSpPr txBox="1"/>
          <p:nvPr/>
        </p:nvSpPr>
        <p:spPr>
          <a:xfrm>
            <a:off x="978408" y="2807208"/>
            <a:ext cx="2011680" cy="301752"/>
          </a:xfrm>
          <a:prstGeom prst="rect">
            <a:avLst/>
          </a:prstGeom>
          <a:noFill/>
          <a:ln/>
        </p:spPr>
        <p:txBody>
          <a:bodyPr wrap="square" lIns="0" tIns="0" rIns="0" bIns="0" rtlCol="0" anchor="t"/>
          <a:lstStyle/>
          <a:p>
            <a:pPr marL="0" indent="0">
              <a:buNone/>
            </a:pPr>
            <a:r>
              <a:rPr lang="en-US" sz="1300" b="1" dirty="0">
                <a:solidFill>
                  <a:srgbClr val="FFFFFF"/>
                </a:solidFill>
                <a:latin typeface="Calibri" pitchFamily="34" charset="0"/>
                <a:ea typeface="Calibri" pitchFamily="34" charset="-122"/>
                <a:cs typeface="Calibri" pitchFamily="34" charset="-120"/>
              </a:rPr>
              <a:t>October</a:t>
            </a:r>
            <a:endParaRPr lang="en-US" sz="1300" dirty="0"/>
          </a:p>
        </p:txBody>
      </p:sp>
      <p:sp>
        <p:nvSpPr>
          <p:cNvPr id="11" name="Text 9"/>
          <p:cNvSpPr txBox="1"/>
          <p:nvPr/>
        </p:nvSpPr>
        <p:spPr>
          <a:xfrm>
            <a:off x="3035808" y="2807208"/>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DCE7F5"/>
                </a:solidFill>
                <a:latin typeface="Calibri" pitchFamily="34" charset="0"/>
                <a:ea typeface="Calibri" pitchFamily="34" charset="-122"/>
                <a:cs typeface="Calibri" pitchFamily="34" charset="-120"/>
              </a:rPr>
              <a:t>Boundary tests under pressure forcing, pilot scenario and impulse response, then the sweep of the long wave, barotropic and two-dimensional.</a:t>
            </a:r>
            <a:endParaRPr lang="en-US" sz="1200" dirty="0"/>
          </a:p>
        </p:txBody>
      </p:sp>
      <p:sp>
        <p:nvSpPr>
          <p:cNvPr id="12" name="Shape 10"/>
          <p:cNvSpPr/>
          <p:nvPr/>
        </p:nvSpPr>
        <p:spPr>
          <a:xfrm>
            <a:off x="612648" y="3739896"/>
            <a:ext cx="155448" cy="155448"/>
          </a:xfrm>
          <a:prstGeom prst="ellipse">
            <a:avLst/>
          </a:prstGeom>
          <a:solidFill>
            <a:srgbClr val="EB6834"/>
          </a:solidFill>
          <a:ln/>
        </p:spPr>
      </p:sp>
      <p:sp>
        <p:nvSpPr>
          <p:cNvPr id="13" name="Text 11"/>
          <p:cNvSpPr txBox="1"/>
          <p:nvPr/>
        </p:nvSpPr>
        <p:spPr>
          <a:xfrm>
            <a:off x="978408" y="3648456"/>
            <a:ext cx="2011680" cy="301752"/>
          </a:xfrm>
          <a:prstGeom prst="rect">
            <a:avLst/>
          </a:prstGeom>
          <a:noFill/>
          <a:ln/>
        </p:spPr>
        <p:txBody>
          <a:bodyPr wrap="square" lIns="0" tIns="0" rIns="0" bIns="0" rtlCol="0" anchor="t"/>
          <a:lstStyle/>
          <a:p>
            <a:pPr marL="0" indent="0">
              <a:buNone/>
            </a:pPr>
            <a:r>
              <a:rPr lang="en-US" sz="1300" b="1" dirty="0">
                <a:solidFill>
                  <a:srgbClr val="EB6834"/>
                </a:solidFill>
                <a:latin typeface="Calibri" pitchFamily="34" charset="0"/>
                <a:ea typeface="Calibri" pitchFamily="34" charset="-122"/>
                <a:cs typeface="Calibri" pitchFamily="34" charset="-120"/>
              </a:rPr>
              <a:t>19 October</a:t>
            </a:r>
            <a:endParaRPr lang="en-US" sz="1300" dirty="0"/>
          </a:p>
        </p:txBody>
      </p:sp>
      <p:sp>
        <p:nvSpPr>
          <p:cNvPr id="14" name="Text 12"/>
          <p:cNvSpPr txBox="1"/>
          <p:nvPr/>
        </p:nvSpPr>
        <p:spPr>
          <a:xfrm>
            <a:off x="3035808" y="3648456"/>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DCE7F5"/>
                </a:solidFill>
                <a:latin typeface="Calibri" pitchFamily="34" charset="0"/>
                <a:ea typeface="Calibri" pitchFamily="34" charset="-122"/>
                <a:cs typeface="Calibri" pitchFamily="34" charset="-120"/>
              </a:rPr>
              <a:t>Delft3D User Days abstract (Stagnone model).</a:t>
            </a:r>
            <a:endParaRPr lang="en-US" sz="1200" dirty="0"/>
          </a:p>
        </p:txBody>
      </p:sp>
      <p:sp>
        <p:nvSpPr>
          <p:cNvPr id="15" name="Shape 13"/>
          <p:cNvSpPr/>
          <p:nvPr/>
        </p:nvSpPr>
        <p:spPr>
          <a:xfrm>
            <a:off x="612648" y="4581144"/>
            <a:ext cx="155448" cy="155448"/>
          </a:xfrm>
          <a:prstGeom prst="ellipse">
            <a:avLst/>
          </a:prstGeom>
          <a:solidFill>
            <a:srgbClr val="CADCFC"/>
          </a:solidFill>
          <a:ln/>
        </p:spPr>
      </p:sp>
      <p:sp>
        <p:nvSpPr>
          <p:cNvPr id="16" name="Text 14"/>
          <p:cNvSpPr txBox="1"/>
          <p:nvPr/>
        </p:nvSpPr>
        <p:spPr>
          <a:xfrm>
            <a:off x="978408" y="4489704"/>
            <a:ext cx="2011680" cy="301752"/>
          </a:xfrm>
          <a:prstGeom prst="rect">
            <a:avLst/>
          </a:prstGeom>
          <a:noFill/>
          <a:ln/>
        </p:spPr>
        <p:txBody>
          <a:bodyPr wrap="square" lIns="0" tIns="0" rIns="0" bIns="0" rtlCol="0" anchor="t"/>
          <a:lstStyle/>
          <a:p>
            <a:pPr marL="0" indent="0">
              <a:buNone/>
            </a:pPr>
            <a:r>
              <a:rPr lang="en-US" sz="1300" b="1" dirty="0">
                <a:solidFill>
                  <a:srgbClr val="FFFFFF"/>
                </a:solidFill>
                <a:latin typeface="Calibri" pitchFamily="34" charset="0"/>
                <a:ea typeface="Calibri" pitchFamily="34" charset="-122"/>
                <a:cs typeface="Calibri" pitchFamily="34" charset="-120"/>
              </a:rPr>
              <a:t>2 to 4 November</a:t>
            </a:r>
            <a:endParaRPr lang="en-US" sz="1300" dirty="0"/>
          </a:p>
        </p:txBody>
      </p:sp>
      <p:sp>
        <p:nvSpPr>
          <p:cNvPr id="17" name="Text 15"/>
          <p:cNvSpPr txBox="1"/>
          <p:nvPr/>
        </p:nvSpPr>
        <p:spPr>
          <a:xfrm>
            <a:off x="3035808" y="4489704"/>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DCE7F5"/>
                </a:solidFill>
                <a:latin typeface="Calibri" pitchFamily="34" charset="0"/>
                <a:ea typeface="Calibri" pitchFamily="34" charset="-122"/>
                <a:cs typeface="Calibri" pitchFamily="34" charset="-120"/>
              </a:rPr>
              <a:t>Delft3D User Days at Deltares.</a:t>
            </a:r>
            <a:endParaRPr lang="en-US" sz="1200" dirty="0"/>
          </a:p>
        </p:txBody>
      </p:sp>
      <p:sp>
        <p:nvSpPr>
          <p:cNvPr id="18" name="Shape 16"/>
          <p:cNvSpPr/>
          <p:nvPr/>
        </p:nvSpPr>
        <p:spPr>
          <a:xfrm>
            <a:off x="612648" y="5422392"/>
            <a:ext cx="155448" cy="155448"/>
          </a:xfrm>
          <a:prstGeom prst="ellipse">
            <a:avLst/>
          </a:prstGeom>
          <a:solidFill>
            <a:srgbClr val="CADCFC"/>
          </a:solidFill>
          <a:ln/>
        </p:spPr>
      </p:sp>
      <p:sp>
        <p:nvSpPr>
          <p:cNvPr id="19" name="Text 17"/>
          <p:cNvSpPr txBox="1"/>
          <p:nvPr/>
        </p:nvSpPr>
        <p:spPr>
          <a:xfrm>
            <a:off x="978408" y="5330952"/>
            <a:ext cx="2011680" cy="301752"/>
          </a:xfrm>
          <a:prstGeom prst="rect">
            <a:avLst/>
          </a:prstGeom>
          <a:noFill/>
          <a:ln/>
        </p:spPr>
        <p:txBody>
          <a:bodyPr wrap="square" lIns="0" tIns="0" rIns="0" bIns="0" rtlCol="0" anchor="t"/>
          <a:lstStyle/>
          <a:p>
            <a:pPr marL="0" indent="0">
              <a:buNone/>
            </a:pPr>
            <a:r>
              <a:rPr lang="en-US" sz="1300" b="1" dirty="0">
                <a:solidFill>
                  <a:srgbClr val="FFFFFF"/>
                </a:solidFill>
                <a:latin typeface="Calibri" pitchFamily="34" charset="0"/>
                <a:ea typeface="Calibri" pitchFamily="34" charset="-122"/>
                <a:cs typeface="Calibri" pitchFamily="34" charset="-120"/>
              </a:rPr>
              <a:t>November</a:t>
            </a:r>
            <a:endParaRPr lang="en-US" sz="1300" dirty="0"/>
          </a:p>
        </p:txBody>
      </p:sp>
      <p:sp>
        <p:nvSpPr>
          <p:cNvPr id="20" name="Text 18"/>
          <p:cNvSpPr txBox="1"/>
          <p:nvPr/>
        </p:nvSpPr>
        <p:spPr>
          <a:xfrm>
            <a:off x="3035808" y="5330952"/>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DCE7F5"/>
                </a:solidFill>
                <a:latin typeface="Calibri" pitchFamily="34" charset="0"/>
                <a:ea typeface="Calibri" pitchFamily="34" charset="-122"/>
                <a:cs typeface="Calibri" pitchFamily="34" charset="-120"/>
              </a:rPr>
              <a:t>Three-dimensional runs of the validation hindcast and of renewal, after a first test run in October.</a:t>
            </a:r>
            <a:endParaRPr lang="en-US" sz="1200" dirty="0"/>
          </a:p>
        </p:txBody>
      </p:sp>
      <p:sp>
        <p:nvSpPr>
          <p:cNvPr id="21" name="Shape 19"/>
          <p:cNvSpPr/>
          <p:nvPr/>
        </p:nvSpPr>
        <p:spPr>
          <a:xfrm>
            <a:off x="6858000" y="1965960"/>
            <a:ext cx="4764024" cy="3108960"/>
          </a:xfrm>
          <a:prstGeom prst="roundRect">
            <a:avLst>
              <a:gd name="adj" fmla="val 1765"/>
            </a:avLst>
          </a:prstGeom>
          <a:solidFill>
            <a:srgbClr val="065A82">
              <a:alpha val="70000"/>
            </a:srgbClr>
          </a:solidFill>
          <a:ln/>
        </p:spPr>
      </p:sp>
      <p:sp>
        <p:nvSpPr>
          <p:cNvPr id="22" name="Text 20"/>
          <p:cNvSpPr txBox="1"/>
          <p:nvPr/>
        </p:nvSpPr>
        <p:spPr>
          <a:xfrm>
            <a:off x="7132320" y="2176272"/>
            <a:ext cx="4206240" cy="274320"/>
          </a:xfrm>
          <a:prstGeom prst="rect">
            <a:avLst/>
          </a:prstGeom>
          <a:noFill/>
          <a:ln/>
        </p:spPr>
        <p:txBody>
          <a:bodyPr wrap="square" lIns="0" tIns="0" rIns="0" bIns="0" rtlCol="0" anchor="ctr"/>
          <a:lstStyle/>
          <a:p>
            <a:pPr marL="0" indent="0">
              <a:buNone/>
            </a:pPr>
            <a:r>
              <a:rPr lang="en-US" sz="1400" b="1" dirty="0">
                <a:solidFill>
                  <a:srgbClr val="EB6834"/>
                </a:solidFill>
                <a:latin typeface="Cambria" pitchFamily="34" charset="0"/>
                <a:ea typeface="Cambria" pitchFamily="34" charset="-122"/>
                <a:cs typeface="Cambria" pitchFamily="34" charset="-120"/>
              </a:rPr>
              <a:t>Beyond the period</a:t>
            </a:r>
            <a:endParaRPr lang="en-US" sz="1400" dirty="0"/>
          </a:p>
        </p:txBody>
      </p:sp>
      <p:sp>
        <p:nvSpPr>
          <p:cNvPr id="23" name="Text 21"/>
          <p:cNvSpPr txBox="1"/>
          <p:nvPr/>
        </p:nvSpPr>
        <p:spPr>
          <a:xfrm>
            <a:off x="7132320" y="2542032"/>
            <a:ext cx="4206240" cy="2286000"/>
          </a:xfrm>
          <a:prstGeom prst="rect">
            <a:avLst/>
          </a:prstGeom>
          <a:noFill/>
          <a:ln/>
        </p:spPr>
        <p:txBody>
          <a:bodyPr wrap="square" lIns="0" tIns="0" rIns="0" bIns="0" rtlCol="0" anchor="ctr"/>
          <a:lstStyle/>
          <a:p>
            <a:pPr marL="0" indent="0">
              <a:lnSpc>
                <a:spcPts val="1550"/>
              </a:lnSpc>
              <a:spcAft>
                <a:spcPts val="900"/>
              </a:spcAft>
              <a:buNone/>
            </a:pPr>
            <a:r>
              <a:rPr lang="en-US" sz="1150" dirty="0">
                <a:solidFill>
                  <a:srgbClr val="DCE7F5"/>
                </a:solidFill>
                <a:latin typeface="Calibri" pitchFamily="34" charset="0"/>
                <a:ea typeface="Calibri" pitchFamily="34" charset="-122"/>
                <a:cs typeface="Calibri" pitchFamily="34" charset="-120"/>
              </a:rPr>
              <a:t>The Stagnone twin runs containerised on the EDITO Datalab and publishes to its object storage.
</a:t>
            </a:r>
            <a:endParaRPr lang="en-US" sz="1150" dirty="0"/>
          </a:p>
          <a:p>
            <a:pPr marL="0" indent="0">
              <a:lnSpc>
                <a:spcPts val="1550"/>
              </a:lnSpc>
              <a:spcAft>
                <a:spcPts val="900"/>
              </a:spcAft>
              <a:buNone/>
            </a:pPr>
            <a:r>
              <a:rPr lang="en-US" sz="1150" dirty="0">
                <a:solidFill>
                  <a:srgbClr val="DCE7F5"/>
                </a:solidFill>
                <a:latin typeface="Calibri" pitchFamily="34" charset="0"/>
                <a:ea typeface="Calibri" pitchFamily="34" charset="-122"/>
                <a:cs typeface="Calibri" pitchFamily="34" charset="-120"/>
              </a:rPr>
              <a:t>A Valletta configuration could take the same route, should it prove stable in time, so that the deliverable would be a running pilot.
</a:t>
            </a:r>
            <a:endParaRPr lang="en-US" sz="1150" dirty="0"/>
          </a:p>
          <a:p>
            <a:pPr marL="0" indent="0">
              <a:lnSpc>
                <a:spcPts val="1550"/>
              </a:lnSpc>
              <a:buNone/>
            </a:pPr>
            <a:r>
              <a:rPr lang="en-US" sz="1150" b="1" dirty="0">
                <a:solidFill>
                  <a:srgbClr val="FFFFFF"/>
                </a:solidFill>
                <a:latin typeface="Calibri" pitchFamily="34" charset="0"/>
                <a:ea typeface="Calibri" pitchFamily="34" charset="-122"/>
                <a:cs typeface="Calibri" pitchFamily="34" charset="-120"/>
              </a:rPr>
              <a:t>This would correspond to the relocatable setup requested in the design report of the group.</a:t>
            </a:r>
            <a:endParaRPr lang="en-US" sz="1150" dirty="0"/>
          </a:p>
        </p:txBody>
      </p:sp>
      <p:sp>
        <p:nvSpPr>
          <p:cNvPr id="24" name="Text 22"/>
          <p:cNvSpPr txBox="1"/>
          <p:nvPr/>
        </p:nvSpPr>
        <p:spPr>
          <a:xfrm>
            <a:off x="566928" y="6199632"/>
            <a:ext cx="8229600" cy="274320"/>
          </a:xfrm>
          <a:prstGeom prst="rect">
            <a:avLst/>
          </a:prstGeom>
          <a:noFill/>
          <a:ln/>
        </p:spPr>
        <p:txBody>
          <a:bodyPr wrap="square" lIns="0" tIns="0" rIns="0" bIns="0" rtlCol="0" anchor="ctr"/>
          <a:lstStyle/>
          <a:p>
            <a:pPr marL="0" indent="0">
              <a:buNone/>
            </a:pPr>
            <a:r>
              <a:rPr lang="en-US" sz="1150" i="1" dirty="0">
                <a:solidFill>
                  <a:srgbClr val="CADCFC"/>
                </a:solidFill>
                <a:latin typeface="Calibri" pitchFamily="34" charset="0"/>
                <a:ea typeface="Calibri" pitchFamily="34" charset="-122"/>
                <a:cs typeface="Calibri" pitchFamily="34" charset="-120"/>
              </a:rPr>
              <a:t>Documents, figures and the reproducible analysis: </a:t>
            </a:r>
            <a:r>
              <a:rPr lang="en-US" sz="1150" b="1" u="sng" dirty="0">
                <a:solidFill>
                  <a:srgbClr val="FFFFFF"/>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github.com/cicero-martins/MaltaDT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4310</Words>
  <Application>Microsoft Office PowerPoint</Application>
  <PresentationFormat>Widescreen</PresentationFormat>
  <Paragraphs>326</Paragraphs>
  <Slides>16</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Valletta harbour system: model concept, first results and open questions</dc:title>
  <dc:subject>PptxGenJS Presentation</dc:subject>
  <dc:creator>Cicero Martins Jr</dc:creator>
  <cp:lastModifiedBy>CICERO MARTINS JUNIOR</cp:lastModifiedBy>
  <cp:revision>2</cp:revision>
  <dcterms:created xsi:type="dcterms:W3CDTF">2026-10-08T11:25:10Z</dcterms:created>
  <dcterms:modified xsi:type="dcterms:W3CDTF">2026-10-08T11:25:13Z</dcterms:modified>
</cp:coreProperties>
</file>