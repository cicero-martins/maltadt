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contribution is framework reusability, and Valletta constitutes the harder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grids are the contribution of the group to EMODnet. The public product gives the inlets one to three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follows from this table. The harbour rows come from the eigenvalue calculation of the following slide and are tested against the Senglea record on the slide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quarter-wave resonator is the limit of this equation for a uniform channel and the Helmholtz resonator its limit for a narrow neck ahead of a wide basin, so the geometry selects between the two idealisations. The solver returns the quarter-wave period of a uniform channel to within 0.5 per cent. The supplied coastline carries the St Elmo breakwater as a detached polygon and does not carry the Ricasoli arm as a separate feature, so the opening measures some 400 m. A narrower real opening would create the neck the supplied geometry lacks. The estimate remains first-order until the modes are extracted from the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mean spectrum with its background, the milgħuba band shaded grey and the estimated basin band shaded blue. The ratio of the spectrum to the background, in which the four peaks stand out. The largest oscillation of the admitted windows, 8 November 2021, with a range of 0.35 m at the 23-minute period. The amplitude ratio against the gauges outside the harbour. The four peaks are present on practically every day of both windows, independently of the forcing, and are therefore properties of the geometry. The ratio against Marsaxlokk compares two coastal sites and is not a transfer function from the open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University of Malta Newspoint for 2018 and 2019, Newsbook for 2022, MaltaToday for 2023 and 2024, the last citing the Oceanography Malta Research Group. Upward radar echoes from vessels, rain and spray are removed by the lower envelope of the 5 s samples, and episodes of reference offset of 1.3 to 2.1 m are removed before the spectrum is computed. The choice of windows is to be confirmed within the group. The displaced level is compatible with the radar ranging to a vessel or pontoon beneath it, which is a conjecture.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 The wave nest was sized from the width of the harbour entrances and landed within a quarter of the resolution already in use on this coast, which is an independent check on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with the 15 m cells in the channels narrower than 150 m. Coastal zones of 1 km and 5 km cost 37 per cent less than zones of 2 km and 15 km, with the time step and the harbour response unchanged, since the time step is set by the 15 m cells alone. Refinement carried out directly in degrees yields transitions that FM rejects as not orthogonal, which is why the mesh is built in UTM. Open matters are one edge at 0.553 in the meshkernel orthogonality measure, 1,050 shore faces with a bed at or above zero, and the gaps of the 10 m grid at the heads of Msida and Pietà Creeks.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record in the channel, where the prescribed level returns the pulse inverted and almost undiminished while the Riemann record follows the reference. A boundary cell of the square basin at 22.5 degrees. The reflection coefficient against incidence angle, with first-order theory dashed. The volume retained in the basin, which the prescribed level holds as a trapped mode. The reflected wave is the difference between each case and the reference, so incident and reflected waves need not be separated in time. The Riemann condition assumes a plane wave at normal incidence over a fluid at rest, which is why the four production cases remain to be tested. Laksono et al. (2026) apply the same boundary over the Sicilian Channel for the same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relocatability requirement of the design report corresponds to the framework-transfer argument of the thesis, and the porting log is the evidence for it. The study complements the operational system in a band and at a resolution the forecasting configuration is not designed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is a proposal. Whether work on the generation side is already planned within the group, and how the effort would then be divided, is to be discussed directly. The applied companion is a map of exposure by inlet and quay, and the renewal question has independent standing under the Water Framework Directive.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a response curve over the class of basin. The exact geometry of any proposed structure is neither needed nor used, and the exercise carries no assessment of the project now in consultation. Whether to pursue it is among the open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speeds by eight directions by two widths, twelve hours each, barotropic and uncoupled, with a second evaluation over a modified mouth, amount to 96 simulated days and some 16 hours of serial computation. The dated events of 2019, 2022, 2023 and 2024 are the cases for the test, which is why the one-minute pressure records on those dates head the requests of the following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determine whether the response surface can be tested against events at all. Sources for the events of 2022 and 2023 are press reports only, and a statement or record of the group would replace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Numbering continues from the preceding slide. Damage inside the port is documented for the wind-wave storms of February 2019 and February 2023. Disruption attributable to long waves specifically, held by Transport Malta and the terminals, remains open and may be raised under the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decides between the two readings of the 23-minute peak. The remaining boundary tests are the residual current and the non-zero incoming signal from CMEMS. The block of 27 October to 21 November loses four working days to Delft and holds fifteen rather than nineteen. The EDITO deployment is conditional on the configuration proving stable in time, and it belongs to the last block of the period alongside the integration into the ocean.mt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503920" y="-1280160"/>
            <a:ext cx="5120640" cy="5120640"/>
          </a:xfrm>
          <a:prstGeom prst="ellipse">
            <a:avLst/>
          </a:prstGeom>
          <a:solidFill>
            <a:srgbClr val="065A82">
              <a:alpha val="45000"/>
            </a:srgbClr>
          </a:solidFill>
          <a:ln/>
        </p:spPr>
      </p:sp>
      <p:sp>
        <p:nvSpPr>
          <p:cNvPr id="3" name="Shape 1"/>
          <p:cNvSpPr/>
          <p:nvPr/>
        </p:nvSpPr>
        <p:spPr>
          <a:xfrm>
            <a:off x="10058400" y="3108960"/>
            <a:ext cx="2377440" cy="2377440"/>
          </a:xfrm>
          <a:prstGeom prst="ellipse">
            <a:avLst/>
          </a:prstGeom>
          <a:solidFill>
            <a:srgbClr val="EB6834">
              <a:alpha val="30000"/>
            </a:srgbClr>
          </a:solidFill>
          <a:ln/>
        </p:spPr>
      </p:sp>
      <p:sp>
        <p:nvSpPr>
          <p:cNvPr id="4" name="Text 2"/>
          <p:cNvSpPr txBox="1"/>
          <p:nvPr/>
        </p:nvSpPr>
        <p:spPr>
          <a:xfrm>
            <a:off x="566928" y="1371600"/>
            <a:ext cx="768096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WETWISE · WP3 · Maltese pilot</a:t>
            </a:r>
            <a:endParaRPr lang="en-US" sz="1200" dirty="0"/>
          </a:p>
        </p:txBody>
      </p:sp>
      <p:sp>
        <p:nvSpPr>
          <p:cNvPr id="5" name="Text 3"/>
          <p:cNvSpPr txBox="1"/>
          <p:nvPr/>
        </p:nvSpPr>
        <p:spPr>
          <a:xfrm>
            <a:off x="566928" y="1783080"/>
            <a:ext cx="786384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66928" y="2697480"/>
            <a:ext cx="7863840" cy="4572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566928" y="3977640"/>
            <a:ext cx="78638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Cicero Martins Jr</a:t>
            </a:r>
            <a:pPr indent="0" marL="0">
              <a:buNone/>
            </a:pP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566928" y="4279392"/>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566928" y="4590288"/>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 in western Sicily.</a:t>
            </a:r>
            <a:endParaRPr lang="en-US" sz="1450" dirty="0"/>
          </a:p>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test little. A transfer to a deep engineered harbour tests whether the pipeline is reusable or was fitted to one site.</a:t>
            </a:r>
            <a:endParaRPr lang="en-US" sz="1450" dirty="0"/>
          </a:p>
          <a:p>
            <a:pPr indent="0" marL="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mark where the generality of the framework ends, and they are recorded as such.</a:t>
            </a:r>
            <a:endParaRPr lang="en-US" sz="14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gridCol w="1828800"/>
                <a:gridCol w="1828800"/>
              </a:tblGrid>
              <a:tr h="420624">
                <a:tc>
                  <a:txBody>
                    <a:bodyPr/>
                    <a:lstStyle/>
                    <a:p>
                      <a:pPr indent="0" marL="0">
                        <a:buNone/>
                      </a:pP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CDI 4036_MEPA and the national coastline, from the holdings of the group.</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indent="0" marL="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than the public EMODnet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r>
          <p:cNvPicPr>
            <a:picLocks noChangeAspect="1"/>
          </p:cNvPicPr>
          <p:nvPr/>
        </p:nvPicPr>
        <p:blipFill>
          <a:blip r:embed="rId1"/>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indent="0" marL="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milgħuba as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deep, is resonant with disturbances of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From 150 m on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Fundamental modes of 14.5 to 18.4 minutes in the Grand Harbour and 10.4 to 12.8 in Marsamxett.</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At Ciutadella, Menorca, the reference site of the rissaga, the three stages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Natural periods against the observed band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Quarter-wave periods, T = 4L∕√(gh), for the shelf and the inlets, and eigenmodes of the measured profile for the harbours, against the 0.2 to 2 cph band reported by Drago (2009).</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gridCol w="1371600"/>
                <a:gridCol w="1508760"/>
                <a:gridCol w="1417320"/>
                <a:gridCol w="86868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6" name="Shape 3"/>
          <p:cNvSpPr/>
          <p:nvPr/>
        </p:nvSpPr>
        <p:spPr>
          <a:xfrm>
            <a:off x="8641080" y="2286000"/>
            <a:ext cx="2980944" cy="2743200"/>
          </a:xfrm>
          <a:prstGeom prst="roundRect">
            <a:avLst>
              <a:gd name="adj" fmla="val 2000"/>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Consequence for the domain</a:t>
            </a:r>
            <a:endParaRPr lang="en-US" sz="1400" dirty="0"/>
          </a:p>
        </p:txBody>
      </p:sp>
      <p:sp>
        <p:nvSpPr>
          <p:cNvPr id="8" name="Text 5"/>
          <p:cNvSpPr txBox="1"/>
          <p:nvPr/>
        </p:nvSpPr>
        <p:spPr>
          <a:xfrm>
            <a:off x="8915400" y="2880360"/>
            <a:ext cx="2468880" cy="2011680"/>
          </a:xfrm>
          <a:prstGeom prst="rect">
            <a:avLst/>
          </a:prstGeom>
          <a:noFill/>
          <a:ln/>
        </p:spPr>
        <p:txBody>
          <a:bodyPr wrap="square" lIns="0" tIns="0" rIns="0" bIns="0" rtlCol="0" anchor="t"/>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The harbours respond to a shelf-scale oscillation rather than generating one.
</a:t>
            </a:r>
            <a:endParaRPr lang="en-US" sz="1150" dirty="0"/>
          </a:p>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holds no resonator in the band, and the CMEMS boundary product carries no energy there.
</a:t>
            </a:r>
            <a:endParaRPr lang="en-US" sz="1150" dirty="0"/>
          </a:p>
          <a:p>
            <a:pPr indent="0" marL="0">
              <a:lnSpc>
                <a:spcPts val="1500"/>
              </a:lnSpc>
              <a:buNone/>
            </a:pPr>
            <a:r>
              <a:rPr lang="en-US" sz="1150" b="1" dirty="0">
                <a:solidFill>
                  <a:srgbClr val="FFFFFF"/>
                </a:solidFill>
                <a:latin typeface="Calibri" pitchFamily="34" charset="0"/>
                <a:ea typeface="Calibri" pitchFamily="34" charset="-122"/>
                <a:cs typeface="Calibri" pitchFamily="34" charset="-120"/>
              </a:rPr>
              <a:t>The domain is therefore required to contain the plateau.</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upper edge of the band, 2 cph, corresponds to 30 minutes, 1.6 times the upper estimate for the Grand Harbour and 2.3 times that for Marsamxett.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Fundamental modes from the measured geometry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Long-wave eigenproblem of a channel of varying section, g d∕dx(a dη∕dx) + ω² b η = 0, with η = 0 at the mouth and no flux at the head, where a(x) is the cross-section and b(x) the surface width along the geodesic distance from the mouth.</a:t>
            </a:r>
            <a:endParaRPr lang="en-US" sz="1400" dirty="0"/>
          </a:p>
        </p:txBody>
      </p:sp>
      <p:pic>
        <p:nvPicPr>
          <p:cNvPr id="5" name="Image 0" descr="C:\Users\Unipa\Documents\MaltaDT\figures\basin_modes.png">    </p:cNvPr>
          <p:cNvPicPr>
            <a:picLocks noChangeAspect="1"/>
          </p:cNvPicPr>
          <p:nvPr/>
        </p:nvPicPr>
        <p:blipFill>
          <a:blip r:embed="rId1"/>
          <a:srcRect l="43939" r="6667" t="370" b="52222"/>
          <a:stretch/>
        </p:blipFill>
        <p:spPr>
          <a:xfrm>
            <a:off x="566928" y="2212848"/>
            <a:ext cx="2971800" cy="2333683"/>
          </a:xfrm>
          <a:prstGeom prst="rect">
            <a:avLst/>
          </a:prstGeom>
        </p:spPr>
      </p:pic>
      <p:pic>
        <p:nvPicPr>
          <p:cNvPr id="6" name="Image 1" descr="C:\Users\Unipa\Documents\MaltaDT\figures\basin_modes.png">    </p:cNvPr>
          <p:cNvPicPr>
            <a:picLocks noChangeAspect="1"/>
          </p:cNvPicPr>
          <p:nvPr/>
        </p:nvPicPr>
        <p:blipFill>
          <a:blip r:embed="rId2"/>
          <a:srcRect l="0" r="50000" t="48148" b="0"/>
          <a:stretch/>
        </p:blipFill>
        <p:spPr>
          <a:xfrm>
            <a:off x="3630168" y="2157984"/>
            <a:ext cx="2788920" cy="2366356"/>
          </a:xfrm>
          <a:prstGeom prst="rect">
            <a:avLst/>
          </a:prstGeom>
        </p:spPr>
      </p:pic>
      <p:sp>
        <p:nvSpPr>
          <p:cNvPr id="7" name="Text 3"/>
          <p:cNvSpPr txBox="1"/>
          <p:nvPr/>
        </p:nvSpPr>
        <p:spPr>
          <a:xfrm>
            <a:off x="566928" y="4839139"/>
            <a:ext cx="5852160" cy="457200"/>
          </a:xfrm>
          <a:prstGeom prst="rect">
            <a:avLst/>
          </a:prstGeom>
          <a:noFill/>
          <a:ln/>
        </p:spPr>
        <p:txBody>
          <a:bodyPr wrap="square" lIns="0" tIns="0" rIns="0" bIns="0" rtlCol="0" anchor="ctr"/>
          <a:lstStyle/>
          <a:p>
            <a:pPr indent="0" marL="0">
              <a:lnSpc>
                <a:spcPts val="1400"/>
              </a:lnSpc>
              <a:buNone/>
            </a:pPr>
            <a:r>
              <a:rPr lang="en-US" sz="1050" dirty="0">
                <a:solidFill>
                  <a:srgbClr val="5F6368"/>
                </a:solidFill>
                <a:latin typeface="Calibri" pitchFamily="34" charset="0"/>
                <a:ea typeface="Calibri" pitchFamily="34" charset="-122"/>
                <a:cs typeface="Calibri" pitchFamily="34" charset="-120"/>
              </a:rPr>
              <a:t>Geodesic distance from the section lines, and the cross-section a(x) of the Grand Harbour with and without the St Elmo breakwater.</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75120" y="2157984"/>
          <a:ext cx="4946904" cy="914400"/>
        </p:xfrm>
        <a:graphic>
          <a:graphicData uri="http://schemas.openxmlformats.org/drawingml/2006/table">
            <a:tbl>
              <a:tblPr/>
              <a:tblGrid>
                <a:gridCol w="1463040"/>
                <a:gridCol w="1746504"/>
                <a:gridCol w="868680"/>
                <a:gridCol w="86868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Basin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Section line</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T₀</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T</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Grand Harbour</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outer</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16.5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18.4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Grand Harbour</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outer, no breakwater</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16.6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18.4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Grand Harbour</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inner</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14.5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16.8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Marsamxett</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outer</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10.7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12.8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Marsamxett</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inner</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10.4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12.3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9" name="Shape 4"/>
          <p:cNvSpPr/>
          <p:nvPr/>
        </p:nvSpPr>
        <p:spPr>
          <a:xfrm>
            <a:off x="6675120" y="4315968"/>
            <a:ext cx="4946904" cy="1572768"/>
          </a:xfrm>
          <a:prstGeom prst="roundRect">
            <a:avLst>
              <a:gd name="adj" fmla="val 3488"/>
            </a:avLst>
          </a:prstGeom>
          <a:solidFill>
            <a:srgbClr val="21295C"/>
          </a:solidFill>
          <a:ln/>
        </p:spPr>
      </p:sp>
      <p:sp>
        <p:nvSpPr>
          <p:cNvPr id="10" name="Text 5"/>
          <p:cNvSpPr txBox="1"/>
          <p:nvPr/>
        </p:nvSpPr>
        <p:spPr>
          <a:xfrm>
            <a:off x="6949440" y="4480560"/>
            <a:ext cx="4398264" cy="274320"/>
          </a:xfrm>
          <a:prstGeom prst="rect">
            <a:avLst/>
          </a:prstGeom>
          <a:noFill/>
          <a:ln/>
        </p:spPr>
        <p:txBody>
          <a:bodyPr wrap="square" lIns="0" tIns="0" rIns="0" bIns="0" rtlCol="0" anchor="ctr"/>
          <a:lstStyle/>
          <a:p>
            <a:pPr indent="0" marL="0">
              <a:buNone/>
            </a:pPr>
            <a:r>
              <a:rPr lang="en-US" sz="1350" b="1" dirty="0">
                <a:solidFill>
                  <a:srgbClr val="EB6834"/>
                </a:solidFill>
                <a:latin typeface="Cambria" pitchFamily="34" charset="0"/>
                <a:ea typeface="Cambria" pitchFamily="34" charset="-122"/>
                <a:cs typeface="Cambria" pitchFamily="34" charset="-120"/>
              </a:rPr>
              <a:t>Role of the St Elmo breakwater</a:t>
            </a:r>
            <a:endParaRPr lang="en-US" sz="1350" dirty="0"/>
          </a:p>
        </p:txBody>
      </p:sp>
      <p:sp>
        <p:nvSpPr>
          <p:cNvPr id="11" name="Text 6"/>
          <p:cNvSpPr txBox="1"/>
          <p:nvPr/>
        </p:nvSpPr>
        <p:spPr>
          <a:xfrm>
            <a:off x="6949440" y="4809744"/>
            <a:ext cx="4398264" cy="969264"/>
          </a:xfrm>
          <a:prstGeom prst="rect">
            <a:avLst/>
          </a:prstGeom>
          <a:noFill/>
          <a:ln/>
        </p:spPr>
        <p:txBody>
          <a:bodyPr wrap="square" lIns="0" tIns="0" rIns="0" bIns="0" rtlCol="0" anchor="t"/>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Removing the 378 m breakwater changes the period by 0.1 minute. The section at the entrance, 8,780 m², is within 6 per cent of the median section of the basin, so the inertia of the mode is distributed along the harbour and the basin is not a Helmholtz resonator.</a:t>
            </a:r>
            <a:endParaRPr lang="en-US" sz="1150" dirty="0"/>
          </a:p>
        </p:txBody>
      </p:sp>
      <p:sp>
        <p:nvSpPr>
          <p:cNvPr id="12" name="Text 7"/>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T₀ omits and T includes the mouth correction of Rabinovich (2009, eq. 9.16). Branches are taken in phase, so only the fundamental is reported.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OBSERVATION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Sea level spectrum inside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Senglea radar gauge, JRC TAD device 555, sampled at 5 s, on the peninsula between Dockyard Creek and French Creek. Welch spectrum over 207 gap-free segments of 2048 minutes.</a:t>
            </a:r>
            <a:endParaRPr lang="en-US" sz="1400" dirty="0"/>
          </a:p>
        </p:txBody>
      </p:sp>
      <p:pic>
        <p:nvPicPr>
          <p:cNvPr id="5" name="Image 0" descr="C:\Users\Unipa\Documents\MaltaDT\figures\senglea_spectrum.png">    </p:cNvPr>
          <p:cNvPicPr>
            <a:picLocks noChangeAspect="1"/>
          </p:cNvPicPr>
          <p:nvPr/>
        </p:nvPicPr>
        <p:blipFill>
          <a:blip r:embed="rId1"/>
          <a:stretch>
            <a:fillRect/>
          </a:stretch>
        </p:blipFill>
        <p:spPr>
          <a:xfrm>
            <a:off x="566928" y="2103120"/>
            <a:ext cx="5760720" cy="3931920"/>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822960"/>
                <a:gridCol w="868680"/>
                <a:gridCol w="1426464"/>
                <a:gridCol w="19202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Period</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Peak ∕ background</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Relation to the estimate</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23.0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2.61 cph</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23.8</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longer than estimated</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16.8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3.57 cph</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within 14.5 to 18.4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10.0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5.98 cph</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7.6</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29184">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6.9 min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8.67 cph</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15.2</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near the inlet estimate</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bl>
          </a:graphicData>
        </a:graphic>
      </p:graphicFrame>
      <p:sp>
        <p:nvSpPr>
          <p:cNvPr id="7" name="Shape 3"/>
          <p:cNvSpPr/>
          <p:nvPr/>
        </p:nvSpPr>
        <p:spPr>
          <a:xfrm>
            <a:off x="6583680" y="3877056"/>
            <a:ext cx="5038344" cy="2157984"/>
          </a:xfrm>
          <a:prstGeom prst="roundRect">
            <a:avLst>
              <a:gd name="adj" fmla="val 2542"/>
            </a:avLst>
          </a:prstGeom>
          <a:solidFill>
            <a:srgbClr val="21295C"/>
          </a:solidFill>
          <a:ln/>
        </p:spPr>
      </p:sp>
      <p:sp>
        <p:nvSpPr>
          <p:cNvPr id="8" name="Text 4"/>
          <p:cNvSpPr txBox="1"/>
          <p:nvPr/>
        </p:nvSpPr>
        <p:spPr>
          <a:xfrm>
            <a:off x="6858000" y="4041648"/>
            <a:ext cx="4489704" cy="274320"/>
          </a:xfrm>
          <a:prstGeom prst="rect">
            <a:avLst/>
          </a:prstGeom>
          <a:noFill/>
          <a:ln/>
        </p:spPr>
        <p:txBody>
          <a:bodyPr wrap="square" lIns="0" tIns="0" rIns="0" bIns="0" rtlCol="0" anchor="ctr"/>
          <a:lstStyle/>
          <a:p>
            <a:pPr indent="0" marL="0">
              <a:buNone/>
            </a:pPr>
            <a:r>
              <a:rPr lang="en-US" sz="1350" b="1" dirty="0">
                <a:solidFill>
                  <a:srgbClr val="EB6834"/>
                </a:solidFill>
                <a:latin typeface="Cambria" pitchFamily="34" charset="0"/>
                <a:ea typeface="Cambria" pitchFamily="34" charset="-122"/>
                <a:cs typeface="Cambria" pitchFamily="34" charset="-120"/>
              </a:rPr>
              <a:t>Two readings of the 23-minute peak</a:t>
            </a:r>
            <a:endParaRPr lang="en-US" sz="1350" dirty="0"/>
          </a:p>
        </p:txBody>
      </p:sp>
      <p:sp>
        <p:nvSpPr>
          <p:cNvPr id="9" name="Text 5"/>
          <p:cNvSpPr txBox="1"/>
          <p:nvPr/>
        </p:nvSpPr>
        <p:spPr>
          <a:xfrm>
            <a:off x="6858000" y="4370832"/>
            <a:ext cx="4489704" cy="155448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It is the fundamental of the Grand Harbour, which the one-dimensional calculation would then underestimate by about a quarter.</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16.8-minute peak is the fundamental, and the 23-minute peak belongs to the outer approach shared by the two harbours.</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The modal structure computed by the model, or a second gauge, separates the two.</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All peaks lie above the milgħuba band, which holds 12 per cent of the variance between 0.2 and 10 cph. Between 2 and 3 cph the amplitude at Senglea is 2.8 times that at Marsaxlokk.</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OBSERVATION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11055096" cy="914400"/>
        </p:xfrm>
        <a:graphic>
          <a:graphicData uri="http://schemas.openxmlformats.org/drawingml/2006/table">
            <a:tbl>
              <a:tblPr/>
              <a:tblGrid>
                <a:gridCol w="1371600"/>
                <a:gridCol w="1645920"/>
                <a:gridCol w="4480560"/>
                <a:gridCol w="3557016"/>
              </a:tblGrid>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Reported effects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Senglea, public copy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7472">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25 Oct 2018</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seismic tsunami</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excursions of some 25 cm at Portomaso</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18 Jun 2019</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sea bed exposed and quay overtopped in St Paul's Bay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7472">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30 Jun 2022</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flooding at Marsaskala, St Julian's and Qawra</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no data, record resumes on 1 July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1 Jul 2023</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flooding at Marsaskala and Xemxija</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displaced level, unusable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7472">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13 Jun 2024</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meteotsunami</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flooding of the main square of Msida</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displaced level, unusable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4498848"/>
            <a:ext cx="5440680" cy="1481328"/>
          </a:xfrm>
          <a:prstGeom prst="roundRect">
            <a:avLst>
              <a:gd name="adj" fmla="val 3704"/>
            </a:avLst>
          </a:prstGeom>
          <a:solidFill>
            <a:srgbClr val="EEF3F6"/>
          </a:solidFill>
          <a:ln/>
        </p:spPr>
      </p:sp>
      <p:sp>
        <p:nvSpPr>
          <p:cNvPr id="7" name="Text 4"/>
          <p:cNvSpPr txBox="1"/>
          <p:nvPr/>
        </p:nvSpPr>
        <p:spPr>
          <a:xfrm>
            <a:off x="841248" y="4663440"/>
            <a:ext cx="4892040" cy="274320"/>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8" name="Text 5"/>
          <p:cNvSpPr txBox="1"/>
          <p:nvPr/>
        </p:nvSpPr>
        <p:spPr>
          <a:xfrm>
            <a:off x="841248" y="4992624"/>
            <a:ext cx="4892040" cy="877824"/>
          </a:xfrm>
          <a:prstGeom prst="rect">
            <a:avLst/>
          </a:prstGeom>
          <a:noFill/>
          <a:ln/>
        </p:spPr>
        <p:txBody>
          <a:bodyPr wrap="square" lIns="0" tIns="0" rIns="0" bIns="0" rtlCol="0" anchor="t"/>
          <a:lstStyle/>
          <a:p>
            <a:pPr indent="0" marL="0">
              <a:lnSpc>
                <a:spcPts val="1550"/>
              </a:lnSpc>
              <a:buNone/>
            </a:pPr>
            <a:r>
              <a:rPr lang="en-US" sz="1150" dirty="0">
                <a:solidFill>
                  <a:srgbClr val="1A1A1A"/>
                </a:solidFill>
                <a:latin typeface="Calibri" pitchFamily="34" charset="0"/>
                <a:ea typeface="Calibri" pitchFamily="34" charset="-122"/>
                <a:cs typeface="Calibri" pitchFamily="34" charset="-120"/>
              </a:rPr>
              <a:t>Two windows are admitted to the analysis, 24 June to 31 December 2021 and 1 December 2022 to 31 March 2023, on monthly coverage and stability of the level. From April 2023 the level is displaced by some 2 m and the gauge transmits by day only.</a:t>
            </a:r>
            <a:endParaRPr lang="en-US" sz="1150" dirty="0"/>
          </a:p>
        </p:txBody>
      </p:sp>
      <p:sp>
        <p:nvSpPr>
          <p:cNvPr id="9" name="Shape 6"/>
          <p:cNvSpPr/>
          <p:nvPr/>
        </p:nvSpPr>
        <p:spPr>
          <a:xfrm>
            <a:off x="6181344" y="4498848"/>
            <a:ext cx="5440680" cy="1481328"/>
          </a:xfrm>
          <a:prstGeom prst="roundRect">
            <a:avLst>
              <a:gd name="adj" fmla="val 3704"/>
            </a:avLst>
          </a:prstGeom>
          <a:solidFill>
            <a:srgbClr val="21295C"/>
          </a:solidFill>
          <a:ln/>
        </p:spPr>
      </p:sp>
      <p:sp>
        <p:nvSpPr>
          <p:cNvPr id="10" name="Text 7"/>
          <p:cNvSpPr txBox="1"/>
          <p:nvPr/>
        </p:nvSpPr>
        <p:spPr>
          <a:xfrm>
            <a:off x="6455664" y="4663440"/>
            <a:ext cx="4892040" cy="274320"/>
          </a:xfrm>
          <a:prstGeom prst="rect">
            <a:avLst/>
          </a:prstGeom>
          <a:noFill/>
          <a:ln/>
        </p:spPr>
        <p:txBody>
          <a:bodyPr wrap="square" lIns="0" tIns="0" rIns="0" bIns="0" rtlCol="0" anchor="ctr"/>
          <a:lstStyle/>
          <a:p>
            <a:pPr indent="0" marL="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1" name="Text 8"/>
          <p:cNvSpPr txBox="1"/>
          <p:nvPr/>
        </p:nvSpPr>
        <p:spPr>
          <a:xfrm>
            <a:off x="6455664" y="4992624"/>
            <a:ext cx="4892040" cy="877824"/>
          </a:xfrm>
          <a:prstGeom prst="rect">
            <a:avLst/>
          </a:prstGeom>
          <a:noFill/>
          <a:ln/>
        </p:spPr>
        <p:txBody>
          <a:bodyPr wrap="square" lIns="0" tIns="0" rIns="0" bIns="0" rtlCol="0" anchor="t"/>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and Portomaso returns no data from the IOC facility on those dates. The archive of the group, sea level and one-minute pressure, is the record against which the response surface is tested.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r>
          <p:cNvPicPr>
            <a:picLocks noChangeAspect="1"/>
          </p:cNvPicPr>
          <p:nvPr/>
        </p:nvPicPr>
        <p:blipFill>
          <a:blip r:embed="rId1"/>
          <a:stretch>
            <a:fillRect/>
          </a:stretch>
        </p:blipFill>
        <p:spPr>
          <a:xfrm>
            <a:off x="566928" y="1572768"/>
            <a:ext cx="11055096" cy="4956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Resolution set by the geometry of the inlets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 17-minute wave in 16 m of water is 12.8 km long, so the wavelength imposes no constraint. The planform of the inlets is the feature to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1005840"/>
          </a:xfrm>
          <a:prstGeom prst="rect">
            <a:avLst/>
          </a:prstGeom>
          <a:noFill/>
          <a:ln/>
        </p:spPr>
        <p:txBody>
          <a:bodyPr wrap="square" lIns="0" tIns="0" rIns="0" bIns="0" rtlCol="0" anchor="t"/>
          <a:lstStyle/>
          <a:p>
            <a:pPr indent="0" marL="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a:t>
            </a:r>
            <a:endParaRPr lang="en-US" sz="1250" dirty="0"/>
          </a:p>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566160"/>
          <a:ext cx="4937760" cy="914400"/>
        </p:xfrm>
        <a:graphic>
          <a:graphicData uri="http://schemas.openxmlformats.org/drawingml/2006/table">
            <a:tbl>
              <a:tblPr/>
              <a:tblGrid>
                <a:gridCol w="3566160"/>
                <a:gridCol w="137160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Cell size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Harbour channels narrower than 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Harbour basins and their mouths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Within 1 km of the coast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Within 5 km of the coast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480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1920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10" name="Text 7"/>
          <p:cNvSpPr txBox="1"/>
          <p:nvPr/>
        </p:nvSpPr>
        <p:spPr>
          <a:xfrm>
            <a:off x="6263640" y="2615184"/>
            <a:ext cx="5120640" cy="86868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26,766 faces. Under a resonant long wave the time step is 3.7 s, set by the 15 m cells of the channels, which samples a 17-minute wave some 280 times per cycle. The 10 m of the source data is the floor, and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Vertical, 12 to 15 sigma layers</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Sigma is defensible only because the domain stops short of the escarpment, where the plateau gradient is one part in a thousand.</a:t>
            </a:r>
            <a:endParaRPr lang="en-US" sz="1200" dirty="0"/>
          </a:p>
        </p:txBody>
      </p:sp>
      <p:sp>
        <p:nvSpPr>
          <p:cNvPr id="14" name="Text 1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On the wave side, two nested SWAN grids at 1200 and 250 m. The finer agrees with the SWAN downscaling of the group at 1∕500°, arrived at independently.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MESH</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Mesh of the domain and its measured cost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Quadtree refinement by zone, built in UTM 33N and transformed to WGS84, accepted by D-Flow FM 2026.01 at rest and under a forced long wave.</a:t>
            </a:r>
            <a:endParaRPr lang="en-US" sz="1400" dirty="0"/>
          </a:p>
        </p:txBody>
      </p:sp>
      <p:pic>
        <p:nvPicPr>
          <p:cNvPr id="5" name="Image 0" descr="C:\Users\Unipa\Documents\MaltaDT\figures\mesh_v02.png">    </p:cNvPr>
          <p:cNvPicPr>
            <a:picLocks noChangeAspect="1"/>
          </p:cNvPicPr>
          <p:nvPr/>
        </p:nvPicPr>
        <p:blipFill>
          <a:blip r:embed="rId1"/>
          <a:stretch>
            <a:fillRect/>
          </a:stretch>
        </p:blipFill>
        <p:spPr>
          <a:xfrm>
            <a:off x="566928" y="2103120"/>
            <a:ext cx="7680960" cy="3072384"/>
          </a:xfrm>
          <a:prstGeom prst="rect">
            <a:avLst/>
          </a:prstGeom>
        </p:spPr>
      </p:pic>
      <p:sp>
        <p:nvSpPr>
          <p:cNvPr id="6" name="Text 3"/>
          <p:cNvSpPr txBox="1"/>
          <p:nvPr/>
        </p:nvSpPr>
        <p:spPr>
          <a:xfrm>
            <a:off x="8595360" y="2103120"/>
            <a:ext cx="3017520" cy="457200"/>
          </a:xfrm>
          <a:prstGeom prst="rect">
            <a:avLst/>
          </a:prstGeom>
          <a:noFill/>
          <a:ln/>
        </p:spPr>
        <p:txBody>
          <a:bodyPr wrap="square" lIns="0" tIns="0" rIns="0" bIns="0" rtlCol="0" anchor="ctr"/>
          <a:lstStyle/>
          <a:p>
            <a:pPr indent="0" marL="0">
              <a:buNone/>
            </a:pPr>
            <a:r>
              <a:rPr lang="en-US" sz="2500" b="1" dirty="0">
                <a:solidFill>
                  <a:srgbClr val="065A82"/>
                </a:solidFill>
                <a:latin typeface="Cambria" pitchFamily="34" charset="0"/>
                <a:ea typeface="Cambria" pitchFamily="34" charset="-122"/>
                <a:cs typeface="Cambria" pitchFamily="34" charset="-120"/>
              </a:rPr>
              <a:t>26,766</a:t>
            </a:r>
            <a:endParaRPr lang="en-US" sz="2500" dirty="0"/>
          </a:p>
        </p:txBody>
      </p:sp>
      <p:sp>
        <p:nvSpPr>
          <p:cNvPr id="7" name="Text 4"/>
          <p:cNvSpPr txBox="1"/>
          <p:nvPr/>
        </p:nvSpPr>
        <p:spPr>
          <a:xfrm>
            <a:off x="8595360" y="2560320"/>
            <a:ext cx="3017520" cy="457200"/>
          </a:xfrm>
          <a:prstGeom prst="rect">
            <a:avLst/>
          </a:prstGeom>
          <a:noFill/>
          <a:ln/>
        </p:spPr>
        <p:txBody>
          <a:bodyPr wrap="square" lIns="0" tIns="0" rIns="0" bIns="0" rtlCol="0" anchor="ctr"/>
          <a:lstStyle/>
          <a:p>
            <a:pPr indent="0" marL="0">
              <a:buNone/>
            </a:pPr>
            <a:r>
              <a:rPr lang="en-US" sz="1150" dirty="0">
                <a:solidFill>
                  <a:srgbClr val="5F6368"/>
                </a:solidFill>
                <a:latin typeface="Calibri" pitchFamily="34" charset="0"/>
                <a:ea typeface="Calibri" pitchFamily="34" charset="-122"/>
                <a:cs typeface="Calibri" pitchFamily="34" charset="-120"/>
              </a:rPr>
              <a:t>faces, of which some 12,000</a:t>
            </a:r>
            <a:endParaRPr lang="en-US" sz="1150" dirty="0"/>
          </a:p>
          <a:p>
            <a:pPr indent="0" marL="0">
              <a:buNone/>
            </a:pPr>
            <a:r>
              <a:rPr lang="en-US" sz="1150" dirty="0">
                <a:solidFill>
                  <a:srgbClr val="5F6368"/>
                </a:solidFill>
                <a:latin typeface="Calibri" pitchFamily="34" charset="0"/>
                <a:ea typeface="Calibri" pitchFamily="34" charset="-122"/>
                <a:cs typeface="Calibri" pitchFamily="34" charset="-120"/>
              </a:rPr>
              <a:t>in the harbours</a:t>
            </a:r>
            <a:endParaRPr lang="en-US" sz="1150" dirty="0"/>
          </a:p>
        </p:txBody>
      </p:sp>
      <p:sp>
        <p:nvSpPr>
          <p:cNvPr id="8" name="Text 5"/>
          <p:cNvSpPr txBox="1"/>
          <p:nvPr/>
        </p:nvSpPr>
        <p:spPr>
          <a:xfrm>
            <a:off x="8595360" y="3145536"/>
            <a:ext cx="3017520" cy="457200"/>
          </a:xfrm>
          <a:prstGeom prst="rect">
            <a:avLst/>
          </a:prstGeom>
          <a:noFill/>
          <a:ln/>
        </p:spPr>
        <p:txBody>
          <a:bodyPr wrap="square" lIns="0" tIns="0" rIns="0" bIns="0" rtlCol="0" anchor="ctr"/>
          <a:lstStyle/>
          <a:p>
            <a:pPr indent="0" marL="0">
              <a:buNone/>
            </a:pPr>
            <a:r>
              <a:rPr lang="en-US" sz="2500" b="1" dirty="0">
                <a:solidFill>
                  <a:srgbClr val="EB6834"/>
                </a:solidFill>
                <a:latin typeface="Cambria" pitchFamily="34" charset="0"/>
                <a:ea typeface="Cambria" pitchFamily="34" charset="-122"/>
                <a:cs typeface="Cambria" pitchFamily="34" charset="-120"/>
              </a:rPr>
              <a:t>3.7 s</a:t>
            </a:r>
            <a:endParaRPr lang="en-US" sz="2500" dirty="0"/>
          </a:p>
        </p:txBody>
      </p:sp>
      <p:sp>
        <p:nvSpPr>
          <p:cNvPr id="9" name="Text 6"/>
          <p:cNvSpPr txBox="1"/>
          <p:nvPr/>
        </p:nvSpPr>
        <p:spPr>
          <a:xfrm>
            <a:off x="8595360" y="3602736"/>
            <a:ext cx="3017520" cy="457200"/>
          </a:xfrm>
          <a:prstGeom prst="rect">
            <a:avLst/>
          </a:prstGeom>
          <a:noFill/>
          <a:ln/>
        </p:spPr>
        <p:txBody>
          <a:bodyPr wrap="square" lIns="0" tIns="0" rIns="0" bIns="0" rtlCol="0" anchor="ctr"/>
          <a:lstStyle/>
          <a:p>
            <a:pPr indent="0" marL="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indent="0" marL="0">
              <a:buNone/>
            </a:pPr>
            <a:r>
              <a:rPr lang="en-US" sz="1150" dirty="0">
                <a:solidFill>
                  <a:srgbClr val="5F6368"/>
                </a:solidFill>
                <a:latin typeface="Calibri" pitchFamily="34" charset="0"/>
                <a:ea typeface="Calibri" pitchFamily="34" charset="-122"/>
                <a:cs typeface="Calibri" pitchFamily="34" charset="-120"/>
              </a:rPr>
              <a:t>of 0.15 m at the boundary</a:t>
            </a:r>
            <a:endParaRPr lang="en-US" sz="1150" dirty="0"/>
          </a:p>
        </p:txBody>
      </p:sp>
      <p:sp>
        <p:nvSpPr>
          <p:cNvPr id="10" name="Text 7"/>
          <p:cNvSpPr txBox="1"/>
          <p:nvPr/>
        </p:nvSpPr>
        <p:spPr>
          <a:xfrm>
            <a:off x="8595360" y="4187952"/>
            <a:ext cx="3017520" cy="457200"/>
          </a:xfrm>
          <a:prstGeom prst="rect">
            <a:avLst/>
          </a:prstGeom>
          <a:noFill/>
          <a:ln/>
        </p:spPr>
        <p:txBody>
          <a:bodyPr wrap="square" lIns="0" tIns="0" rIns="0" bIns="0" rtlCol="0" anchor="ctr"/>
          <a:lstStyle/>
          <a:p>
            <a:pPr indent="0" marL="0">
              <a:buNone/>
            </a:pPr>
            <a:r>
              <a:rPr lang="en-US" sz="2500" b="1" dirty="0">
                <a:solidFill>
                  <a:srgbClr val="065A82"/>
                </a:solidFill>
                <a:latin typeface="Cambria" pitchFamily="34" charset="0"/>
                <a:ea typeface="Cambria" pitchFamily="34" charset="-122"/>
                <a:cs typeface="Cambria" pitchFamily="34" charset="-120"/>
              </a:rPr>
              <a:t>611 s</a:t>
            </a:r>
            <a:endParaRPr lang="en-US" sz="2500" dirty="0"/>
          </a:p>
        </p:txBody>
      </p:sp>
      <p:sp>
        <p:nvSpPr>
          <p:cNvPr id="11" name="Text 8"/>
          <p:cNvSpPr txBox="1"/>
          <p:nvPr/>
        </p:nvSpPr>
        <p:spPr>
          <a:xfrm>
            <a:off x="8595360" y="4645152"/>
            <a:ext cx="3017520" cy="457200"/>
          </a:xfrm>
          <a:prstGeom prst="rect">
            <a:avLst/>
          </a:prstGeom>
          <a:noFill/>
          <a:ln/>
        </p:spPr>
        <p:txBody>
          <a:bodyPr wrap="square" lIns="0" tIns="0" rIns="0" bIns="0" rtlCol="0" anchor="ctr"/>
          <a:lstStyle/>
          <a:p>
            <a:pPr indent="0" marL="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indent="0" marL="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321808"/>
            <a:ext cx="11055096" cy="841248"/>
          </a:xfrm>
          <a:prstGeom prst="roundRect">
            <a:avLst>
              <a:gd name="adj" fmla="val 6522"/>
            </a:avLst>
          </a:prstGeom>
          <a:solidFill>
            <a:srgbClr val="EEF3F6"/>
          </a:solidFill>
          <a:ln/>
        </p:spPr>
      </p:sp>
      <p:sp>
        <p:nvSpPr>
          <p:cNvPr id="13" name="Text 10"/>
          <p:cNvSpPr txBox="1"/>
          <p:nvPr/>
        </p:nvSpPr>
        <p:spPr>
          <a:xfrm>
            <a:off x="886968" y="5440680"/>
            <a:ext cx="10424160" cy="621792"/>
          </a:xfrm>
          <a:prstGeom prst="rect">
            <a:avLst/>
          </a:prstGeom>
          <a:noFill/>
          <a:ln/>
        </p:spPr>
        <p:txBody>
          <a:bodyPr wrap="square" lIns="0" tIns="0" rIns="0" bIns="0" rtlCol="0" anchor="ctr"/>
          <a:lstStyle/>
          <a:p>
            <a:pPr indent="0" marL="0">
              <a:lnSpc>
                <a:spcPts val="1600"/>
              </a:lnSpc>
              <a:buNone/>
            </a:pPr>
            <a:r>
              <a:rPr lang="en-US" sz="1200" b="1" dirty="0">
                <a:solidFill>
                  <a:srgbClr val="1A1A1A"/>
                </a:solidFill>
                <a:latin typeface="Calibri" pitchFamily="34" charset="0"/>
                <a:ea typeface="Calibri" pitchFamily="34" charset="-122"/>
                <a:cs typeface="Calibri" pitchFamily="34" charset="-120"/>
              </a:rPr>
              <a:t>Cost of the campaign. </a:t>
            </a:r>
            <a:pPr indent="0" marL="0">
              <a:lnSpc>
                <a:spcPts val="1600"/>
              </a:lnSpc>
              <a:buNone/>
            </a:pPr>
            <a:r>
              <a:rPr lang="en-US" sz="1200" dirty="0">
                <a:solidFill>
                  <a:srgbClr val="1A1A1A"/>
                </a:solidFill>
                <a:latin typeface="Calibri" pitchFamily="34" charset="0"/>
                <a:ea typeface="Calibri" pitchFamily="34" charset="-122"/>
                <a:cs typeface="Calibri" pitchFamily="34" charset="-120"/>
              </a:rPr>
              <a:t>The parametric sweep in two dimensions amounts to some 16 h of serial computation. The three-dimensional runs of renewal and validation, 160 simulated days, amount to some 45 h on 8 MPI processes, scaled from the Stagnone configuration with an uncertainty of a factor of two.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OPEN BOUNDARY</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Reflection of the open boundary under a synthetic pulse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 Gaussian hump of water level released on a flat bed at 150 m with 1500 m cells, each case compared against a reference domain without a boundary.</a:t>
            </a:r>
            <a:endParaRPr lang="en-US" sz="1400" dirty="0"/>
          </a:p>
        </p:txBody>
      </p:sp>
      <p:pic>
        <p:nvPicPr>
          <p:cNvPr id="5" name="Image 0" descr="C:\Users\Unipa\Documents\MaltaDT\figures\riemann_pulse_test.png">    </p:cNvPr>
          <p:cNvPicPr>
            <a:picLocks noChangeAspect="1"/>
          </p:cNvPicPr>
          <p:nvPr/>
        </p:nvPicPr>
        <p:blipFill>
          <a:blip r:embed="rId1"/>
          <a:stretch>
            <a:fillRect/>
          </a:stretch>
        </p:blipFill>
        <p:spPr>
          <a:xfrm>
            <a:off x="566928" y="2103120"/>
            <a:ext cx="5623560" cy="393192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46520" y="2103120"/>
          <a:ext cx="5175504" cy="914400"/>
        </p:xfrm>
        <a:graphic>
          <a:graphicData uri="http://schemas.openxmlformats.org/drawingml/2006/table">
            <a:tbl>
              <a:tblPr/>
              <a:tblGrid>
                <a:gridCol w="2432304"/>
                <a:gridCol w="1280160"/>
                <a:gridCol w="1463040"/>
              </a:tblGrid>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Reflected amplitude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Riemann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Prescribed level</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7472">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Normal incidence, channel</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0.3 to 1.3 %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94 to 100 %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Incidence up to 30°, basin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5 to 9 %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96 to 98 %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7472">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Corner cells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24 to 29 %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103 %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7" name="Shape 3"/>
          <p:cNvSpPr/>
          <p:nvPr/>
        </p:nvSpPr>
        <p:spPr>
          <a:xfrm>
            <a:off x="6446520" y="3621024"/>
            <a:ext cx="5175504" cy="1280160"/>
          </a:xfrm>
          <a:prstGeom prst="roundRect">
            <a:avLst>
              <a:gd name="adj" fmla="val 4286"/>
            </a:avLst>
          </a:prstGeom>
          <a:solidFill>
            <a:srgbClr val="21295C"/>
          </a:solidFill>
          <a:ln/>
        </p:spPr>
      </p:sp>
      <p:sp>
        <p:nvSpPr>
          <p:cNvPr id="8" name="Text 4"/>
          <p:cNvSpPr txBox="1"/>
          <p:nvPr/>
        </p:nvSpPr>
        <p:spPr>
          <a:xfrm>
            <a:off x="6720840" y="3785616"/>
            <a:ext cx="4626864" cy="274320"/>
          </a:xfrm>
          <a:prstGeom prst="rect">
            <a:avLst/>
          </a:prstGeom>
          <a:noFill/>
          <a:ln/>
        </p:spPr>
        <p:txBody>
          <a:bodyPr wrap="square" lIns="0" tIns="0" rIns="0" bIns="0" rtlCol="0" anchor="ctr"/>
          <a:lstStyle/>
          <a:p>
            <a:pPr indent="0" marL="0">
              <a:buNone/>
            </a:pPr>
            <a:r>
              <a:rPr lang="en-US" sz="1350" b="1" dirty="0">
                <a:solidFill>
                  <a:srgbClr val="EB6834"/>
                </a:solidFill>
                <a:latin typeface="Cambria" pitchFamily="34" charset="0"/>
                <a:ea typeface="Cambria" pitchFamily="34" charset="-122"/>
                <a:cs typeface="Cambria" pitchFamily="34" charset="-120"/>
              </a:rPr>
              <a:t>Configuration adopted</a:t>
            </a:r>
            <a:endParaRPr lang="en-US" sz="1350" dirty="0"/>
          </a:p>
        </p:txBody>
      </p:sp>
      <p:sp>
        <p:nvSpPr>
          <p:cNvPr id="9" name="Text 5"/>
          <p:cNvSpPr txBox="1"/>
          <p:nvPr/>
        </p:nvSpPr>
        <p:spPr>
          <a:xfrm>
            <a:off x="6720840" y="4114800"/>
            <a:ext cx="4626864" cy="676656"/>
          </a:xfrm>
          <a:prstGeom prst="rect">
            <a:avLst/>
          </a:prstGeom>
          <a:noFill/>
          <a:ln/>
        </p:spPr>
        <p:txBody>
          <a:bodyPr wrap="square" lIns="0" tIns="0" rIns="0" bIns="0" rtlCol="0" anchor="t"/>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A Riemann boundary on all open sides, its corners more than 40 km from the harbours, written as one polyline since FM reads only the first polyline of a boundary file.</a:t>
            </a:r>
            <a:endParaRPr lang="en-US" sz="1150" dirty="0"/>
          </a:p>
        </p:txBody>
      </p:sp>
      <p:sp>
        <p:nvSpPr>
          <p:cNvPr id="10" name="Shape 6"/>
          <p:cNvSpPr/>
          <p:nvPr/>
        </p:nvSpPr>
        <p:spPr>
          <a:xfrm>
            <a:off x="6446520" y="5029200"/>
            <a:ext cx="5175504" cy="1005840"/>
          </a:xfrm>
          <a:prstGeom prst="roundRect">
            <a:avLst>
              <a:gd name="adj" fmla="val 5455"/>
            </a:avLst>
          </a:prstGeom>
          <a:solidFill>
            <a:srgbClr val="EEF3F6"/>
          </a:solidFill>
          <a:ln/>
        </p:spPr>
      </p:sp>
      <p:sp>
        <p:nvSpPr>
          <p:cNvPr id="11" name="Text 7"/>
          <p:cNvSpPr txBox="1"/>
          <p:nvPr/>
        </p:nvSpPr>
        <p:spPr>
          <a:xfrm>
            <a:off x="6720840" y="5193792"/>
            <a:ext cx="4626864" cy="274320"/>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Cases to be tested before production</a:t>
            </a:r>
            <a:endParaRPr lang="en-US" sz="1350" dirty="0"/>
          </a:p>
        </p:txBody>
      </p:sp>
      <p:sp>
        <p:nvSpPr>
          <p:cNvPr id="12" name="Text 8"/>
          <p:cNvSpPr txBox="1"/>
          <p:nvPr/>
        </p:nvSpPr>
        <p:spPr>
          <a:xfrm>
            <a:off x="6720840" y="5522976"/>
            <a:ext cx="4626864" cy="402336"/>
          </a:xfrm>
          <a:prstGeom prst="rect">
            <a:avLst/>
          </a:prstGeom>
          <a:noFill/>
          <a:ln/>
        </p:spPr>
        <p:txBody>
          <a:bodyPr wrap="square" lIns="0" tIns="0" rIns="0" bIns="0" rtlCol="0" anchor="t"/>
          <a:lstStyle/>
          <a:p>
            <a:pPr indent="0" marL="0">
              <a:lnSpc>
                <a:spcPts val="1550"/>
              </a:lnSpc>
              <a:buNone/>
            </a:pPr>
            <a:r>
              <a:rPr lang="en-US" sz="1150" dirty="0">
                <a:solidFill>
                  <a:srgbClr val="1A1A1A"/>
                </a:solidFill>
                <a:latin typeface="Calibri" pitchFamily="34" charset="0"/>
                <a:ea typeface="Calibri" pitchFamily="34" charset="-122"/>
                <a:cs typeface="Calibri" pitchFamily="34" charset="-120"/>
              </a:rPr>
              <a:t>A residual current across the boundary, a non-zero incoming signal from CMEMS, variable depth along the boundary, and Coriolis.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PRIOR WORK AND SETTING</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Existing work and the matters it leaves untreated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Grand Harbour has been modelled before, and the group operates a forecasting system over the same waters.</a:t>
            </a:r>
            <a:endParaRPr lang="en-US" sz="1400" dirty="0"/>
          </a:p>
        </p:txBody>
      </p:sp>
      <p:sp>
        <p:nvSpPr>
          <p:cNvPr id="5" name="Text 3"/>
          <p:cNvSpPr txBox="1"/>
          <p:nvPr/>
        </p:nvSpPr>
        <p:spPr>
          <a:xfrm>
            <a:off x="566928" y="2103120"/>
            <a:ext cx="539496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The two studies that bear on the site</a:t>
            </a:r>
            <a:endParaRPr lang="en-US" sz="1400" dirty="0"/>
          </a:p>
        </p:txBody>
      </p:sp>
      <p:sp>
        <p:nvSpPr>
          <p:cNvPr id="6" name="Text 4"/>
          <p:cNvSpPr txBox="1"/>
          <p:nvPr/>
        </p:nvSpPr>
        <p:spPr>
          <a:xfrm>
            <a:off x="566928" y="2468880"/>
            <a:ext cx="5394960" cy="2651760"/>
          </a:xfrm>
          <a:prstGeom prst="rect">
            <a:avLst/>
          </a:prstGeom>
          <a:noFill/>
          <a:ln/>
        </p:spPr>
        <p:txBody>
          <a:bodyPr wrap="square" lIns="0" tIns="0" rIns="0" bIns="0" rtlCol="0" anchor="ctr"/>
          <a:lstStyle/>
          <a:p>
            <a:pPr indent="0" marL="0">
              <a:lnSpc>
                <a:spcPts val="1650"/>
              </a:lnSpc>
              <a:buNone/>
            </a:pPr>
            <a:r>
              <a:rPr lang="en-US" sz="1200" b="1" dirty="0">
                <a:solidFill>
                  <a:srgbClr val="1A1A1A"/>
                </a:solidFill>
                <a:latin typeface="Calibri" pitchFamily="34" charset="0"/>
                <a:ea typeface="Calibri" pitchFamily="34" charset="-122"/>
                <a:cs typeface="Calibri" pitchFamily="34" charset="-120"/>
              </a:rPr>
              <a:t>Mazas and Farrugia, ARTELIA and Infrastructure Malta. </a:t>
            </a:r>
            <a:pPr indent="0" marL="0">
              <a:lnSpc>
                <a:spcPts val="1650"/>
              </a:lnSpc>
              <a:spcAft>
                <a:spcPts val="1000"/>
              </a:spcAft>
              <a:buNone/>
            </a:pPr>
            <a:r>
              <a:rPr lang="en-US" sz="1200" dirty="0">
                <a:solidFill>
                  <a:srgbClr val="1A1A1A"/>
                </a:solidFill>
                <a:latin typeface="Calibri" pitchFamily="34" charset="0"/>
                <a:ea typeface="Calibri" pitchFamily="34" charset="-122"/>
                <a:cs typeface="Calibri" pitchFamily="34" charset="-120"/>
              </a:rPr>
              <a:t>The Grand Harbour modelled for wind-wave agitation in PHAROS, against a directional climate hindcast from 1992 to 2019. Damage in the port documented for the storms of February 2019 and February 2023.
</a:t>
            </a:r>
            <a:endParaRPr lang="en-US" sz="1200" dirty="0"/>
          </a:p>
          <a:p>
            <a:pPr indent="0" marL="0">
              <a:lnSpc>
                <a:spcPts val="1650"/>
              </a:lnSpc>
              <a:buNone/>
            </a:pPr>
            <a:r>
              <a:rPr lang="en-US" sz="1200" b="1" dirty="0">
                <a:solidFill>
                  <a:srgbClr val="1A1A1A"/>
                </a:solidFill>
                <a:latin typeface="Calibri" pitchFamily="34" charset="0"/>
                <a:ea typeface="Calibri" pitchFamily="34" charset="-122"/>
                <a:cs typeface="Calibri" pitchFamily="34" charset="-120"/>
              </a:rPr>
              <a:t>Drago (2018), the design report of the group. </a:t>
            </a:r>
            <a:pPr indent="0" marL="0">
              <a:lnSpc>
                <a:spcPts val="1650"/>
              </a:lnSpc>
              <a:buNone/>
            </a:pPr>
            <a:r>
              <a:rPr lang="en-US" sz="1200" dirty="0">
                <a:solidFill>
                  <a:srgbClr val="1A1A1A"/>
                </a:solidFill>
                <a:latin typeface="Calibri" pitchFamily="34" charset="0"/>
                <a:ea typeface="Calibri" pitchFamily="34" charset="-122"/>
                <a:cs typeface="Calibri" pitchFamily="34" charset="-120"/>
              </a:rPr>
              <a:t>A relocatable model setup is requested for ad hoc local domains, and harbour flushing at the five principal harbours appears among the process-model targets, with the Deltares suite among the families to review.</a:t>
            </a:r>
            <a:endParaRPr lang="en-US" sz="1200" dirty="0"/>
          </a:p>
        </p:txBody>
      </p:sp>
      <p:sp>
        <p:nvSpPr>
          <p:cNvPr id="7" name="Shape 5"/>
          <p:cNvSpPr/>
          <p:nvPr/>
        </p:nvSpPr>
        <p:spPr>
          <a:xfrm>
            <a:off x="6355080" y="2103120"/>
            <a:ext cx="5266944" cy="3035808"/>
          </a:xfrm>
          <a:prstGeom prst="roundRect">
            <a:avLst>
              <a:gd name="adj" fmla="val 1807"/>
            </a:avLst>
          </a:prstGeom>
          <a:solidFill>
            <a:srgbClr val="21295C"/>
          </a:solidFill>
          <a:ln/>
        </p:spPr>
      </p:sp>
      <p:sp>
        <p:nvSpPr>
          <p:cNvPr id="8" name="Text 6"/>
          <p:cNvSpPr txBox="1"/>
          <p:nvPr/>
        </p:nvSpPr>
        <p:spPr>
          <a:xfrm>
            <a:off x="6629400" y="2304288"/>
            <a:ext cx="475488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Operational system of the group</a:t>
            </a:r>
            <a:endParaRPr lang="en-US" sz="1400" dirty="0"/>
          </a:p>
        </p:txBody>
      </p:sp>
      <p:sp>
        <p:nvSpPr>
          <p:cNvPr id="9" name="Text 7"/>
          <p:cNvSpPr txBox="1"/>
          <p:nvPr/>
        </p:nvSpPr>
        <p:spPr>
          <a:xfrm>
            <a:off x="6629400" y="2651760"/>
            <a:ext cx="4754880" cy="233172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 Princeton Ocean Model, 1∕64° and 1∕96°, nested into CMEMS.</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SWAN downscaled to the embayments at 1∕500°, about 200 m.</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ROSARIO-SHYFEM, unstructured, three-dimensional, operational to a four-day forecast, from a few kilometres to 50 m at the coast, with Lagrangian particle tracking.</a:t>
            </a:r>
            <a:endParaRPr lang="en-US" sz="1150" dirty="0"/>
          </a:p>
          <a:p>
            <a:pPr marL="342900" indent="-342900">
              <a:lnSpc>
                <a:spcPts val="1500"/>
              </a:lnSpc>
              <a:buSzPct val="100000"/>
              <a:buChar char="•"/>
            </a:pPr>
            <a:r>
              <a:rPr lang="en-US" sz="1150" dirty="0">
                <a:solidFill>
                  <a:srgbClr val="CADCFC"/>
                </a:solidFill>
                <a:latin typeface="Calibri" pitchFamily="34" charset="0"/>
                <a:ea typeface="Calibri" pitchFamily="34" charset="-122"/>
                <a:cs typeface="Calibri" pitchFamily="34" charset="-120"/>
              </a:rPr>
              <a:t>Boundary conditions derived from CMEMS, as in the present work.</a:t>
            </a:r>
            <a:endParaRPr lang="en-US" sz="1150" dirty="0"/>
          </a:p>
        </p:txBody>
      </p:sp>
      <p:sp>
        <p:nvSpPr>
          <p:cNvPr id="10" name="Shape 8"/>
          <p:cNvSpPr/>
          <p:nvPr/>
        </p:nvSpPr>
        <p:spPr>
          <a:xfrm>
            <a:off x="566928" y="5321808"/>
            <a:ext cx="11055096" cy="841248"/>
          </a:xfrm>
          <a:prstGeom prst="roundRect">
            <a:avLst>
              <a:gd name="adj" fmla="val 6522"/>
            </a:avLst>
          </a:prstGeom>
          <a:solidFill>
            <a:srgbClr val="EEF3F6"/>
          </a:solidFill>
          <a:ln/>
        </p:spPr>
      </p:sp>
      <p:sp>
        <p:nvSpPr>
          <p:cNvPr id="11" name="Text 9"/>
          <p:cNvSpPr txBox="1"/>
          <p:nvPr/>
        </p:nvSpPr>
        <p:spPr>
          <a:xfrm>
            <a:off x="886968" y="5477256"/>
            <a:ext cx="10424160" cy="56692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The present work is a process study conducted within the group, alongside the operational system. </a:t>
            </a:r>
            <a:pPr indent="0" marL="0">
              <a:lnSpc>
                <a:spcPts val="1600"/>
              </a:lnSpc>
              <a:buNone/>
            </a:pPr>
            <a:r>
              <a:rPr lang="en-US" sz="1200" dirty="0">
                <a:solidFill>
                  <a:srgbClr val="1A1A1A"/>
                </a:solidFill>
                <a:latin typeface="Calibri" pitchFamily="34" charset="0"/>
                <a:ea typeface="Calibri" pitchFamily="34" charset="-122"/>
                <a:cs typeface="Calibri" pitchFamily="34" charset="-120"/>
              </a:rPr>
              <a:t>It differs in the resolution inside the basins, 15 to 30 m against 50 m, in the coupling to a spectral wave model, and in the frequency band it addresses.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RESEARCH QUESTION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Attribution of amplification along the generation chain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Proposed formulation, submitted to the group for discussion.</a:t>
            </a:r>
            <a:endParaRPr lang="en-US" sz="1400" dirty="0"/>
          </a:p>
        </p:txBody>
      </p:sp>
      <p:sp>
        <p:nvSpPr>
          <p:cNvPr id="5" name="Shape 3"/>
          <p:cNvSpPr/>
          <p:nvPr/>
        </p:nvSpPr>
        <p:spPr>
          <a:xfrm>
            <a:off x="566928" y="2139696"/>
            <a:ext cx="11055096" cy="1298448"/>
          </a:xfrm>
          <a:prstGeom prst="roundRect">
            <a:avLst>
              <a:gd name="adj" fmla="val 4225"/>
            </a:avLst>
          </a:prstGeom>
          <a:solidFill>
            <a:srgbClr val="EEF3F6"/>
          </a:solidFill>
          <a:ln/>
        </p:spPr>
      </p:sp>
      <p:sp>
        <p:nvSpPr>
          <p:cNvPr id="6" name="Text 4"/>
          <p:cNvSpPr txBox="1"/>
          <p:nvPr/>
        </p:nvSpPr>
        <p:spPr>
          <a:xfrm>
            <a:off x="886968" y="2350008"/>
            <a:ext cx="10424160" cy="914400"/>
          </a:xfrm>
          <a:prstGeom prst="rect">
            <a:avLst/>
          </a:prstGeom>
          <a:noFill/>
          <a:ln/>
        </p:spPr>
        <p:txBody>
          <a:bodyPr wrap="square" lIns="0" tIns="0" rIns="0" bIns="0" rtlCol="0" anchor="ctr"/>
          <a:lstStyle/>
          <a:p>
            <a:pPr indent="0" marL="0">
              <a:lnSpc>
                <a:spcPts val="2100"/>
              </a:lnSpc>
              <a:buNone/>
            </a:pPr>
            <a:r>
              <a:rPr lang="en-US" sz="1500" i="1" dirty="0">
                <a:solidFill>
                  <a:srgbClr val="1A1A1A"/>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themselves, and which atmospheric disturbance speeds and directions maximise that chain?</a:t>
            </a:r>
            <a:endParaRPr lang="en-US" sz="1500" dirty="0"/>
          </a:p>
        </p:txBody>
      </p:sp>
      <p:sp>
        <p:nvSpPr>
          <p:cNvPr id="7" name="Text 5"/>
          <p:cNvSpPr txBox="1"/>
          <p:nvPr/>
        </p:nvSpPr>
        <p:spPr>
          <a:xfrm>
            <a:off x="566928" y="3721608"/>
            <a:ext cx="521208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Basis for the formulation</a:t>
            </a:r>
            <a:endParaRPr lang="en-US" sz="1400" dirty="0"/>
          </a:p>
        </p:txBody>
      </p:sp>
      <p:sp>
        <p:nvSpPr>
          <p:cNvPr id="8" name="Text 6"/>
          <p:cNvSpPr txBox="1"/>
          <p:nvPr/>
        </p:nvSpPr>
        <p:spPr>
          <a:xfrm>
            <a:off x="566928" y="4069080"/>
            <a:ext cx="521208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answer requires a model, since no arrangement of gauges separates the three stages of amplification from one another.</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prior work treats the response of a basin to a wave already present at its boundary, so the generation side is not repeated.</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The formulation depends on the standing of that prior work, on which the judgement of the group is sought.</a:t>
            </a:r>
            <a:endParaRPr lang="en-US" sz="1200" dirty="0"/>
          </a:p>
        </p:txBody>
      </p:sp>
      <p:sp>
        <p:nvSpPr>
          <p:cNvPr id="9" name="Text 7"/>
          <p:cNvSpPr txBox="1"/>
          <p:nvPr/>
        </p:nvSpPr>
        <p:spPr>
          <a:xfrm>
            <a:off x="6355080" y="3721608"/>
            <a:ext cx="52120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Coverage of the prior work</a:t>
            </a:r>
            <a:endParaRPr lang="en-US" sz="1400" dirty="0"/>
          </a:p>
        </p:txBody>
      </p:sp>
      <p:sp>
        <p:nvSpPr>
          <p:cNvPr id="10" name="Text 8"/>
          <p:cNvSpPr txBox="1"/>
          <p:nvPr/>
        </p:nvSpPr>
        <p:spPr>
          <a:xfrm>
            <a:off x="6355080" y="4069080"/>
            <a:ext cx="5266944"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Maltese coastal seiches were modelled in 2007, in a two-dimensional depth-averaged POM, for Mellieħa and St Paul's Bay, forced by a prescribed offshore long wave.</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Grand Harbour was modelled by ARTELIA in PHAROS, for wind-wave agitation, against a directional climate hindcast from 1992 to 2019.</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Neither treats the generation of the long wave, the circulation of the harbour, or its renewal.</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COUNTERFACTUAL QUESTION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Sensitivity of the basin mode to the geometry of the mouth</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An academic sensitivity on the class of basin, submitted to the group for judgement. No particular design is represented.</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6492240" cy="914400"/>
        </p:xfrm>
        <a:graphic>
          <a:graphicData uri="http://schemas.openxmlformats.org/drawingml/2006/table">
            <a:tbl>
              <a:tblPr/>
              <a:tblGrid>
                <a:gridCol w="2103120"/>
                <a:gridCol w="1051560"/>
                <a:gridCol w="1051560"/>
                <a:gridCol w="1051560"/>
                <a:gridCol w="123444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Open fraction of the section</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100 m reach</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250 m reach</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500 m reach</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Helmholtz scaling</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65760">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+1.5 %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+2.7 %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+4.0 %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+15 %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+4.4 %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+8.0 %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+11.7 %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+41 %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65760">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0.25</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+13.1 %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+23.3 %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+33.1 %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+100 %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+37.2 %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+62.5 %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+84.6 %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150" dirty="0">
                          <a:solidFill>
                            <a:srgbClr val="1A1A1A"/>
                          </a:solidFill>
                          <a:latin typeface="Calibri" pitchFamily="34" charset="0"/>
                          <a:ea typeface="Calibri" pitchFamily="34" charset="-122"/>
                          <a:cs typeface="Calibri" pitchFamily="34" charset="-120"/>
                        </a:rPr>
                        <a:t>+216 %</a:t>
                      </a:r>
                      <a:endParaRPr lang="en-US" sz="115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bl>
          </a:graphicData>
        </a:graphic>
      </p:graphicFrame>
      <p:sp>
        <p:nvSpPr>
          <p:cNvPr id="6" name="Text 3"/>
          <p:cNvSpPr txBox="1"/>
          <p:nvPr/>
        </p:nvSpPr>
        <p:spPr>
          <a:xfrm>
            <a:off x="566928" y="4261104"/>
            <a:ext cx="6492240" cy="1005840"/>
          </a:xfrm>
          <a:prstGeom prst="rect">
            <a:avLst/>
          </a:prstGeom>
          <a:noFill/>
          <a:ln/>
        </p:spPr>
        <p:txBody>
          <a:bodyPr wrap="square" lIns="0" tIns="0" rIns="0" bIns="0" rtlCol="0" anchor="ctr"/>
          <a:lstStyle/>
          <a:p>
            <a:pPr indent="0" marL="0">
              <a:lnSpc>
                <a:spcPts val="1550"/>
              </a:lnSpc>
              <a:buNone/>
            </a:pPr>
            <a:r>
              <a:rPr lang="en-US" sz="1150" dirty="0">
                <a:solidFill>
                  <a:srgbClr val="5F6368"/>
                </a:solidFill>
                <a:latin typeface="Calibri" pitchFamily="34" charset="0"/>
                <a:ea typeface="Calibri" pitchFamily="34" charset="-122"/>
                <a:cs typeface="Calibri" pitchFamily="34" charset="-120"/>
              </a:rPr>
              <a:t>Lengthening of the fundamental period of the Grand Harbour, 16.5 minutes, for a restriction imposed on the measured profile over a reach centred on its narrowest section. The Helmholtz scaling, T ∝ a^(−1∕2), attributes the whole inertia of the mode to the mouth and overstates the shift by a factor of three to ten.</a:t>
            </a:r>
            <a:endParaRPr lang="en-US" sz="1150" dirty="0"/>
          </a:p>
        </p:txBody>
      </p:sp>
      <p:sp>
        <p:nvSpPr>
          <p:cNvPr id="7" name="Shape 4"/>
          <p:cNvSpPr/>
          <p:nvPr/>
        </p:nvSpPr>
        <p:spPr>
          <a:xfrm>
            <a:off x="7360920" y="2286000"/>
            <a:ext cx="4261104" cy="1572768"/>
          </a:xfrm>
          <a:prstGeom prst="roundRect">
            <a:avLst>
              <a:gd name="adj" fmla="val 3488"/>
            </a:avLst>
          </a:prstGeom>
          <a:solidFill>
            <a:srgbClr val="EEF3F6"/>
          </a:solidFill>
          <a:ln/>
        </p:spPr>
      </p:sp>
      <p:sp>
        <p:nvSpPr>
          <p:cNvPr id="8" name="Text 5"/>
          <p:cNvSpPr txBox="1"/>
          <p:nvPr/>
        </p:nvSpPr>
        <p:spPr>
          <a:xfrm>
            <a:off x="7635240" y="2450592"/>
            <a:ext cx="3712464" cy="274320"/>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The magnitude in context</a:t>
            </a:r>
            <a:endParaRPr lang="en-US" sz="1350" dirty="0"/>
          </a:p>
        </p:txBody>
      </p:sp>
      <p:sp>
        <p:nvSpPr>
          <p:cNvPr id="9" name="Text 6"/>
          <p:cNvSpPr txBox="1"/>
          <p:nvPr/>
        </p:nvSpPr>
        <p:spPr>
          <a:xfrm>
            <a:off x="7635240" y="2779776"/>
            <a:ext cx="3712464" cy="969264"/>
          </a:xfrm>
          <a:prstGeom prst="rect">
            <a:avLst/>
          </a:prstGeom>
          <a:noFill/>
          <a:ln/>
        </p:spPr>
        <p:txBody>
          <a:bodyPr wrap="square" lIns="0" tIns="0" rIns="0" bIns="0" rtlCol="0" anchor="t"/>
          <a:lstStyle/>
          <a:p>
            <a:pPr indent="0" marL="0">
              <a:lnSpc>
                <a:spcPts val="1550"/>
              </a:lnSpc>
              <a:buNone/>
            </a:pPr>
            <a:r>
              <a:rPr lang="en-US" sz="1150" dirty="0">
                <a:solidFill>
                  <a:srgbClr val="1A1A1A"/>
                </a:solidFill>
                <a:latin typeface="Calibri" pitchFamily="34" charset="0"/>
                <a:ea typeface="Calibri" pitchFamily="34" charset="-122"/>
                <a:cs typeface="Calibri" pitchFamily="34" charset="-120"/>
              </a:rPr>
              <a:t>A metre of sea level rise shortens these modes by 3.1 per cent. A restriction of a quarter lengthens them by 1.5 to 4 per cent. The two perturbations are of the same order.</a:t>
            </a:r>
            <a:endParaRPr lang="en-US" sz="1150" dirty="0"/>
          </a:p>
        </p:txBody>
      </p:sp>
      <p:sp>
        <p:nvSpPr>
          <p:cNvPr id="10" name="Shape 7"/>
          <p:cNvSpPr/>
          <p:nvPr/>
        </p:nvSpPr>
        <p:spPr>
          <a:xfrm>
            <a:off x="7360920" y="4005072"/>
            <a:ext cx="4261104" cy="1755648"/>
          </a:xfrm>
          <a:prstGeom prst="roundRect">
            <a:avLst>
              <a:gd name="adj" fmla="val 3125"/>
            </a:avLst>
          </a:prstGeom>
          <a:solidFill>
            <a:srgbClr val="21295C"/>
          </a:solidFill>
          <a:ln/>
        </p:spPr>
      </p:sp>
      <p:sp>
        <p:nvSpPr>
          <p:cNvPr id="11" name="Text 8"/>
          <p:cNvSpPr txBox="1"/>
          <p:nvPr/>
        </p:nvSpPr>
        <p:spPr>
          <a:xfrm>
            <a:off x="7635240" y="4169664"/>
            <a:ext cx="3712464" cy="274320"/>
          </a:xfrm>
          <a:prstGeom prst="rect">
            <a:avLst/>
          </a:prstGeom>
          <a:noFill/>
          <a:ln/>
        </p:spPr>
        <p:txBody>
          <a:bodyPr wrap="square" lIns="0" tIns="0" rIns="0" bIns="0" rtlCol="0" anchor="ctr"/>
          <a:lstStyle/>
          <a:p>
            <a:pPr indent="0" marL="0">
              <a:buNone/>
            </a:pPr>
            <a:r>
              <a:rPr lang="en-US" sz="1350" b="1" dirty="0">
                <a:solidFill>
                  <a:srgbClr val="EB6834"/>
                </a:solidFill>
                <a:latin typeface="Cambria" pitchFamily="34" charset="0"/>
                <a:ea typeface="Cambria" pitchFamily="34" charset="-122"/>
                <a:cs typeface="Cambria" pitchFamily="34" charset="-120"/>
              </a:rPr>
              <a:t>Exchange as the principal quantity</a:t>
            </a:r>
            <a:endParaRPr lang="en-US" sz="1350" dirty="0"/>
          </a:p>
        </p:txBody>
      </p:sp>
      <p:sp>
        <p:nvSpPr>
          <p:cNvPr id="12" name="Text 9"/>
          <p:cNvSpPr txBox="1"/>
          <p:nvPr/>
        </p:nvSpPr>
        <p:spPr>
          <a:xfrm>
            <a:off x="7635240" y="4498848"/>
            <a:ext cx="3712464" cy="1152144"/>
          </a:xfrm>
          <a:prstGeom prst="rect">
            <a:avLst/>
          </a:prstGeom>
          <a:noFill/>
          <a:ln/>
        </p:spPr>
        <p:txBody>
          <a:bodyPr wrap="square" lIns="0" tIns="0" rIns="0" bIns="0" rtlCol="0" anchor="t"/>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Reaching the observed band from 18.4 minutes requires an open fraction near 0.1 over several hundred metres. The volume exchanged per cycle scales with the open section directly, so renewal responds more strongly than the mode.</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cost is a second evaluation of the same sweep, with no new forcing, no new validation and no new configuration.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parametric sweep in place of a hindcast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that trigger the phenomenon, so a hindcast of individual events is not attempted.</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457200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A moving pressure disturbance is imposed, and its speed, direction, width and duration are varied.</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457200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output is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457200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Test against the observations</a:t>
            </a:r>
            <a:endParaRPr lang="en-US" sz="1450" dirty="0"/>
          </a:p>
        </p:txBody>
      </p:sp>
      <p:sp>
        <p:nvSpPr>
          <p:cNvPr id="16" name="Text 14"/>
          <p:cNvSpPr txBox="1"/>
          <p:nvPr/>
        </p:nvSpPr>
        <p:spPr>
          <a:xfrm>
            <a:off x="1188720" y="4965192"/>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observations serve as the test rather than as the forcing, addressing whether recorded events occur under the conditions identified as resonant.</a:t>
            </a:r>
            <a:endParaRPr lang="en-US" sz="1250" dirty="0"/>
          </a:p>
        </p:txBody>
      </p:sp>
      <p:sp>
        <p:nvSpPr>
          <p:cNvPr id="17" name="Shape 15"/>
          <p:cNvSpPr/>
          <p:nvPr/>
        </p:nvSpPr>
        <p:spPr>
          <a:xfrm>
            <a:off x="7680960" y="2286000"/>
            <a:ext cx="3941064" cy="3108960"/>
          </a:xfrm>
          <a:prstGeom prst="roundRect">
            <a:avLst>
              <a:gd name="adj" fmla="val 1765"/>
            </a:avLst>
          </a:prstGeom>
          <a:solidFill>
            <a:srgbClr val="21295C"/>
          </a:solidFill>
          <a:ln/>
        </p:spPr>
      </p:sp>
      <p:sp>
        <p:nvSpPr>
          <p:cNvPr id="18" name="Text 16"/>
          <p:cNvSpPr txBox="1"/>
          <p:nvPr/>
        </p:nvSpPr>
        <p:spPr>
          <a:xfrm>
            <a:off x="7955280" y="2487168"/>
            <a:ext cx="3429000" cy="54864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Bearing beyond the present study</a:t>
            </a:r>
            <a:endParaRPr lang="en-US" sz="1400" dirty="0"/>
          </a:p>
        </p:txBody>
      </p:sp>
      <p:sp>
        <p:nvSpPr>
          <p:cNvPr id="19" name="Text 17"/>
          <p:cNvSpPr txBox="1"/>
          <p:nvPr/>
        </p:nvSpPr>
        <p:spPr>
          <a:xfrm>
            <a:off x="7955280" y="3063240"/>
            <a:ext cx="3429000" cy="2103120"/>
          </a:xfrm>
          <a:prstGeom prst="rect">
            <a:avLst/>
          </a:prstGeom>
          <a:noFill/>
          <a:ln/>
        </p:spPr>
        <p:txBody>
          <a:bodyPr wrap="square" lIns="0" tIns="0" rIns="0" bIns="0" rtlCol="0" anchor="ctr"/>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A response surface is a property of the geometry, whereas climate change acts on the distribution of the forcing.
</a:t>
            </a:r>
            <a:endParaRPr lang="en-US" sz="1150" dirty="0"/>
          </a:p>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The two separate, so the surface is computed once and any later study with synoptic projections may convolve them without repeating the hydrodynamics.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No climate scenario need be run through the model.</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milgħuba floods Msida, at the head of Msida Creek inside Marsamxett, together with Marsaskala, Xemxija, Marsaxlokk and Sliema.</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OPEN QUESTIONS, OBSERVATIONS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Requests on the observational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test of the response surface rests on the dated events, none of which is resolved in the public records.</a:t>
            </a:r>
            <a:endParaRPr lang="en-US" sz="1400" dirty="0"/>
          </a:p>
        </p:txBody>
      </p:sp>
      <p:sp>
        <p:nvSpPr>
          <p:cNvPr id="5" name="Shape 3"/>
          <p:cNvSpPr/>
          <p:nvPr/>
        </p:nvSpPr>
        <p:spPr>
          <a:xfrm>
            <a:off x="566928" y="2377440"/>
            <a:ext cx="402336" cy="402336"/>
          </a:xfrm>
          <a:prstGeom prst="ellipse">
            <a:avLst/>
          </a:prstGeom>
          <a:solidFill>
            <a:srgbClr val="065A82"/>
          </a:solidFill>
          <a:ln/>
        </p:spPr>
      </p:sp>
      <p:sp>
        <p:nvSpPr>
          <p:cNvPr id="6" name="Text 4"/>
          <p:cNvSpPr txBox="1"/>
          <p:nvPr/>
        </p:nvSpPr>
        <p:spPr>
          <a:xfrm>
            <a:off x="566928" y="23774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235000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Sea level from the archive of the group on the dates of the reported events</a:t>
            </a:r>
            <a:endParaRPr lang="en-US" sz="1280" dirty="0"/>
          </a:p>
        </p:txBody>
      </p:sp>
      <p:sp>
        <p:nvSpPr>
          <p:cNvPr id="8" name="Text 6"/>
          <p:cNvSpPr txBox="1"/>
          <p:nvPr/>
        </p:nvSpPr>
        <p:spPr>
          <a:xfrm>
            <a:off x="1133856" y="2834640"/>
            <a:ext cx="4828032" cy="1097280"/>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at 5 s or one minute, for 29 June to 2 July 2022, 30 June to 2 July 2023 and 12 to 14 June 2024. The public copy on the JRC server resolves none of the three.</a:t>
            </a:r>
            <a:endParaRPr lang="en-US" sz="1100" dirty="0"/>
          </a:p>
        </p:txBody>
      </p:sp>
      <p:sp>
        <p:nvSpPr>
          <p:cNvPr id="9" name="Shape 7"/>
          <p:cNvSpPr/>
          <p:nvPr/>
        </p:nvSpPr>
        <p:spPr>
          <a:xfrm>
            <a:off x="6126480" y="2377440"/>
            <a:ext cx="402336" cy="402336"/>
          </a:xfrm>
          <a:prstGeom prst="ellipse">
            <a:avLst/>
          </a:prstGeom>
          <a:solidFill>
            <a:srgbClr val="1C7293"/>
          </a:solidFill>
          <a:ln/>
        </p:spPr>
      </p:sp>
      <p:sp>
        <p:nvSpPr>
          <p:cNvPr id="10" name="Text 8"/>
          <p:cNvSpPr txBox="1"/>
          <p:nvPr/>
        </p:nvSpPr>
        <p:spPr>
          <a:xfrm>
            <a:off x="6126480" y="23774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6693408" y="235000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One-minute atmospheric pressure from the PORTO stations on the same dates</a:t>
            </a:r>
            <a:endParaRPr lang="en-US" sz="1280" dirty="0"/>
          </a:p>
        </p:txBody>
      </p:sp>
      <p:sp>
        <p:nvSpPr>
          <p:cNvPr id="12" name="Text 10"/>
          <p:cNvSpPr txBox="1"/>
          <p:nvPr/>
        </p:nvSpPr>
        <p:spPr>
          <a:xfrm>
            <a:off x="6693408" y="2834640"/>
            <a:ext cx="4828032" cy="1097280"/>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Elmo, Kordin and Msida first. The pressure signature is the disturbance that forces the milgħuba, and its speed and direction are the quantities located on the response surface.</a:t>
            </a:r>
            <a:endParaRPr lang="en-US" sz="1100" dirty="0"/>
          </a:p>
        </p:txBody>
      </p:sp>
      <p:sp>
        <p:nvSpPr>
          <p:cNvPr id="13" name="Shape 11"/>
          <p:cNvSpPr/>
          <p:nvPr/>
        </p:nvSpPr>
        <p:spPr>
          <a:xfrm>
            <a:off x="566928" y="4114800"/>
            <a:ext cx="402336" cy="402336"/>
          </a:xfrm>
          <a:prstGeom prst="ellipse">
            <a:avLst/>
          </a:prstGeom>
          <a:solidFill>
            <a:srgbClr val="065A82"/>
          </a:solidFill>
          <a:ln/>
        </p:spPr>
      </p:sp>
      <p:sp>
        <p:nvSpPr>
          <p:cNvPr id="14" name="Text 12"/>
          <p:cNvSpPr txBox="1"/>
          <p:nvPr/>
        </p:nvSpPr>
        <p:spPr>
          <a:xfrm>
            <a:off x="566928" y="41148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33856" y="408736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a:t>
            </a:r>
            <a:endParaRPr lang="en-US" sz="1280" dirty="0"/>
          </a:p>
        </p:txBody>
      </p:sp>
      <p:sp>
        <p:nvSpPr>
          <p:cNvPr id="16" name="Text 14"/>
          <p:cNvSpPr txBox="1"/>
          <p:nvPr/>
        </p:nvSpPr>
        <p:spPr>
          <a:xfrm>
            <a:off x="1133856" y="4572000"/>
            <a:ext cx="4828032" cy="1097280"/>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two windows admitted to the analysis, the cause of the gaps of 2022 and of the displacement of some 2 m from April 2023, whether the gauge was relocated, and whether the IDSL units on the JRC server are the instruments of the group.</a:t>
            </a:r>
            <a:endParaRPr lang="en-US" sz="1100" dirty="0"/>
          </a:p>
        </p:txBody>
      </p:sp>
      <p:sp>
        <p:nvSpPr>
          <p:cNvPr id="17" name="Shape 15"/>
          <p:cNvSpPr/>
          <p:nvPr/>
        </p:nvSpPr>
        <p:spPr>
          <a:xfrm>
            <a:off x="6126480" y="4114800"/>
            <a:ext cx="402336" cy="402336"/>
          </a:xfrm>
          <a:prstGeom prst="ellipse">
            <a:avLst/>
          </a:prstGeom>
          <a:solidFill>
            <a:srgbClr val="1C7293"/>
          </a:solidFill>
          <a:ln/>
        </p:spPr>
      </p:sp>
      <p:sp>
        <p:nvSpPr>
          <p:cNvPr id="18" name="Text 16"/>
          <p:cNvSpPr txBox="1"/>
          <p:nvPr/>
        </p:nvSpPr>
        <p:spPr>
          <a:xfrm>
            <a:off x="6126480" y="41148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txBox="1"/>
          <p:nvPr/>
        </p:nvSpPr>
        <p:spPr>
          <a:xfrm>
            <a:off x="6693408" y="408736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The Portomaso record at one minute or finer</a:t>
            </a:r>
            <a:endParaRPr lang="en-US" sz="1280" dirty="0"/>
          </a:p>
        </p:txBody>
      </p:sp>
      <p:sp>
        <p:nvSpPr>
          <p:cNvPr id="20" name="Text 18"/>
          <p:cNvSpPr txBox="1"/>
          <p:nvPr/>
        </p:nvSpPr>
        <p:spPr>
          <a:xfrm>
            <a:off x="6693408" y="4572000"/>
            <a:ext cx="4828032" cy="1097280"/>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A gauge outside both basins on the same coast separates the two readings of the 23-minute peak, and extends the event record to the years before the Senglea installation.</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OPEN QUESTIONS, SCOPE AND CONFIGURATION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Questions on scope and configuration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 and the present geometry of the entrance</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Whether the 120 m Ricasoli arm narrows the present opening bears on the computed mode.</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Extent of prior work on the generation of the wave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2007 study imposes the long wave at the offshore boundary. Unpublished material, dissertations and consultancy reports may have treated its generation over the shelf, which the published record does not show.</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Currents, stratification and waves inside and near the harbours</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No instrument reports the current field or the stratification of the inner inlets. Wave validation rests on the BLUE buoy, 3.7 km offshore, the radar wave product being derived rather than measured.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Levelling datum of the bathymetry against the zeros of the tide gauges</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files declare ellipsoidal heights while the data are orthometric. The offset against the gauges used for validation remains to be established.</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Storm Harry, January 2026, as the validation case</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account of the event from the monitoring network of the group would supply the storm case for the validation of the coupled wave and current configuration.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737360" y="3840480"/>
            <a:ext cx="4754880" cy="4754880"/>
          </a:xfrm>
          <a:prstGeom prst="ellipse">
            <a:avLst/>
          </a:prstGeom>
          <a:solidFill>
            <a:srgbClr val="065A82">
              <a:alpha val="40000"/>
            </a:srgbClr>
          </a:solidFill>
          <a:ln/>
        </p:spPr>
      </p:sp>
      <p:sp>
        <p:nvSpPr>
          <p:cNvPr id="3" name="Text 1"/>
          <p:cNvSpPr txBox="1"/>
          <p:nvPr/>
        </p:nvSpPr>
        <p:spPr>
          <a:xfrm>
            <a:off x="566928" y="640080"/>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SEQUENCE</a:t>
            </a:r>
            <a:endParaRPr lang="en-US" sz="1200" dirty="0"/>
          </a:p>
        </p:txBody>
      </p:sp>
      <p:sp>
        <p:nvSpPr>
          <p:cNvPr id="4" name="Text 2"/>
          <p:cNvSpPr txBox="1"/>
          <p:nvPr/>
        </p:nvSpPr>
        <p:spPr>
          <a:xfrm>
            <a:off x="566928" y="96012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Sequence to the first production runs</a:t>
            </a:r>
            <a:endParaRPr lang="en-US" sz="3000" dirty="0"/>
          </a:p>
        </p:txBody>
      </p:sp>
      <p:sp>
        <p:nvSpPr>
          <p:cNvPr id="5" name="Shape 3"/>
          <p:cNvSpPr/>
          <p:nvPr/>
        </p:nvSpPr>
        <p:spPr>
          <a:xfrm>
            <a:off x="612648" y="2057400"/>
            <a:ext cx="155448" cy="155448"/>
          </a:xfrm>
          <a:prstGeom prst="ellipse">
            <a:avLst/>
          </a:prstGeom>
          <a:solidFill>
            <a:srgbClr val="CADCFC"/>
          </a:solidFill>
          <a:ln/>
        </p:spPr>
      </p:sp>
      <p:sp>
        <p:nvSpPr>
          <p:cNvPr id="6" name="Text 4"/>
          <p:cNvSpPr txBox="1"/>
          <p:nvPr/>
        </p:nvSpPr>
        <p:spPr>
          <a:xfrm>
            <a:off x="978408" y="1965960"/>
            <a:ext cx="2011680" cy="30175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Completed</a:t>
            </a:r>
            <a:endParaRPr lang="en-US" sz="1300" dirty="0"/>
          </a:p>
        </p:txBody>
      </p:sp>
      <p:sp>
        <p:nvSpPr>
          <p:cNvPr id="7" name="Text 5"/>
          <p:cNvSpPr txBox="1"/>
          <p:nvPr/>
        </p:nvSpPr>
        <p:spPr>
          <a:xfrm>
            <a:off x="3035808" y="1965960"/>
            <a:ext cx="3657600" cy="731520"/>
          </a:xfrm>
          <a:prstGeom prst="rect">
            <a:avLst/>
          </a:prstGeom>
          <a:noFill/>
          <a:ln/>
        </p:spPr>
        <p:txBody>
          <a:bodyPr wrap="square" lIns="0" tIns="0" rIns="0" bIns="0" rtlCol="0" anchor="t"/>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Basin modes, pulse test of the boundary, Senglea spectrum, mesh of the domain.</a:t>
            </a:r>
            <a:endParaRPr lang="en-US" sz="1200" dirty="0"/>
          </a:p>
        </p:txBody>
      </p:sp>
      <p:sp>
        <p:nvSpPr>
          <p:cNvPr id="8" name="Shape 6"/>
          <p:cNvSpPr/>
          <p:nvPr/>
        </p:nvSpPr>
        <p:spPr>
          <a:xfrm>
            <a:off x="612648" y="2898648"/>
            <a:ext cx="155448" cy="155448"/>
          </a:xfrm>
          <a:prstGeom prst="ellipse">
            <a:avLst/>
          </a:prstGeom>
          <a:solidFill>
            <a:srgbClr val="CADCFC"/>
          </a:solidFill>
          <a:ln/>
        </p:spPr>
      </p:sp>
      <p:sp>
        <p:nvSpPr>
          <p:cNvPr id="9" name="Text 7"/>
          <p:cNvSpPr txBox="1"/>
          <p:nvPr/>
        </p:nvSpPr>
        <p:spPr>
          <a:xfrm>
            <a:off x="978408" y="2807208"/>
            <a:ext cx="2011680" cy="30175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0" name="Text 8"/>
          <p:cNvSpPr txBox="1"/>
          <p:nvPr/>
        </p:nvSpPr>
        <p:spPr>
          <a:xfrm>
            <a:off x="3035808" y="2807208"/>
            <a:ext cx="3657600" cy="731520"/>
          </a:xfrm>
          <a:prstGeom prst="rect">
            <a:avLst/>
          </a:prstGeom>
          <a:noFill/>
          <a:ln/>
        </p:spPr>
        <p:txBody>
          <a:bodyPr wrap="square" lIns="0" tIns="0" rIns="0" bIns="0" rtlCol="0" anchor="t"/>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Bathymetry at the heads of Msida and Pietà Creeks, remaining boundary tests, response of the mesh to a broadband impulse.</a:t>
            </a:r>
            <a:endParaRPr lang="en-US" sz="1200" dirty="0"/>
          </a:p>
        </p:txBody>
      </p:sp>
      <p:sp>
        <p:nvSpPr>
          <p:cNvPr id="11" name="Shape 9"/>
          <p:cNvSpPr/>
          <p:nvPr/>
        </p:nvSpPr>
        <p:spPr>
          <a:xfrm>
            <a:off x="612648" y="3739896"/>
            <a:ext cx="155448" cy="155448"/>
          </a:xfrm>
          <a:prstGeom prst="ellipse">
            <a:avLst/>
          </a:prstGeom>
          <a:solidFill>
            <a:srgbClr val="EB6834"/>
          </a:solidFill>
          <a:ln/>
        </p:spPr>
      </p:sp>
      <p:sp>
        <p:nvSpPr>
          <p:cNvPr id="12" name="Text 10"/>
          <p:cNvSpPr txBox="1"/>
          <p:nvPr/>
        </p:nvSpPr>
        <p:spPr>
          <a:xfrm>
            <a:off x="978408" y="3648456"/>
            <a:ext cx="2011680" cy="301752"/>
          </a:xfrm>
          <a:prstGeom prst="rect">
            <a:avLst/>
          </a:prstGeom>
          <a:noFill/>
          <a:ln/>
        </p:spPr>
        <p:txBody>
          <a:bodyPr wrap="square" lIns="0" tIns="0" rIns="0" bIns="0" rtlCol="0" anchor="t"/>
          <a:lstStyle/>
          <a:p>
            <a:pPr indent="0" marL="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3" name="Text 11"/>
          <p:cNvSpPr txBox="1"/>
          <p:nvPr/>
        </p:nvSpPr>
        <p:spPr>
          <a:xfrm>
            <a:off x="3035808" y="3648456"/>
            <a:ext cx="3657600" cy="731520"/>
          </a:xfrm>
          <a:prstGeom prst="rect">
            <a:avLst/>
          </a:prstGeom>
          <a:noFill/>
          <a:ln/>
        </p:spPr>
        <p:txBody>
          <a:bodyPr wrap="square" lIns="0" tIns="0" rIns="0" bIns="0" rtlCol="0" anchor="t"/>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Delft3D User Days abstract.</a:t>
            </a:r>
            <a:endParaRPr lang="en-US" sz="1200" dirty="0"/>
          </a:p>
        </p:txBody>
      </p:sp>
      <p:sp>
        <p:nvSpPr>
          <p:cNvPr id="14" name="Shape 12"/>
          <p:cNvSpPr/>
          <p:nvPr/>
        </p:nvSpPr>
        <p:spPr>
          <a:xfrm>
            <a:off x="612648" y="4581144"/>
            <a:ext cx="155448" cy="155448"/>
          </a:xfrm>
          <a:prstGeom prst="ellipse">
            <a:avLst/>
          </a:prstGeom>
          <a:solidFill>
            <a:srgbClr val="CADCFC"/>
          </a:solidFill>
          <a:ln/>
        </p:spPr>
      </p:sp>
      <p:sp>
        <p:nvSpPr>
          <p:cNvPr id="15" name="Text 13"/>
          <p:cNvSpPr txBox="1"/>
          <p:nvPr/>
        </p:nvSpPr>
        <p:spPr>
          <a:xfrm>
            <a:off x="978408" y="4489704"/>
            <a:ext cx="2011680" cy="30175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6" name="Text 14"/>
          <p:cNvSpPr txBox="1"/>
          <p:nvPr/>
        </p:nvSpPr>
        <p:spPr>
          <a:xfrm>
            <a:off x="3035808" y="4489704"/>
            <a:ext cx="3657600" cy="731520"/>
          </a:xfrm>
          <a:prstGeom prst="rect">
            <a:avLst/>
          </a:prstGeom>
          <a:noFill/>
          <a:ln/>
        </p:spPr>
        <p:txBody>
          <a:bodyPr wrap="square" lIns="0" tIns="0" rIns="0" bIns="0" rtlCol="0" anchor="t"/>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Delft3D User Days at Deltares, with the configuration questions.</a:t>
            </a:r>
            <a:endParaRPr lang="en-US" sz="1200" dirty="0"/>
          </a:p>
        </p:txBody>
      </p:sp>
      <p:sp>
        <p:nvSpPr>
          <p:cNvPr id="17" name="Shape 15"/>
          <p:cNvSpPr/>
          <p:nvPr/>
        </p:nvSpPr>
        <p:spPr>
          <a:xfrm>
            <a:off x="612648" y="5422392"/>
            <a:ext cx="155448" cy="155448"/>
          </a:xfrm>
          <a:prstGeom prst="ellipse">
            <a:avLst/>
          </a:prstGeom>
          <a:solidFill>
            <a:srgbClr val="CADCFC"/>
          </a:solidFill>
          <a:ln/>
        </p:spPr>
      </p:sp>
      <p:sp>
        <p:nvSpPr>
          <p:cNvPr id="18" name="Text 16"/>
          <p:cNvSpPr txBox="1"/>
          <p:nvPr/>
        </p:nvSpPr>
        <p:spPr>
          <a:xfrm>
            <a:off x="978408" y="5330952"/>
            <a:ext cx="2011680" cy="30175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19" name="Text 17"/>
          <p:cNvSpPr txBox="1"/>
          <p:nvPr/>
        </p:nvSpPr>
        <p:spPr>
          <a:xfrm>
            <a:off x="3035808" y="5330952"/>
            <a:ext cx="3657600" cy="731520"/>
          </a:xfrm>
          <a:prstGeom prst="rect">
            <a:avLst/>
          </a:prstGeom>
          <a:noFill/>
          <a:ln/>
        </p:spPr>
        <p:txBody>
          <a:bodyPr wrap="square" lIns="0" tIns="0" rIns="0" bIns="0" rtlCol="0" anchor="t"/>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Parametric sweep in two dimensions, first three-dimensional runs.</a:t>
            </a:r>
            <a:endParaRPr lang="en-US" sz="1200" dirty="0"/>
          </a:p>
        </p:txBody>
      </p:sp>
      <p:sp>
        <p:nvSpPr>
          <p:cNvPr id="20" name="Shape 18"/>
          <p:cNvSpPr/>
          <p:nvPr/>
        </p:nvSpPr>
        <p:spPr>
          <a:xfrm>
            <a:off x="6858000" y="1965960"/>
            <a:ext cx="4764024" cy="3108960"/>
          </a:xfrm>
          <a:prstGeom prst="roundRect">
            <a:avLst>
              <a:gd name="adj" fmla="val 1765"/>
            </a:avLst>
          </a:prstGeom>
          <a:solidFill>
            <a:srgbClr val="065A82">
              <a:alpha val="70000"/>
            </a:srgbClr>
          </a:solidFill>
          <a:ln/>
        </p:spPr>
      </p:sp>
      <p:sp>
        <p:nvSpPr>
          <p:cNvPr id="21" name="Text 19"/>
          <p:cNvSpPr txBox="1"/>
          <p:nvPr/>
        </p:nvSpPr>
        <p:spPr>
          <a:xfrm>
            <a:off x="7132320" y="2176272"/>
            <a:ext cx="42062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2" name="Text 20"/>
          <p:cNvSpPr txBox="1"/>
          <p:nvPr/>
        </p:nvSpPr>
        <p:spPr>
          <a:xfrm>
            <a:off x="7132320" y="2542032"/>
            <a:ext cx="4206240" cy="2286000"/>
          </a:xfrm>
          <a:prstGeom prst="rect">
            <a:avLst/>
          </a:prstGeom>
          <a:noFill/>
          <a:ln/>
        </p:spPr>
        <p:txBody>
          <a:bodyPr wrap="square" lIns="0" tIns="0" rIns="0" bIns="0" rtlCol="0" anchor="ctr"/>
          <a:lstStyle/>
          <a:p>
            <a:pPr indent="0" marL="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
</a:t>
            </a:r>
            <a:endParaRPr lang="en-US" sz="1150" dirty="0"/>
          </a:p>
          <a:p>
            <a:pPr indent="0" marL="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A Valletta configuration would take the same route, so the deliverable is a running pilot rather than a set of figures.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This corresponds to the relocatable setup requested in the design report of the group.</a:t>
            </a:r>
            <a:endParaRPr lang="en-US" sz="1150" dirty="0"/>
          </a:p>
        </p:txBody>
      </p:sp>
      <p:sp>
        <p:nvSpPr>
          <p:cNvPr id="23" name="Text 21"/>
          <p:cNvSpPr txBox="1"/>
          <p:nvPr/>
        </p:nvSpPr>
        <p:spPr>
          <a:xfrm>
            <a:off x="566928" y="6199632"/>
            <a:ext cx="5852160" cy="274320"/>
          </a:xfrm>
          <a:prstGeom prst="rect">
            <a:avLst/>
          </a:prstGeom>
          <a:noFill/>
          <a:ln/>
        </p:spPr>
        <p:txBody>
          <a:bodyPr wrap="square" lIns="0" tIns="0" rIns="0" bIns="0" rtlCol="0" anchor="ctr"/>
          <a:lstStyle/>
          <a:p>
            <a:pPr indent="0" marL="0">
              <a:buNone/>
            </a:pPr>
            <a:r>
              <a:rPr lang="en-US" sz="1100" i="1" dirty="0">
                <a:solidFill>
                  <a:srgbClr val="7F93B3"/>
                </a:solidFill>
                <a:latin typeface="Calibri" pitchFamily="34" charset="0"/>
                <a:ea typeface="Calibri" pitchFamily="34" charset="-122"/>
                <a:cs typeface="Calibri" pitchFamily="34" charset="-120"/>
              </a:rPr>
              <a:t>Documents, figures and the reproducible analysis are in the project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 first results and open questions</dc:title>
  <dc:subject>PptxGenJS Presentation</dc:subject>
  <dc:creator>Cicero Martins Jr</dc:creator>
  <cp:lastModifiedBy>Cicero Martins Jr</cp:lastModifiedBy>
  <cp:revision>1</cp:revision>
  <dcterms:created xsi:type="dcterms:W3CDTF">2026-10-08T08:34:28Z</dcterms:created>
  <dcterms:modified xsi:type="dcterms:W3CDTF">2026-10-08T08:34:28Z</dcterms:modified>
</cp:coreProperties>
</file>