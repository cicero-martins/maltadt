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1914" y="11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280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concept, the results obtained on the geometry, the open boundary, the Senglea record and the mesh, and the matters on which the continuation depends.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contribution is framework reusability, and Valletta constitutes the harder test.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 m grids are the contribution of the group to EMODnet. The public product gives the inlets one to three cells.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three-stage chain organises the study and determines the domain.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follows from this table. The harbour rows come from the eigenvalue calculation of the following slide and are tested against the Senglea record on the slide after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quarter-wave resonator is the limit of this equation for a uniform channel and the Helmholtz resonator its limit for a narrow neck ahead of a wide basin, so the geometry selects between the two idealisations. The solver returns the quarter-wave period of a uniform channel to within 0.5 per cent. The supplied coastline carries the St Elmo breakwater as a detached polygon and does not carry the Ricasoli arm as a separate feature, so the opening measures some 400 m. A narrower real opening would create the neck the supplied geometry lacks. The estimate remains first-order until the modes are extracted from the mesh.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Panels, from the upper left. The mean spectrum with its background, the milgħuba band shaded grey and the estimated basin band shaded blue. The ratio of the spectrum to the background, in which the four peaks stand out. The largest oscillation of the admitted windows, 8 November 2021, with a range of 0.35 m at the 23-minute period. The amplitude ratio against the gauges outside the harbour. The four peaks are present on practically every day of both windows, independently of the forcing, and are therefore properties of the geometry. The ratio against Marsaxlokk compares two coastal sites and is not a transfer function from the open sea.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University of Malta Newspoint for 2018 and 2019, Newsbook for 2022, MaltaToday for 2023 and 2024, the last citing the Oceanography Malta Research Group. Upward radar echoes from vessels, rain and spray are removed by the lower envelope of the 5 s samples, and episodes of reference offset of 1.3 to 2.1 m are removed before the spectrum is computed. The choice of windows is to be confirmed within the group. The displaced level is compatible with the radar ranging to a vessel or pontoon beneath it, which is a conjecture.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B, roughly 86 by 66 km, east to 15 degrees, short of the escarpment. Stopping there is also what keeps sigma layers defensible.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for Deltares concerns whether sigma holds from 15 m to 150 m, or whether a z-sigma hybrid is indicated. The wave nest was sized from the width of the harbour entrances and landed within a quarter of the resolution already in use on this coast, which is an independent check on the choice.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panel shows the face size over the domain and the right panel the two harbours, with the 15 m cells in the channels narrower than 150 m. Coastal zones of 1 km and 5 km cost 37 per cent less than zones of 2 km and 15 km, with the time step and the harbour response unchanged, since the time step is set by the 15 m cells alone. Refinement carried out directly in degrees yields transitions that FM rejects as not orthogonal, which is why the mesh is built in UTM. Open matters are one edge at 0.553 in the meshkernel orthogonality measure, 1,050 shore faces with a bed at or above zero, and the gaps of the 10 m grid at the heads of Msida and Pietà Creeks.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Panels, from the upper left. The record in the channel, where the prescribed level returns the pulse inverted and almost undiminished while the Riemann record follows the reference. A boundary cell of the square basin at 22.5 degrees. The reflection coefficient against incidence angle, with first-order theory dashed. The volume retained in the basin, which the prescribed level holds as a trapped mode. The reflected wave is the difference between each case and the reference, so incident and reflected waves need not be separated in time. The Riemann condition assumes a plane wave at normal incidence over a fluid at rest, which is why the four production cases remain to be tested. Laksono et al. (2026) apply the same boundary over the Sicilian Channel for the same reason.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relocatability requirement of the design report corresponds to the framework-transfer argument of the thesis, and the porting log is the evidence for it. The study complements the operational system in a band and at a resolution the forecasting configuration is not designed for.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is a proposal. Whether work on the generation side is already planned within the group, and how the effort would then be divided, is to be discussed directly. The applied companion is a map of exposure by inlet and quay, and the renewal question has independent standing under the Water Framework Directive.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is a response curve over the class of basin. The exact geometry of any proposed structure is neither needed nor used, and the exercise carries no assessment of the project now in consultation. Whether to pursue it is among the open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speeds by eight directions by two widths, twelve hours each, barotropic and uncoupled, with a second evaluation over a modified mouth, amount to 96 simulated days and some 16 hours of serial computation. The dated events of 2019, 2022, 2023 and 2024 are the cases for the test, which is why the one-minute pressure records on those dates head the requests of the following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determine whether the response surface can be tested against events at all. Sources for the events of 2022 and 2023 are press reports only, and a statement or record of the group would replace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Numbering continues from the preceding slide. Damage inside the port is documented for the wind-wave storms of February 2019 and February 2023. Disruption attributable to long waves specifically, held by Transport Malta and the terminals, remains open and may be raised under the second item.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broadband impulse yields the modal structure of the harbours on the mesh, which decides between the two readings of the 23-minute peak. The remaining boundary tests are the residual current and the non-zero incoming signal from CMEMS. The block of 27 October to 21 November loses four working days to Delft and holds fifteen rather than nineteen. The EDITO deployment is conditional on the configuration proving stable in time, and it belongs to the last block of the period alongside the integration into the ocean.mt portal.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5D452BF-98F1-D2B1-1278-01A9ACEBAB98}"/>
              </a:ext>
            </a:extLst>
          </p:cNvPr>
          <p:cNvPicPr>
            <a:picLocks noChangeAspect="1"/>
          </p:cNvPicPr>
          <p:nvPr/>
        </p:nvPicPr>
        <p:blipFill>
          <a:blip r:embed="rId3">
            <a:duotone>
              <a:prstClr val="black"/>
              <a:schemeClr val="accent1">
                <a:tint val="45000"/>
                <a:satMod val="400000"/>
              </a:schemeClr>
            </a:duotone>
          </a:blip>
          <a:srcRect t="25333"/>
          <a:stretch>
            <a:fillRect/>
          </a:stretch>
        </p:blipFill>
        <p:spPr>
          <a:xfrm>
            <a:off x="0" y="0"/>
            <a:ext cx="12242447" cy="6858000"/>
          </a:xfrm>
          <a:prstGeom prst="rect">
            <a:avLst/>
          </a:prstGeom>
        </p:spPr>
      </p:pic>
      <p:sp>
        <p:nvSpPr>
          <p:cNvPr id="2" name="Shape 0"/>
          <p:cNvSpPr/>
          <p:nvPr/>
        </p:nvSpPr>
        <p:spPr>
          <a:xfrm>
            <a:off x="8503920" y="-1280160"/>
            <a:ext cx="5120640" cy="5120640"/>
          </a:xfrm>
          <a:prstGeom prst="ellipse">
            <a:avLst/>
          </a:prstGeom>
          <a:solidFill>
            <a:srgbClr val="065A82">
              <a:alpha val="45000"/>
            </a:srgbClr>
          </a:solidFill>
          <a:ln/>
        </p:spPr>
        <p:txBody>
          <a:bodyPr/>
          <a:lstStyle/>
          <a:p>
            <a:endParaRPr lang="it-IT"/>
          </a:p>
        </p:txBody>
      </p:sp>
      <p:sp>
        <p:nvSpPr>
          <p:cNvPr id="3" name="Shape 1"/>
          <p:cNvSpPr/>
          <p:nvPr/>
        </p:nvSpPr>
        <p:spPr>
          <a:xfrm>
            <a:off x="10058400" y="3108960"/>
            <a:ext cx="2377440" cy="2377440"/>
          </a:xfrm>
          <a:prstGeom prst="ellipse">
            <a:avLst/>
          </a:prstGeom>
          <a:solidFill>
            <a:srgbClr val="EB6834">
              <a:alpha val="30000"/>
            </a:srgbClr>
          </a:solidFill>
          <a:ln/>
        </p:spPr>
        <p:txBody>
          <a:bodyPr/>
          <a:lstStyle/>
          <a:p>
            <a:endParaRPr lang="it-IT"/>
          </a:p>
        </p:txBody>
      </p:sp>
      <p:sp>
        <p:nvSpPr>
          <p:cNvPr id="5" name="Text 3"/>
          <p:cNvSpPr txBox="1"/>
          <p:nvPr/>
        </p:nvSpPr>
        <p:spPr>
          <a:xfrm>
            <a:off x="543384" y="896112"/>
            <a:ext cx="7863840" cy="86868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The Valletta harbour system</a:t>
            </a:r>
            <a:endParaRPr lang="en-US" sz="4000" dirty="0"/>
          </a:p>
        </p:txBody>
      </p:sp>
      <p:sp>
        <p:nvSpPr>
          <p:cNvPr id="6" name="Text 4"/>
          <p:cNvSpPr txBox="1"/>
          <p:nvPr/>
        </p:nvSpPr>
        <p:spPr>
          <a:xfrm>
            <a:off x="543384" y="1609344"/>
            <a:ext cx="7863840" cy="457200"/>
          </a:xfrm>
          <a:prstGeom prst="rect">
            <a:avLst/>
          </a:prstGeom>
          <a:noFill/>
          <a:ln/>
        </p:spPr>
        <p:txBody>
          <a:bodyPr wrap="square" lIns="0" tIns="0" rIns="0" bIns="0" rtlCol="0" anchor="ctr"/>
          <a:lstStyle/>
          <a:p>
            <a:pPr marL="0" indent="0">
              <a:buNone/>
            </a:pPr>
            <a:r>
              <a:rPr lang="en-US" sz="1900" dirty="0">
                <a:solidFill>
                  <a:srgbClr val="CADCFC"/>
                </a:solidFill>
                <a:latin typeface="Calibri" pitchFamily="34" charset="0"/>
                <a:ea typeface="Calibri" pitchFamily="34" charset="-122"/>
                <a:cs typeface="Calibri" pitchFamily="34" charset="-120"/>
              </a:rPr>
              <a:t>Model concept, first results and open questions</a:t>
            </a:r>
            <a:endParaRPr lang="en-US" sz="1900" dirty="0"/>
          </a:p>
        </p:txBody>
      </p:sp>
      <p:sp>
        <p:nvSpPr>
          <p:cNvPr id="7" name="Text 5"/>
          <p:cNvSpPr txBox="1"/>
          <p:nvPr/>
        </p:nvSpPr>
        <p:spPr>
          <a:xfrm>
            <a:off x="640080" y="5244084"/>
            <a:ext cx="786384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Cicero Martins Jr</a:t>
            </a:r>
            <a:r>
              <a:rPr lang="en-US" sz="1300" dirty="0">
                <a:solidFill>
                  <a:srgbClr val="9FB3D1"/>
                </a:solidFill>
                <a:latin typeface="Calibri" pitchFamily="34" charset="0"/>
                <a:ea typeface="Calibri" pitchFamily="34" charset="-122"/>
                <a:cs typeface="Calibri" pitchFamily="34" charset="-120"/>
              </a:rPr>
              <a:t>   Università degli Studi di Palermo</a:t>
            </a:r>
            <a:endParaRPr lang="en-US" sz="1300" dirty="0"/>
          </a:p>
        </p:txBody>
      </p:sp>
      <p:sp>
        <p:nvSpPr>
          <p:cNvPr id="8" name="Text 6"/>
          <p:cNvSpPr txBox="1"/>
          <p:nvPr/>
        </p:nvSpPr>
        <p:spPr>
          <a:xfrm>
            <a:off x="640080" y="5545836"/>
            <a:ext cx="7863840" cy="274320"/>
          </a:xfrm>
          <a:prstGeom prst="rect">
            <a:avLst/>
          </a:prstGeom>
          <a:noFill/>
          <a:ln/>
        </p:spPr>
        <p:txBody>
          <a:bodyPr wrap="square" lIns="0" tIns="0" rIns="0" bIns="0" rtlCol="0" anchor="ctr"/>
          <a:lstStyle/>
          <a:p>
            <a:pPr marL="0" indent="0">
              <a:buNone/>
            </a:pPr>
            <a:r>
              <a:rPr lang="en-US" sz="1200" dirty="0">
                <a:solidFill>
                  <a:srgbClr val="9FB3D1"/>
                </a:solidFill>
                <a:latin typeface="Calibri" pitchFamily="34" charset="0"/>
                <a:ea typeface="Calibri" pitchFamily="34" charset="-122"/>
                <a:cs typeface="Calibri" pitchFamily="34" charset="-120"/>
              </a:rPr>
              <a:t>Visiting researcher, Oceanography Malta Research Group, University of Malta</a:t>
            </a:r>
            <a:endParaRPr lang="en-US" sz="1200" dirty="0"/>
          </a:p>
        </p:txBody>
      </p:sp>
      <p:sp>
        <p:nvSpPr>
          <p:cNvPr id="9" name="Text 7"/>
          <p:cNvSpPr txBox="1"/>
          <p:nvPr/>
        </p:nvSpPr>
        <p:spPr>
          <a:xfrm>
            <a:off x="640080" y="5856732"/>
            <a:ext cx="7863840" cy="274320"/>
          </a:xfrm>
          <a:prstGeom prst="rect">
            <a:avLst/>
          </a:prstGeom>
          <a:noFill/>
          <a:ln/>
        </p:spPr>
        <p:txBody>
          <a:bodyPr wrap="square" lIns="0" tIns="0" rIns="0" bIns="0" rtlCol="0" anchor="ctr"/>
          <a:lstStyle/>
          <a:p>
            <a:pPr marL="0" indent="0">
              <a:buNone/>
            </a:pPr>
            <a:r>
              <a:rPr lang="en-US" sz="1200" dirty="0">
                <a:solidFill>
                  <a:srgbClr val="9FB3D1"/>
                </a:solidFill>
                <a:latin typeface="Calibri" pitchFamily="34" charset="0"/>
                <a:ea typeface="Calibri" pitchFamily="34" charset="-122"/>
                <a:cs typeface="Calibri" pitchFamily="34" charset="-120"/>
              </a:rPr>
              <a:t>8 October 2026</a:t>
            </a:r>
            <a:endParaRPr lang="en-US" sz="1200" dirty="0"/>
          </a:p>
        </p:txBody>
      </p:sp>
      <p:pic>
        <p:nvPicPr>
          <p:cNvPr id="15" name="Picture 14">
            <a:extLst>
              <a:ext uri="{FF2B5EF4-FFF2-40B4-BE49-F238E27FC236}">
                <a16:creationId xmlns:a16="http://schemas.microsoft.com/office/drawing/2014/main" id="{D10377BC-A5F7-014E-C646-AF837566B665}"/>
              </a:ext>
            </a:extLst>
          </p:cNvPr>
          <p:cNvPicPr>
            <a:picLocks noChangeAspect="1"/>
          </p:cNvPicPr>
          <p:nvPr/>
        </p:nvPicPr>
        <p:blipFill>
          <a:blip r:embed="rId4">
            <a:duotone>
              <a:schemeClr val="accent5">
                <a:shade val="45000"/>
                <a:satMod val="135000"/>
              </a:schemeClr>
              <a:prstClr val="white"/>
            </a:duotone>
          </a:blip>
          <a:srcRect/>
          <a:stretch>
            <a:fillRect/>
          </a:stretch>
        </p:blipFill>
        <p:spPr>
          <a:xfrm>
            <a:off x="7685285" y="5784622"/>
            <a:ext cx="1925665" cy="640080"/>
          </a:xfrm>
          <a:prstGeom prst="rect">
            <a:avLst/>
          </a:prstGeom>
        </p:spPr>
      </p:pic>
      <p:pic>
        <p:nvPicPr>
          <p:cNvPr id="17" name="Picture 16">
            <a:extLst>
              <a:ext uri="{FF2B5EF4-FFF2-40B4-BE49-F238E27FC236}">
                <a16:creationId xmlns:a16="http://schemas.microsoft.com/office/drawing/2014/main" id="{845C1843-FD29-2BD6-C731-6C4C006CFE7A}"/>
              </a:ext>
            </a:extLst>
          </p:cNvPr>
          <p:cNvPicPr>
            <a:picLocks noChangeAspect="1"/>
          </p:cNvPicPr>
          <p:nvPr/>
        </p:nvPicPr>
        <p:blipFill>
          <a:blip r:embed="rId5">
            <a:duotone>
              <a:schemeClr val="accent5">
                <a:shade val="45000"/>
                <a:satMod val="135000"/>
              </a:schemeClr>
              <a:prstClr val="white"/>
            </a:duotone>
          </a:blip>
          <a:stretch>
            <a:fillRect/>
          </a:stretch>
        </p:blipFill>
        <p:spPr>
          <a:xfrm>
            <a:off x="8841638" y="5545836"/>
            <a:ext cx="3594202" cy="1103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ORIGIN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A framework carried across archetype</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The solver and the assembly are unchanged, while the governing physics differs.</a:t>
            </a:r>
            <a:endParaRPr lang="en-US" sz="1400" dirty="0"/>
          </a:p>
        </p:txBody>
      </p:sp>
      <p:sp>
        <p:nvSpPr>
          <p:cNvPr id="5" name="Text 3"/>
          <p:cNvSpPr txBox="1"/>
          <p:nvPr/>
        </p:nvSpPr>
        <p:spPr>
          <a:xfrm>
            <a:off x="566928" y="2057400"/>
            <a:ext cx="5212080" cy="2743200"/>
          </a:xfrm>
          <a:prstGeom prst="rect">
            <a:avLst/>
          </a:prstGeom>
          <a:noFill/>
          <a:ln/>
        </p:spPr>
        <p:txBody>
          <a:bodyPr wrap="square" lIns="0" tIns="0" rIns="0" bIns="0" rtlCol="0" anchor="ctr"/>
          <a:lstStyle/>
          <a:p>
            <a:pPr marL="0" indent="0">
              <a:lnSpc>
                <a:spcPts val="2200"/>
              </a:lnSpc>
              <a:spcAft>
                <a:spcPts val="1000"/>
              </a:spcAft>
              <a:buNone/>
            </a:pPr>
            <a:r>
              <a:rPr lang="en-US" sz="1450" dirty="0">
                <a:solidFill>
                  <a:srgbClr val="1A1A1A"/>
                </a:solidFill>
                <a:latin typeface="Calibri" pitchFamily="34" charset="0"/>
                <a:ea typeface="Calibri" pitchFamily="34" charset="-122"/>
                <a:cs typeface="Calibri" pitchFamily="34" charset="-120"/>
              </a:rPr>
              <a:t>The framework originates in the Stagnone di Marsala digital twin, a coupled Delft3D FM and SWAN model of a shallow vegetated lagoon in western Sicily.</a:t>
            </a:r>
            <a:endParaRPr lang="en-US" sz="1450" dirty="0"/>
          </a:p>
          <a:p>
            <a:pPr marL="0" indent="0">
              <a:lnSpc>
                <a:spcPts val="2200"/>
              </a:lnSpc>
              <a:spcAft>
                <a:spcPts val="1000"/>
              </a:spcAft>
              <a:buNone/>
            </a:pPr>
            <a:r>
              <a:rPr lang="en-US" sz="1450" dirty="0">
                <a:solidFill>
                  <a:srgbClr val="1A1A1A"/>
                </a:solidFill>
                <a:latin typeface="Calibri" pitchFamily="34" charset="0"/>
                <a:ea typeface="Calibri" pitchFamily="34" charset="-122"/>
                <a:cs typeface="Calibri" pitchFamily="34" charset="-120"/>
              </a:rPr>
              <a:t>A transfer to a second lagoon would remain within a single archetype and would test little. A transfer to a deep engineered harbour tests whether the pipeline is reusable or was fitted to one site.</a:t>
            </a:r>
            <a:endParaRPr lang="en-US" sz="1450" dirty="0"/>
          </a:p>
          <a:p>
            <a:pPr marL="0" indent="0">
              <a:lnSpc>
                <a:spcPts val="2200"/>
              </a:lnSpc>
              <a:buNone/>
            </a:pPr>
            <a:r>
              <a:rPr lang="en-US" sz="1450" dirty="0">
                <a:solidFill>
                  <a:srgbClr val="1A1A1A"/>
                </a:solidFill>
                <a:latin typeface="Calibri" pitchFamily="34" charset="0"/>
                <a:ea typeface="Calibri" pitchFamily="34" charset="-122"/>
                <a:cs typeface="Calibri" pitchFamily="34" charset="-120"/>
              </a:rPr>
              <a:t>The stages that transfer constitute the reuse. Those that do not mark where the generality of the framework ends, and they are recorded as such.</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263640" y="2057400"/>
          <a:ext cx="5358384" cy="2103120"/>
        </p:xfrm>
        <a:graphic>
          <a:graphicData uri="http://schemas.openxmlformats.org/drawingml/2006/table">
            <a:tbl>
              <a:tblPr/>
              <a:tblGrid>
                <a:gridCol w="1700784">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20624">
                <a:tc>
                  <a:txBody>
                    <a:bodyPr/>
                    <a:lstStyle/>
                    <a:p>
                      <a:pPr marL="0" indent="0">
                        <a:buNone/>
                      </a:pP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065A82"/>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Stagnone</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065A82"/>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Valletta</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20624">
                <a:tc>
                  <a:txBody>
                    <a:bodyPr/>
                    <a:lstStyle/>
                    <a:p>
                      <a:pPr marL="0" indent="0">
                        <a:buNone/>
                      </a:pPr>
                      <a:r>
                        <a:rPr lang="en-US" sz="1250" b="1" dirty="0">
                          <a:solidFill>
                            <a:srgbClr val="1A1A1A"/>
                          </a:solidFill>
                          <a:latin typeface="Calibri" pitchFamily="34" charset="0"/>
                          <a:ea typeface="Calibri" pitchFamily="34" charset="-122"/>
                          <a:cs typeface="Calibri" pitchFamily="34" charset="-120"/>
                        </a:rPr>
                        <a:t>Depth</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sub-metre</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12 to 20 m</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250" b="1" dirty="0">
                          <a:solidFill>
                            <a:srgbClr val="1A1A1A"/>
                          </a:solidFill>
                          <a:latin typeface="Calibri" pitchFamily="34" charset="0"/>
                          <a:ea typeface="Calibri" pitchFamily="34" charset="-122"/>
                          <a:cs typeface="Calibri" pitchFamily="34" charset="-120"/>
                        </a:rPr>
                        <a:t>Bed</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seagrass canopy</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engineered, quay walls</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420624">
                <a:tc>
                  <a:txBody>
                    <a:bodyPr/>
                    <a:lstStyle/>
                    <a:p>
                      <a:pPr marL="0" indent="0">
                        <a:buNone/>
                      </a:pPr>
                      <a:r>
                        <a:rPr lang="en-US" sz="1250" b="1" dirty="0">
                          <a:solidFill>
                            <a:srgbClr val="1A1A1A"/>
                          </a:solidFill>
                          <a:latin typeface="Calibri" pitchFamily="34" charset="0"/>
                          <a:ea typeface="Calibri" pitchFamily="34" charset="-122"/>
                          <a:cs typeface="Calibri" pitchFamily="34" charset="-120"/>
                        </a:rPr>
                        <a:t>Boundary signal</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tide</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long wave, atmospheric</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250" b="1" dirty="0">
                          <a:solidFill>
                            <a:srgbClr val="1A1A1A"/>
                          </a:solidFill>
                          <a:latin typeface="Calibri" pitchFamily="34" charset="0"/>
                          <a:ea typeface="Calibri" pitchFamily="34" charset="-122"/>
                          <a:cs typeface="Calibri" pitchFamily="34" charset="-120"/>
                        </a:rPr>
                        <a:t>Circulation driver</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wind</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the same long wave</a:t>
                      </a:r>
                      <a:endParaRPr lang="en-US" sz="1250" dirty="0">
                        <a:latin typeface="Calibri" charset="0"/>
                        <a:ea typeface="Calibri" charset="0"/>
                        <a:cs typeface="Calibri" charset="0"/>
                      </a:endParaRPr>
                    </a:p>
                  </a:txBody>
                  <a:tcPr anchor="ctr">
                    <a:lnL w="6350" cap="flat" cmpd="sng" algn="ctr">
                      <a:solidFill>
                        <a:srgbClr val="D6DEE3"/>
                      </a:solidFill>
                      <a:prstDash val="solid"/>
                      <a:round/>
                      <a:headEnd type="none" w="med" len="med"/>
                      <a:tailEnd type="none" w="med" len="med"/>
                    </a:lnL>
                    <a:lnR w="6350" cap="flat" cmpd="sng" algn="ctr">
                      <a:solidFill>
                        <a:srgbClr val="D6DEE3"/>
                      </a:solidFill>
                      <a:prstDash val="solid"/>
                      <a:round/>
                      <a:headEnd type="none" w="med" len="med"/>
                      <a:tailEnd type="none" w="med" len="med"/>
                    </a:lnR>
                    <a:lnT w="6350" cap="flat" cmpd="sng" algn="ctr">
                      <a:solidFill>
                        <a:srgbClr val="D6DEE3"/>
                      </a:solidFill>
                      <a:prstDash val="solid"/>
                      <a:round/>
                      <a:headEnd type="none" w="med" len="med"/>
                      <a:tailEnd type="none" w="med" len="med"/>
                    </a:lnT>
                    <a:lnB w="6350" cap="flat" cmpd="sng" algn="ctr">
                      <a:solidFill>
                        <a:srgbClr val="D6DEE3"/>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The transfer effort is logged stage by stage as transferred, re-parameterised or not applicable. That log constitutes the methodological result.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AVAILABLE DATA</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Bathymetry and coastline, co-registered</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CDI 4036_MEPA and the national coastline, from the holdings of the group.</a:t>
            </a:r>
            <a:endParaRPr lang="en-US" sz="1400" dirty="0"/>
          </a:p>
        </p:txBody>
      </p:sp>
      <p:sp>
        <p:nvSpPr>
          <p:cNvPr id="5" name="Text 3"/>
          <p:cNvSpPr txBox="1"/>
          <p:nvPr/>
        </p:nvSpPr>
        <p:spPr>
          <a:xfrm>
            <a:off x="566928" y="2057400"/>
            <a:ext cx="2286000" cy="475488"/>
          </a:xfrm>
          <a:prstGeom prst="rect">
            <a:avLst/>
          </a:prstGeom>
          <a:noFill/>
          <a:ln/>
        </p:spPr>
        <p:txBody>
          <a:bodyPr wrap="square" lIns="0" tIns="0" rIns="0" bIns="0" rtlCol="0" anchor="ctr"/>
          <a:lstStyle/>
          <a:p>
            <a:pPr marL="0" indent="0">
              <a:buNone/>
            </a:pPr>
            <a:r>
              <a:rPr lang="en-US" sz="2700" b="1" dirty="0">
                <a:solidFill>
                  <a:srgbClr val="065A82"/>
                </a:solidFill>
                <a:latin typeface="Cambria" pitchFamily="34" charset="0"/>
                <a:ea typeface="Cambria" pitchFamily="34" charset="-122"/>
                <a:cs typeface="Cambria" pitchFamily="34" charset="-120"/>
              </a:rPr>
              <a:t>10 m</a:t>
            </a:r>
            <a:endParaRPr lang="en-US" sz="2700" dirty="0"/>
          </a:p>
        </p:txBody>
      </p:sp>
      <p:sp>
        <p:nvSpPr>
          <p:cNvPr id="6" name="Text 4"/>
          <p:cNvSpPr txBox="1"/>
          <p:nvPr/>
        </p:nvSpPr>
        <p:spPr>
          <a:xfrm>
            <a:off x="566928" y="2532888"/>
            <a:ext cx="3108960" cy="54864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merged LiDAR and sonar,</a:t>
            </a:r>
            <a:endParaRPr lang="en-US" sz="1200" dirty="0"/>
          </a:p>
          <a:p>
            <a:pPr marL="0" indent="0">
              <a:buNone/>
            </a:pPr>
            <a:r>
              <a:rPr lang="en-US" sz="1200" dirty="0">
                <a:solidFill>
                  <a:srgbClr val="5F6368"/>
                </a:solidFill>
                <a:latin typeface="Calibri" pitchFamily="34" charset="0"/>
                <a:ea typeface="Calibri" pitchFamily="34" charset="-122"/>
                <a:cs typeface="Calibri" pitchFamily="34" charset="-120"/>
              </a:rPr>
              <a:t>CDI 4036_MEPA</a:t>
            </a:r>
            <a:endParaRPr lang="en-US" sz="1200" dirty="0"/>
          </a:p>
        </p:txBody>
      </p:sp>
      <p:sp>
        <p:nvSpPr>
          <p:cNvPr id="7" name="Text 5"/>
          <p:cNvSpPr txBox="1"/>
          <p:nvPr/>
        </p:nvSpPr>
        <p:spPr>
          <a:xfrm>
            <a:off x="566928" y="3227832"/>
            <a:ext cx="2286000" cy="475488"/>
          </a:xfrm>
          <a:prstGeom prst="rect">
            <a:avLst/>
          </a:prstGeom>
          <a:noFill/>
          <a:ln/>
        </p:spPr>
        <p:txBody>
          <a:bodyPr wrap="square" lIns="0" tIns="0" rIns="0" bIns="0" rtlCol="0" anchor="ctr"/>
          <a:lstStyle/>
          <a:p>
            <a:pPr marL="0" indent="0">
              <a:buNone/>
            </a:pPr>
            <a:r>
              <a:rPr lang="en-US" sz="2700" b="1" dirty="0">
                <a:solidFill>
                  <a:srgbClr val="EB6834"/>
                </a:solidFill>
                <a:latin typeface="Cambria" pitchFamily="34" charset="0"/>
                <a:ea typeface="Cambria" pitchFamily="34" charset="-122"/>
                <a:cs typeface="Cambria" pitchFamily="34" charset="-120"/>
              </a:rPr>
              <a:t>174 to 256×</a:t>
            </a:r>
            <a:endParaRPr lang="en-US" sz="2700" dirty="0"/>
          </a:p>
        </p:txBody>
      </p:sp>
      <p:sp>
        <p:nvSpPr>
          <p:cNvPr id="8" name="Text 6"/>
          <p:cNvSpPr txBox="1"/>
          <p:nvPr/>
        </p:nvSpPr>
        <p:spPr>
          <a:xfrm>
            <a:off x="566928" y="3703320"/>
            <a:ext cx="3108960" cy="54864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more resolved water cells</a:t>
            </a:r>
            <a:endParaRPr lang="en-US" sz="1200" dirty="0"/>
          </a:p>
          <a:p>
            <a:pPr marL="0" indent="0">
              <a:buNone/>
            </a:pPr>
            <a:r>
              <a:rPr lang="en-US" sz="1200" dirty="0">
                <a:solidFill>
                  <a:srgbClr val="5F6368"/>
                </a:solidFill>
                <a:latin typeface="Calibri" pitchFamily="34" charset="0"/>
                <a:ea typeface="Calibri" pitchFamily="34" charset="-122"/>
                <a:cs typeface="Calibri" pitchFamily="34" charset="-120"/>
              </a:rPr>
              <a:t>than the public EMODnet product</a:t>
            </a:r>
            <a:endParaRPr lang="en-US" sz="1200" dirty="0"/>
          </a:p>
        </p:txBody>
      </p:sp>
      <p:sp>
        <p:nvSpPr>
          <p:cNvPr id="9" name="Text 7"/>
          <p:cNvSpPr txBox="1"/>
          <p:nvPr/>
        </p:nvSpPr>
        <p:spPr>
          <a:xfrm>
            <a:off x="566928" y="4398264"/>
            <a:ext cx="2286000" cy="475488"/>
          </a:xfrm>
          <a:prstGeom prst="rect">
            <a:avLst/>
          </a:prstGeom>
          <a:noFill/>
          <a:ln/>
        </p:spPr>
        <p:txBody>
          <a:bodyPr wrap="square" lIns="0" tIns="0" rIns="0" bIns="0" rtlCol="0" anchor="ctr"/>
          <a:lstStyle/>
          <a:p>
            <a:pPr marL="0" indent="0">
              <a:buNone/>
            </a:pPr>
            <a:r>
              <a:rPr lang="en-US" sz="2700" b="1" dirty="0">
                <a:solidFill>
                  <a:srgbClr val="065A82"/>
                </a:solidFill>
                <a:latin typeface="Cambria" pitchFamily="34" charset="0"/>
                <a:ea typeface="Cambria" pitchFamily="34" charset="-122"/>
                <a:cs typeface="Cambria" pitchFamily="34" charset="-120"/>
              </a:rPr>
              <a:t>99.5 %</a:t>
            </a:r>
            <a:endParaRPr lang="en-US" sz="2700" dirty="0"/>
          </a:p>
        </p:txBody>
      </p:sp>
      <p:sp>
        <p:nvSpPr>
          <p:cNvPr id="10" name="Text 8"/>
          <p:cNvSpPr txBox="1"/>
          <p:nvPr/>
        </p:nvSpPr>
        <p:spPr>
          <a:xfrm>
            <a:off x="566928" y="4873752"/>
            <a:ext cx="3108960" cy="54864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land and water agreement</a:t>
            </a:r>
            <a:endParaRPr lang="en-US" sz="1200" dirty="0"/>
          </a:p>
          <a:p>
            <a:pPr marL="0" indent="0">
              <a:buNone/>
            </a:pPr>
            <a:r>
              <a:rPr lang="en-US" sz="1200" dirty="0">
                <a:solidFill>
                  <a:srgbClr val="5F6368"/>
                </a:solidFill>
                <a:latin typeface="Calibri" pitchFamily="34" charset="0"/>
                <a:ea typeface="Calibri" pitchFamily="34" charset="-122"/>
                <a:cs typeface="Calibri" pitchFamily="34" charset="-120"/>
              </a:rPr>
              <a:t>with the coastline</a:t>
            </a:r>
            <a:endParaRPr lang="en-US" sz="1200" dirty="0"/>
          </a:p>
        </p:txBody>
      </p:sp>
      <p:pic>
        <p:nvPicPr>
          <p:cNvPr id="11" name="Image 0" descr="C:\Users\Unipa\Documents\MaltaDT\figures\bathymetry_overview.png"/>
          <p:cNvPicPr>
            <a:picLocks noChangeAspect="1"/>
          </p:cNvPicPr>
          <p:nvPr/>
        </p:nvPicPr>
        <p:blipFill>
          <a:blip r:embed="rId3"/>
          <a:stretch>
            <a:fillRect/>
          </a:stretch>
        </p:blipFill>
        <p:spPr>
          <a:xfrm>
            <a:off x="4160520" y="1783080"/>
            <a:ext cx="4754880" cy="4059936"/>
          </a:xfrm>
          <a:prstGeom prst="rect">
            <a:avLst/>
          </a:prstGeom>
        </p:spPr>
      </p:pic>
      <p:sp>
        <p:nvSpPr>
          <p:cNvPr id="12" name="Text 9"/>
          <p:cNvSpPr txBox="1"/>
          <p:nvPr/>
        </p:nvSpPr>
        <p:spPr>
          <a:xfrm>
            <a:off x="9189720" y="2377440"/>
            <a:ext cx="2468880" cy="2011680"/>
          </a:xfrm>
          <a:prstGeom prst="rect">
            <a:avLst/>
          </a:prstGeom>
          <a:noFill/>
          <a:ln/>
        </p:spPr>
        <p:txBody>
          <a:bodyPr wrap="square" lIns="0" tIns="0" rIns="0" bIns="0" rtlCol="0" anchor="ctr"/>
          <a:lstStyle/>
          <a:p>
            <a:pPr marL="0" indent="0">
              <a:lnSpc>
                <a:spcPts val="1600"/>
              </a:lnSpc>
              <a:buNone/>
            </a:pPr>
            <a:r>
              <a:rPr lang="en-US" sz="1150" b="1" dirty="0">
                <a:solidFill>
                  <a:srgbClr val="1A1A1A"/>
                </a:solidFill>
                <a:latin typeface="Calibri" pitchFamily="34" charset="0"/>
                <a:ea typeface="Calibri" pitchFamily="34" charset="-122"/>
                <a:cs typeface="Calibri" pitchFamily="34" charset="-120"/>
              </a:rPr>
              <a:t>Two coordinate reference conditions
</a:t>
            </a:r>
            <a:endParaRPr lang="en-US" sz="1150" dirty="0"/>
          </a:p>
          <a:p>
            <a:pPr marL="0" indent="0">
              <a:lnSpc>
                <a:spcPts val="1600"/>
              </a:lnSpc>
              <a:buNone/>
            </a:pPr>
            <a:r>
              <a:rPr lang="en-US" sz="1150" dirty="0">
                <a:solidFill>
                  <a:srgbClr val="5F6368"/>
                </a:solidFill>
                <a:latin typeface="Calibri" pitchFamily="34" charset="0"/>
                <a:ea typeface="Calibri" pitchFamily="34" charset="-122"/>
                <a:cs typeface="Calibri" pitchFamily="34" charset="-120"/>
              </a:rPr>
              <a:t>The grids do not encode their datum. Interpreted as WGS84 they are displaced by 197 m, and no error is raised.
</a:t>
            </a:r>
            <a:endParaRPr lang="en-US" sz="1150" dirty="0"/>
          </a:p>
          <a:p>
            <a:pPr marL="0" indent="0">
              <a:lnSpc>
                <a:spcPts val="1600"/>
              </a:lnSpc>
              <a:buNone/>
            </a:pPr>
            <a:r>
              <a:rPr lang="en-US" sz="1150" dirty="0">
                <a:solidFill>
                  <a:srgbClr val="5F6368"/>
                </a:solidFill>
                <a:latin typeface="Calibri" pitchFamily="34" charset="0"/>
                <a:ea typeface="Calibri" pitchFamily="34" charset="-122"/>
                <a:cs typeface="Calibri" pitchFamily="34" charset="-120"/>
              </a:rPr>
              <a:t>The bathymetry is ED50 and the coastline is WGS84, so neither overlays the other without a datum transformation.</a:t>
            </a:r>
            <a:endParaRPr lang="en-US" sz="1150" dirty="0"/>
          </a:p>
        </p:txBody>
      </p:sp>
      <p:sp>
        <p:nvSpPr>
          <p:cNvPr id="13" name="Text 10"/>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Grand Harbour 1.64 km², mean depth 15.9 m. Marsamxett 1.32 km², mean depth 13.3 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THE PHENOMENON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The milgħuba as a meteotsunami</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An atmospherically generated long wave, known as rissaga in the Balearics and as marrobbio on the Sicilian shelf.</a:t>
            </a:r>
            <a:endParaRPr lang="en-US" sz="1400" dirty="0"/>
          </a:p>
        </p:txBody>
      </p:sp>
      <p:sp>
        <p:nvSpPr>
          <p:cNvPr id="5" name="Shape 3"/>
          <p:cNvSpPr/>
          <p:nvPr/>
        </p:nvSpPr>
        <p:spPr>
          <a:xfrm>
            <a:off x="566928" y="2487168"/>
            <a:ext cx="3520440" cy="2286000"/>
          </a:xfrm>
          <a:prstGeom prst="roundRect">
            <a:avLst>
              <a:gd name="adj" fmla="val 2400"/>
            </a:avLst>
          </a:prstGeom>
          <a:solidFill>
            <a:srgbClr val="EEF3F6"/>
          </a:solidFill>
          <a:ln/>
        </p:spPr>
        <p:txBody>
          <a:bodyPr/>
          <a:lstStyle/>
          <a:p>
            <a:endParaRPr lang="it-IT"/>
          </a:p>
        </p:txBody>
      </p:sp>
      <p:sp>
        <p:nvSpPr>
          <p:cNvPr id="6" name="Shape 4"/>
          <p:cNvSpPr/>
          <p:nvPr/>
        </p:nvSpPr>
        <p:spPr>
          <a:xfrm>
            <a:off x="822960" y="2212848"/>
            <a:ext cx="402336" cy="402336"/>
          </a:xfrm>
          <a:prstGeom prst="ellipse">
            <a:avLst/>
          </a:prstGeom>
          <a:solidFill>
            <a:srgbClr val="EB6834"/>
          </a:solidFill>
          <a:ln/>
        </p:spPr>
        <p:txBody>
          <a:bodyPr/>
          <a:lstStyle/>
          <a:p>
            <a:endParaRPr lang="it-IT"/>
          </a:p>
        </p:txBody>
      </p:sp>
      <p:sp>
        <p:nvSpPr>
          <p:cNvPr id="7" name="Text 5"/>
          <p:cNvSpPr txBox="1"/>
          <p:nvPr/>
        </p:nvSpPr>
        <p:spPr>
          <a:xfrm>
            <a:off x="822960" y="22128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822960" y="2788920"/>
            <a:ext cx="3017520" cy="329184"/>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Proudman resonance</a:t>
            </a:r>
            <a:endParaRPr lang="en-US" sz="1550" dirty="0"/>
          </a:p>
        </p:txBody>
      </p:sp>
      <p:sp>
        <p:nvSpPr>
          <p:cNvPr id="9" name="Text 7"/>
          <p:cNvSpPr txBox="1"/>
          <p:nvPr/>
        </p:nvSpPr>
        <p:spPr>
          <a:xfrm>
            <a:off x="822960" y="3145536"/>
            <a:ext cx="3017520" cy="749808"/>
          </a:xfrm>
          <a:prstGeom prst="rect">
            <a:avLst/>
          </a:prstGeom>
          <a:noFill/>
          <a:ln/>
        </p:spPr>
        <p:txBody>
          <a:bodyPr wrap="square" lIns="0" tIns="0" rIns="0" bIns="0" rtlCol="0" anchor="ctr"/>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Energy transfers most efficiently when the atmospheric disturbance travels at the celerity of the long wave beneath it.</a:t>
            </a:r>
            <a:endParaRPr lang="en-US" sz="1200" dirty="0"/>
          </a:p>
        </p:txBody>
      </p:sp>
      <p:sp>
        <p:nvSpPr>
          <p:cNvPr id="10" name="Text 8"/>
          <p:cNvSpPr txBox="1"/>
          <p:nvPr/>
        </p:nvSpPr>
        <p:spPr>
          <a:xfrm>
            <a:off x="822960" y="3950208"/>
            <a:ext cx="3017520" cy="731520"/>
          </a:xfrm>
          <a:prstGeom prst="rect">
            <a:avLst/>
          </a:prstGeom>
          <a:noFill/>
          <a:ln/>
        </p:spPr>
        <p:txBody>
          <a:bodyPr wrap="square" lIns="0" tIns="0" rIns="0" bIns="0" rtlCol="0" anchor="ctr"/>
          <a:lstStyle/>
          <a:p>
            <a:pPr marL="0" indent="0">
              <a:lnSpc>
                <a:spcPts val="1500"/>
              </a:lnSpc>
              <a:buNone/>
            </a:pPr>
            <a:r>
              <a:rPr lang="en-US" sz="1100" b="1" dirty="0">
                <a:solidFill>
                  <a:srgbClr val="1C7293"/>
                </a:solidFill>
                <a:latin typeface="Calibri" pitchFamily="34" charset="0"/>
                <a:ea typeface="Calibri" pitchFamily="34" charset="-122"/>
                <a:cs typeface="Calibri" pitchFamily="34" charset="-120"/>
              </a:rPr>
              <a:t>The Malta Plateau, 99 to 190 m deep, is resonant with disturbances of 94 to 155 km h⁻¹.</a:t>
            </a:r>
            <a:endParaRPr lang="en-US" sz="1100" dirty="0"/>
          </a:p>
        </p:txBody>
      </p:sp>
      <p:sp>
        <p:nvSpPr>
          <p:cNvPr id="11" name="Shape 9"/>
          <p:cNvSpPr/>
          <p:nvPr/>
        </p:nvSpPr>
        <p:spPr>
          <a:xfrm>
            <a:off x="4334256" y="2487168"/>
            <a:ext cx="3520440" cy="2286000"/>
          </a:xfrm>
          <a:prstGeom prst="roundRect">
            <a:avLst>
              <a:gd name="adj" fmla="val 2400"/>
            </a:avLst>
          </a:prstGeom>
          <a:solidFill>
            <a:srgbClr val="EEF3F6"/>
          </a:solidFill>
          <a:ln/>
        </p:spPr>
        <p:txBody>
          <a:bodyPr/>
          <a:lstStyle/>
          <a:p>
            <a:endParaRPr lang="it-IT"/>
          </a:p>
        </p:txBody>
      </p:sp>
      <p:sp>
        <p:nvSpPr>
          <p:cNvPr id="12" name="Shape 10"/>
          <p:cNvSpPr/>
          <p:nvPr/>
        </p:nvSpPr>
        <p:spPr>
          <a:xfrm>
            <a:off x="4590288" y="2212848"/>
            <a:ext cx="402336" cy="402336"/>
          </a:xfrm>
          <a:prstGeom prst="ellipse">
            <a:avLst/>
          </a:prstGeom>
          <a:solidFill>
            <a:srgbClr val="065A82"/>
          </a:solidFill>
          <a:ln/>
        </p:spPr>
        <p:txBody>
          <a:bodyPr/>
          <a:lstStyle/>
          <a:p>
            <a:endParaRPr lang="it-IT"/>
          </a:p>
        </p:txBody>
      </p:sp>
      <p:sp>
        <p:nvSpPr>
          <p:cNvPr id="13" name="Text 11"/>
          <p:cNvSpPr txBox="1"/>
          <p:nvPr/>
        </p:nvSpPr>
        <p:spPr>
          <a:xfrm>
            <a:off x="4590288" y="22128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90288" y="2788920"/>
            <a:ext cx="3017520" cy="329184"/>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Shoaling</a:t>
            </a:r>
            <a:endParaRPr lang="en-US" sz="1550" dirty="0"/>
          </a:p>
        </p:txBody>
      </p:sp>
      <p:sp>
        <p:nvSpPr>
          <p:cNvPr id="15" name="Text 13"/>
          <p:cNvSpPr txBox="1"/>
          <p:nvPr/>
        </p:nvSpPr>
        <p:spPr>
          <a:xfrm>
            <a:off x="4590288" y="3145536"/>
            <a:ext cx="3017520" cy="749808"/>
          </a:xfrm>
          <a:prstGeom prst="rect">
            <a:avLst/>
          </a:prstGeom>
          <a:noFill/>
          <a:ln/>
        </p:spPr>
        <p:txBody>
          <a:bodyPr wrap="square" lIns="0" tIns="0" rIns="0" bIns="0" rtlCol="0" anchor="ctr"/>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Green's law governs the amplification of the wave over the shoaling approach.</a:t>
            </a:r>
            <a:endParaRPr lang="en-US" sz="1200" dirty="0"/>
          </a:p>
        </p:txBody>
      </p:sp>
      <p:sp>
        <p:nvSpPr>
          <p:cNvPr id="16" name="Text 14"/>
          <p:cNvSpPr txBox="1"/>
          <p:nvPr/>
        </p:nvSpPr>
        <p:spPr>
          <a:xfrm>
            <a:off x="4590288" y="3950208"/>
            <a:ext cx="3017520" cy="731520"/>
          </a:xfrm>
          <a:prstGeom prst="rect">
            <a:avLst/>
          </a:prstGeom>
          <a:noFill/>
          <a:ln/>
        </p:spPr>
        <p:txBody>
          <a:bodyPr wrap="square" lIns="0" tIns="0" rIns="0" bIns="0" rtlCol="0" anchor="ctr"/>
          <a:lstStyle/>
          <a:p>
            <a:pPr marL="0" indent="0">
              <a:lnSpc>
                <a:spcPts val="1500"/>
              </a:lnSpc>
              <a:buNone/>
            </a:pPr>
            <a:r>
              <a:rPr lang="en-US" sz="1100" b="1" dirty="0">
                <a:solidFill>
                  <a:srgbClr val="1C7293"/>
                </a:solidFill>
                <a:latin typeface="Calibri" pitchFamily="34" charset="0"/>
                <a:ea typeface="Calibri" pitchFamily="34" charset="-122"/>
                <a:cs typeface="Calibri" pitchFamily="34" charset="-120"/>
              </a:rPr>
              <a:t>From 150 m on the plateau into the harbours, a factor of 1.75 to 1.84.</a:t>
            </a:r>
            <a:endParaRPr lang="en-US" sz="1100" dirty="0"/>
          </a:p>
        </p:txBody>
      </p:sp>
      <p:sp>
        <p:nvSpPr>
          <p:cNvPr id="17" name="Shape 15"/>
          <p:cNvSpPr/>
          <p:nvPr/>
        </p:nvSpPr>
        <p:spPr>
          <a:xfrm>
            <a:off x="8101584" y="2487168"/>
            <a:ext cx="3520440" cy="2286000"/>
          </a:xfrm>
          <a:prstGeom prst="roundRect">
            <a:avLst>
              <a:gd name="adj" fmla="val 2400"/>
            </a:avLst>
          </a:prstGeom>
          <a:solidFill>
            <a:srgbClr val="EEF3F6"/>
          </a:solidFill>
          <a:ln/>
        </p:spPr>
        <p:txBody>
          <a:bodyPr/>
          <a:lstStyle/>
          <a:p>
            <a:endParaRPr lang="it-IT"/>
          </a:p>
        </p:txBody>
      </p:sp>
      <p:sp>
        <p:nvSpPr>
          <p:cNvPr id="18" name="Shape 16"/>
          <p:cNvSpPr/>
          <p:nvPr/>
        </p:nvSpPr>
        <p:spPr>
          <a:xfrm>
            <a:off x="8357616" y="2212848"/>
            <a:ext cx="402336" cy="402336"/>
          </a:xfrm>
          <a:prstGeom prst="ellipse">
            <a:avLst/>
          </a:prstGeom>
          <a:solidFill>
            <a:srgbClr val="065A82"/>
          </a:solidFill>
          <a:ln/>
        </p:spPr>
        <p:txBody>
          <a:bodyPr/>
          <a:lstStyle/>
          <a:p>
            <a:endParaRPr lang="it-IT"/>
          </a:p>
        </p:txBody>
      </p:sp>
      <p:sp>
        <p:nvSpPr>
          <p:cNvPr id="19" name="Text 17"/>
          <p:cNvSpPr txBox="1"/>
          <p:nvPr/>
        </p:nvSpPr>
        <p:spPr>
          <a:xfrm>
            <a:off x="8357616" y="22128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8357616" y="2788920"/>
            <a:ext cx="3017520" cy="329184"/>
          </a:xfrm>
          <a:prstGeom prst="rect">
            <a:avLst/>
          </a:prstGeom>
          <a:noFill/>
          <a:ln/>
        </p:spPr>
        <p:txBody>
          <a:bodyPr wrap="square" lIns="0" tIns="0" rIns="0" bIns="0" rtlCol="0" anchor="ctr"/>
          <a:lstStyle/>
          <a:p>
            <a:pPr marL="0" indent="0">
              <a:buNone/>
            </a:pPr>
            <a:r>
              <a:rPr lang="en-US" sz="1550" b="1" dirty="0">
                <a:solidFill>
                  <a:srgbClr val="1A1A1A"/>
                </a:solidFill>
                <a:latin typeface="Cambria" pitchFamily="34" charset="0"/>
                <a:ea typeface="Cambria" pitchFamily="34" charset="-122"/>
                <a:cs typeface="Cambria" pitchFamily="34" charset="-120"/>
              </a:rPr>
              <a:t>Basin resonance</a:t>
            </a:r>
            <a:endParaRPr lang="en-US" sz="1550" dirty="0"/>
          </a:p>
        </p:txBody>
      </p:sp>
      <p:sp>
        <p:nvSpPr>
          <p:cNvPr id="21" name="Text 19"/>
          <p:cNvSpPr txBox="1"/>
          <p:nvPr/>
        </p:nvSpPr>
        <p:spPr>
          <a:xfrm>
            <a:off x="8357616" y="3145536"/>
            <a:ext cx="3017520" cy="749808"/>
          </a:xfrm>
          <a:prstGeom prst="rect">
            <a:avLst/>
          </a:prstGeom>
          <a:noFill/>
          <a:ln/>
        </p:spPr>
        <p:txBody>
          <a:bodyPr wrap="square" lIns="0" tIns="0" rIns="0" bIns="0" rtlCol="0" anchor="ctr"/>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The geometry of the basin amplifies the wave arriving at its mouth.</a:t>
            </a:r>
            <a:endParaRPr lang="en-US" sz="1200" dirty="0"/>
          </a:p>
        </p:txBody>
      </p:sp>
      <p:sp>
        <p:nvSpPr>
          <p:cNvPr id="22" name="Text 20"/>
          <p:cNvSpPr txBox="1"/>
          <p:nvPr/>
        </p:nvSpPr>
        <p:spPr>
          <a:xfrm>
            <a:off x="8357616" y="3950208"/>
            <a:ext cx="3017520" cy="731520"/>
          </a:xfrm>
          <a:prstGeom prst="rect">
            <a:avLst/>
          </a:prstGeom>
          <a:noFill/>
          <a:ln/>
        </p:spPr>
        <p:txBody>
          <a:bodyPr wrap="square" lIns="0" tIns="0" rIns="0" bIns="0" rtlCol="0" anchor="ctr"/>
          <a:lstStyle/>
          <a:p>
            <a:pPr marL="0" indent="0">
              <a:lnSpc>
                <a:spcPts val="1500"/>
              </a:lnSpc>
              <a:buNone/>
            </a:pPr>
            <a:r>
              <a:rPr lang="en-US" sz="1100" b="1" dirty="0">
                <a:solidFill>
                  <a:srgbClr val="1C7293"/>
                </a:solidFill>
                <a:latin typeface="Calibri" pitchFamily="34" charset="0"/>
                <a:ea typeface="Calibri" pitchFamily="34" charset="-122"/>
                <a:cs typeface="Calibri" pitchFamily="34" charset="-120"/>
              </a:rPr>
              <a:t>Fundamental modes of 14.5 to 18.4 minutes in the Grand Harbour and 10.4 to 12.8 in Marsamxett.</a:t>
            </a:r>
            <a:endParaRPr lang="en-US" sz="1100" dirty="0"/>
          </a:p>
        </p:txBody>
      </p:sp>
      <p:sp>
        <p:nvSpPr>
          <p:cNvPr id="23" name="Text 21"/>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At Ciutadella, Menorca, the reference site of the rissaga, the three stages compound to an order of magnitude. No equivalent decomposition has been published for Malta.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NATURAL PERIODS</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Natural periods against the observed band</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Quarter-wave periods, T = 4L∕√(gh), for the shelf and the inlets, and eigenmodes of the measured profile for the harbours, against the 0.2 to 2 cph band reported by Drago (2009).</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7772400" cy="2400300"/>
        </p:xfrm>
        <a:graphic>
          <a:graphicData uri="http://schemas.openxmlformats.org/drawingml/2006/table">
            <a:tbl>
              <a:tblPr/>
              <a:tblGrid>
                <a:gridCol w="2606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3429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Element</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Basis</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Frequency</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Plateau to Sicily, quarter wave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90 km, 150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156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0.38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l">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extLst>
                  <a:ext uri="{0D108BD9-81ED-4DB2-BD59-A6C34878D82A}">
                    <a16:rowId xmlns:a16="http://schemas.microsoft.com/office/drawing/2014/main" val="10001"/>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Plateau to Sicily, half wave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90 km, 150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78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0.77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l">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extLst>
                  <a:ext uri="{0D108BD9-81ED-4DB2-BD59-A6C34878D82A}">
                    <a16:rowId xmlns:a16="http://schemas.microsoft.com/office/drawing/2014/main" val="10002"/>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Near plateau</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25 km, 120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49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1.24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tc>
                  <a:txBody>
                    <a:bodyPr/>
                    <a:lstStyle/>
                    <a:p>
                      <a:pPr marL="0" indent="0" algn="l">
                        <a:buNone/>
                      </a:pPr>
                      <a:r>
                        <a:rPr lang="en-US" sz="1200" b="1" dirty="0">
                          <a:solidFill>
                            <a:srgbClr val="EB6834"/>
                          </a:solidFill>
                          <a:latin typeface="Calibri" pitchFamily="34" charset="0"/>
                          <a:ea typeface="Calibri" pitchFamily="34" charset="-122"/>
                          <a:cs typeface="Calibri" pitchFamily="34" charset="-120"/>
                        </a:rPr>
                        <a:t>within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DF0E9"/>
                    </a:solidFill>
                  </a:tcPr>
                </a:tc>
                <a:extLst>
                  <a:ext uri="{0D108BD9-81ED-4DB2-BD59-A6C34878D82A}">
                    <a16:rowId xmlns:a16="http://schemas.microsoft.com/office/drawing/2014/main" val="10003"/>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Grand Harbour</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measured profile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14.5 to 18.4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3.3 to 4.1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Marsamxett</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measured profile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10.4 to 12.8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4.7 to 5.8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2900">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A 1 km inlet</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1.0 km, 12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6 min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9.76 cph</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5F6368"/>
                          </a:solidFill>
                          <a:latin typeface="Calibri" pitchFamily="34" charset="0"/>
                          <a:ea typeface="Calibri" pitchFamily="34" charset="-122"/>
                          <a:cs typeface="Calibri" pitchFamily="34" charset="-120"/>
                        </a:rPr>
                        <a:t>outside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3"/>
          <p:cNvSpPr/>
          <p:nvPr/>
        </p:nvSpPr>
        <p:spPr>
          <a:xfrm>
            <a:off x="8641080" y="2286000"/>
            <a:ext cx="2980944" cy="2743200"/>
          </a:xfrm>
          <a:prstGeom prst="roundRect">
            <a:avLst>
              <a:gd name="adj" fmla="val 2000"/>
            </a:avLst>
          </a:prstGeom>
          <a:solidFill>
            <a:srgbClr val="21295C"/>
          </a:solidFill>
          <a:ln/>
        </p:spPr>
        <p:txBody>
          <a:bodyPr/>
          <a:lstStyle/>
          <a:p>
            <a:endParaRPr lang="it-IT"/>
          </a:p>
        </p:txBody>
      </p:sp>
      <p:sp>
        <p:nvSpPr>
          <p:cNvPr id="7" name="Text 4"/>
          <p:cNvSpPr txBox="1"/>
          <p:nvPr/>
        </p:nvSpPr>
        <p:spPr>
          <a:xfrm>
            <a:off x="8915400" y="2514600"/>
            <a:ext cx="2468880" cy="292608"/>
          </a:xfrm>
          <a:prstGeom prst="rect">
            <a:avLst/>
          </a:prstGeom>
          <a:noFill/>
          <a:ln/>
        </p:spPr>
        <p:txBody>
          <a:bodyPr wrap="square" lIns="0" tIns="0" rIns="0" bIns="0" rtlCol="0" anchor="ctr"/>
          <a:lstStyle/>
          <a:p>
            <a:pPr marL="0" indent="0">
              <a:buNone/>
            </a:pPr>
            <a:r>
              <a:rPr lang="en-US" sz="1400" b="1" dirty="0">
                <a:solidFill>
                  <a:srgbClr val="EB6834"/>
                </a:solidFill>
                <a:latin typeface="Cambria" pitchFamily="34" charset="0"/>
                <a:ea typeface="Cambria" pitchFamily="34" charset="-122"/>
                <a:cs typeface="Cambria" pitchFamily="34" charset="-120"/>
              </a:rPr>
              <a:t>Consequence for the domain</a:t>
            </a:r>
            <a:endParaRPr lang="en-US" sz="1400" dirty="0"/>
          </a:p>
        </p:txBody>
      </p:sp>
      <p:sp>
        <p:nvSpPr>
          <p:cNvPr id="8" name="Text 5"/>
          <p:cNvSpPr txBox="1"/>
          <p:nvPr/>
        </p:nvSpPr>
        <p:spPr>
          <a:xfrm>
            <a:off x="8915400" y="2880360"/>
            <a:ext cx="2468880" cy="2011680"/>
          </a:xfrm>
          <a:prstGeom prst="rect">
            <a:avLst/>
          </a:prstGeom>
          <a:noFill/>
          <a:ln/>
        </p:spPr>
        <p:txBody>
          <a:bodyPr wrap="square" lIns="0" tIns="0" rIns="0" bIns="0" rtlCol="0" anchor="t"/>
          <a:lstStyle/>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The harbours respond to a shelf-scale oscillation rather than generating one.
</a:t>
            </a:r>
            <a:endParaRPr lang="en-US" sz="1150" dirty="0"/>
          </a:p>
          <a:p>
            <a:pPr marL="0" indent="0">
              <a:lnSpc>
                <a:spcPts val="1500"/>
              </a:lnSpc>
              <a:buNone/>
            </a:pPr>
            <a:r>
              <a:rPr lang="en-US" sz="1150" dirty="0">
                <a:solidFill>
                  <a:srgbClr val="CADCFC"/>
                </a:solidFill>
                <a:latin typeface="Calibri" pitchFamily="34" charset="0"/>
                <a:ea typeface="Calibri" pitchFamily="34" charset="-122"/>
                <a:cs typeface="Calibri" pitchFamily="34" charset="-120"/>
              </a:rPr>
              <a:t>A domain confined to the harbours holds no resonator in the band, and the CMEMS boundary product carries no energy there.
</a:t>
            </a:r>
            <a:endParaRPr lang="en-US" sz="1150" dirty="0"/>
          </a:p>
          <a:p>
            <a:pPr marL="0" indent="0">
              <a:lnSpc>
                <a:spcPts val="1500"/>
              </a:lnSpc>
              <a:buNone/>
            </a:pPr>
            <a:r>
              <a:rPr lang="en-US" sz="1150" b="1" dirty="0">
                <a:solidFill>
                  <a:srgbClr val="FFFFFF"/>
                </a:solidFill>
                <a:latin typeface="Calibri" pitchFamily="34" charset="0"/>
                <a:ea typeface="Calibri" pitchFamily="34" charset="-122"/>
                <a:cs typeface="Calibri" pitchFamily="34" charset="-120"/>
              </a:rPr>
              <a:t>The domain is therefore required to contain the plateau.</a:t>
            </a:r>
            <a:endParaRPr lang="en-US" sz="1150" dirty="0"/>
          </a:p>
        </p:txBody>
      </p:sp>
      <p:sp>
        <p:nvSpPr>
          <p:cNvPr id="9" name="Text 6"/>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The upper edge of the band, 2 cph, corresponds to 30 minutes, 1.6 times the upper estimate for the Grand Harbour and 2.3 times that for Marsamxett.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BASIN MODES</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Fundamental modes from the measured geometry</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Long-wave eigenproblem of a channel of varying section, g d∕dx(a dη∕dx) + ω² b η = 0, with η = 0 at the mouth and no flux at the head, where a(x) is the cross-section and b(x) the surface width along the geodesic distance from the mouth.</a:t>
            </a:r>
            <a:endParaRPr lang="en-US" sz="1400" dirty="0"/>
          </a:p>
        </p:txBody>
      </p:sp>
      <p:pic>
        <p:nvPicPr>
          <p:cNvPr id="5" name="Image 0" descr="C:\Users\Unipa\Documents\MaltaDT\figures\basin_modes.png"/>
          <p:cNvPicPr>
            <a:picLocks noChangeAspect="1"/>
          </p:cNvPicPr>
          <p:nvPr/>
        </p:nvPicPr>
        <p:blipFill>
          <a:blip r:embed="rId3"/>
          <a:srcRect l="43939" t="370" r="6667" b="52222"/>
          <a:stretch/>
        </p:blipFill>
        <p:spPr>
          <a:xfrm>
            <a:off x="566928" y="2212848"/>
            <a:ext cx="2971800" cy="2333683"/>
          </a:xfrm>
          <a:prstGeom prst="rect">
            <a:avLst/>
          </a:prstGeom>
        </p:spPr>
      </p:pic>
      <p:pic>
        <p:nvPicPr>
          <p:cNvPr id="6" name="Image 1" descr="C:\Users\Unipa\Documents\MaltaDT\figures\basin_modes.png"/>
          <p:cNvPicPr>
            <a:picLocks noChangeAspect="1"/>
          </p:cNvPicPr>
          <p:nvPr/>
        </p:nvPicPr>
        <p:blipFill>
          <a:blip r:embed="rId3"/>
          <a:srcRect t="48148" r="50000"/>
          <a:stretch/>
        </p:blipFill>
        <p:spPr>
          <a:xfrm>
            <a:off x="3630168" y="2157984"/>
            <a:ext cx="2788920" cy="2366356"/>
          </a:xfrm>
          <a:prstGeom prst="rect">
            <a:avLst/>
          </a:prstGeom>
        </p:spPr>
      </p:pic>
      <p:sp>
        <p:nvSpPr>
          <p:cNvPr id="7" name="Text 3"/>
          <p:cNvSpPr txBox="1"/>
          <p:nvPr/>
        </p:nvSpPr>
        <p:spPr>
          <a:xfrm>
            <a:off x="566928" y="4839139"/>
            <a:ext cx="5852160" cy="457200"/>
          </a:xfrm>
          <a:prstGeom prst="rect">
            <a:avLst/>
          </a:prstGeom>
          <a:noFill/>
          <a:ln/>
        </p:spPr>
        <p:txBody>
          <a:bodyPr wrap="square" lIns="0" tIns="0" rIns="0" bIns="0" rtlCol="0" anchor="ctr"/>
          <a:lstStyle/>
          <a:p>
            <a:pPr marL="0" indent="0">
              <a:lnSpc>
                <a:spcPts val="1400"/>
              </a:lnSpc>
              <a:buNone/>
            </a:pPr>
            <a:r>
              <a:rPr lang="en-US" sz="1050" dirty="0">
                <a:solidFill>
                  <a:srgbClr val="5F6368"/>
                </a:solidFill>
                <a:latin typeface="Calibri" pitchFamily="34" charset="0"/>
                <a:ea typeface="Calibri" pitchFamily="34" charset="-122"/>
                <a:cs typeface="Calibri" pitchFamily="34" charset="-120"/>
              </a:rPr>
              <a:t>Geodesic distance from the section lines, and the cross-section a(x) of the Grand Harbour with and without the St Elmo breakwater.</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75120" y="2157984"/>
          <a:ext cx="4946904" cy="1975104"/>
        </p:xfrm>
        <a:graphic>
          <a:graphicData uri="http://schemas.openxmlformats.org/drawingml/2006/table">
            <a:tbl>
              <a:tblPr/>
              <a:tblGrid>
                <a:gridCol w="1463040">
                  <a:extLst>
                    <a:ext uri="{9D8B030D-6E8A-4147-A177-3AD203B41FA5}">
                      <a16:colId xmlns:a16="http://schemas.microsoft.com/office/drawing/2014/main" val="20000"/>
                    </a:ext>
                  </a:extLst>
                </a:gridCol>
                <a:gridCol w="1746504">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29184">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Basin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Section line</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T₀</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T</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Grand Harbour</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outer</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16.5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18.4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Grand Harbour</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outer, no breakwater</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16.6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18.4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Grand Harbour</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inner</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14.5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16.8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Marsamxett</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outer</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10.7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12.8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Marsamxett</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inner</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10.4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12.3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4"/>
          <p:cNvSpPr/>
          <p:nvPr/>
        </p:nvSpPr>
        <p:spPr>
          <a:xfrm>
            <a:off x="6675120" y="4315968"/>
            <a:ext cx="4946904" cy="1572768"/>
          </a:xfrm>
          <a:prstGeom prst="roundRect">
            <a:avLst>
              <a:gd name="adj" fmla="val 3488"/>
            </a:avLst>
          </a:prstGeom>
          <a:solidFill>
            <a:srgbClr val="21295C"/>
          </a:solidFill>
          <a:ln/>
        </p:spPr>
        <p:txBody>
          <a:bodyPr/>
          <a:lstStyle/>
          <a:p>
            <a:endParaRPr lang="it-IT"/>
          </a:p>
        </p:txBody>
      </p:sp>
      <p:sp>
        <p:nvSpPr>
          <p:cNvPr id="10" name="Text 5"/>
          <p:cNvSpPr txBox="1"/>
          <p:nvPr/>
        </p:nvSpPr>
        <p:spPr>
          <a:xfrm>
            <a:off x="6949440" y="4480560"/>
            <a:ext cx="4398264"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Role of the St Elmo breakwater</a:t>
            </a:r>
            <a:endParaRPr lang="en-US" sz="1350" dirty="0"/>
          </a:p>
        </p:txBody>
      </p:sp>
      <p:sp>
        <p:nvSpPr>
          <p:cNvPr id="11" name="Text 6"/>
          <p:cNvSpPr txBox="1"/>
          <p:nvPr/>
        </p:nvSpPr>
        <p:spPr>
          <a:xfrm>
            <a:off x="6949440" y="4809744"/>
            <a:ext cx="4398264" cy="969264"/>
          </a:xfrm>
          <a:prstGeom prst="rect">
            <a:avLst/>
          </a:prstGeom>
          <a:noFill/>
          <a:ln/>
        </p:spPr>
        <p:txBody>
          <a:bodyPr wrap="square" lIns="0" tIns="0" rIns="0" bIns="0" rtlCol="0" anchor="t"/>
          <a:lstStyle/>
          <a:p>
            <a:pPr marL="0" indent="0">
              <a:lnSpc>
                <a:spcPts val="1550"/>
              </a:lnSpc>
              <a:buNone/>
            </a:pPr>
            <a:r>
              <a:rPr lang="en-US" sz="1150" dirty="0">
                <a:solidFill>
                  <a:srgbClr val="CADCFC"/>
                </a:solidFill>
                <a:latin typeface="Calibri" pitchFamily="34" charset="0"/>
                <a:ea typeface="Calibri" pitchFamily="34" charset="-122"/>
                <a:cs typeface="Calibri" pitchFamily="34" charset="-120"/>
              </a:rPr>
              <a:t>Removing the 378 m breakwater changes the period by 0.1 minute. The section at the entrance, 8,780 m², is within 6 per cent of the median section of the basin, so the inertia of the mode is distributed along the harbour and the basin is not a Helmholtz resonator.</a:t>
            </a:r>
            <a:endParaRPr lang="en-US" sz="1150" dirty="0"/>
          </a:p>
        </p:txBody>
      </p:sp>
      <p:sp>
        <p:nvSpPr>
          <p:cNvPr id="12" name="Text 7"/>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T₀ omits and T includes the mouth correction of Rabinovich (2009, eq. 9.16). Branches are taken in phase, so only the fundamental is reported.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OBSERVATION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Sea level spectrum inside the Grand Harbour</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Senglea radar gauge, JRC TAD device 555, sampled at 5 s, on the peninsula between Dockyard Creek and French Creek. Welch spectrum over 207 gap-free segments of 2048 minutes.</a:t>
            </a:r>
            <a:endParaRPr lang="en-US" sz="1400" dirty="0"/>
          </a:p>
        </p:txBody>
      </p:sp>
      <p:pic>
        <p:nvPicPr>
          <p:cNvPr id="5" name="Image 0" descr="C:\Users\Unipa\Documents\MaltaDT\figures\senglea_spectrum.png"/>
          <p:cNvPicPr>
            <a:picLocks noChangeAspect="1"/>
          </p:cNvPicPr>
          <p:nvPr/>
        </p:nvPicPr>
        <p:blipFill>
          <a:blip r:embed="rId3"/>
          <a:stretch>
            <a:fillRect/>
          </a:stretch>
        </p:blipFill>
        <p:spPr>
          <a:xfrm>
            <a:off x="566928" y="2103120"/>
            <a:ext cx="5760720" cy="393192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83680" y="2103120"/>
          <a:ext cx="5038344" cy="1645920"/>
        </p:xfrm>
        <a:graphic>
          <a:graphicData uri="http://schemas.openxmlformats.org/drawingml/2006/table">
            <a:tbl>
              <a:tblPr/>
              <a:tblGrid>
                <a:gridCol w="8229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1426464">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329184">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Period</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Frequency</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Peak ∕ background</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Relation to the estimate</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23.0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2.61 cph</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23.8</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longer than estimated</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16.8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3.57 cph</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10.1</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within 14.5 to 18.4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10.0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5.98 cph</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7.6</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6.9 min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8.67 cph</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15.2</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150" dirty="0">
                          <a:solidFill>
                            <a:srgbClr val="1A1A1A"/>
                          </a:solidFill>
                          <a:latin typeface="Calibri" pitchFamily="34" charset="0"/>
                          <a:ea typeface="Calibri" pitchFamily="34" charset="-122"/>
                          <a:cs typeface="Calibri" pitchFamily="34" charset="-120"/>
                        </a:rPr>
                        <a:t>near the inlet estimate</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bl>
          </a:graphicData>
        </a:graphic>
      </p:graphicFrame>
      <p:sp>
        <p:nvSpPr>
          <p:cNvPr id="7" name="Shape 3"/>
          <p:cNvSpPr/>
          <p:nvPr/>
        </p:nvSpPr>
        <p:spPr>
          <a:xfrm>
            <a:off x="6583680" y="3877056"/>
            <a:ext cx="5038344" cy="2157984"/>
          </a:xfrm>
          <a:prstGeom prst="roundRect">
            <a:avLst>
              <a:gd name="adj" fmla="val 2542"/>
            </a:avLst>
          </a:prstGeom>
          <a:solidFill>
            <a:srgbClr val="21295C"/>
          </a:solidFill>
          <a:ln/>
        </p:spPr>
        <p:txBody>
          <a:bodyPr/>
          <a:lstStyle/>
          <a:p>
            <a:endParaRPr lang="it-IT"/>
          </a:p>
        </p:txBody>
      </p:sp>
      <p:sp>
        <p:nvSpPr>
          <p:cNvPr id="6" name="Text 4"/>
          <p:cNvSpPr txBox="1"/>
          <p:nvPr/>
        </p:nvSpPr>
        <p:spPr>
          <a:xfrm>
            <a:off x="6858000" y="4041648"/>
            <a:ext cx="4489704"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Two readings of the 23-minute peak</a:t>
            </a:r>
            <a:endParaRPr lang="en-US" sz="1350" dirty="0"/>
          </a:p>
        </p:txBody>
      </p:sp>
      <p:sp>
        <p:nvSpPr>
          <p:cNvPr id="9" name="Text 5"/>
          <p:cNvSpPr txBox="1"/>
          <p:nvPr/>
        </p:nvSpPr>
        <p:spPr>
          <a:xfrm>
            <a:off x="6858000" y="4370832"/>
            <a:ext cx="4489704" cy="1554480"/>
          </a:xfrm>
          <a:prstGeom prst="rect">
            <a:avLst/>
          </a:prstGeom>
          <a:noFill/>
          <a:ln/>
        </p:spPr>
        <p:txBody>
          <a:bodyPr wrap="square" lIns="0" tIns="0" rIns="0" bIns="0" rtlCol="0" anchor="t"/>
          <a:lstStyle/>
          <a:p>
            <a:pPr marL="342900" indent="-342900">
              <a:lnSpc>
                <a:spcPts val="1550"/>
              </a:lnSpc>
              <a:spcAft>
                <a:spcPts val="500"/>
              </a:spcAft>
              <a:buSzPct val="100000"/>
              <a:buChar char="•"/>
            </a:pPr>
            <a:r>
              <a:rPr lang="en-US" sz="1150" dirty="0">
                <a:solidFill>
                  <a:srgbClr val="CADCFC"/>
                </a:solidFill>
                <a:latin typeface="Calibri" pitchFamily="34" charset="0"/>
                <a:ea typeface="Calibri" pitchFamily="34" charset="-122"/>
                <a:cs typeface="Calibri" pitchFamily="34" charset="-120"/>
              </a:rPr>
              <a:t>It is the fundamental of the Grand Harbour, which the one-dimensional calculation would then underestimate by about a quarter.</a:t>
            </a:r>
            <a:endParaRPr lang="en-US" sz="1150" dirty="0"/>
          </a:p>
          <a:p>
            <a:pPr marL="342900" indent="-342900">
              <a:lnSpc>
                <a:spcPts val="1550"/>
              </a:lnSpc>
              <a:spcAft>
                <a:spcPts val="500"/>
              </a:spcAft>
              <a:buSzPct val="100000"/>
              <a:buChar char="•"/>
            </a:pPr>
            <a:r>
              <a:rPr lang="en-US" sz="1150" dirty="0">
                <a:solidFill>
                  <a:srgbClr val="CADCFC"/>
                </a:solidFill>
                <a:latin typeface="Calibri" pitchFamily="34" charset="0"/>
                <a:ea typeface="Calibri" pitchFamily="34" charset="-122"/>
                <a:cs typeface="Calibri" pitchFamily="34" charset="-120"/>
              </a:rPr>
              <a:t>The 16.8-minute peak is the fundamental, and the 23-minute peak belongs to the outer approach shared by the two harbours.</a:t>
            </a:r>
            <a:endParaRPr lang="en-US" sz="1150" dirty="0"/>
          </a:p>
          <a:p>
            <a:pPr marL="0" indent="0">
              <a:lnSpc>
                <a:spcPts val="1550"/>
              </a:lnSpc>
              <a:buNone/>
            </a:pPr>
            <a:r>
              <a:rPr lang="en-US" sz="1150" b="1" dirty="0">
                <a:solidFill>
                  <a:srgbClr val="FFFFFF"/>
                </a:solidFill>
                <a:latin typeface="Calibri" pitchFamily="34" charset="0"/>
                <a:ea typeface="Calibri" pitchFamily="34" charset="-122"/>
                <a:cs typeface="Calibri" pitchFamily="34" charset="-120"/>
              </a:rPr>
              <a:t>The modal structure computed by the model, or a second gauge, separates the two.</a:t>
            </a:r>
            <a:endParaRPr lang="en-US" sz="1150" dirty="0"/>
          </a:p>
        </p:txBody>
      </p:sp>
      <p:sp>
        <p:nvSpPr>
          <p:cNvPr id="10" name="Text 6"/>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All peaks lie above the milgħuba band, which holds 12 per cent of the variance between 0.2 and 10 cph. Between 2 and 3 cph the amplitude at Senglea is 2.8 times that at Marsaxlokk.</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OBSERVATION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Reported events against the public record</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The public copy of the Senglea record covers 43 per cent of the span from June 2021 to December 2024, and transmission ceased on 13 December 2024.</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2194560"/>
          <a:ext cx="11055096" cy="2084832"/>
        </p:xfrm>
        <a:graphic>
          <a:graphicData uri="http://schemas.openxmlformats.org/drawingml/2006/table">
            <a:tbl>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3557016">
                  <a:extLst>
                    <a:ext uri="{9D8B030D-6E8A-4147-A177-3AD203B41FA5}">
                      <a16:colId xmlns:a16="http://schemas.microsoft.com/office/drawing/2014/main" val="20003"/>
                    </a:ext>
                  </a:extLst>
                </a:gridCol>
              </a:tblGrid>
              <a:tr h="3474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Reported effects</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Senglea, public copy</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25 Oct 2018</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seismic tsunami</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excursions of some 25 cm at Portomaso</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before installation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18 Jun 2019</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milgħuba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sea bed exposed and quay overtopped in St Paul's Bay</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before installation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30 Jun 2022</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milgħuba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flooding at Marsaskala, St Julian's and Qawra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no data, record resumes on 1 July</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1 Jul 2023</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milgħuba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flooding at Marsaskala and Xemxija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displaced level, unusable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13 Jun 2024</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meteotsunami</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flooding of the main square of Msida</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displaced level, unusable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66928" y="4498848"/>
            <a:ext cx="5440680" cy="1481328"/>
          </a:xfrm>
          <a:prstGeom prst="roundRect">
            <a:avLst>
              <a:gd name="adj" fmla="val 3704"/>
            </a:avLst>
          </a:prstGeom>
          <a:solidFill>
            <a:srgbClr val="EEF3F6"/>
          </a:solidFill>
          <a:ln/>
        </p:spPr>
        <p:txBody>
          <a:bodyPr/>
          <a:lstStyle/>
          <a:p>
            <a:endParaRPr lang="it-IT"/>
          </a:p>
        </p:txBody>
      </p:sp>
      <p:sp>
        <p:nvSpPr>
          <p:cNvPr id="7" name="Text 4"/>
          <p:cNvSpPr txBox="1"/>
          <p:nvPr/>
        </p:nvSpPr>
        <p:spPr>
          <a:xfrm>
            <a:off x="841248" y="4663440"/>
            <a:ext cx="4892040" cy="27432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State of the record</a:t>
            </a:r>
            <a:endParaRPr lang="en-US" sz="1350" dirty="0"/>
          </a:p>
        </p:txBody>
      </p:sp>
      <p:sp>
        <p:nvSpPr>
          <p:cNvPr id="8" name="Text 5"/>
          <p:cNvSpPr txBox="1"/>
          <p:nvPr/>
        </p:nvSpPr>
        <p:spPr>
          <a:xfrm>
            <a:off x="841248" y="4992624"/>
            <a:ext cx="4892040" cy="877824"/>
          </a:xfrm>
          <a:prstGeom prst="rect">
            <a:avLst/>
          </a:prstGeom>
          <a:noFill/>
          <a:ln/>
        </p:spPr>
        <p:txBody>
          <a:bodyPr wrap="square" lIns="0" tIns="0" rIns="0" bIns="0" rtlCol="0" anchor="t"/>
          <a:lstStyle/>
          <a:p>
            <a:pPr marL="0" indent="0">
              <a:lnSpc>
                <a:spcPts val="1550"/>
              </a:lnSpc>
              <a:buNone/>
            </a:pPr>
            <a:r>
              <a:rPr lang="en-US" sz="1150" dirty="0">
                <a:solidFill>
                  <a:srgbClr val="1A1A1A"/>
                </a:solidFill>
                <a:latin typeface="Calibri" pitchFamily="34" charset="0"/>
                <a:ea typeface="Calibri" pitchFamily="34" charset="-122"/>
                <a:cs typeface="Calibri" pitchFamily="34" charset="-120"/>
              </a:rPr>
              <a:t>Two windows are admitted to the analysis, 24 June to 31 December 2021 and 1 December 2022 to 31 March 2023, on monthly coverage and stability of the level. From April 2023 the level is displaced by some 2 m and the gauge transmits by day only.</a:t>
            </a:r>
            <a:endParaRPr lang="en-US" sz="1150" dirty="0"/>
          </a:p>
        </p:txBody>
      </p:sp>
      <p:sp>
        <p:nvSpPr>
          <p:cNvPr id="5" name="Shape 6"/>
          <p:cNvSpPr/>
          <p:nvPr/>
        </p:nvSpPr>
        <p:spPr>
          <a:xfrm>
            <a:off x="6181344" y="4498848"/>
            <a:ext cx="5440680" cy="1481328"/>
          </a:xfrm>
          <a:prstGeom prst="roundRect">
            <a:avLst>
              <a:gd name="adj" fmla="val 3704"/>
            </a:avLst>
          </a:prstGeom>
          <a:solidFill>
            <a:srgbClr val="21295C"/>
          </a:solidFill>
          <a:ln/>
        </p:spPr>
        <p:txBody>
          <a:bodyPr/>
          <a:lstStyle/>
          <a:p>
            <a:endParaRPr lang="it-IT"/>
          </a:p>
        </p:txBody>
      </p:sp>
      <p:sp>
        <p:nvSpPr>
          <p:cNvPr id="10" name="Text 7"/>
          <p:cNvSpPr txBox="1"/>
          <p:nvPr/>
        </p:nvSpPr>
        <p:spPr>
          <a:xfrm>
            <a:off x="6455664" y="4663440"/>
            <a:ext cx="4892040"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Consequence for the study</a:t>
            </a:r>
            <a:endParaRPr lang="en-US" sz="1350" dirty="0"/>
          </a:p>
        </p:txBody>
      </p:sp>
      <p:sp>
        <p:nvSpPr>
          <p:cNvPr id="11" name="Text 8"/>
          <p:cNvSpPr txBox="1"/>
          <p:nvPr/>
        </p:nvSpPr>
        <p:spPr>
          <a:xfrm>
            <a:off x="6455664" y="4992624"/>
            <a:ext cx="4892040" cy="877824"/>
          </a:xfrm>
          <a:prstGeom prst="rect">
            <a:avLst/>
          </a:prstGeom>
          <a:noFill/>
          <a:ln/>
        </p:spPr>
        <p:txBody>
          <a:bodyPr wrap="square" lIns="0" tIns="0" rIns="0" bIns="0" rtlCol="0" anchor="t"/>
          <a:lstStyle/>
          <a:p>
            <a:pPr marL="0" indent="0">
              <a:lnSpc>
                <a:spcPts val="1550"/>
              </a:lnSpc>
              <a:buNone/>
            </a:pPr>
            <a:r>
              <a:rPr lang="en-US" sz="1150" dirty="0">
                <a:solidFill>
                  <a:srgbClr val="CADCFC"/>
                </a:solidFill>
                <a:latin typeface="Calibri" pitchFamily="34" charset="0"/>
                <a:ea typeface="Calibri" pitchFamily="34" charset="-122"/>
                <a:cs typeface="Calibri" pitchFamily="34" charset="-120"/>
              </a:rPr>
              <a:t>None of the three events since installation is resolved in the public copy, and Portomaso returns no data from the IOC facility on those dates. The archive of the group, sea level and one-minute pressure, is the record against which the response surface is tested.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MODEL CONCEPT, EXTENT</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Extent over the plateau, and its cost</a:t>
            </a:r>
            <a:endParaRPr lang="en-US" sz="3200" dirty="0"/>
          </a:p>
        </p:txBody>
      </p:sp>
      <p:pic>
        <p:nvPicPr>
          <p:cNvPr id="4" name="Image 0" descr="C:\Users\Unipa\Documents\MaltaDT\figures\domain_design.png"/>
          <p:cNvPicPr>
            <a:picLocks noChangeAspect="1"/>
          </p:cNvPicPr>
          <p:nvPr/>
        </p:nvPicPr>
        <p:blipFill>
          <a:blip r:embed="rId3"/>
          <a:stretch>
            <a:fillRect/>
          </a:stretch>
        </p:blipFill>
        <p:spPr>
          <a:xfrm>
            <a:off x="566928" y="1572768"/>
            <a:ext cx="11055096" cy="49560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MODEL CONCEPT, DISCRETISATION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Resolution set by the geometry of the inlets</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A 17-minute wave in 16 m of water is 12.8 km long, so the wavelength imposes no constraint. The planform of the inlets is the feature to be resolved.</a:t>
            </a:r>
            <a:endParaRPr lang="en-US" sz="1400" dirty="0"/>
          </a:p>
        </p:txBody>
      </p:sp>
      <p:sp>
        <p:nvSpPr>
          <p:cNvPr id="5" name="Text 3"/>
          <p:cNvSpPr txBox="1"/>
          <p:nvPr/>
        </p:nvSpPr>
        <p:spPr>
          <a:xfrm>
            <a:off x="566928" y="2103120"/>
            <a:ext cx="5029200" cy="292608"/>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Measured channel width</a:t>
            </a:r>
            <a:endParaRPr lang="en-US" sz="1400" dirty="0"/>
          </a:p>
        </p:txBody>
      </p:sp>
      <p:sp>
        <p:nvSpPr>
          <p:cNvPr id="6" name="Text 4"/>
          <p:cNvSpPr txBox="1"/>
          <p:nvPr/>
        </p:nvSpPr>
        <p:spPr>
          <a:xfrm>
            <a:off x="566928" y="2450592"/>
            <a:ext cx="4937760" cy="1005840"/>
          </a:xfrm>
          <a:prstGeom prst="rect">
            <a:avLst/>
          </a:prstGeom>
          <a:noFill/>
          <a:ln/>
        </p:spPr>
        <p:txBody>
          <a:bodyPr wrap="square" lIns="0" tIns="0" rIns="0" bIns="0" rtlCol="0" anchor="t"/>
          <a:lstStyle/>
          <a:p>
            <a:pPr marL="0" indent="0">
              <a:lnSpc>
                <a:spcPts val="1700"/>
              </a:lnSpc>
              <a:spcAft>
                <a:spcPts val="800"/>
              </a:spcAft>
              <a:buNone/>
            </a:pPr>
            <a:r>
              <a:rPr lang="en-US" sz="1250" dirty="0">
                <a:solidFill>
                  <a:srgbClr val="1A1A1A"/>
                </a:solidFill>
                <a:latin typeface="Calibri" pitchFamily="34" charset="0"/>
                <a:ea typeface="Calibri" pitchFamily="34" charset="-122"/>
                <a:cs typeface="Calibri" pitchFamily="34" charset="-120"/>
              </a:rPr>
              <a:t>Half the channel length of Marsamxett is narrower than 135 m, and a third narrower than 50 m.</a:t>
            </a:r>
            <a:endParaRPr lang="en-US" sz="1250" dirty="0"/>
          </a:p>
          <a:p>
            <a:pPr marL="0" indent="0">
              <a:lnSpc>
                <a:spcPts val="1700"/>
              </a:lnSpc>
              <a:buNone/>
            </a:pPr>
            <a:r>
              <a:rPr lang="en-US" sz="1250" dirty="0">
                <a:solidFill>
                  <a:srgbClr val="1A1A1A"/>
                </a:solidFill>
                <a:latin typeface="Calibri" pitchFamily="34" charset="0"/>
                <a:ea typeface="Calibri" pitchFamily="34" charset="-122"/>
                <a:cs typeface="Calibri" pitchFamily="34" charset="-120"/>
              </a:rPr>
              <a:t>Four to five cells carry the conveyance of a channel, eight to ten resolve the flow across it.</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3566160"/>
          <a:ext cx="4937760" cy="2057400"/>
        </p:xfrm>
        <a:graphic>
          <a:graphicData uri="http://schemas.openxmlformats.org/drawingml/2006/table">
            <a:tbl>
              <a:tblPr/>
              <a:tblGrid>
                <a:gridCol w="35661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4290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Zone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Cell size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290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Harbour channels narrower than 150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A1A1A"/>
                          </a:solidFill>
                          <a:latin typeface="Calibri" pitchFamily="34" charset="0"/>
                          <a:ea typeface="Calibri" pitchFamily="34" charset="-122"/>
                          <a:cs typeface="Calibri" pitchFamily="34" charset="-120"/>
                        </a:rPr>
                        <a:t>15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Harbour basins and their mouths</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200" b="1" dirty="0">
                          <a:solidFill>
                            <a:srgbClr val="1A1A1A"/>
                          </a:solidFill>
                          <a:latin typeface="Calibri" pitchFamily="34" charset="0"/>
                          <a:ea typeface="Calibri" pitchFamily="34" charset="-122"/>
                          <a:cs typeface="Calibri" pitchFamily="34" charset="-120"/>
                        </a:rPr>
                        <a:t>30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4290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Within 1 km of the coast</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A1A1A"/>
                          </a:solidFill>
                          <a:latin typeface="Calibri" pitchFamily="34" charset="0"/>
                          <a:ea typeface="Calibri" pitchFamily="34" charset="-122"/>
                          <a:cs typeface="Calibri" pitchFamily="34" charset="-120"/>
                        </a:rPr>
                        <a:t>120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290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Within 5 km of the coast</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200" b="1" dirty="0">
                          <a:solidFill>
                            <a:srgbClr val="1A1A1A"/>
                          </a:solidFill>
                          <a:latin typeface="Calibri" pitchFamily="34" charset="0"/>
                          <a:ea typeface="Calibri" pitchFamily="34" charset="-122"/>
                          <a:cs typeface="Calibri" pitchFamily="34" charset="-120"/>
                        </a:rPr>
                        <a:t>480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r h="342900">
                <a:tc>
                  <a:txBody>
                    <a:bodyPr/>
                    <a:lstStyle/>
                    <a:p>
                      <a:pPr marL="0" indent="0" algn="l">
                        <a:buNone/>
                      </a:pPr>
                      <a:r>
                        <a:rPr lang="en-US" sz="1200" dirty="0">
                          <a:solidFill>
                            <a:srgbClr val="1A1A1A"/>
                          </a:solidFill>
                          <a:latin typeface="Calibri" pitchFamily="34" charset="0"/>
                          <a:ea typeface="Calibri" pitchFamily="34" charset="-122"/>
                          <a:cs typeface="Calibri" pitchFamily="34" charset="-120"/>
                        </a:rPr>
                        <a:t>Open plateau</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b="1" dirty="0">
                          <a:solidFill>
                            <a:srgbClr val="1A1A1A"/>
                          </a:solidFill>
                          <a:latin typeface="Calibri" pitchFamily="34" charset="0"/>
                          <a:ea typeface="Calibri" pitchFamily="34" charset="-122"/>
                          <a:cs typeface="Calibri" pitchFamily="34" charset="-120"/>
                        </a:rPr>
                        <a:t>1920 m</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5989320" y="2103120"/>
            <a:ext cx="5632704" cy="1481328"/>
          </a:xfrm>
          <a:prstGeom prst="roundRect">
            <a:avLst>
              <a:gd name="adj" fmla="val 3704"/>
            </a:avLst>
          </a:prstGeom>
          <a:solidFill>
            <a:srgbClr val="EEF3F6"/>
          </a:solidFill>
          <a:ln/>
        </p:spPr>
        <p:txBody>
          <a:bodyPr/>
          <a:lstStyle/>
          <a:p>
            <a:endParaRPr lang="it-IT"/>
          </a:p>
        </p:txBody>
      </p:sp>
      <p:sp>
        <p:nvSpPr>
          <p:cNvPr id="9" name="Text 6"/>
          <p:cNvSpPr txBox="1"/>
          <p:nvPr/>
        </p:nvSpPr>
        <p:spPr>
          <a:xfrm>
            <a:off x="6263640" y="2286000"/>
            <a:ext cx="5120640" cy="274320"/>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Mesh and time step</a:t>
            </a:r>
            <a:endParaRPr lang="en-US" sz="1400" dirty="0"/>
          </a:p>
        </p:txBody>
      </p:sp>
      <p:sp>
        <p:nvSpPr>
          <p:cNvPr id="10" name="Text 7"/>
          <p:cNvSpPr txBox="1"/>
          <p:nvPr/>
        </p:nvSpPr>
        <p:spPr>
          <a:xfrm>
            <a:off x="6263640" y="2615184"/>
            <a:ext cx="5120640" cy="868680"/>
          </a:xfrm>
          <a:prstGeom prst="rect">
            <a:avLst/>
          </a:prstGeom>
          <a:noFill/>
          <a:ln/>
        </p:spPr>
        <p:txBody>
          <a:bodyPr wrap="square" lIns="0" tIns="0" rIns="0" bIns="0" rtlCol="0" anchor="ctr"/>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26,766 faces. Under a resonant long wave the time step is 3.7 s, set by the 15 m cells of the channels, which samples a 17-minute wave some 280 times per cycle. The 10 m of the source data is the floor, and below 15 m a mesh interpolates rather than resolves.</a:t>
            </a:r>
            <a:endParaRPr lang="en-US" sz="1200" dirty="0"/>
          </a:p>
        </p:txBody>
      </p:sp>
      <p:sp>
        <p:nvSpPr>
          <p:cNvPr id="7" name="Shape 8"/>
          <p:cNvSpPr/>
          <p:nvPr/>
        </p:nvSpPr>
        <p:spPr>
          <a:xfrm>
            <a:off x="5989320" y="3730752"/>
            <a:ext cx="5632704" cy="1874520"/>
          </a:xfrm>
          <a:prstGeom prst="roundRect">
            <a:avLst>
              <a:gd name="adj" fmla="val 2927"/>
            </a:avLst>
          </a:prstGeom>
          <a:solidFill>
            <a:srgbClr val="21295C"/>
          </a:solidFill>
          <a:ln/>
        </p:spPr>
        <p:txBody>
          <a:bodyPr/>
          <a:lstStyle/>
          <a:p>
            <a:endParaRPr lang="it-IT"/>
          </a:p>
        </p:txBody>
      </p:sp>
      <p:sp>
        <p:nvSpPr>
          <p:cNvPr id="12" name="Text 9"/>
          <p:cNvSpPr txBox="1"/>
          <p:nvPr/>
        </p:nvSpPr>
        <p:spPr>
          <a:xfrm>
            <a:off x="6263640" y="3913632"/>
            <a:ext cx="5120640" cy="274320"/>
          </a:xfrm>
          <a:prstGeom prst="rect">
            <a:avLst/>
          </a:prstGeom>
          <a:noFill/>
          <a:ln/>
        </p:spPr>
        <p:txBody>
          <a:bodyPr wrap="square" lIns="0" tIns="0" rIns="0" bIns="0" rtlCol="0" anchor="ctr"/>
          <a:lstStyle/>
          <a:p>
            <a:pPr marL="0" indent="0">
              <a:buNone/>
            </a:pPr>
            <a:r>
              <a:rPr lang="en-US" sz="1400" b="1" dirty="0">
                <a:solidFill>
                  <a:srgbClr val="EB6834"/>
                </a:solidFill>
                <a:latin typeface="Cambria" pitchFamily="34" charset="0"/>
                <a:ea typeface="Cambria" pitchFamily="34" charset="-122"/>
                <a:cs typeface="Cambria" pitchFamily="34" charset="-120"/>
              </a:rPr>
              <a:t>Vertical, 12 to 15 sigma layers</a:t>
            </a:r>
            <a:endParaRPr lang="en-US" sz="1400" dirty="0"/>
          </a:p>
        </p:txBody>
      </p:sp>
      <p:sp>
        <p:nvSpPr>
          <p:cNvPr id="13" name="Text 10"/>
          <p:cNvSpPr txBox="1"/>
          <p:nvPr/>
        </p:nvSpPr>
        <p:spPr>
          <a:xfrm>
            <a:off x="6263640" y="4242816"/>
            <a:ext cx="5120640" cy="1188720"/>
          </a:xfrm>
          <a:prstGeom prst="rect">
            <a:avLst/>
          </a:prstGeom>
          <a:noFill/>
          <a:ln/>
        </p:spPr>
        <p:txBody>
          <a:bodyPr wrap="square" lIns="0" tIns="0" rIns="0" bIns="0" rtlCol="0" anchor="ctr"/>
          <a:lstStyle/>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The count is set by residence time, not by the seiche, which is barotropic. Fifteen layers give roughly one metre at the bed in the basins.
</a:t>
            </a:r>
            <a:endParaRPr lang="en-US" sz="1200" dirty="0"/>
          </a:p>
          <a:p>
            <a:pPr marL="0" indent="0">
              <a:lnSpc>
                <a:spcPts val="1600"/>
              </a:lnSpc>
              <a:buNone/>
            </a:pPr>
            <a:r>
              <a:rPr lang="en-US" sz="1200" dirty="0">
                <a:solidFill>
                  <a:srgbClr val="CADCFC"/>
                </a:solidFill>
                <a:latin typeface="Calibri" pitchFamily="34" charset="0"/>
                <a:ea typeface="Calibri" pitchFamily="34" charset="-122"/>
                <a:cs typeface="Calibri" pitchFamily="34" charset="-120"/>
              </a:rPr>
              <a:t>Sigma is defensible only because the domain stops short of the escarpment, where the plateau gradient is one part in a thousand.</a:t>
            </a:r>
            <a:endParaRPr lang="en-US" sz="1200" dirty="0"/>
          </a:p>
        </p:txBody>
      </p:sp>
      <p:sp>
        <p:nvSpPr>
          <p:cNvPr id="14" name="Text 11"/>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On the wave side, two nested SWAN grids at 1200 and 250 m. The finer agrees with the SWAN downscaling of the group at 1∕500°, arrived at independently.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MODEL CONCEPT, MESH</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Mesh of the domain and its measured cost</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Quadtree refinement by zone, built in UTM 33N and transformed to WGS84, accepted by D-Flow FM 2026.01 at rest and under a forced long wave.</a:t>
            </a:r>
            <a:endParaRPr lang="en-US" sz="1400" dirty="0"/>
          </a:p>
        </p:txBody>
      </p:sp>
      <p:pic>
        <p:nvPicPr>
          <p:cNvPr id="5" name="Image 0" descr="C:\Users\Unipa\Documents\MaltaDT\figures\mesh_v02.png"/>
          <p:cNvPicPr>
            <a:picLocks noChangeAspect="1"/>
          </p:cNvPicPr>
          <p:nvPr/>
        </p:nvPicPr>
        <p:blipFill>
          <a:blip r:embed="rId3"/>
          <a:stretch>
            <a:fillRect/>
          </a:stretch>
        </p:blipFill>
        <p:spPr>
          <a:xfrm>
            <a:off x="566928" y="2103120"/>
            <a:ext cx="7680960" cy="3072384"/>
          </a:xfrm>
          <a:prstGeom prst="rect">
            <a:avLst/>
          </a:prstGeom>
        </p:spPr>
      </p:pic>
      <p:sp>
        <p:nvSpPr>
          <p:cNvPr id="6" name="Text 3"/>
          <p:cNvSpPr txBox="1"/>
          <p:nvPr/>
        </p:nvSpPr>
        <p:spPr>
          <a:xfrm>
            <a:off x="8595360" y="2103120"/>
            <a:ext cx="3017520" cy="457200"/>
          </a:xfrm>
          <a:prstGeom prst="rect">
            <a:avLst/>
          </a:prstGeom>
          <a:noFill/>
          <a:ln/>
        </p:spPr>
        <p:txBody>
          <a:bodyPr wrap="square" lIns="0" tIns="0" rIns="0" bIns="0" rtlCol="0" anchor="ctr"/>
          <a:lstStyle/>
          <a:p>
            <a:pPr marL="0" indent="0">
              <a:buNone/>
            </a:pPr>
            <a:r>
              <a:rPr lang="en-US" sz="2500" b="1" dirty="0">
                <a:solidFill>
                  <a:srgbClr val="065A82"/>
                </a:solidFill>
                <a:latin typeface="Cambria" pitchFamily="34" charset="0"/>
                <a:ea typeface="Cambria" pitchFamily="34" charset="-122"/>
                <a:cs typeface="Cambria" pitchFamily="34" charset="-120"/>
              </a:rPr>
              <a:t>26,766</a:t>
            </a:r>
            <a:endParaRPr lang="en-US" sz="2500" dirty="0"/>
          </a:p>
        </p:txBody>
      </p:sp>
      <p:sp>
        <p:nvSpPr>
          <p:cNvPr id="7" name="Text 4"/>
          <p:cNvSpPr txBox="1"/>
          <p:nvPr/>
        </p:nvSpPr>
        <p:spPr>
          <a:xfrm>
            <a:off x="8595360" y="2560320"/>
            <a:ext cx="3017520" cy="457200"/>
          </a:xfrm>
          <a:prstGeom prst="rect">
            <a:avLst/>
          </a:prstGeom>
          <a:noFill/>
          <a:ln/>
        </p:spPr>
        <p:txBody>
          <a:bodyPr wrap="square" lIns="0" tIns="0" rIns="0" bIns="0" rtlCol="0" anchor="ctr"/>
          <a:lstStyle/>
          <a:p>
            <a:pPr marL="0" indent="0">
              <a:buNone/>
            </a:pPr>
            <a:r>
              <a:rPr lang="en-US" sz="1150" dirty="0">
                <a:solidFill>
                  <a:srgbClr val="5F6368"/>
                </a:solidFill>
                <a:latin typeface="Calibri" pitchFamily="34" charset="0"/>
                <a:ea typeface="Calibri" pitchFamily="34" charset="-122"/>
                <a:cs typeface="Calibri" pitchFamily="34" charset="-120"/>
              </a:rPr>
              <a:t>faces, of which some 12,000</a:t>
            </a:r>
            <a:endParaRPr lang="en-US" sz="1150" dirty="0"/>
          </a:p>
          <a:p>
            <a:pPr marL="0" indent="0">
              <a:buNone/>
            </a:pPr>
            <a:r>
              <a:rPr lang="en-US" sz="1150" dirty="0">
                <a:solidFill>
                  <a:srgbClr val="5F6368"/>
                </a:solidFill>
                <a:latin typeface="Calibri" pitchFamily="34" charset="0"/>
                <a:ea typeface="Calibri" pitchFamily="34" charset="-122"/>
                <a:cs typeface="Calibri" pitchFamily="34" charset="-120"/>
              </a:rPr>
              <a:t>in the harbours</a:t>
            </a:r>
            <a:endParaRPr lang="en-US" sz="1150" dirty="0"/>
          </a:p>
        </p:txBody>
      </p:sp>
      <p:sp>
        <p:nvSpPr>
          <p:cNvPr id="8" name="Text 5"/>
          <p:cNvSpPr txBox="1"/>
          <p:nvPr/>
        </p:nvSpPr>
        <p:spPr>
          <a:xfrm>
            <a:off x="8595360" y="3145536"/>
            <a:ext cx="3017520" cy="457200"/>
          </a:xfrm>
          <a:prstGeom prst="rect">
            <a:avLst/>
          </a:prstGeom>
          <a:noFill/>
          <a:ln/>
        </p:spPr>
        <p:txBody>
          <a:bodyPr wrap="square" lIns="0" tIns="0" rIns="0" bIns="0" rtlCol="0" anchor="ctr"/>
          <a:lstStyle/>
          <a:p>
            <a:pPr marL="0" indent="0">
              <a:buNone/>
            </a:pPr>
            <a:r>
              <a:rPr lang="en-US" sz="2500" b="1" dirty="0">
                <a:solidFill>
                  <a:srgbClr val="EB6834"/>
                </a:solidFill>
                <a:latin typeface="Cambria" pitchFamily="34" charset="0"/>
                <a:ea typeface="Cambria" pitchFamily="34" charset="-122"/>
                <a:cs typeface="Cambria" pitchFamily="34" charset="-120"/>
              </a:rPr>
              <a:t>3.7 s</a:t>
            </a:r>
            <a:endParaRPr lang="en-US" sz="2500" dirty="0"/>
          </a:p>
        </p:txBody>
      </p:sp>
      <p:sp>
        <p:nvSpPr>
          <p:cNvPr id="9" name="Text 6"/>
          <p:cNvSpPr txBox="1"/>
          <p:nvPr/>
        </p:nvSpPr>
        <p:spPr>
          <a:xfrm>
            <a:off x="8595360" y="3602736"/>
            <a:ext cx="3017520" cy="457200"/>
          </a:xfrm>
          <a:prstGeom prst="rect">
            <a:avLst/>
          </a:prstGeom>
          <a:noFill/>
          <a:ln/>
        </p:spPr>
        <p:txBody>
          <a:bodyPr wrap="square" lIns="0" tIns="0" rIns="0" bIns="0" rtlCol="0" anchor="ctr"/>
          <a:lstStyle/>
          <a:p>
            <a:pPr marL="0" indent="0">
              <a:buNone/>
            </a:pPr>
            <a:r>
              <a:rPr lang="en-US" sz="1150" dirty="0">
                <a:solidFill>
                  <a:srgbClr val="5F6368"/>
                </a:solidFill>
                <a:latin typeface="Calibri" pitchFamily="34" charset="0"/>
                <a:ea typeface="Calibri" pitchFamily="34" charset="-122"/>
                <a:cs typeface="Calibri" pitchFamily="34" charset="-120"/>
              </a:rPr>
              <a:t>time step under a 25-minute wave</a:t>
            </a:r>
            <a:endParaRPr lang="en-US" sz="1150" dirty="0"/>
          </a:p>
          <a:p>
            <a:pPr marL="0" indent="0">
              <a:buNone/>
            </a:pPr>
            <a:r>
              <a:rPr lang="en-US" sz="1150" dirty="0">
                <a:solidFill>
                  <a:srgbClr val="5F6368"/>
                </a:solidFill>
                <a:latin typeface="Calibri" pitchFamily="34" charset="0"/>
                <a:ea typeface="Calibri" pitchFamily="34" charset="-122"/>
                <a:cs typeface="Calibri" pitchFamily="34" charset="-120"/>
              </a:rPr>
              <a:t>of 0.15 m at the boundary</a:t>
            </a:r>
            <a:endParaRPr lang="en-US" sz="1150" dirty="0"/>
          </a:p>
        </p:txBody>
      </p:sp>
      <p:sp>
        <p:nvSpPr>
          <p:cNvPr id="10" name="Text 7"/>
          <p:cNvSpPr txBox="1"/>
          <p:nvPr/>
        </p:nvSpPr>
        <p:spPr>
          <a:xfrm>
            <a:off x="8595360" y="4187952"/>
            <a:ext cx="3017520" cy="457200"/>
          </a:xfrm>
          <a:prstGeom prst="rect">
            <a:avLst/>
          </a:prstGeom>
          <a:noFill/>
          <a:ln/>
        </p:spPr>
        <p:txBody>
          <a:bodyPr wrap="square" lIns="0" tIns="0" rIns="0" bIns="0" rtlCol="0" anchor="ctr"/>
          <a:lstStyle/>
          <a:p>
            <a:pPr marL="0" indent="0">
              <a:buNone/>
            </a:pPr>
            <a:r>
              <a:rPr lang="en-US" sz="2500" b="1" dirty="0">
                <a:solidFill>
                  <a:srgbClr val="065A82"/>
                </a:solidFill>
                <a:latin typeface="Cambria" pitchFamily="34" charset="0"/>
                <a:ea typeface="Cambria" pitchFamily="34" charset="-122"/>
                <a:cs typeface="Cambria" pitchFamily="34" charset="-120"/>
              </a:rPr>
              <a:t>611 s</a:t>
            </a:r>
            <a:endParaRPr lang="en-US" sz="2500" dirty="0"/>
          </a:p>
        </p:txBody>
      </p:sp>
      <p:sp>
        <p:nvSpPr>
          <p:cNvPr id="11" name="Text 8"/>
          <p:cNvSpPr txBox="1"/>
          <p:nvPr/>
        </p:nvSpPr>
        <p:spPr>
          <a:xfrm>
            <a:off x="8595360" y="4645152"/>
            <a:ext cx="3017520" cy="457200"/>
          </a:xfrm>
          <a:prstGeom prst="rect">
            <a:avLst/>
          </a:prstGeom>
          <a:noFill/>
          <a:ln/>
        </p:spPr>
        <p:txBody>
          <a:bodyPr wrap="square" lIns="0" tIns="0" rIns="0" bIns="0" rtlCol="0" anchor="ctr"/>
          <a:lstStyle/>
          <a:p>
            <a:pPr marL="0" indent="0">
              <a:buNone/>
            </a:pPr>
            <a:r>
              <a:rPr lang="en-US" sz="1150" dirty="0">
                <a:solidFill>
                  <a:srgbClr val="5F6368"/>
                </a:solidFill>
                <a:latin typeface="Calibri" pitchFamily="34" charset="0"/>
                <a:ea typeface="Calibri" pitchFamily="34" charset="-122"/>
                <a:cs typeface="Calibri" pitchFamily="34" charset="-120"/>
              </a:rPr>
              <a:t>wall time per simulated day,</a:t>
            </a:r>
            <a:endParaRPr lang="en-US" sz="1150" dirty="0"/>
          </a:p>
          <a:p>
            <a:pPr marL="0" indent="0">
              <a:buNone/>
            </a:pPr>
            <a:r>
              <a:rPr lang="en-US" sz="1150" dirty="0">
                <a:solidFill>
                  <a:srgbClr val="5F6368"/>
                </a:solidFill>
                <a:latin typeface="Calibri" pitchFamily="34" charset="0"/>
                <a:ea typeface="Calibri" pitchFamily="34" charset="-122"/>
                <a:cs typeface="Calibri" pitchFamily="34" charset="-120"/>
              </a:rPr>
              <a:t>two-dimensional, serial</a:t>
            </a:r>
            <a:endParaRPr lang="en-US" sz="1150" dirty="0"/>
          </a:p>
        </p:txBody>
      </p:sp>
      <p:sp>
        <p:nvSpPr>
          <p:cNvPr id="12" name="Shape 9"/>
          <p:cNvSpPr/>
          <p:nvPr/>
        </p:nvSpPr>
        <p:spPr>
          <a:xfrm>
            <a:off x="566928" y="5321808"/>
            <a:ext cx="11055096" cy="841248"/>
          </a:xfrm>
          <a:prstGeom prst="roundRect">
            <a:avLst>
              <a:gd name="adj" fmla="val 6522"/>
            </a:avLst>
          </a:prstGeom>
          <a:solidFill>
            <a:srgbClr val="EEF3F6"/>
          </a:solidFill>
          <a:ln/>
        </p:spPr>
        <p:txBody>
          <a:bodyPr/>
          <a:lstStyle/>
          <a:p>
            <a:endParaRPr lang="it-IT"/>
          </a:p>
        </p:txBody>
      </p:sp>
      <p:sp>
        <p:nvSpPr>
          <p:cNvPr id="13" name="Text 10"/>
          <p:cNvSpPr txBox="1"/>
          <p:nvPr/>
        </p:nvSpPr>
        <p:spPr>
          <a:xfrm>
            <a:off x="886968" y="5440680"/>
            <a:ext cx="10424160" cy="621792"/>
          </a:xfrm>
          <a:prstGeom prst="rect">
            <a:avLst/>
          </a:prstGeom>
          <a:noFill/>
          <a:ln/>
        </p:spPr>
        <p:txBody>
          <a:bodyPr wrap="square" lIns="0" tIns="0" rIns="0" bIns="0" rtlCol="0" anchor="ctr"/>
          <a:lstStyle/>
          <a:p>
            <a:pPr marL="0" indent="0">
              <a:lnSpc>
                <a:spcPts val="1600"/>
              </a:lnSpc>
              <a:buNone/>
            </a:pPr>
            <a:r>
              <a:rPr lang="en-US" sz="1200" b="1" dirty="0">
                <a:solidFill>
                  <a:srgbClr val="1A1A1A"/>
                </a:solidFill>
                <a:latin typeface="Calibri" pitchFamily="34" charset="0"/>
                <a:ea typeface="Calibri" pitchFamily="34" charset="-122"/>
                <a:cs typeface="Calibri" pitchFamily="34" charset="-120"/>
              </a:rPr>
              <a:t>Cost of the campaign. </a:t>
            </a:r>
            <a:r>
              <a:rPr lang="en-US" sz="1200" dirty="0">
                <a:solidFill>
                  <a:srgbClr val="1A1A1A"/>
                </a:solidFill>
                <a:latin typeface="Calibri" pitchFamily="34" charset="0"/>
                <a:ea typeface="Calibri" pitchFamily="34" charset="-122"/>
                <a:cs typeface="Calibri" pitchFamily="34" charset="-120"/>
              </a:rPr>
              <a:t>The parametric sweep in two dimensions amounts to some 16 h of serial computation. The three-dimensional runs of renewal and validation, 160 simulated days, amount to some 45 h on 8 MPI processes, scaled from the Stagnone configuration with an uncertainty of a factor of two.</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MODEL CONCEPT, OPEN BOUNDARY</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Reflection of the open boundary under a synthetic pulse</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A Gaussian hump of water level released on a flat bed at 150 m with 1500 m cells, each case compared against a reference domain without a boundary.</a:t>
            </a:r>
            <a:endParaRPr lang="en-US" sz="1400" dirty="0"/>
          </a:p>
        </p:txBody>
      </p:sp>
      <p:pic>
        <p:nvPicPr>
          <p:cNvPr id="5" name="Image 0" descr="C:\Users\Unipa\Documents\MaltaDT\figures\riemann_pulse_test.png"/>
          <p:cNvPicPr>
            <a:picLocks noChangeAspect="1"/>
          </p:cNvPicPr>
          <p:nvPr/>
        </p:nvPicPr>
        <p:blipFill>
          <a:blip r:embed="rId3"/>
          <a:stretch>
            <a:fillRect/>
          </a:stretch>
        </p:blipFill>
        <p:spPr>
          <a:xfrm>
            <a:off x="566928" y="2103120"/>
            <a:ext cx="5623560" cy="3931920"/>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46520" y="2103120"/>
          <a:ext cx="5175504" cy="1389888"/>
        </p:xfrm>
        <a:graphic>
          <a:graphicData uri="http://schemas.openxmlformats.org/drawingml/2006/table">
            <a:tbl>
              <a:tblPr/>
              <a:tblGrid>
                <a:gridCol w="2432304">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4747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Reflected amplitude</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Riemann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Prescribed level</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Normal incidence, channel</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0.3 to 1.3 %</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94 to 100 %</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Incidence up to 30°, basin</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5 to 9 %</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96 to 98 %</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47472">
                <a:tc>
                  <a:txBody>
                    <a:bodyPr/>
                    <a:lstStyle/>
                    <a:p>
                      <a:pPr marL="0" indent="0" algn="l">
                        <a:buNone/>
                      </a:pPr>
                      <a:r>
                        <a:rPr lang="en-US" sz="1200" b="1" dirty="0">
                          <a:solidFill>
                            <a:srgbClr val="1A1A1A"/>
                          </a:solidFill>
                          <a:latin typeface="Calibri" pitchFamily="34" charset="0"/>
                          <a:ea typeface="Calibri" pitchFamily="34" charset="-122"/>
                          <a:cs typeface="Calibri" pitchFamily="34" charset="-120"/>
                        </a:rPr>
                        <a:t>Corner cells</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24 to 29 %</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200" dirty="0">
                          <a:solidFill>
                            <a:srgbClr val="1A1A1A"/>
                          </a:solidFill>
                          <a:latin typeface="Calibri" pitchFamily="34" charset="0"/>
                          <a:ea typeface="Calibri" pitchFamily="34" charset="-122"/>
                          <a:cs typeface="Calibri" pitchFamily="34" charset="-120"/>
                        </a:rPr>
                        <a:t>103 %</a:t>
                      </a:r>
                      <a:endParaRPr lang="en-US" sz="120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3"/>
          <p:cNvSpPr/>
          <p:nvPr/>
        </p:nvSpPr>
        <p:spPr>
          <a:xfrm>
            <a:off x="6446520" y="3621024"/>
            <a:ext cx="5175504" cy="1280160"/>
          </a:xfrm>
          <a:prstGeom prst="roundRect">
            <a:avLst>
              <a:gd name="adj" fmla="val 4286"/>
            </a:avLst>
          </a:prstGeom>
          <a:solidFill>
            <a:srgbClr val="21295C"/>
          </a:solidFill>
          <a:ln/>
        </p:spPr>
        <p:txBody>
          <a:bodyPr/>
          <a:lstStyle/>
          <a:p>
            <a:endParaRPr lang="it-IT"/>
          </a:p>
        </p:txBody>
      </p:sp>
      <p:sp>
        <p:nvSpPr>
          <p:cNvPr id="8" name="Text 4"/>
          <p:cNvSpPr txBox="1"/>
          <p:nvPr/>
        </p:nvSpPr>
        <p:spPr>
          <a:xfrm>
            <a:off x="6720840" y="3785616"/>
            <a:ext cx="4626864"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Configuration adopted</a:t>
            </a:r>
            <a:endParaRPr lang="en-US" sz="1350" dirty="0"/>
          </a:p>
        </p:txBody>
      </p:sp>
      <p:sp>
        <p:nvSpPr>
          <p:cNvPr id="9" name="Text 5"/>
          <p:cNvSpPr txBox="1"/>
          <p:nvPr/>
        </p:nvSpPr>
        <p:spPr>
          <a:xfrm>
            <a:off x="6720840" y="4114800"/>
            <a:ext cx="4626864" cy="676656"/>
          </a:xfrm>
          <a:prstGeom prst="rect">
            <a:avLst/>
          </a:prstGeom>
          <a:noFill/>
          <a:ln/>
        </p:spPr>
        <p:txBody>
          <a:bodyPr wrap="square" lIns="0" tIns="0" rIns="0" bIns="0" rtlCol="0" anchor="t"/>
          <a:lstStyle/>
          <a:p>
            <a:pPr marL="0" indent="0">
              <a:lnSpc>
                <a:spcPts val="1550"/>
              </a:lnSpc>
              <a:buNone/>
            </a:pPr>
            <a:r>
              <a:rPr lang="en-US" sz="1150" dirty="0">
                <a:solidFill>
                  <a:srgbClr val="CADCFC"/>
                </a:solidFill>
                <a:latin typeface="Calibri" pitchFamily="34" charset="0"/>
                <a:ea typeface="Calibri" pitchFamily="34" charset="-122"/>
                <a:cs typeface="Calibri" pitchFamily="34" charset="-120"/>
              </a:rPr>
              <a:t>A Riemann boundary on all open sides, its corners more than 40 km from the harbours, written as one polyline since FM reads only the first polyline of a boundary file.</a:t>
            </a:r>
            <a:endParaRPr lang="en-US" sz="1150" dirty="0"/>
          </a:p>
        </p:txBody>
      </p:sp>
      <p:sp>
        <p:nvSpPr>
          <p:cNvPr id="10" name="Shape 6"/>
          <p:cNvSpPr/>
          <p:nvPr/>
        </p:nvSpPr>
        <p:spPr>
          <a:xfrm>
            <a:off x="6446520" y="5029200"/>
            <a:ext cx="5175504" cy="1005840"/>
          </a:xfrm>
          <a:prstGeom prst="roundRect">
            <a:avLst>
              <a:gd name="adj" fmla="val 5455"/>
            </a:avLst>
          </a:prstGeom>
          <a:solidFill>
            <a:srgbClr val="EEF3F6"/>
          </a:solidFill>
          <a:ln/>
        </p:spPr>
        <p:txBody>
          <a:bodyPr/>
          <a:lstStyle/>
          <a:p>
            <a:endParaRPr lang="it-IT"/>
          </a:p>
        </p:txBody>
      </p:sp>
      <p:sp>
        <p:nvSpPr>
          <p:cNvPr id="11" name="Text 7"/>
          <p:cNvSpPr txBox="1"/>
          <p:nvPr/>
        </p:nvSpPr>
        <p:spPr>
          <a:xfrm>
            <a:off x="6720840" y="5193792"/>
            <a:ext cx="4626864" cy="27432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Cases to be tested before production</a:t>
            </a:r>
            <a:endParaRPr lang="en-US" sz="1350" dirty="0"/>
          </a:p>
        </p:txBody>
      </p:sp>
      <p:sp>
        <p:nvSpPr>
          <p:cNvPr id="12" name="Text 8"/>
          <p:cNvSpPr txBox="1"/>
          <p:nvPr/>
        </p:nvSpPr>
        <p:spPr>
          <a:xfrm>
            <a:off x="6720840" y="5522976"/>
            <a:ext cx="4626864" cy="402336"/>
          </a:xfrm>
          <a:prstGeom prst="rect">
            <a:avLst/>
          </a:prstGeom>
          <a:noFill/>
          <a:ln/>
        </p:spPr>
        <p:txBody>
          <a:bodyPr wrap="square" lIns="0" tIns="0" rIns="0" bIns="0" rtlCol="0" anchor="t"/>
          <a:lstStyle/>
          <a:p>
            <a:pPr marL="0" indent="0">
              <a:lnSpc>
                <a:spcPts val="1550"/>
              </a:lnSpc>
              <a:buNone/>
            </a:pPr>
            <a:r>
              <a:rPr lang="en-US" sz="1150" dirty="0">
                <a:solidFill>
                  <a:srgbClr val="1A1A1A"/>
                </a:solidFill>
                <a:latin typeface="Calibri" pitchFamily="34" charset="0"/>
                <a:ea typeface="Calibri" pitchFamily="34" charset="-122"/>
                <a:cs typeface="Calibri" pitchFamily="34" charset="-120"/>
              </a:rPr>
              <a:t>A residual current across the boundary, a non-zero incoming signal from CMEMS, variable depth along the boundary, and Coriolis.</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PRIOR WORK AND SETTING</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Existing work and the matters it leaves untreated</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The Grand Harbour has been modelled before, and the group operates a forecasting system over the same waters.</a:t>
            </a:r>
            <a:endParaRPr lang="en-US" sz="1400" dirty="0"/>
          </a:p>
        </p:txBody>
      </p:sp>
      <p:sp>
        <p:nvSpPr>
          <p:cNvPr id="5" name="Text 3"/>
          <p:cNvSpPr txBox="1"/>
          <p:nvPr/>
        </p:nvSpPr>
        <p:spPr>
          <a:xfrm>
            <a:off x="566928" y="2103120"/>
            <a:ext cx="5394960" cy="292608"/>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The two studies that bear on the site</a:t>
            </a:r>
            <a:endParaRPr lang="en-US" sz="1400" dirty="0"/>
          </a:p>
        </p:txBody>
      </p:sp>
      <p:sp>
        <p:nvSpPr>
          <p:cNvPr id="6" name="Text 4"/>
          <p:cNvSpPr txBox="1"/>
          <p:nvPr/>
        </p:nvSpPr>
        <p:spPr>
          <a:xfrm>
            <a:off x="566928" y="2468880"/>
            <a:ext cx="5394960" cy="2651760"/>
          </a:xfrm>
          <a:prstGeom prst="rect">
            <a:avLst/>
          </a:prstGeom>
          <a:noFill/>
          <a:ln/>
        </p:spPr>
        <p:txBody>
          <a:bodyPr wrap="square" lIns="0" tIns="0" rIns="0" bIns="0" rtlCol="0" anchor="ctr"/>
          <a:lstStyle/>
          <a:p>
            <a:pPr marL="0" indent="0">
              <a:lnSpc>
                <a:spcPts val="1650"/>
              </a:lnSpc>
              <a:buNone/>
            </a:pPr>
            <a:r>
              <a:rPr lang="en-US" sz="1200" b="1" dirty="0">
                <a:solidFill>
                  <a:srgbClr val="1A1A1A"/>
                </a:solidFill>
                <a:latin typeface="Calibri" pitchFamily="34" charset="0"/>
                <a:ea typeface="Calibri" pitchFamily="34" charset="-122"/>
                <a:cs typeface="Calibri" pitchFamily="34" charset="-120"/>
              </a:rPr>
              <a:t>Mazas and Farrugia, ARTELIA and Infrastructure Malta. </a:t>
            </a:r>
            <a:r>
              <a:rPr lang="en-US" sz="1200" dirty="0">
                <a:solidFill>
                  <a:srgbClr val="1A1A1A"/>
                </a:solidFill>
                <a:latin typeface="Calibri" pitchFamily="34" charset="0"/>
                <a:ea typeface="Calibri" pitchFamily="34" charset="-122"/>
                <a:cs typeface="Calibri" pitchFamily="34" charset="-120"/>
              </a:rPr>
              <a:t>The Grand Harbour modelled for wind-wave agitation in PHAROS, against a directional climate hindcast from 1992 to 2019. Damage in the port documented for the storms of February 2019 and February 2023.
</a:t>
            </a:r>
            <a:endParaRPr lang="en-US" sz="1200" dirty="0"/>
          </a:p>
          <a:p>
            <a:pPr marL="0" indent="0">
              <a:lnSpc>
                <a:spcPts val="1650"/>
              </a:lnSpc>
              <a:buNone/>
            </a:pPr>
            <a:r>
              <a:rPr lang="en-US" sz="1200" b="1" dirty="0">
                <a:solidFill>
                  <a:srgbClr val="1A1A1A"/>
                </a:solidFill>
                <a:latin typeface="Calibri" pitchFamily="34" charset="0"/>
                <a:ea typeface="Calibri" pitchFamily="34" charset="-122"/>
                <a:cs typeface="Calibri" pitchFamily="34" charset="-120"/>
              </a:rPr>
              <a:t>Drago (2018), the design report of the group. </a:t>
            </a:r>
            <a:r>
              <a:rPr lang="en-US" sz="1200" dirty="0">
                <a:solidFill>
                  <a:srgbClr val="1A1A1A"/>
                </a:solidFill>
                <a:latin typeface="Calibri" pitchFamily="34" charset="0"/>
                <a:ea typeface="Calibri" pitchFamily="34" charset="-122"/>
                <a:cs typeface="Calibri" pitchFamily="34" charset="-120"/>
              </a:rPr>
              <a:t>A relocatable model setup is requested for ad hoc local domains, and harbour flushing at the five principal harbours appears among the process-model targets, with the Deltares suite among the families to review.</a:t>
            </a:r>
            <a:endParaRPr lang="en-US" sz="1200" dirty="0"/>
          </a:p>
        </p:txBody>
      </p:sp>
      <p:sp>
        <p:nvSpPr>
          <p:cNvPr id="7" name="Shape 5"/>
          <p:cNvSpPr/>
          <p:nvPr/>
        </p:nvSpPr>
        <p:spPr>
          <a:xfrm>
            <a:off x="6355080" y="2103120"/>
            <a:ext cx="5266944" cy="3035808"/>
          </a:xfrm>
          <a:prstGeom prst="roundRect">
            <a:avLst>
              <a:gd name="adj" fmla="val 1807"/>
            </a:avLst>
          </a:prstGeom>
          <a:solidFill>
            <a:srgbClr val="21295C"/>
          </a:solidFill>
          <a:ln/>
        </p:spPr>
        <p:txBody>
          <a:bodyPr/>
          <a:lstStyle/>
          <a:p>
            <a:endParaRPr lang="it-IT"/>
          </a:p>
        </p:txBody>
      </p:sp>
      <p:sp>
        <p:nvSpPr>
          <p:cNvPr id="8" name="Text 6"/>
          <p:cNvSpPr txBox="1"/>
          <p:nvPr/>
        </p:nvSpPr>
        <p:spPr>
          <a:xfrm>
            <a:off x="6629400" y="2304288"/>
            <a:ext cx="4754880" cy="274320"/>
          </a:xfrm>
          <a:prstGeom prst="rect">
            <a:avLst/>
          </a:prstGeom>
          <a:noFill/>
          <a:ln/>
        </p:spPr>
        <p:txBody>
          <a:bodyPr wrap="square" lIns="0" tIns="0" rIns="0" bIns="0" rtlCol="0" anchor="ctr"/>
          <a:lstStyle/>
          <a:p>
            <a:pPr marL="0" indent="0">
              <a:buNone/>
            </a:pPr>
            <a:r>
              <a:rPr lang="en-US" sz="1400" b="1" dirty="0">
                <a:solidFill>
                  <a:srgbClr val="EB6834"/>
                </a:solidFill>
                <a:latin typeface="Cambria" pitchFamily="34" charset="0"/>
                <a:ea typeface="Cambria" pitchFamily="34" charset="-122"/>
                <a:cs typeface="Cambria" pitchFamily="34" charset="-120"/>
              </a:rPr>
              <a:t>Operational system of the group</a:t>
            </a:r>
            <a:endParaRPr lang="en-US" sz="1400" dirty="0"/>
          </a:p>
        </p:txBody>
      </p:sp>
      <p:sp>
        <p:nvSpPr>
          <p:cNvPr id="9" name="Text 7"/>
          <p:cNvSpPr txBox="1"/>
          <p:nvPr/>
        </p:nvSpPr>
        <p:spPr>
          <a:xfrm>
            <a:off x="6629400" y="2651760"/>
            <a:ext cx="4754880" cy="2331720"/>
          </a:xfrm>
          <a:prstGeom prst="rect">
            <a:avLst/>
          </a:prstGeom>
          <a:noFill/>
          <a:ln/>
        </p:spPr>
        <p:txBody>
          <a:bodyPr wrap="square" lIns="0" tIns="0" rIns="0" bIns="0" rtlCol="0" anchor="ctr"/>
          <a:lstStyle/>
          <a:p>
            <a:pPr marL="342900" indent="-342900">
              <a:lnSpc>
                <a:spcPts val="150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ROSARIO, Princeton Ocean Model, 1∕64° and 1∕96°, nested into CMEMS.</a:t>
            </a:r>
            <a:endParaRPr lang="en-US" sz="1150" dirty="0"/>
          </a:p>
          <a:p>
            <a:pPr marL="342900" indent="-342900">
              <a:lnSpc>
                <a:spcPts val="150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SWAN downscaled to the embayments at 1∕500°, about 200 m.</a:t>
            </a:r>
            <a:endParaRPr lang="en-US" sz="1150" dirty="0"/>
          </a:p>
          <a:p>
            <a:pPr marL="342900" indent="-342900">
              <a:lnSpc>
                <a:spcPts val="1500"/>
              </a:lnSpc>
              <a:spcAft>
                <a:spcPts val="800"/>
              </a:spcAft>
              <a:buSzPct val="100000"/>
              <a:buChar char="•"/>
            </a:pPr>
            <a:r>
              <a:rPr lang="en-US" sz="1150" dirty="0">
                <a:solidFill>
                  <a:srgbClr val="CADCFC"/>
                </a:solidFill>
                <a:latin typeface="Calibri" pitchFamily="34" charset="0"/>
                <a:ea typeface="Calibri" pitchFamily="34" charset="-122"/>
                <a:cs typeface="Calibri" pitchFamily="34" charset="-120"/>
              </a:rPr>
              <a:t>ROSARIO-SHYFEM, unstructured, three-dimensional, operational to a four-day forecast, from a few kilometres to 50 m at the coast, with Lagrangian particle tracking.</a:t>
            </a:r>
            <a:endParaRPr lang="en-US" sz="1150" dirty="0"/>
          </a:p>
          <a:p>
            <a:pPr marL="342900" indent="-342900">
              <a:lnSpc>
                <a:spcPts val="1500"/>
              </a:lnSpc>
              <a:buSzPct val="100000"/>
              <a:buChar char="•"/>
            </a:pPr>
            <a:r>
              <a:rPr lang="en-US" sz="1150" dirty="0">
                <a:solidFill>
                  <a:srgbClr val="CADCFC"/>
                </a:solidFill>
                <a:latin typeface="Calibri" pitchFamily="34" charset="0"/>
                <a:ea typeface="Calibri" pitchFamily="34" charset="-122"/>
                <a:cs typeface="Calibri" pitchFamily="34" charset="-120"/>
              </a:rPr>
              <a:t>Boundary conditions derived from CMEMS, as in the present work.</a:t>
            </a:r>
            <a:endParaRPr lang="en-US" sz="1150" dirty="0"/>
          </a:p>
        </p:txBody>
      </p:sp>
      <p:sp>
        <p:nvSpPr>
          <p:cNvPr id="10" name="Shape 8"/>
          <p:cNvSpPr/>
          <p:nvPr/>
        </p:nvSpPr>
        <p:spPr>
          <a:xfrm>
            <a:off x="566928" y="5321808"/>
            <a:ext cx="11055096" cy="841248"/>
          </a:xfrm>
          <a:prstGeom prst="roundRect">
            <a:avLst>
              <a:gd name="adj" fmla="val 6522"/>
            </a:avLst>
          </a:prstGeom>
          <a:solidFill>
            <a:srgbClr val="EEF3F6"/>
          </a:solidFill>
          <a:ln/>
        </p:spPr>
        <p:txBody>
          <a:bodyPr/>
          <a:lstStyle/>
          <a:p>
            <a:endParaRPr lang="it-IT"/>
          </a:p>
        </p:txBody>
      </p:sp>
      <p:sp>
        <p:nvSpPr>
          <p:cNvPr id="11" name="Text 9"/>
          <p:cNvSpPr txBox="1"/>
          <p:nvPr/>
        </p:nvSpPr>
        <p:spPr>
          <a:xfrm>
            <a:off x="886968" y="5477256"/>
            <a:ext cx="10424160" cy="566928"/>
          </a:xfrm>
          <a:prstGeom prst="rect">
            <a:avLst/>
          </a:prstGeom>
          <a:noFill/>
          <a:ln/>
        </p:spPr>
        <p:txBody>
          <a:bodyPr wrap="square" lIns="0" tIns="0" rIns="0" bIns="0" rtlCol="0" anchor="ctr"/>
          <a:lstStyle/>
          <a:p>
            <a:pPr marL="0" indent="0">
              <a:lnSpc>
                <a:spcPts val="1600"/>
              </a:lnSpc>
              <a:buNone/>
            </a:pPr>
            <a:r>
              <a:rPr lang="en-US" sz="1200" dirty="0">
                <a:solidFill>
                  <a:srgbClr val="1A1A1A"/>
                </a:solidFill>
                <a:latin typeface="Calibri" pitchFamily="34" charset="0"/>
                <a:ea typeface="Calibri" pitchFamily="34" charset="-122"/>
                <a:cs typeface="Calibri" pitchFamily="34" charset="-120"/>
              </a:rPr>
              <a:t>The present work is a process study conducted within the group, alongside the operational system. It differs in the resolution inside the basins, 15 to 30 m against 50 m, in the coupling to a spectral wave model, and in the frequency band it addresses.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RESEARCH QUESTION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Attribution of amplification along the generation chain</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Proposed formulation, submitted to the group for discussion.</a:t>
            </a:r>
            <a:endParaRPr lang="en-US" sz="1400" dirty="0"/>
          </a:p>
        </p:txBody>
      </p:sp>
      <p:sp>
        <p:nvSpPr>
          <p:cNvPr id="5" name="Shape 3"/>
          <p:cNvSpPr/>
          <p:nvPr/>
        </p:nvSpPr>
        <p:spPr>
          <a:xfrm>
            <a:off x="566928" y="2139696"/>
            <a:ext cx="11055096" cy="1298448"/>
          </a:xfrm>
          <a:prstGeom prst="roundRect">
            <a:avLst>
              <a:gd name="adj" fmla="val 4225"/>
            </a:avLst>
          </a:prstGeom>
          <a:solidFill>
            <a:srgbClr val="EEF3F6"/>
          </a:solidFill>
          <a:ln/>
        </p:spPr>
        <p:txBody>
          <a:bodyPr/>
          <a:lstStyle/>
          <a:p>
            <a:endParaRPr lang="it-IT"/>
          </a:p>
        </p:txBody>
      </p:sp>
      <p:sp>
        <p:nvSpPr>
          <p:cNvPr id="6" name="Text 4"/>
          <p:cNvSpPr txBox="1"/>
          <p:nvPr/>
        </p:nvSpPr>
        <p:spPr>
          <a:xfrm>
            <a:off x="886968" y="2350008"/>
            <a:ext cx="10424160" cy="914400"/>
          </a:xfrm>
          <a:prstGeom prst="rect">
            <a:avLst/>
          </a:prstGeom>
          <a:noFill/>
          <a:ln/>
        </p:spPr>
        <p:txBody>
          <a:bodyPr wrap="square" lIns="0" tIns="0" rIns="0" bIns="0" rtlCol="0" anchor="ctr"/>
          <a:lstStyle/>
          <a:p>
            <a:pPr marL="0" indent="0">
              <a:lnSpc>
                <a:spcPts val="2100"/>
              </a:lnSpc>
              <a:buNone/>
            </a:pPr>
            <a:r>
              <a:rPr lang="en-US" sz="1500" i="1" dirty="0">
                <a:solidFill>
                  <a:srgbClr val="1A1A1A"/>
                </a:solidFill>
                <a:latin typeface="Cambria" pitchFamily="34" charset="0"/>
                <a:ea typeface="Cambria" pitchFamily="34" charset="-122"/>
                <a:cs typeface="Cambria" pitchFamily="34" charset="-120"/>
              </a:rPr>
              <a:t>Of the amplification between the open sea and the heads of the Valletta harbours, how is it partitioned between Proudman resonance over the plateau, shoaling on the approach, and resonance of the basins themselves, and which atmospheric disturbance speeds and directions maximise that chain?</a:t>
            </a:r>
            <a:endParaRPr lang="en-US" sz="1500" dirty="0"/>
          </a:p>
        </p:txBody>
      </p:sp>
      <p:sp>
        <p:nvSpPr>
          <p:cNvPr id="7" name="Text 5"/>
          <p:cNvSpPr txBox="1"/>
          <p:nvPr/>
        </p:nvSpPr>
        <p:spPr>
          <a:xfrm>
            <a:off x="566928" y="3721608"/>
            <a:ext cx="5212080" cy="292608"/>
          </a:xfrm>
          <a:prstGeom prst="rect">
            <a:avLst/>
          </a:prstGeom>
          <a:noFill/>
          <a:ln/>
        </p:spPr>
        <p:txBody>
          <a:bodyPr wrap="square" lIns="0" tIns="0" rIns="0" bIns="0" rtlCol="0" anchor="ctr"/>
          <a:lstStyle/>
          <a:p>
            <a:pPr marL="0" indent="0">
              <a:buNone/>
            </a:pPr>
            <a:r>
              <a:rPr lang="en-US" sz="1400" b="1" dirty="0">
                <a:solidFill>
                  <a:srgbClr val="065A82"/>
                </a:solidFill>
                <a:latin typeface="Cambria" pitchFamily="34" charset="0"/>
                <a:ea typeface="Cambria" pitchFamily="34" charset="-122"/>
                <a:cs typeface="Cambria" pitchFamily="34" charset="-120"/>
              </a:rPr>
              <a:t>Basis for the formulation</a:t>
            </a:r>
            <a:endParaRPr lang="en-US" sz="1400" dirty="0"/>
          </a:p>
        </p:txBody>
      </p:sp>
      <p:sp>
        <p:nvSpPr>
          <p:cNvPr id="8" name="Text 6"/>
          <p:cNvSpPr txBox="1"/>
          <p:nvPr/>
        </p:nvSpPr>
        <p:spPr>
          <a:xfrm>
            <a:off x="566928" y="4069080"/>
            <a:ext cx="5212080" cy="173736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The answer requires a model, since no arrangement of gauges separates the three stages of amplification from one another.</a:t>
            </a:r>
            <a:endParaRPr lang="en-US" sz="1200" dirty="0"/>
          </a:p>
          <a:p>
            <a:pPr marL="342900" indent="-342900">
              <a:lnSpc>
                <a:spcPts val="16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The prior work treats the response of a basin to a wave already present at its boundary, so the generation side is not repeated.</a:t>
            </a:r>
            <a:endParaRPr lang="en-US" sz="1200" dirty="0"/>
          </a:p>
          <a:p>
            <a:pPr marL="342900" indent="-342900">
              <a:lnSpc>
                <a:spcPts val="1600"/>
              </a:lnSpc>
              <a:buSzPct val="100000"/>
              <a:buChar char="•"/>
            </a:pPr>
            <a:r>
              <a:rPr lang="en-US" sz="1200" dirty="0">
                <a:solidFill>
                  <a:srgbClr val="1A1A1A"/>
                </a:solidFill>
                <a:latin typeface="Calibri" pitchFamily="34" charset="0"/>
                <a:ea typeface="Calibri" pitchFamily="34" charset="-122"/>
                <a:cs typeface="Calibri" pitchFamily="34" charset="-120"/>
              </a:rPr>
              <a:t>The formulation depends on the standing of that prior work, on which the judgement of the group is sought.</a:t>
            </a:r>
            <a:endParaRPr lang="en-US" sz="1200" dirty="0"/>
          </a:p>
        </p:txBody>
      </p:sp>
      <p:sp>
        <p:nvSpPr>
          <p:cNvPr id="9" name="Text 7"/>
          <p:cNvSpPr txBox="1"/>
          <p:nvPr/>
        </p:nvSpPr>
        <p:spPr>
          <a:xfrm>
            <a:off x="6355080" y="3721608"/>
            <a:ext cx="5212080" cy="292608"/>
          </a:xfrm>
          <a:prstGeom prst="rect">
            <a:avLst/>
          </a:prstGeom>
          <a:noFill/>
          <a:ln/>
        </p:spPr>
        <p:txBody>
          <a:bodyPr wrap="square" lIns="0" tIns="0" rIns="0" bIns="0" rtlCol="0" anchor="ctr"/>
          <a:lstStyle/>
          <a:p>
            <a:pPr marL="0" indent="0">
              <a:buNone/>
            </a:pPr>
            <a:r>
              <a:rPr lang="en-US" sz="1400" b="1" dirty="0">
                <a:solidFill>
                  <a:srgbClr val="EB6834"/>
                </a:solidFill>
                <a:latin typeface="Cambria" pitchFamily="34" charset="0"/>
                <a:ea typeface="Cambria" pitchFamily="34" charset="-122"/>
                <a:cs typeface="Cambria" pitchFamily="34" charset="-120"/>
              </a:rPr>
              <a:t>Coverage of the prior work</a:t>
            </a:r>
            <a:endParaRPr lang="en-US" sz="1400" dirty="0"/>
          </a:p>
        </p:txBody>
      </p:sp>
      <p:sp>
        <p:nvSpPr>
          <p:cNvPr id="10" name="Text 8"/>
          <p:cNvSpPr txBox="1"/>
          <p:nvPr/>
        </p:nvSpPr>
        <p:spPr>
          <a:xfrm>
            <a:off x="6355080" y="4069080"/>
            <a:ext cx="5266944" cy="173736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Maltese coastal seiches were modelled in 2007, in a two-dimensional depth-averaged POM, for Mellieħa and St Paul's Bay, forced by a prescribed offshore long wave.</a:t>
            </a:r>
            <a:endParaRPr lang="en-US" sz="1200" dirty="0"/>
          </a:p>
          <a:p>
            <a:pPr marL="342900" indent="-342900">
              <a:lnSpc>
                <a:spcPts val="1600"/>
              </a:lnSpc>
              <a:spcAft>
                <a:spcPts val="700"/>
              </a:spcAft>
              <a:buSzPct val="100000"/>
              <a:buChar char="•"/>
            </a:pPr>
            <a:r>
              <a:rPr lang="en-US" sz="1200" dirty="0">
                <a:solidFill>
                  <a:srgbClr val="1A1A1A"/>
                </a:solidFill>
                <a:latin typeface="Calibri" pitchFamily="34" charset="0"/>
                <a:ea typeface="Calibri" pitchFamily="34" charset="-122"/>
                <a:cs typeface="Calibri" pitchFamily="34" charset="-120"/>
              </a:rPr>
              <a:t>The Grand Harbour was modelled by ARTELIA in PHAROS, for wind-wave agitation, against a directional climate hindcast from 1992 to 2019.</a:t>
            </a:r>
            <a:endParaRPr lang="en-US" sz="1200" dirty="0"/>
          </a:p>
          <a:p>
            <a:pPr marL="342900" indent="-342900">
              <a:lnSpc>
                <a:spcPts val="1600"/>
              </a:lnSpc>
              <a:buSzPct val="100000"/>
              <a:buChar char="•"/>
            </a:pPr>
            <a:r>
              <a:rPr lang="en-US" sz="1200" dirty="0">
                <a:solidFill>
                  <a:srgbClr val="1A1A1A"/>
                </a:solidFill>
                <a:latin typeface="Calibri" pitchFamily="34" charset="0"/>
                <a:ea typeface="Calibri" pitchFamily="34" charset="-122"/>
                <a:cs typeface="Calibri" pitchFamily="34" charset="-120"/>
              </a:rPr>
              <a:t>Neither treats the generation of the long wave, the circulation of the harbour, or its renewal.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COUNTERFACTUAL QUESTION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Sensitivity of the basin mode to the geometry of the mouth</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An academic sensitivity on the class of basin, submitted to the group for judgement. No particular design is represented.</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2286000"/>
          <a:ext cx="6492240" cy="1905000"/>
        </p:xfrm>
        <a:graphic>
          <a:graphicData uri="http://schemas.openxmlformats.org/drawingml/2006/table">
            <a:tbl>
              <a:tblPr/>
              <a:tblGrid>
                <a:gridCol w="210312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36576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Open fraction of the section</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100 m reach</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250 m reach</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500 m reach</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tc>
                  <a:txBody>
                    <a:bodyPr/>
                    <a:lstStyle/>
                    <a:p>
                      <a:pPr marL="0" indent="0" algn="r">
                        <a:buNone/>
                      </a:pPr>
                      <a:r>
                        <a:rPr lang="en-US" sz="1150" b="1" dirty="0">
                          <a:solidFill>
                            <a:srgbClr val="FFFFFF"/>
                          </a:solidFill>
                          <a:latin typeface="Calibri" pitchFamily="34" charset="0"/>
                          <a:ea typeface="Calibri" pitchFamily="34" charset="-122"/>
                          <a:cs typeface="Calibri" pitchFamily="34" charset="-120"/>
                        </a:rPr>
                        <a:t>Helmholtz scaling</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65760">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0.75</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+1.5 %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+2.7 %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+4.0 %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+15 %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0.50</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+4.4 %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+8.0 %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+11.7 %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+41 %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2"/>
                  </a:ext>
                </a:extLst>
              </a:tr>
              <a:tr h="365760">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0.25</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+13.1 %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+23.3 %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+33.1 %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+100 %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50" b="1" dirty="0">
                          <a:solidFill>
                            <a:srgbClr val="1A1A1A"/>
                          </a:solidFill>
                          <a:latin typeface="Calibri" pitchFamily="34" charset="0"/>
                          <a:ea typeface="Calibri" pitchFamily="34" charset="-122"/>
                          <a:cs typeface="Calibri" pitchFamily="34" charset="-120"/>
                        </a:rPr>
                        <a:t>0.10</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+37.2 %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+62.5 %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+84.6 %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tc>
                  <a:txBody>
                    <a:bodyPr/>
                    <a:lstStyle/>
                    <a:p>
                      <a:pPr marL="0" indent="0" algn="r">
                        <a:buNone/>
                      </a:pPr>
                      <a:r>
                        <a:rPr lang="en-US" sz="1150" dirty="0">
                          <a:solidFill>
                            <a:srgbClr val="1A1A1A"/>
                          </a:solidFill>
                          <a:latin typeface="Calibri" pitchFamily="34" charset="0"/>
                          <a:ea typeface="Calibri" pitchFamily="34" charset="-122"/>
                          <a:cs typeface="Calibri" pitchFamily="34" charset="-120"/>
                        </a:rPr>
                        <a:t>+216 %</a:t>
                      </a:r>
                      <a:endParaRPr lang="en-US" sz="1150" dirty="0">
                        <a:latin typeface="Calibri" charset="0"/>
                        <a:ea typeface="Calibri" charset="0"/>
                        <a:cs typeface="Calibri" charset="0"/>
                      </a:endParaRPr>
                    </a:p>
                  </a:txBody>
                  <a:tcPr anchor="ctr">
                    <a:lnL w="6350" cap="flat" cmpd="sng" algn="ctr">
                      <a:solidFill>
                        <a:srgbClr val="E2E8EC"/>
                      </a:solidFill>
                      <a:prstDash val="solid"/>
                      <a:round/>
                      <a:headEnd type="none" w="med" len="med"/>
                      <a:tailEnd type="none" w="med" len="med"/>
                    </a:lnL>
                    <a:lnR w="6350" cap="flat" cmpd="sng" algn="ctr">
                      <a:solidFill>
                        <a:srgbClr val="E2E8EC"/>
                      </a:solidFill>
                      <a:prstDash val="solid"/>
                      <a:round/>
                      <a:headEnd type="none" w="med" len="med"/>
                      <a:tailEnd type="none" w="med" len="med"/>
                    </a:lnR>
                    <a:lnT w="6350" cap="flat" cmpd="sng" algn="ctr">
                      <a:solidFill>
                        <a:srgbClr val="E2E8EC"/>
                      </a:solidFill>
                      <a:prstDash val="solid"/>
                      <a:round/>
                      <a:headEnd type="none" w="med" len="med"/>
                      <a:tailEnd type="none" w="med" len="med"/>
                    </a:lnT>
                    <a:lnB w="6350" cap="flat" cmpd="sng" algn="ctr">
                      <a:solidFill>
                        <a:srgbClr val="E2E8EC"/>
                      </a:solidFill>
                      <a:prstDash val="solid"/>
                      <a:round/>
                      <a:headEnd type="none" w="med" len="med"/>
                      <a:tailEnd type="none" w="med" len="med"/>
                    </a:lnB>
                    <a:solidFill>
                      <a:srgbClr val="EEF3F6"/>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566928" y="4261104"/>
            <a:ext cx="6492240" cy="1005840"/>
          </a:xfrm>
          <a:prstGeom prst="rect">
            <a:avLst/>
          </a:prstGeom>
          <a:noFill/>
          <a:ln/>
        </p:spPr>
        <p:txBody>
          <a:bodyPr wrap="square" lIns="0" tIns="0" rIns="0" bIns="0" rtlCol="0" anchor="ctr"/>
          <a:lstStyle/>
          <a:p>
            <a:pPr marL="0" indent="0">
              <a:lnSpc>
                <a:spcPts val="1550"/>
              </a:lnSpc>
              <a:buNone/>
            </a:pPr>
            <a:r>
              <a:rPr lang="en-US" sz="1150" dirty="0">
                <a:solidFill>
                  <a:srgbClr val="5F6368"/>
                </a:solidFill>
                <a:latin typeface="Calibri" pitchFamily="34" charset="0"/>
                <a:ea typeface="Calibri" pitchFamily="34" charset="-122"/>
                <a:cs typeface="Calibri" pitchFamily="34" charset="-120"/>
              </a:rPr>
              <a:t>Lengthening of the fundamental period of the Grand Harbour, 16.5 minutes, for a restriction imposed on the measured profile over a reach centred on its narrowest section. The Helmholtz scaling, T ∝ a^(−1∕2), attributes the whole inertia of the mode to the mouth and overstates the shift by a factor of three to ten.</a:t>
            </a:r>
            <a:endParaRPr lang="en-US" sz="1150" dirty="0"/>
          </a:p>
        </p:txBody>
      </p:sp>
      <p:sp>
        <p:nvSpPr>
          <p:cNvPr id="7" name="Shape 4"/>
          <p:cNvSpPr/>
          <p:nvPr/>
        </p:nvSpPr>
        <p:spPr>
          <a:xfrm>
            <a:off x="7360920" y="2286000"/>
            <a:ext cx="4261104" cy="1572768"/>
          </a:xfrm>
          <a:prstGeom prst="roundRect">
            <a:avLst>
              <a:gd name="adj" fmla="val 3488"/>
            </a:avLst>
          </a:prstGeom>
          <a:solidFill>
            <a:srgbClr val="EEF3F6"/>
          </a:solidFill>
          <a:ln/>
        </p:spPr>
        <p:txBody>
          <a:bodyPr/>
          <a:lstStyle/>
          <a:p>
            <a:endParaRPr lang="it-IT"/>
          </a:p>
        </p:txBody>
      </p:sp>
      <p:sp>
        <p:nvSpPr>
          <p:cNvPr id="8" name="Text 5"/>
          <p:cNvSpPr txBox="1"/>
          <p:nvPr/>
        </p:nvSpPr>
        <p:spPr>
          <a:xfrm>
            <a:off x="7635240" y="2450592"/>
            <a:ext cx="3712464" cy="274320"/>
          </a:xfrm>
          <a:prstGeom prst="rect">
            <a:avLst/>
          </a:prstGeom>
          <a:noFill/>
          <a:ln/>
        </p:spPr>
        <p:txBody>
          <a:bodyPr wrap="square" lIns="0" tIns="0" rIns="0" bIns="0" rtlCol="0" anchor="ctr"/>
          <a:lstStyle/>
          <a:p>
            <a:pPr marL="0" indent="0">
              <a:buNone/>
            </a:pPr>
            <a:r>
              <a:rPr lang="en-US" sz="1350" b="1" dirty="0">
                <a:solidFill>
                  <a:srgbClr val="065A82"/>
                </a:solidFill>
                <a:latin typeface="Cambria" pitchFamily="34" charset="0"/>
                <a:ea typeface="Cambria" pitchFamily="34" charset="-122"/>
                <a:cs typeface="Cambria" pitchFamily="34" charset="-120"/>
              </a:rPr>
              <a:t>The magnitude in context</a:t>
            </a:r>
            <a:endParaRPr lang="en-US" sz="1350" dirty="0"/>
          </a:p>
        </p:txBody>
      </p:sp>
      <p:sp>
        <p:nvSpPr>
          <p:cNvPr id="9" name="Text 6"/>
          <p:cNvSpPr txBox="1"/>
          <p:nvPr/>
        </p:nvSpPr>
        <p:spPr>
          <a:xfrm>
            <a:off x="7635240" y="2779776"/>
            <a:ext cx="3712464" cy="969264"/>
          </a:xfrm>
          <a:prstGeom prst="rect">
            <a:avLst/>
          </a:prstGeom>
          <a:noFill/>
          <a:ln/>
        </p:spPr>
        <p:txBody>
          <a:bodyPr wrap="square" lIns="0" tIns="0" rIns="0" bIns="0" rtlCol="0" anchor="t"/>
          <a:lstStyle/>
          <a:p>
            <a:pPr marL="0" indent="0">
              <a:lnSpc>
                <a:spcPts val="1550"/>
              </a:lnSpc>
              <a:buNone/>
            </a:pPr>
            <a:r>
              <a:rPr lang="en-US" sz="1150" dirty="0">
                <a:solidFill>
                  <a:srgbClr val="1A1A1A"/>
                </a:solidFill>
                <a:latin typeface="Calibri" pitchFamily="34" charset="0"/>
                <a:ea typeface="Calibri" pitchFamily="34" charset="-122"/>
                <a:cs typeface="Calibri" pitchFamily="34" charset="-120"/>
              </a:rPr>
              <a:t>A metre of sea level rise shortens these modes by 3.1 per cent. A restriction of a quarter lengthens them by 1.5 to 4 per cent. The two perturbations are of the same order.</a:t>
            </a:r>
            <a:endParaRPr lang="en-US" sz="1150" dirty="0"/>
          </a:p>
        </p:txBody>
      </p:sp>
      <p:sp>
        <p:nvSpPr>
          <p:cNvPr id="10" name="Shape 7"/>
          <p:cNvSpPr/>
          <p:nvPr/>
        </p:nvSpPr>
        <p:spPr>
          <a:xfrm>
            <a:off x="7360920" y="4005072"/>
            <a:ext cx="4261104" cy="1755648"/>
          </a:xfrm>
          <a:prstGeom prst="roundRect">
            <a:avLst>
              <a:gd name="adj" fmla="val 3125"/>
            </a:avLst>
          </a:prstGeom>
          <a:solidFill>
            <a:srgbClr val="21295C"/>
          </a:solidFill>
          <a:ln/>
        </p:spPr>
        <p:txBody>
          <a:bodyPr/>
          <a:lstStyle/>
          <a:p>
            <a:endParaRPr lang="it-IT"/>
          </a:p>
        </p:txBody>
      </p:sp>
      <p:sp>
        <p:nvSpPr>
          <p:cNvPr id="11" name="Text 8"/>
          <p:cNvSpPr txBox="1"/>
          <p:nvPr/>
        </p:nvSpPr>
        <p:spPr>
          <a:xfrm>
            <a:off x="7635240" y="4169664"/>
            <a:ext cx="3712464" cy="274320"/>
          </a:xfrm>
          <a:prstGeom prst="rect">
            <a:avLst/>
          </a:prstGeom>
          <a:noFill/>
          <a:ln/>
        </p:spPr>
        <p:txBody>
          <a:bodyPr wrap="square" lIns="0" tIns="0" rIns="0" bIns="0" rtlCol="0" anchor="ctr"/>
          <a:lstStyle/>
          <a:p>
            <a:pPr marL="0" indent="0">
              <a:buNone/>
            </a:pPr>
            <a:r>
              <a:rPr lang="en-US" sz="1350" b="1" dirty="0">
                <a:solidFill>
                  <a:srgbClr val="EB6834"/>
                </a:solidFill>
                <a:latin typeface="Cambria" pitchFamily="34" charset="0"/>
                <a:ea typeface="Cambria" pitchFamily="34" charset="-122"/>
                <a:cs typeface="Cambria" pitchFamily="34" charset="-120"/>
              </a:rPr>
              <a:t>Exchange as the principal quantity</a:t>
            </a:r>
            <a:endParaRPr lang="en-US" sz="1350" dirty="0"/>
          </a:p>
        </p:txBody>
      </p:sp>
      <p:sp>
        <p:nvSpPr>
          <p:cNvPr id="12" name="Text 9"/>
          <p:cNvSpPr txBox="1"/>
          <p:nvPr/>
        </p:nvSpPr>
        <p:spPr>
          <a:xfrm>
            <a:off x="7635240" y="4498848"/>
            <a:ext cx="3712464" cy="1152144"/>
          </a:xfrm>
          <a:prstGeom prst="rect">
            <a:avLst/>
          </a:prstGeom>
          <a:noFill/>
          <a:ln/>
        </p:spPr>
        <p:txBody>
          <a:bodyPr wrap="square" lIns="0" tIns="0" rIns="0" bIns="0" rtlCol="0" anchor="t"/>
          <a:lstStyle/>
          <a:p>
            <a:pPr marL="0" indent="0">
              <a:lnSpc>
                <a:spcPts val="1550"/>
              </a:lnSpc>
              <a:buNone/>
            </a:pPr>
            <a:r>
              <a:rPr lang="en-US" sz="1150" dirty="0">
                <a:solidFill>
                  <a:srgbClr val="CADCFC"/>
                </a:solidFill>
                <a:latin typeface="Calibri" pitchFamily="34" charset="0"/>
                <a:ea typeface="Calibri" pitchFamily="34" charset="-122"/>
                <a:cs typeface="Calibri" pitchFamily="34" charset="-120"/>
              </a:rPr>
              <a:t>Reaching the observed band from 18.4 minutes requires an open fraction near 0.1 over several hundred metres. The volume exchanged per cycle scales with the open section directly, so renewal responds more strongly than the mode.</a:t>
            </a:r>
            <a:endParaRPr lang="en-US" sz="1150" dirty="0"/>
          </a:p>
        </p:txBody>
      </p:sp>
      <p:sp>
        <p:nvSpPr>
          <p:cNvPr id="13" name="Text 10"/>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The cost is a second evaluation of the same sweep, with no new forcing, no new validation and no new configuration.</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EXPERIMENTAL DESIGN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A parametric sweep in place of a hindcast</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ERA5 does not resolve the atmospheric gravity waves that trigger the phenomenon, so a hindcast of individual events is not attempted.</a:t>
            </a:r>
            <a:endParaRPr lang="en-US" sz="1400" dirty="0"/>
          </a:p>
        </p:txBody>
      </p:sp>
      <p:sp>
        <p:nvSpPr>
          <p:cNvPr id="5" name="Shape 3"/>
          <p:cNvSpPr/>
          <p:nvPr/>
        </p:nvSpPr>
        <p:spPr>
          <a:xfrm>
            <a:off x="566928" y="2331720"/>
            <a:ext cx="402336" cy="402336"/>
          </a:xfrm>
          <a:prstGeom prst="ellipse">
            <a:avLst/>
          </a:prstGeom>
          <a:solidFill>
            <a:srgbClr val="065A82"/>
          </a:solidFill>
          <a:ln/>
        </p:spPr>
        <p:txBody>
          <a:bodyPr/>
          <a:lstStyle/>
          <a:p>
            <a:endParaRPr lang="it-IT"/>
          </a:p>
        </p:txBody>
      </p:sp>
      <p:sp>
        <p:nvSpPr>
          <p:cNvPr id="6" name="Text 4"/>
          <p:cNvSpPr txBox="1"/>
          <p:nvPr/>
        </p:nvSpPr>
        <p:spPr>
          <a:xfrm>
            <a:off x="566928" y="23317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88720" y="2313432"/>
            <a:ext cx="4572000" cy="292608"/>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Sweep</a:t>
            </a:r>
            <a:endParaRPr lang="en-US" sz="1450" dirty="0"/>
          </a:p>
        </p:txBody>
      </p:sp>
      <p:sp>
        <p:nvSpPr>
          <p:cNvPr id="8" name="Text 6"/>
          <p:cNvSpPr txBox="1"/>
          <p:nvPr/>
        </p:nvSpPr>
        <p:spPr>
          <a:xfrm>
            <a:off x="1188720" y="2624328"/>
            <a:ext cx="6035040" cy="658368"/>
          </a:xfrm>
          <a:prstGeom prst="rect">
            <a:avLst/>
          </a:prstGeom>
          <a:noFill/>
          <a:ln/>
        </p:spPr>
        <p:txBody>
          <a:bodyPr wrap="square" lIns="0" tIns="0" rIns="0" bIns="0" rtlCol="0" anchor="ctr"/>
          <a:lstStyle/>
          <a:p>
            <a:pPr marL="0" indent="0">
              <a:lnSpc>
                <a:spcPts val="1700"/>
              </a:lnSpc>
              <a:buNone/>
            </a:pPr>
            <a:r>
              <a:rPr lang="en-US" sz="1250" dirty="0">
                <a:solidFill>
                  <a:srgbClr val="5F6368"/>
                </a:solidFill>
                <a:latin typeface="Calibri" pitchFamily="34" charset="0"/>
                <a:ea typeface="Calibri" pitchFamily="34" charset="-122"/>
                <a:cs typeface="Calibri" pitchFamily="34" charset="-120"/>
              </a:rPr>
              <a:t>A moving pressure disturbance is imposed, and its speed, direction, width and duration are varied.</a:t>
            </a:r>
            <a:endParaRPr lang="en-US" sz="1250" dirty="0"/>
          </a:p>
        </p:txBody>
      </p:sp>
      <p:sp>
        <p:nvSpPr>
          <p:cNvPr id="9" name="Shape 7"/>
          <p:cNvSpPr/>
          <p:nvPr/>
        </p:nvSpPr>
        <p:spPr>
          <a:xfrm>
            <a:off x="566928" y="3502152"/>
            <a:ext cx="402336" cy="402336"/>
          </a:xfrm>
          <a:prstGeom prst="ellipse">
            <a:avLst/>
          </a:prstGeom>
          <a:solidFill>
            <a:srgbClr val="065A82"/>
          </a:solidFill>
          <a:ln/>
        </p:spPr>
        <p:txBody>
          <a:bodyPr/>
          <a:lstStyle/>
          <a:p>
            <a:endParaRPr lang="it-IT"/>
          </a:p>
        </p:txBody>
      </p:sp>
      <p:sp>
        <p:nvSpPr>
          <p:cNvPr id="10" name="Text 8"/>
          <p:cNvSpPr txBox="1"/>
          <p:nvPr/>
        </p:nvSpPr>
        <p:spPr>
          <a:xfrm>
            <a:off x="566928" y="3502152"/>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88720" y="3483864"/>
            <a:ext cx="4572000" cy="292608"/>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Response surface</a:t>
            </a:r>
            <a:endParaRPr lang="en-US" sz="1450" dirty="0"/>
          </a:p>
        </p:txBody>
      </p:sp>
      <p:sp>
        <p:nvSpPr>
          <p:cNvPr id="12" name="Text 10"/>
          <p:cNvSpPr txBox="1"/>
          <p:nvPr/>
        </p:nvSpPr>
        <p:spPr>
          <a:xfrm>
            <a:off x="1188720" y="3794760"/>
            <a:ext cx="6035040" cy="658368"/>
          </a:xfrm>
          <a:prstGeom prst="rect">
            <a:avLst/>
          </a:prstGeom>
          <a:noFill/>
          <a:ln/>
        </p:spPr>
        <p:txBody>
          <a:bodyPr wrap="square" lIns="0" tIns="0" rIns="0" bIns="0" rtlCol="0" anchor="ctr"/>
          <a:lstStyle/>
          <a:p>
            <a:pPr marL="0" indent="0">
              <a:lnSpc>
                <a:spcPts val="1700"/>
              </a:lnSpc>
              <a:buNone/>
            </a:pPr>
            <a:r>
              <a:rPr lang="en-US" sz="1250" dirty="0">
                <a:solidFill>
                  <a:srgbClr val="5F6368"/>
                </a:solidFill>
                <a:latin typeface="Calibri" pitchFamily="34" charset="0"/>
                <a:ea typeface="Calibri" pitchFamily="34" charset="-122"/>
                <a:cs typeface="Calibri" pitchFamily="34" charset="-120"/>
              </a:rPr>
              <a:t>The output is a transfer function of the geometry, independent of any particular storm.</a:t>
            </a:r>
            <a:endParaRPr lang="en-US" sz="1250" dirty="0"/>
          </a:p>
        </p:txBody>
      </p:sp>
      <p:sp>
        <p:nvSpPr>
          <p:cNvPr id="13" name="Shape 11"/>
          <p:cNvSpPr/>
          <p:nvPr/>
        </p:nvSpPr>
        <p:spPr>
          <a:xfrm>
            <a:off x="566928" y="4672584"/>
            <a:ext cx="402336" cy="402336"/>
          </a:xfrm>
          <a:prstGeom prst="ellipse">
            <a:avLst/>
          </a:prstGeom>
          <a:solidFill>
            <a:srgbClr val="EB6834"/>
          </a:solidFill>
          <a:ln/>
        </p:spPr>
        <p:txBody>
          <a:bodyPr/>
          <a:lstStyle/>
          <a:p>
            <a:endParaRPr lang="it-IT"/>
          </a:p>
        </p:txBody>
      </p:sp>
      <p:sp>
        <p:nvSpPr>
          <p:cNvPr id="14" name="Text 12"/>
          <p:cNvSpPr txBox="1"/>
          <p:nvPr/>
        </p:nvSpPr>
        <p:spPr>
          <a:xfrm>
            <a:off x="566928" y="4672584"/>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88720" y="4654296"/>
            <a:ext cx="4572000" cy="292608"/>
          </a:xfrm>
          <a:prstGeom prst="rect">
            <a:avLst/>
          </a:prstGeom>
          <a:noFill/>
          <a:ln/>
        </p:spPr>
        <p:txBody>
          <a:bodyPr wrap="square" lIns="0" tIns="0" rIns="0" bIns="0" rtlCol="0" anchor="ctr"/>
          <a:lstStyle/>
          <a:p>
            <a:pPr marL="0" indent="0">
              <a:buNone/>
            </a:pPr>
            <a:r>
              <a:rPr lang="en-US" sz="1450" b="1" dirty="0">
                <a:solidFill>
                  <a:srgbClr val="1A1A1A"/>
                </a:solidFill>
                <a:latin typeface="Cambria" pitchFamily="34" charset="0"/>
                <a:ea typeface="Cambria" pitchFamily="34" charset="-122"/>
                <a:cs typeface="Cambria" pitchFamily="34" charset="-120"/>
              </a:rPr>
              <a:t>Test against the observations</a:t>
            </a:r>
            <a:endParaRPr lang="en-US" sz="1450" dirty="0"/>
          </a:p>
        </p:txBody>
      </p:sp>
      <p:sp>
        <p:nvSpPr>
          <p:cNvPr id="16" name="Text 14"/>
          <p:cNvSpPr txBox="1"/>
          <p:nvPr/>
        </p:nvSpPr>
        <p:spPr>
          <a:xfrm>
            <a:off x="1188720" y="4965192"/>
            <a:ext cx="6035040" cy="658368"/>
          </a:xfrm>
          <a:prstGeom prst="rect">
            <a:avLst/>
          </a:prstGeom>
          <a:noFill/>
          <a:ln/>
        </p:spPr>
        <p:txBody>
          <a:bodyPr wrap="square" lIns="0" tIns="0" rIns="0" bIns="0" rtlCol="0" anchor="ctr"/>
          <a:lstStyle/>
          <a:p>
            <a:pPr marL="0" indent="0">
              <a:lnSpc>
                <a:spcPts val="1700"/>
              </a:lnSpc>
              <a:buNone/>
            </a:pPr>
            <a:r>
              <a:rPr lang="en-US" sz="1250" dirty="0">
                <a:solidFill>
                  <a:srgbClr val="5F6368"/>
                </a:solidFill>
                <a:latin typeface="Calibri" pitchFamily="34" charset="0"/>
                <a:ea typeface="Calibri" pitchFamily="34" charset="-122"/>
                <a:cs typeface="Calibri" pitchFamily="34" charset="-120"/>
              </a:rPr>
              <a:t>The observations serve as the test rather than as the forcing, addressing whether recorded events occur under the conditions identified as resonant.</a:t>
            </a:r>
            <a:endParaRPr lang="en-US" sz="1250" dirty="0"/>
          </a:p>
        </p:txBody>
      </p:sp>
      <p:sp>
        <p:nvSpPr>
          <p:cNvPr id="17" name="Shape 15"/>
          <p:cNvSpPr/>
          <p:nvPr/>
        </p:nvSpPr>
        <p:spPr>
          <a:xfrm>
            <a:off x="7680960" y="2286000"/>
            <a:ext cx="3941064" cy="3108960"/>
          </a:xfrm>
          <a:prstGeom prst="roundRect">
            <a:avLst>
              <a:gd name="adj" fmla="val 1765"/>
            </a:avLst>
          </a:prstGeom>
          <a:solidFill>
            <a:srgbClr val="21295C"/>
          </a:solidFill>
          <a:ln/>
        </p:spPr>
        <p:txBody>
          <a:bodyPr/>
          <a:lstStyle/>
          <a:p>
            <a:endParaRPr lang="it-IT"/>
          </a:p>
        </p:txBody>
      </p:sp>
      <p:sp>
        <p:nvSpPr>
          <p:cNvPr id="18" name="Text 16"/>
          <p:cNvSpPr txBox="1"/>
          <p:nvPr/>
        </p:nvSpPr>
        <p:spPr>
          <a:xfrm>
            <a:off x="7955280" y="2487168"/>
            <a:ext cx="3429000" cy="548640"/>
          </a:xfrm>
          <a:prstGeom prst="rect">
            <a:avLst/>
          </a:prstGeom>
          <a:noFill/>
          <a:ln/>
        </p:spPr>
        <p:txBody>
          <a:bodyPr wrap="square" lIns="0" tIns="0" rIns="0" bIns="0" rtlCol="0" anchor="ctr"/>
          <a:lstStyle/>
          <a:p>
            <a:pPr marL="0" indent="0">
              <a:buNone/>
            </a:pPr>
            <a:r>
              <a:rPr lang="en-US" sz="1400" b="1" dirty="0">
                <a:solidFill>
                  <a:srgbClr val="EB6834"/>
                </a:solidFill>
                <a:latin typeface="Cambria" pitchFamily="34" charset="0"/>
                <a:ea typeface="Cambria" pitchFamily="34" charset="-122"/>
                <a:cs typeface="Cambria" pitchFamily="34" charset="-120"/>
              </a:rPr>
              <a:t>Bearing beyond the present study</a:t>
            </a:r>
            <a:endParaRPr lang="en-US" sz="1400" dirty="0"/>
          </a:p>
        </p:txBody>
      </p:sp>
      <p:sp>
        <p:nvSpPr>
          <p:cNvPr id="19" name="Text 17"/>
          <p:cNvSpPr txBox="1"/>
          <p:nvPr/>
        </p:nvSpPr>
        <p:spPr>
          <a:xfrm>
            <a:off x="7955280" y="3063240"/>
            <a:ext cx="3429000" cy="2103120"/>
          </a:xfrm>
          <a:prstGeom prst="rect">
            <a:avLst/>
          </a:prstGeom>
          <a:noFill/>
          <a:ln/>
        </p:spPr>
        <p:txBody>
          <a:bodyPr wrap="square" lIns="0" tIns="0" rIns="0" bIns="0" rtlCol="0" anchor="ctr"/>
          <a:lstStyle/>
          <a:p>
            <a:pPr marL="0" indent="0">
              <a:lnSpc>
                <a:spcPts val="1550"/>
              </a:lnSpc>
              <a:buNone/>
            </a:pPr>
            <a:r>
              <a:rPr lang="en-US" sz="1150" dirty="0">
                <a:solidFill>
                  <a:srgbClr val="CADCFC"/>
                </a:solidFill>
                <a:latin typeface="Calibri" pitchFamily="34" charset="0"/>
                <a:ea typeface="Calibri" pitchFamily="34" charset="-122"/>
                <a:cs typeface="Calibri" pitchFamily="34" charset="-120"/>
              </a:rPr>
              <a:t>A response surface is a property of the geometry, whereas climate change acts on the distribution of the forcing.
</a:t>
            </a:r>
            <a:endParaRPr lang="en-US" sz="1150" dirty="0"/>
          </a:p>
          <a:p>
            <a:pPr marL="0" indent="0">
              <a:lnSpc>
                <a:spcPts val="1550"/>
              </a:lnSpc>
              <a:buNone/>
            </a:pPr>
            <a:r>
              <a:rPr lang="en-US" sz="1150" dirty="0">
                <a:solidFill>
                  <a:srgbClr val="CADCFC"/>
                </a:solidFill>
                <a:latin typeface="Calibri" pitchFamily="34" charset="0"/>
                <a:ea typeface="Calibri" pitchFamily="34" charset="-122"/>
                <a:cs typeface="Calibri" pitchFamily="34" charset="-120"/>
              </a:rPr>
              <a:t>The two separate, so the surface is computed once and any later study with synoptic projections may convolve them without repeating the hydrodynamics.
</a:t>
            </a:r>
            <a:endParaRPr lang="en-US" sz="1150" dirty="0"/>
          </a:p>
          <a:p>
            <a:pPr marL="0" indent="0">
              <a:lnSpc>
                <a:spcPts val="1550"/>
              </a:lnSpc>
              <a:buNone/>
            </a:pPr>
            <a:r>
              <a:rPr lang="en-US" sz="1150" b="1" dirty="0">
                <a:solidFill>
                  <a:srgbClr val="FFFFFF"/>
                </a:solidFill>
                <a:latin typeface="Calibri" pitchFamily="34" charset="0"/>
                <a:ea typeface="Calibri" pitchFamily="34" charset="-122"/>
                <a:cs typeface="Calibri" pitchFamily="34" charset="-120"/>
              </a:rPr>
              <a:t>No climate scenario need be run through the model.</a:t>
            </a:r>
            <a:endParaRPr lang="en-US" sz="1150" dirty="0"/>
          </a:p>
        </p:txBody>
      </p:sp>
      <p:sp>
        <p:nvSpPr>
          <p:cNvPr id="20" name="Text 18"/>
          <p:cNvSpPr txBox="1"/>
          <p:nvPr/>
        </p:nvSpPr>
        <p:spPr>
          <a:xfrm>
            <a:off x="566928" y="6053328"/>
            <a:ext cx="11055096" cy="310896"/>
          </a:xfrm>
          <a:prstGeom prst="rect">
            <a:avLst/>
          </a:prstGeom>
          <a:noFill/>
          <a:ln/>
        </p:spPr>
        <p:txBody>
          <a:bodyPr wrap="square" lIns="0" tIns="0" rIns="0" bIns="0" rtlCol="0" anchor="ctr"/>
          <a:lstStyle/>
          <a:p>
            <a:pPr marL="0" indent="0">
              <a:buNone/>
            </a:pPr>
            <a:r>
              <a:rPr lang="en-US" sz="1050" i="1" dirty="0">
                <a:solidFill>
                  <a:srgbClr val="5F6368"/>
                </a:solidFill>
                <a:latin typeface="Calibri" pitchFamily="34" charset="0"/>
                <a:ea typeface="Calibri" pitchFamily="34" charset="-122"/>
                <a:cs typeface="Calibri" pitchFamily="34" charset="-120"/>
              </a:rPr>
              <a:t>The milgħuba floods Msida, at the head of Msida Creek inside Marsamxett, together with Marsaskala, Xemxija, Marsaxlokk and Sliema.</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OPEN QUESTIONS, OBSERVATIONS</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Requests on the observational record</a:t>
            </a:r>
            <a:endParaRPr lang="en-US" sz="3200" dirty="0"/>
          </a:p>
        </p:txBody>
      </p:sp>
      <p:sp>
        <p:nvSpPr>
          <p:cNvPr id="4" name="Text 2"/>
          <p:cNvSpPr txBox="1"/>
          <p:nvPr/>
        </p:nvSpPr>
        <p:spPr>
          <a:xfrm>
            <a:off x="566928" y="1408176"/>
            <a:ext cx="10881360" cy="585216"/>
          </a:xfrm>
          <a:prstGeom prst="rect">
            <a:avLst/>
          </a:prstGeom>
          <a:noFill/>
          <a:ln/>
        </p:spPr>
        <p:txBody>
          <a:bodyPr wrap="square" lIns="0" tIns="0" rIns="0" bIns="0" rtlCol="0" anchor="ctr"/>
          <a:lstStyle/>
          <a:p>
            <a:pPr marL="0" indent="0">
              <a:buNone/>
            </a:pPr>
            <a:r>
              <a:rPr lang="en-US" sz="1400" dirty="0">
                <a:solidFill>
                  <a:srgbClr val="5F6368"/>
                </a:solidFill>
                <a:latin typeface="Calibri" pitchFamily="34" charset="0"/>
                <a:ea typeface="Calibri" pitchFamily="34" charset="-122"/>
                <a:cs typeface="Calibri" pitchFamily="34" charset="-120"/>
              </a:rPr>
              <a:t>The test of the response surface rests on the dated events, none of which is resolved in the public records.</a:t>
            </a:r>
            <a:endParaRPr lang="en-US" sz="1400" dirty="0"/>
          </a:p>
        </p:txBody>
      </p:sp>
      <p:sp>
        <p:nvSpPr>
          <p:cNvPr id="5" name="Shape 3"/>
          <p:cNvSpPr/>
          <p:nvPr/>
        </p:nvSpPr>
        <p:spPr>
          <a:xfrm>
            <a:off x="566928" y="2377440"/>
            <a:ext cx="402336" cy="402336"/>
          </a:xfrm>
          <a:prstGeom prst="ellipse">
            <a:avLst/>
          </a:prstGeom>
          <a:solidFill>
            <a:srgbClr val="065A82"/>
          </a:solidFill>
          <a:ln/>
        </p:spPr>
        <p:txBody>
          <a:bodyPr/>
          <a:lstStyle/>
          <a:p>
            <a:endParaRPr lang="it-IT"/>
          </a:p>
        </p:txBody>
      </p:sp>
      <p:sp>
        <p:nvSpPr>
          <p:cNvPr id="6" name="Text 4"/>
          <p:cNvSpPr txBox="1"/>
          <p:nvPr/>
        </p:nvSpPr>
        <p:spPr>
          <a:xfrm>
            <a:off x="566928" y="237744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33856" y="2350008"/>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Sea level from the archive of the group on the dates of the reported events</a:t>
            </a:r>
            <a:endParaRPr lang="en-US" sz="1280" dirty="0"/>
          </a:p>
        </p:txBody>
      </p:sp>
      <p:sp>
        <p:nvSpPr>
          <p:cNvPr id="8" name="Text 6"/>
          <p:cNvSpPr txBox="1"/>
          <p:nvPr/>
        </p:nvSpPr>
        <p:spPr>
          <a:xfrm>
            <a:off x="1133856" y="2834640"/>
            <a:ext cx="4828032" cy="1097280"/>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Senglea and Delimara at 5 s or one minute, for 29 June to 2 July 2022, 30 June to 2 July 2023 and 12 to 14 June 2024. The public copy on the JRC server resolves none of the three.</a:t>
            </a:r>
            <a:endParaRPr lang="en-US" sz="1100" dirty="0"/>
          </a:p>
        </p:txBody>
      </p:sp>
      <p:sp>
        <p:nvSpPr>
          <p:cNvPr id="9" name="Shape 7"/>
          <p:cNvSpPr/>
          <p:nvPr/>
        </p:nvSpPr>
        <p:spPr>
          <a:xfrm>
            <a:off x="6126480" y="2377440"/>
            <a:ext cx="402336" cy="402336"/>
          </a:xfrm>
          <a:prstGeom prst="ellipse">
            <a:avLst/>
          </a:prstGeom>
          <a:solidFill>
            <a:srgbClr val="1C7293"/>
          </a:solidFill>
          <a:ln/>
        </p:spPr>
        <p:txBody>
          <a:bodyPr/>
          <a:lstStyle/>
          <a:p>
            <a:endParaRPr lang="it-IT"/>
          </a:p>
        </p:txBody>
      </p:sp>
      <p:sp>
        <p:nvSpPr>
          <p:cNvPr id="10" name="Text 8"/>
          <p:cNvSpPr txBox="1"/>
          <p:nvPr/>
        </p:nvSpPr>
        <p:spPr>
          <a:xfrm>
            <a:off x="6126480" y="237744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6693408" y="2350008"/>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One-minute atmospheric pressure from the PORTO stations on the same dates</a:t>
            </a:r>
            <a:endParaRPr lang="en-US" sz="1280" dirty="0"/>
          </a:p>
        </p:txBody>
      </p:sp>
      <p:sp>
        <p:nvSpPr>
          <p:cNvPr id="12" name="Text 10"/>
          <p:cNvSpPr txBox="1"/>
          <p:nvPr/>
        </p:nvSpPr>
        <p:spPr>
          <a:xfrm>
            <a:off x="6693408" y="2834640"/>
            <a:ext cx="4828032" cy="1097280"/>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Elmo, Kordin and Msida first. The pressure signature is the disturbance that forces the milgħuba, and its speed and direction are the quantities located on the response surface.</a:t>
            </a:r>
            <a:endParaRPr lang="en-US" sz="1100" dirty="0"/>
          </a:p>
        </p:txBody>
      </p:sp>
      <p:sp>
        <p:nvSpPr>
          <p:cNvPr id="13" name="Shape 11"/>
          <p:cNvSpPr/>
          <p:nvPr/>
        </p:nvSpPr>
        <p:spPr>
          <a:xfrm>
            <a:off x="566928" y="4114800"/>
            <a:ext cx="402336" cy="402336"/>
          </a:xfrm>
          <a:prstGeom prst="ellipse">
            <a:avLst/>
          </a:prstGeom>
          <a:solidFill>
            <a:srgbClr val="065A82"/>
          </a:solidFill>
          <a:ln/>
        </p:spPr>
        <p:txBody>
          <a:bodyPr/>
          <a:lstStyle/>
          <a:p>
            <a:endParaRPr lang="it-IT"/>
          </a:p>
        </p:txBody>
      </p:sp>
      <p:sp>
        <p:nvSpPr>
          <p:cNvPr id="14" name="Text 12"/>
          <p:cNvSpPr txBox="1"/>
          <p:nvPr/>
        </p:nvSpPr>
        <p:spPr>
          <a:xfrm>
            <a:off x="566928" y="41148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33856" y="4087368"/>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History of the Senglea installation</a:t>
            </a:r>
            <a:endParaRPr lang="en-US" sz="1280" dirty="0"/>
          </a:p>
        </p:txBody>
      </p:sp>
      <p:sp>
        <p:nvSpPr>
          <p:cNvPr id="16" name="Text 14"/>
          <p:cNvSpPr txBox="1"/>
          <p:nvPr/>
        </p:nvSpPr>
        <p:spPr>
          <a:xfrm>
            <a:off x="1133856" y="4572000"/>
            <a:ext cx="4828032" cy="1097280"/>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The two windows admitted to the analysis, the cause of the gaps of 2022 and of the displacement of some 2 m from April 2023, whether the gauge was relocated, and whether the IDSL units on the JRC server are the instruments of the group.</a:t>
            </a:r>
            <a:endParaRPr lang="en-US" sz="1100" dirty="0"/>
          </a:p>
        </p:txBody>
      </p:sp>
      <p:sp>
        <p:nvSpPr>
          <p:cNvPr id="17" name="Shape 15"/>
          <p:cNvSpPr/>
          <p:nvPr/>
        </p:nvSpPr>
        <p:spPr>
          <a:xfrm>
            <a:off x="6126480" y="4114800"/>
            <a:ext cx="402336" cy="402336"/>
          </a:xfrm>
          <a:prstGeom prst="ellipse">
            <a:avLst/>
          </a:prstGeom>
          <a:solidFill>
            <a:srgbClr val="1C7293"/>
          </a:solidFill>
          <a:ln/>
        </p:spPr>
        <p:txBody>
          <a:bodyPr/>
          <a:lstStyle/>
          <a:p>
            <a:endParaRPr lang="it-IT"/>
          </a:p>
        </p:txBody>
      </p:sp>
      <p:sp>
        <p:nvSpPr>
          <p:cNvPr id="18" name="Text 16"/>
          <p:cNvSpPr txBox="1"/>
          <p:nvPr/>
        </p:nvSpPr>
        <p:spPr>
          <a:xfrm>
            <a:off x="6126480" y="411480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6693408" y="4087368"/>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The Portomaso record at one minute or finer</a:t>
            </a:r>
            <a:endParaRPr lang="en-US" sz="1280" dirty="0"/>
          </a:p>
        </p:txBody>
      </p:sp>
      <p:sp>
        <p:nvSpPr>
          <p:cNvPr id="20" name="Text 18"/>
          <p:cNvSpPr txBox="1"/>
          <p:nvPr/>
        </p:nvSpPr>
        <p:spPr>
          <a:xfrm>
            <a:off x="6693408" y="4572000"/>
            <a:ext cx="4828032" cy="1097280"/>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A gauge outside both basins on the same coast separates the two readings of the 23-minute peak, and extends the event record to the years before the Senglea installation.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66928" y="438912"/>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OPEN QUESTIONS, SCOPE AND CONFIGURATION</a:t>
            </a:r>
            <a:endParaRPr lang="en-US" sz="1200" dirty="0"/>
          </a:p>
        </p:txBody>
      </p:sp>
      <p:sp>
        <p:nvSpPr>
          <p:cNvPr id="3" name="Text 1"/>
          <p:cNvSpPr txBox="1"/>
          <p:nvPr/>
        </p:nvSpPr>
        <p:spPr>
          <a:xfrm>
            <a:off x="566928" y="749808"/>
            <a:ext cx="10972800" cy="658368"/>
          </a:xfrm>
          <a:prstGeom prst="rect">
            <a:avLst/>
          </a:prstGeom>
          <a:noFill/>
          <a:ln/>
        </p:spPr>
        <p:txBody>
          <a:bodyPr wrap="square" lIns="0" tIns="0" rIns="0" bIns="0"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Questions on scope and configuration</a:t>
            </a:r>
            <a:endParaRPr lang="en-US" sz="3200" dirty="0"/>
          </a:p>
        </p:txBody>
      </p:sp>
      <p:sp>
        <p:nvSpPr>
          <p:cNvPr id="4" name="Shape 2"/>
          <p:cNvSpPr/>
          <p:nvPr/>
        </p:nvSpPr>
        <p:spPr>
          <a:xfrm>
            <a:off x="566928" y="1874520"/>
            <a:ext cx="402336" cy="402336"/>
          </a:xfrm>
          <a:prstGeom prst="ellipse">
            <a:avLst/>
          </a:prstGeom>
          <a:solidFill>
            <a:srgbClr val="065A82"/>
          </a:solidFill>
          <a:ln/>
        </p:spPr>
        <p:txBody>
          <a:bodyPr/>
          <a:lstStyle/>
          <a:p>
            <a:endParaRPr lang="it-IT"/>
          </a:p>
        </p:txBody>
      </p:sp>
      <p:sp>
        <p:nvSpPr>
          <p:cNvPr id="5" name="Text 3"/>
          <p:cNvSpPr txBox="1"/>
          <p:nvPr/>
        </p:nvSpPr>
        <p:spPr>
          <a:xfrm>
            <a:off x="566928" y="18745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6" name="Text 4"/>
          <p:cNvSpPr txBox="1"/>
          <p:nvPr/>
        </p:nvSpPr>
        <p:spPr>
          <a:xfrm>
            <a:off x="1133856" y="1847088"/>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Appropriateness of the sensitivity exercise on the harbour mouth, and the present geometry of the entrance</a:t>
            </a:r>
            <a:endParaRPr lang="en-US" sz="1280" dirty="0"/>
          </a:p>
        </p:txBody>
      </p:sp>
      <p:sp>
        <p:nvSpPr>
          <p:cNvPr id="7" name="Text 5"/>
          <p:cNvSpPr txBox="1"/>
          <p:nvPr/>
        </p:nvSpPr>
        <p:spPr>
          <a:xfrm>
            <a:off x="1133856" y="2331720"/>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The exercise is a response curve over the class of basin and carries no assessment of the project in consultation. Whether the 120 m Ricasoli arm narrows the present opening bears on the computed mode.</a:t>
            </a:r>
            <a:endParaRPr lang="en-US" sz="1100" dirty="0"/>
          </a:p>
        </p:txBody>
      </p:sp>
      <p:sp>
        <p:nvSpPr>
          <p:cNvPr id="8" name="Shape 6"/>
          <p:cNvSpPr/>
          <p:nvPr/>
        </p:nvSpPr>
        <p:spPr>
          <a:xfrm>
            <a:off x="6126480" y="1874520"/>
            <a:ext cx="402336" cy="402336"/>
          </a:xfrm>
          <a:prstGeom prst="ellipse">
            <a:avLst/>
          </a:prstGeom>
          <a:solidFill>
            <a:srgbClr val="1C7293"/>
          </a:solidFill>
          <a:ln/>
        </p:spPr>
        <p:txBody>
          <a:bodyPr/>
          <a:lstStyle/>
          <a:p>
            <a:endParaRPr lang="it-IT"/>
          </a:p>
        </p:txBody>
      </p:sp>
      <p:sp>
        <p:nvSpPr>
          <p:cNvPr id="9" name="Text 7"/>
          <p:cNvSpPr txBox="1"/>
          <p:nvPr/>
        </p:nvSpPr>
        <p:spPr>
          <a:xfrm>
            <a:off x="6126480" y="1874520"/>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0" name="Text 8"/>
          <p:cNvSpPr txBox="1"/>
          <p:nvPr/>
        </p:nvSpPr>
        <p:spPr>
          <a:xfrm>
            <a:off x="6693408" y="1847088"/>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Extent of prior work on the generation of the wave</a:t>
            </a:r>
            <a:endParaRPr lang="en-US" sz="1280" dirty="0"/>
          </a:p>
        </p:txBody>
      </p:sp>
      <p:sp>
        <p:nvSpPr>
          <p:cNvPr id="11" name="Text 9"/>
          <p:cNvSpPr txBox="1"/>
          <p:nvPr/>
        </p:nvSpPr>
        <p:spPr>
          <a:xfrm>
            <a:off x="6693408" y="2331720"/>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The 2007 study imposes the long wave at the offshore boundary. Unpublished material, dissertations and consultancy reports may have treated its generation over the shelf, which the published record does not show.</a:t>
            </a:r>
            <a:endParaRPr lang="en-US" sz="1100" dirty="0"/>
          </a:p>
        </p:txBody>
      </p:sp>
      <p:sp>
        <p:nvSpPr>
          <p:cNvPr id="12" name="Shape 10"/>
          <p:cNvSpPr/>
          <p:nvPr/>
        </p:nvSpPr>
        <p:spPr>
          <a:xfrm>
            <a:off x="566928" y="3355848"/>
            <a:ext cx="402336" cy="402336"/>
          </a:xfrm>
          <a:prstGeom prst="ellipse">
            <a:avLst/>
          </a:prstGeom>
          <a:solidFill>
            <a:srgbClr val="065A82"/>
          </a:solidFill>
          <a:ln/>
        </p:spPr>
        <p:txBody>
          <a:bodyPr/>
          <a:lstStyle/>
          <a:p>
            <a:endParaRPr lang="it-IT"/>
          </a:p>
        </p:txBody>
      </p:sp>
      <p:sp>
        <p:nvSpPr>
          <p:cNvPr id="13" name="Text 11"/>
          <p:cNvSpPr txBox="1"/>
          <p:nvPr/>
        </p:nvSpPr>
        <p:spPr>
          <a:xfrm>
            <a:off x="566928" y="33558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4" name="Text 12"/>
          <p:cNvSpPr txBox="1"/>
          <p:nvPr/>
        </p:nvSpPr>
        <p:spPr>
          <a:xfrm>
            <a:off x="1133856" y="3328416"/>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Elements of ROSARIO-SHYFEM to be reflected in the configuration</a:t>
            </a:r>
            <a:endParaRPr lang="en-US" sz="1280" dirty="0"/>
          </a:p>
        </p:txBody>
      </p:sp>
      <p:sp>
        <p:nvSpPr>
          <p:cNvPr id="15" name="Text 13"/>
          <p:cNvSpPr txBox="1"/>
          <p:nvPr/>
        </p:nvSpPr>
        <p:spPr>
          <a:xfrm>
            <a:off x="1133856" y="3813048"/>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The treatment of the open boundary and the bathymetry inside the harbours, in particular at the heads of Msida and Pietà Creeks, where the 10 m grid has gaps.</a:t>
            </a:r>
            <a:endParaRPr lang="en-US" sz="1100" dirty="0"/>
          </a:p>
        </p:txBody>
      </p:sp>
      <p:sp>
        <p:nvSpPr>
          <p:cNvPr id="16" name="Shape 14"/>
          <p:cNvSpPr/>
          <p:nvPr/>
        </p:nvSpPr>
        <p:spPr>
          <a:xfrm>
            <a:off x="6126480" y="3355848"/>
            <a:ext cx="402336" cy="402336"/>
          </a:xfrm>
          <a:prstGeom prst="ellipse">
            <a:avLst/>
          </a:prstGeom>
          <a:solidFill>
            <a:srgbClr val="1C7293"/>
          </a:solidFill>
          <a:ln/>
        </p:spPr>
        <p:txBody>
          <a:bodyPr/>
          <a:lstStyle/>
          <a:p>
            <a:endParaRPr lang="it-IT"/>
          </a:p>
        </p:txBody>
      </p:sp>
      <p:sp>
        <p:nvSpPr>
          <p:cNvPr id="17" name="Text 15"/>
          <p:cNvSpPr txBox="1"/>
          <p:nvPr/>
        </p:nvSpPr>
        <p:spPr>
          <a:xfrm>
            <a:off x="6126480" y="3355848"/>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18" name="Text 16"/>
          <p:cNvSpPr txBox="1"/>
          <p:nvPr/>
        </p:nvSpPr>
        <p:spPr>
          <a:xfrm>
            <a:off x="6693408" y="3328416"/>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Currents, stratification and waves inside and near the harbours</a:t>
            </a:r>
            <a:endParaRPr lang="en-US" sz="1280" dirty="0"/>
          </a:p>
        </p:txBody>
      </p:sp>
      <p:sp>
        <p:nvSpPr>
          <p:cNvPr id="19" name="Text 17"/>
          <p:cNvSpPr txBox="1"/>
          <p:nvPr/>
        </p:nvSpPr>
        <p:spPr>
          <a:xfrm>
            <a:off x="6693408" y="3813048"/>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No instrument reports the current field or the stratification of the inner inlets. Wave validation rests on the BLUE buoy, 3.7 km offshore, the radar wave product being derived rather than measured.</a:t>
            </a:r>
            <a:endParaRPr lang="en-US" sz="1100" dirty="0"/>
          </a:p>
        </p:txBody>
      </p:sp>
      <p:sp>
        <p:nvSpPr>
          <p:cNvPr id="20" name="Shape 18"/>
          <p:cNvSpPr/>
          <p:nvPr/>
        </p:nvSpPr>
        <p:spPr>
          <a:xfrm>
            <a:off x="566928" y="4837176"/>
            <a:ext cx="402336" cy="402336"/>
          </a:xfrm>
          <a:prstGeom prst="ellipse">
            <a:avLst/>
          </a:prstGeom>
          <a:solidFill>
            <a:srgbClr val="065A82"/>
          </a:solidFill>
          <a:ln/>
        </p:spPr>
        <p:txBody>
          <a:bodyPr/>
          <a:lstStyle/>
          <a:p>
            <a:endParaRPr lang="it-IT"/>
          </a:p>
        </p:txBody>
      </p:sp>
      <p:sp>
        <p:nvSpPr>
          <p:cNvPr id="21" name="Text 19"/>
          <p:cNvSpPr txBox="1"/>
          <p:nvPr/>
        </p:nvSpPr>
        <p:spPr>
          <a:xfrm>
            <a:off x="566928" y="4837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22" name="Text 20"/>
          <p:cNvSpPr txBox="1"/>
          <p:nvPr/>
        </p:nvSpPr>
        <p:spPr>
          <a:xfrm>
            <a:off x="1133856" y="4809744"/>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Levelling datum of the bathymetry against the zeros of the tide gauges</a:t>
            </a:r>
            <a:endParaRPr lang="en-US" sz="1280" dirty="0"/>
          </a:p>
        </p:txBody>
      </p:sp>
      <p:sp>
        <p:nvSpPr>
          <p:cNvPr id="23" name="Text 21"/>
          <p:cNvSpPr txBox="1"/>
          <p:nvPr/>
        </p:nvSpPr>
        <p:spPr>
          <a:xfrm>
            <a:off x="1133856" y="5294376"/>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The files declare ellipsoidal heights while the data are orthometric. The offset against the gauges used for validation remains to be established.</a:t>
            </a:r>
            <a:endParaRPr lang="en-US" sz="1100" dirty="0"/>
          </a:p>
        </p:txBody>
      </p:sp>
      <p:sp>
        <p:nvSpPr>
          <p:cNvPr id="24" name="Shape 22"/>
          <p:cNvSpPr/>
          <p:nvPr/>
        </p:nvSpPr>
        <p:spPr>
          <a:xfrm>
            <a:off x="6126480" y="4837176"/>
            <a:ext cx="402336" cy="402336"/>
          </a:xfrm>
          <a:prstGeom prst="ellipse">
            <a:avLst/>
          </a:prstGeom>
          <a:solidFill>
            <a:srgbClr val="1C7293"/>
          </a:solidFill>
          <a:ln/>
        </p:spPr>
        <p:txBody>
          <a:bodyPr/>
          <a:lstStyle/>
          <a:p>
            <a:endParaRPr lang="it-IT"/>
          </a:p>
        </p:txBody>
      </p:sp>
      <p:sp>
        <p:nvSpPr>
          <p:cNvPr id="25" name="Text 23"/>
          <p:cNvSpPr txBox="1"/>
          <p:nvPr/>
        </p:nvSpPr>
        <p:spPr>
          <a:xfrm>
            <a:off x="6126480" y="4837176"/>
            <a:ext cx="402336" cy="402336"/>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26" name="Text 24"/>
          <p:cNvSpPr txBox="1"/>
          <p:nvPr/>
        </p:nvSpPr>
        <p:spPr>
          <a:xfrm>
            <a:off x="6693408" y="4809744"/>
            <a:ext cx="4828032" cy="475488"/>
          </a:xfrm>
          <a:prstGeom prst="rect">
            <a:avLst/>
          </a:prstGeom>
          <a:noFill/>
          <a:ln/>
        </p:spPr>
        <p:txBody>
          <a:bodyPr wrap="square" lIns="0" tIns="0" rIns="0" bIns="0" rtlCol="0" anchor="ctr"/>
          <a:lstStyle/>
          <a:p>
            <a:pPr marL="0" indent="0">
              <a:lnSpc>
                <a:spcPts val="1600"/>
              </a:lnSpc>
              <a:buNone/>
            </a:pPr>
            <a:r>
              <a:rPr lang="en-US" sz="1280" b="1" dirty="0">
                <a:solidFill>
                  <a:srgbClr val="1A1A1A"/>
                </a:solidFill>
                <a:latin typeface="Calibri" pitchFamily="34" charset="0"/>
                <a:ea typeface="Calibri" pitchFamily="34" charset="-122"/>
                <a:cs typeface="Calibri" pitchFamily="34" charset="-120"/>
              </a:rPr>
              <a:t>Storm Harry, January 2026, as the validation case</a:t>
            </a:r>
            <a:endParaRPr lang="en-US" sz="1280" dirty="0"/>
          </a:p>
        </p:txBody>
      </p:sp>
      <p:sp>
        <p:nvSpPr>
          <p:cNvPr id="27" name="Text 25"/>
          <p:cNvSpPr txBox="1"/>
          <p:nvPr/>
        </p:nvSpPr>
        <p:spPr>
          <a:xfrm>
            <a:off x="6693408" y="5294376"/>
            <a:ext cx="4828032" cy="896112"/>
          </a:xfrm>
          <a:prstGeom prst="rect">
            <a:avLst/>
          </a:prstGeom>
          <a:noFill/>
          <a:ln/>
        </p:spPr>
        <p:txBody>
          <a:bodyPr wrap="square" lIns="0" tIns="0" rIns="0" bIns="0" rtlCol="0" anchor="t"/>
          <a:lstStyle/>
          <a:p>
            <a:pPr marL="0" indent="0">
              <a:lnSpc>
                <a:spcPts val="1450"/>
              </a:lnSpc>
              <a:buNone/>
            </a:pPr>
            <a:r>
              <a:rPr lang="en-US" sz="1100" dirty="0">
                <a:solidFill>
                  <a:srgbClr val="5F6368"/>
                </a:solidFill>
                <a:latin typeface="Calibri" pitchFamily="34" charset="0"/>
                <a:ea typeface="Calibri" pitchFamily="34" charset="-122"/>
                <a:cs typeface="Calibri" pitchFamily="34" charset="-120"/>
              </a:rPr>
              <a:t>The account of the event from the monitoring network of the group would supply the storm case for the validation of the coupled wave and current configuration.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1737360" y="3840480"/>
            <a:ext cx="4754880" cy="4754880"/>
          </a:xfrm>
          <a:prstGeom prst="ellipse">
            <a:avLst/>
          </a:prstGeom>
          <a:solidFill>
            <a:srgbClr val="065A82">
              <a:alpha val="40000"/>
            </a:srgbClr>
          </a:solidFill>
          <a:ln/>
        </p:spPr>
        <p:txBody>
          <a:bodyPr/>
          <a:lstStyle/>
          <a:p>
            <a:endParaRPr lang="it-IT"/>
          </a:p>
        </p:txBody>
      </p:sp>
      <p:sp>
        <p:nvSpPr>
          <p:cNvPr id="3" name="Text 1"/>
          <p:cNvSpPr txBox="1"/>
          <p:nvPr/>
        </p:nvSpPr>
        <p:spPr>
          <a:xfrm>
            <a:off x="566928" y="640080"/>
            <a:ext cx="8229600" cy="274320"/>
          </a:xfrm>
          <a:prstGeom prst="rect">
            <a:avLst/>
          </a:prstGeom>
          <a:noFill/>
          <a:ln/>
        </p:spPr>
        <p:txBody>
          <a:bodyPr wrap="square" lIns="0" tIns="0" rIns="0" bIns="0" rtlCol="0" anchor="ctr"/>
          <a:lstStyle/>
          <a:p>
            <a:pPr marL="0" indent="0">
              <a:buNone/>
            </a:pPr>
            <a:r>
              <a:rPr lang="en-US" sz="1200" b="1" kern="0" spc="200" dirty="0">
                <a:solidFill>
                  <a:srgbClr val="EB6834"/>
                </a:solidFill>
                <a:latin typeface="Calibri" pitchFamily="34" charset="0"/>
                <a:ea typeface="Calibri" pitchFamily="34" charset="-122"/>
                <a:cs typeface="Calibri" pitchFamily="34" charset="-120"/>
              </a:rPr>
              <a:t>SEQUENCE</a:t>
            </a:r>
            <a:endParaRPr lang="en-US" sz="1200" dirty="0"/>
          </a:p>
        </p:txBody>
      </p:sp>
      <p:sp>
        <p:nvSpPr>
          <p:cNvPr id="4" name="Text 2"/>
          <p:cNvSpPr txBox="1"/>
          <p:nvPr/>
        </p:nvSpPr>
        <p:spPr>
          <a:xfrm>
            <a:off x="566928" y="96012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Sequence to the first production runs</a:t>
            </a:r>
            <a:endParaRPr lang="en-US" sz="3000" dirty="0"/>
          </a:p>
        </p:txBody>
      </p:sp>
      <p:sp>
        <p:nvSpPr>
          <p:cNvPr id="5" name="Shape 3"/>
          <p:cNvSpPr/>
          <p:nvPr/>
        </p:nvSpPr>
        <p:spPr>
          <a:xfrm>
            <a:off x="612648" y="2057400"/>
            <a:ext cx="155448" cy="155448"/>
          </a:xfrm>
          <a:prstGeom prst="ellipse">
            <a:avLst/>
          </a:prstGeom>
          <a:solidFill>
            <a:srgbClr val="CADCFC"/>
          </a:solidFill>
          <a:ln/>
        </p:spPr>
        <p:txBody>
          <a:bodyPr/>
          <a:lstStyle/>
          <a:p>
            <a:endParaRPr lang="it-IT"/>
          </a:p>
        </p:txBody>
      </p:sp>
      <p:sp>
        <p:nvSpPr>
          <p:cNvPr id="6" name="Text 4"/>
          <p:cNvSpPr txBox="1"/>
          <p:nvPr/>
        </p:nvSpPr>
        <p:spPr>
          <a:xfrm>
            <a:off x="978408" y="1965960"/>
            <a:ext cx="2011680" cy="301752"/>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Completed</a:t>
            </a:r>
            <a:endParaRPr lang="en-US" sz="1300" dirty="0"/>
          </a:p>
        </p:txBody>
      </p:sp>
      <p:sp>
        <p:nvSpPr>
          <p:cNvPr id="7" name="Text 5"/>
          <p:cNvSpPr txBox="1"/>
          <p:nvPr/>
        </p:nvSpPr>
        <p:spPr>
          <a:xfrm>
            <a:off x="3035808" y="1965960"/>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Basin modes, pulse test of the boundary, Senglea spectrum, mesh of the domain.</a:t>
            </a:r>
            <a:endParaRPr lang="en-US" sz="1200" dirty="0"/>
          </a:p>
        </p:txBody>
      </p:sp>
      <p:sp>
        <p:nvSpPr>
          <p:cNvPr id="8" name="Shape 6"/>
          <p:cNvSpPr/>
          <p:nvPr/>
        </p:nvSpPr>
        <p:spPr>
          <a:xfrm>
            <a:off x="612648" y="2898648"/>
            <a:ext cx="155448" cy="155448"/>
          </a:xfrm>
          <a:prstGeom prst="ellipse">
            <a:avLst/>
          </a:prstGeom>
          <a:solidFill>
            <a:srgbClr val="CADCFC"/>
          </a:solidFill>
          <a:ln/>
        </p:spPr>
        <p:txBody>
          <a:bodyPr/>
          <a:lstStyle/>
          <a:p>
            <a:endParaRPr lang="it-IT"/>
          </a:p>
        </p:txBody>
      </p:sp>
      <p:sp>
        <p:nvSpPr>
          <p:cNvPr id="9" name="Text 7"/>
          <p:cNvSpPr txBox="1"/>
          <p:nvPr/>
        </p:nvSpPr>
        <p:spPr>
          <a:xfrm>
            <a:off x="978408" y="2807208"/>
            <a:ext cx="2011680" cy="301752"/>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October</a:t>
            </a:r>
            <a:endParaRPr lang="en-US" sz="1300" dirty="0"/>
          </a:p>
        </p:txBody>
      </p:sp>
      <p:sp>
        <p:nvSpPr>
          <p:cNvPr id="10" name="Text 8"/>
          <p:cNvSpPr txBox="1"/>
          <p:nvPr/>
        </p:nvSpPr>
        <p:spPr>
          <a:xfrm>
            <a:off x="3035808" y="2807208"/>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Bathymetry at the heads of Msida and Pietà Creeks, remaining boundary tests, response of the mesh to a broadband impulse.</a:t>
            </a:r>
            <a:endParaRPr lang="en-US" sz="1200" dirty="0"/>
          </a:p>
        </p:txBody>
      </p:sp>
      <p:sp>
        <p:nvSpPr>
          <p:cNvPr id="11" name="Shape 9"/>
          <p:cNvSpPr/>
          <p:nvPr/>
        </p:nvSpPr>
        <p:spPr>
          <a:xfrm>
            <a:off x="612648" y="3739896"/>
            <a:ext cx="155448" cy="155448"/>
          </a:xfrm>
          <a:prstGeom prst="ellipse">
            <a:avLst/>
          </a:prstGeom>
          <a:solidFill>
            <a:srgbClr val="EB6834"/>
          </a:solidFill>
          <a:ln/>
        </p:spPr>
        <p:txBody>
          <a:bodyPr/>
          <a:lstStyle/>
          <a:p>
            <a:endParaRPr lang="it-IT"/>
          </a:p>
        </p:txBody>
      </p:sp>
      <p:sp>
        <p:nvSpPr>
          <p:cNvPr id="12" name="Text 10"/>
          <p:cNvSpPr txBox="1"/>
          <p:nvPr/>
        </p:nvSpPr>
        <p:spPr>
          <a:xfrm>
            <a:off x="978408" y="3648456"/>
            <a:ext cx="2011680" cy="301752"/>
          </a:xfrm>
          <a:prstGeom prst="rect">
            <a:avLst/>
          </a:prstGeom>
          <a:noFill/>
          <a:ln/>
        </p:spPr>
        <p:txBody>
          <a:bodyPr wrap="square" lIns="0" tIns="0" rIns="0" bIns="0" rtlCol="0" anchor="t"/>
          <a:lstStyle/>
          <a:p>
            <a:pPr marL="0" indent="0">
              <a:buNone/>
            </a:pPr>
            <a:r>
              <a:rPr lang="en-US" sz="1300" b="1" dirty="0">
                <a:solidFill>
                  <a:srgbClr val="EB6834"/>
                </a:solidFill>
                <a:latin typeface="Calibri" pitchFamily="34" charset="0"/>
                <a:ea typeface="Calibri" pitchFamily="34" charset="-122"/>
                <a:cs typeface="Calibri" pitchFamily="34" charset="-120"/>
              </a:rPr>
              <a:t>19 October</a:t>
            </a:r>
            <a:endParaRPr lang="en-US" sz="1300" dirty="0"/>
          </a:p>
        </p:txBody>
      </p:sp>
      <p:sp>
        <p:nvSpPr>
          <p:cNvPr id="13" name="Text 11"/>
          <p:cNvSpPr txBox="1"/>
          <p:nvPr/>
        </p:nvSpPr>
        <p:spPr>
          <a:xfrm>
            <a:off x="3035808" y="3648456"/>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Delft3D User Days abstract.</a:t>
            </a:r>
            <a:endParaRPr lang="en-US" sz="1200" dirty="0"/>
          </a:p>
        </p:txBody>
      </p:sp>
      <p:sp>
        <p:nvSpPr>
          <p:cNvPr id="14" name="Shape 12"/>
          <p:cNvSpPr/>
          <p:nvPr/>
        </p:nvSpPr>
        <p:spPr>
          <a:xfrm>
            <a:off x="612648" y="4581144"/>
            <a:ext cx="155448" cy="155448"/>
          </a:xfrm>
          <a:prstGeom prst="ellipse">
            <a:avLst/>
          </a:prstGeom>
          <a:solidFill>
            <a:srgbClr val="CADCFC"/>
          </a:solidFill>
          <a:ln/>
        </p:spPr>
        <p:txBody>
          <a:bodyPr/>
          <a:lstStyle/>
          <a:p>
            <a:endParaRPr lang="it-IT"/>
          </a:p>
        </p:txBody>
      </p:sp>
      <p:sp>
        <p:nvSpPr>
          <p:cNvPr id="15" name="Text 13"/>
          <p:cNvSpPr txBox="1"/>
          <p:nvPr/>
        </p:nvSpPr>
        <p:spPr>
          <a:xfrm>
            <a:off x="978408" y="4489704"/>
            <a:ext cx="2011680" cy="301752"/>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2 to 4 November</a:t>
            </a:r>
            <a:endParaRPr lang="en-US" sz="1300" dirty="0"/>
          </a:p>
        </p:txBody>
      </p:sp>
      <p:sp>
        <p:nvSpPr>
          <p:cNvPr id="16" name="Text 14"/>
          <p:cNvSpPr txBox="1"/>
          <p:nvPr/>
        </p:nvSpPr>
        <p:spPr>
          <a:xfrm>
            <a:off x="3035808" y="4489704"/>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Delft3D User Days at Deltares, with the configuration questions.</a:t>
            </a:r>
            <a:endParaRPr lang="en-US" sz="1200" dirty="0"/>
          </a:p>
        </p:txBody>
      </p:sp>
      <p:sp>
        <p:nvSpPr>
          <p:cNvPr id="17" name="Shape 15"/>
          <p:cNvSpPr/>
          <p:nvPr/>
        </p:nvSpPr>
        <p:spPr>
          <a:xfrm>
            <a:off x="612648" y="5422392"/>
            <a:ext cx="155448" cy="155448"/>
          </a:xfrm>
          <a:prstGeom prst="ellipse">
            <a:avLst/>
          </a:prstGeom>
          <a:solidFill>
            <a:srgbClr val="CADCFC"/>
          </a:solidFill>
          <a:ln/>
        </p:spPr>
        <p:txBody>
          <a:bodyPr/>
          <a:lstStyle/>
          <a:p>
            <a:endParaRPr lang="it-IT"/>
          </a:p>
        </p:txBody>
      </p:sp>
      <p:sp>
        <p:nvSpPr>
          <p:cNvPr id="18" name="Text 16"/>
          <p:cNvSpPr txBox="1"/>
          <p:nvPr/>
        </p:nvSpPr>
        <p:spPr>
          <a:xfrm>
            <a:off x="978408" y="5330952"/>
            <a:ext cx="2011680" cy="301752"/>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November</a:t>
            </a:r>
            <a:endParaRPr lang="en-US" sz="1300" dirty="0"/>
          </a:p>
        </p:txBody>
      </p:sp>
      <p:sp>
        <p:nvSpPr>
          <p:cNvPr id="19" name="Text 17"/>
          <p:cNvSpPr txBox="1"/>
          <p:nvPr/>
        </p:nvSpPr>
        <p:spPr>
          <a:xfrm>
            <a:off x="3035808" y="5330952"/>
            <a:ext cx="3657600" cy="731520"/>
          </a:xfrm>
          <a:prstGeom prst="rect">
            <a:avLst/>
          </a:prstGeom>
          <a:noFill/>
          <a:ln/>
        </p:spPr>
        <p:txBody>
          <a:bodyPr wrap="square" lIns="0" tIns="0" rIns="0" bIns="0" rtlCol="0" anchor="t"/>
          <a:lstStyle/>
          <a:p>
            <a:pPr marL="0" indent="0">
              <a:lnSpc>
                <a:spcPts val="1500"/>
              </a:lnSpc>
              <a:buNone/>
            </a:pPr>
            <a:r>
              <a:rPr lang="en-US" sz="1200" dirty="0">
                <a:solidFill>
                  <a:srgbClr val="9FB3D1"/>
                </a:solidFill>
                <a:latin typeface="Calibri" pitchFamily="34" charset="0"/>
                <a:ea typeface="Calibri" pitchFamily="34" charset="-122"/>
                <a:cs typeface="Calibri" pitchFamily="34" charset="-120"/>
              </a:rPr>
              <a:t>Parametric sweep in two dimensions, first three-dimensional runs.</a:t>
            </a:r>
            <a:endParaRPr lang="en-US" sz="1200" dirty="0"/>
          </a:p>
        </p:txBody>
      </p:sp>
      <p:sp>
        <p:nvSpPr>
          <p:cNvPr id="20" name="Shape 18"/>
          <p:cNvSpPr/>
          <p:nvPr/>
        </p:nvSpPr>
        <p:spPr>
          <a:xfrm>
            <a:off x="6858000" y="1965960"/>
            <a:ext cx="4764024" cy="3108960"/>
          </a:xfrm>
          <a:prstGeom prst="roundRect">
            <a:avLst>
              <a:gd name="adj" fmla="val 1765"/>
            </a:avLst>
          </a:prstGeom>
          <a:solidFill>
            <a:srgbClr val="065A82">
              <a:alpha val="70000"/>
            </a:srgbClr>
          </a:solidFill>
          <a:ln/>
        </p:spPr>
        <p:txBody>
          <a:bodyPr/>
          <a:lstStyle/>
          <a:p>
            <a:endParaRPr lang="it-IT"/>
          </a:p>
        </p:txBody>
      </p:sp>
      <p:sp>
        <p:nvSpPr>
          <p:cNvPr id="21" name="Text 19"/>
          <p:cNvSpPr txBox="1"/>
          <p:nvPr/>
        </p:nvSpPr>
        <p:spPr>
          <a:xfrm>
            <a:off x="7132320" y="2176272"/>
            <a:ext cx="4206240" cy="274320"/>
          </a:xfrm>
          <a:prstGeom prst="rect">
            <a:avLst/>
          </a:prstGeom>
          <a:noFill/>
          <a:ln/>
        </p:spPr>
        <p:txBody>
          <a:bodyPr wrap="square" lIns="0" tIns="0" rIns="0" bIns="0" rtlCol="0" anchor="ctr"/>
          <a:lstStyle/>
          <a:p>
            <a:pPr marL="0" indent="0">
              <a:buNone/>
            </a:pPr>
            <a:r>
              <a:rPr lang="en-US" sz="1400" b="1" dirty="0">
                <a:solidFill>
                  <a:srgbClr val="EB6834"/>
                </a:solidFill>
                <a:latin typeface="Cambria" pitchFamily="34" charset="0"/>
                <a:ea typeface="Cambria" pitchFamily="34" charset="-122"/>
                <a:cs typeface="Cambria" pitchFamily="34" charset="-120"/>
              </a:rPr>
              <a:t>Beyond the period</a:t>
            </a:r>
            <a:endParaRPr lang="en-US" sz="1400" dirty="0"/>
          </a:p>
        </p:txBody>
      </p:sp>
      <p:sp>
        <p:nvSpPr>
          <p:cNvPr id="22" name="Text 20"/>
          <p:cNvSpPr txBox="1"/>
          <p:nvPr/>
        </p:nvSpPr>
        <p:spPr>
          <a:xfrm>
            <a:off x="7132320" y="2542032"/>
            <a:ext cx="4206240" cy="2286000"/>
          </a:xfrm>
          <a:prstGeom prst="rect">
            <a:avLst/>
          </a:prstGeom>
          <a:noFill/>
          <a:ln/>
        </p:spPr>
        <p:txBody>
          <a:bodyPr wrap="square" lIns="0" tIns="0" rIns="0" bIns="0" rtlCol="0" anchor="ctr"/>
          <a:lstStyle/>
          <a:p>
            <a:pPr marL="0" indent="0">
              <a:lnSpc>
                <a:spcPts val="1550"/>
              </a:lnSpc>
              <a:spcAft>
                <a:spcPts val="900"/>
              </a:spcAft>
              <a:buNone/>
            </a:pPr>
            <a:r>
              <a:rPr lang="en-US" sz="1150" dirty="0">
                <a:solidFill>
                  <a:srgbClr val="DCE7F5"/>
                </a:solidFill>
                <a:latin typeface="Calibri" pitchFamily="34" charset="0"/>
                <a:ea typeface="Calibri" pitchFamily="34" charset="-122"/>
                <a:cs typeface="Calibri" pitchFamily="34" charset="-120"/>
              </a:rPr>
              <a:t>The Stagnone twin runs containerised on the EDITO Datalab and publishes to its object storage.
</a:t>
            </a:r>
            <a:endParaRPr lang="en-US" sz="1150" dirty="0"/>
          </a:p>
          <a:p>
            <a:pPr marL="0" indent="0">
              <a:lnSpc>
                <a:spcPts val="1550"/>
              </a:lnSpc>
              <a:spcAft>
                <a:spcPts val="900"/>
              </a:spcAft>
              <a:buNone/>
            </a:pPr>
            <a:r>
              <a:rPr lang="en-US" sz="1150" dirty="0">
                <a:solidFill>
                  <a:srgbClr val="DCE7F5"/>
                </a:solidFill>
                <a:latin typeface="Calibri" pitchFamily="34" charset="0"/>
                <a:ea typeface="Calibri" pitchFamily="34" charset="-122"/>
                <a:cs typeface="Calibri" pitchFamily="34" charset="-120"/>
              </a:rPr>
              <a:t>A Valletta configuration would take the same route, so the deliverable is a running pilot rather than a set of figures.
</a:t>
            </a:r>
            <a:endParaRPr lang="en-US" sz="1150" dirty="0"/>
          </a:p>
          <a:p>
            <a:pPr marL="0" indent="0">
              <a:lnSpc>
                <a:spcPts val="1550"/>
              </a:lnSpc>
              <a:buNone/>
            </a:pPr>
            <a:r>
              <a:rPr lang="en-US" sz="1150" b="1" dirty="0">
                <a:solidFill>
                  <a:srgbClr val="FFFFFF"/>
                </a:solidFill>
                <a:latin typeface="Calibri" pitchFamily="34" charset="0"/>
                <a:ea typeface="Calibri" pitchFamily="34" charset="-122"/>
                <a:cs typeface="Calibri" pitchFamily="34" charset="-120"/>
              </a:rPr>
              <a:t>This corresponds to the relocatable setup requested in the design report of the group.</a:t>
            </a:r>
            <a:endParaRPr lang="en-US" sz="1150" dirty="0"/>
          </a:p>
        </p:txBody>
      </p:sp>
      <p:sp>
        <p:nvSpPr>
          <p:cNvPr id="23" name="Text 21"/>
          <p:cNvSpPr txBox="1"/>
          <p:nvPr/>
        </p:nvSpPr>
        <p:spPr>
          <a:xfrm>
            <a:off x="566928" y="6199632"/>
            <a:ext cx="5852160" cy="274320"/>
          </a:xfrm>
          <a:prstGeom prst="rect">
            <a:avLst/>
          </a:prstGeom>
          <a:noFill/>
          <a:ln/>
        </p:spPr>
        <p:txBody>
          <a:bodyPr wrap="square" lIns="0" tIns="0" rIns="0" bIns="0" rtlCol="0" anchor="ctr"/>
          <a:lstStyle/>
          <a:p>
            <a:pPr marL="0" indent="0">
              <a:buNone/>
            </a:pPr>
            <a:r>
              <a:rPr lang="en-US" sz="1100" i="1" dirty="0">
                <a:solidFill>
                  <a:srgbClr val="7F93B3"/>
                </a:solidFill>
                <a:latin typeface="Calibri" pitchFamily="34" charset="0"/>
                <a:ea typeface="Calibri" pitchFamily="34" charset="-122"/>
                <a:cs typeface="Calibri" pitchFamily="34" charset="-120"/>
              </a:rPr>
              <a:t>Documents, figures and the reproducible analysis are in the project repository.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TotalTime>
  <Words>4796</Words>
  <Application>Microsoft Office PowerPoint</Application>
  <PresentationFormat>Widescreen</PresentationFormat>
  <Paragraphs>412</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Valletta harbour system: model concept, first results and open questions</dc:title>
  <dc:subject>PptxGenJS Presentation</dc:subject>
  <dc:creator>Cicero Martins Jr</dc:creator>
  <cp:lastModifiedBy>CICERO MARTINS JUNIOR</cp:lastModifiedBy>
  <cp:revision>2</cp:revision>
  <dcterms:created xsi:type="dcterms:W3CDTF">2026-10-08T08:34:28Z</dcterms:created>
  <dcterms:modified xsi:type="dcterms:W3CDTF">2026-10-08T09:41:27Z</dcterms:modified>
</cp:coreProperties>
</file>