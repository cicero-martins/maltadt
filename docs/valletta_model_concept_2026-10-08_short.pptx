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65"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261966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concept, the results obtained on the geometry, the open boundary, the Senglea record and the mesh, and the matters on which the continuation depends.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6113585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formulation is a proposal submitted for discussion. Published work on Maltese coastal seiches imposes the long wave at the offshore boundary, so the generation side appears to be open, which is to be confirmed within the group.</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harbour rows come from the long-wave eigenproblem of a channel of varying section, solved on the cross-section and surface width measured along the geodesic distance from the mouth. The upper edge of the band corresponds to 30 minutes, 1.6 times the upper estimate for the Grand Harbour. The estimate treats branches as oscillating in phase and borrows its mouth correction from an open rectangular basin, so it is first-order.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Panels, from the upper left. The mean spectrum with its background, the milgħuba band shaded grey and the estimated basin band shaded blue. The ratio of the spectrum to the background. The largest oscillation of the admitted windows, 8 November 2021, with a range of 0.35 m. The amplitude ratio against the gauges outside the harbour. The peaks recur on practically every day of both windows, which points to the geometry rather than to the forcing. The section at the entrance is within 6 per cent of the median section of the basin, which suggests that the inertia of the mode is distributed along the harbour. Whether the Ricasoli arm narrows the real opening is unresolved, and a narrower opening would alter that reading.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left panel shows the face size over the domain and the right panel the two harbours. Sigma layers, 12 to 15, are foreseen for the three-dimensional runs, the count being set by residence time. The pulse test releases a Gaussian hump on a flat bed at 150 m and compares each boundary type with a reference domain without a boundary. Corners reflected 24 to 29 per cent, which is why they are kept more than 40 km from the harbours. Open matters on the mesh are one edge near the orthogonality threshold and the gaps of the 10 m grid at the heads of Msida and Pietà Creeks.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speeds by eight directions by two widths, twelve hours each, barotropic and uncoupled. Whether the sensitivity on the mouth is appropriate, given the public project on the Grand Harbour entrance, is among the open questions. A third line, the renewal of harbour water under long-wave exchange, exercises the three-dimensional and Lagrangian components.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University of Malta Newspoint for 2018 and 2019, Newsbook for 2022, MaltaToday for 2023 and 2024, the last citing the Oceanography Malta Research Group. The choice of windows rests on monthly coverage and stability of the level and is to be confirmed within the group.</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two determine whether the response surface can be tested against events at all. The remainder shape the scope and the configuration.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broadband impulse yields the modal structure of the harbours on the mesh, which bears on the two readings of the 23-minute peak. The remaining boundary tests are the residual current and the non-zero incoming signal from CMEMS.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A5D452BF-98F1-D2B1-1278-01A9ACEBAB98}"/>
              </a:ext>
            </a:extLst>
          </p:cNvPr>
          <p:cNvPicPr>
            <a:picLocks noChangeAspect="1"/>
          </p:cNvPicPr>
          <p:nvPr/>
        </p:nvPicPr>
        <p:blipFill>
          <a:blip r:embed="rId3">
            <a:duotone>
              <a:prstClr val="black"/>
              <a:schemeClr val="accent1">
                <a:tint val="45000"/>
                <a:satMod val="400000"/>
              </a:schemeClr>
            </a:duotone>
          </a:blip>
          <a:srcRect t="25333"/>
          <a:stretch>
            <a:fillRect/>
          </a:stretch>
        </p:blipFill>
        <p:spPr>
          <a:xfrm>
            <a:off x="0" y="0"/>
            <a:ext cx="12242447" cy="6858000"/>
          </a:xfrm>
          <a:prstGeom prst="rect">
            <a:avLst/>
          </a:prstGeom>
        </p:spPr>
      </p:pic>
      <p:sp>
        <p:nvSpPr>
          <p:cNvPr id="2" name="Shape 0"/>
          <p:cNvSpPr/>
          <p:nvPr/>
        </p:nvSpPr>
        <p:spPr>
          <a:xfrm>
            <a:off x="8503920" y="-1280160"/>
            <a:ext cx="5120640" cy="5120640"/>
          </a:xfrm>
          <a:prstGeom prst="ellipse">
            <a:avLst/>
          </a:prstGeom>
          <a:solidFill>
            <a:srgbClr val="065A82">
              <a:alpha val="45000"/>
            </a:srgbClr>
          </a:solidFill>
          <a:ln/>
        </p:spPr>
        <p:txBody>
          <a:bodyPr/>
          <a:lstStyle/>
          <a:p>
            <a:endParaRPr lang="it-IT"/>
          </a:p>
        </p:txBody>
      </p:sp>
      <p:sp>
        <p:nvSpPr>
          <p:cNvPr id="3" name="Shape 1"/>
          <p:cNvSpPr/>
          <p:nvPr/>
        </p:nvSpPr>
        <p:spPr>
          <a:xfrm>
            <a:off x="10058400" y="3108960"/>
            <a:ext cx="2377440" cy="2377440"/>
          </a:xfrm>
          <a:prstGeom prst="ellipse">
            <a:avLst/>
          </a:prstGeom>
          <a:solidFill>
            <a:srgbClr val="EB6834">
              <a:alpha val="30000"/>
            </a:srgbClr>
          </a:solidFill>
          <a:ln/>
        </p:spPr>
        <p:txBody>
          <a:bodyPr/>
          <a:lstStyle/>
          <a:p>
            <a:endParaRPr lang="it-IT"/>
          </a:p>
        </p:txBody>
      </p:sp>
      <p:sp>
        <p:nvSpPr>
          <p:cNvPr id="5" name="Text 3"/>
          <p:cNvSpPr txBox="1"/>
          <p:nvPr/>
        </p:nvSpPr>
        <p:spPr>
          <a:xfrm>
            <a:off x="543384" y="896112"/>
            <a:ext cx="7863840" cy="86868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The Valletta harbour system</a:t>
            </a:r>
            <a:endParaRPr lang="en-US" sz="4000" dirty="0"/>
          </a:p>
        </p:txBody>
      </p:sp>
      <p:sp>
        <p:nvSpPr>
          <p:cNvPr id="6" name="Text 4"/>
          <p:cNvSpPr txBox="1"/>
          <p:nvPr/>
        </p:nvSpPr>
        <p:spPr>
          <a:xfrm>
            <a:off x="543384" y="1609344"/>
            <a:ext cx="7863840" cy="457200"/>
          </a:xfrm>
          <a:prstGeom prst="rect">
            <a:avLst/>
          </a:prstGeom>
          <a:noFill/>
          <a:ln/>
        </p:spPr>
        <p:txBody>
          <a:bodyPr wrap="square" lIns="0" tIns="0" rIns="0" bIns="0" rtlCol="0" anchor="ctr"/>
          <a:lstStyle/>
          <a:p>
            <a:pPr marL="0" indent="0">
              <a:buNone/>
            </a:pPr>
            <a:r>
              <a:rPr lang="en-US" sz="1900" dirty="0">
                <a:solidFill>
                  <a:srgbClr val="CADCFC"/>
                </a:solidFill>
                <a:latin typeface="Calibri" pitchFamily="34" charset="0"/>
                <a:ea typeface="Calibri" pitchFamily="34" charset="-122"/>
                <a:cs typeface="Calibri" pitchFamily="34" charset="-120"/>
              </a:rPr>
              <a:t>Model concept, first results and open questions</a:t>
            </a:r>
            <a:endParaRPr lang="en-US" sz="1900" dirty="0"/>
          </a:p>
        </p:txBody>
      </p:sp>
      <p:sp>
        <p:nvSpPr>
          <p:cNvPr id="7" name="Text 5"/>
          <p:cNvSpPr txBox="1"/>
          <p:nvPr/>
        </p:nvSpPr>
        <p:spPr>
          <a:xfrm>
            <a:off x="640080" y="5244084"/>
            <a:ext cx="786384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Cicero Martins Jr</a:t>
            </a:r>
            <a:r>
              <a:rPr lang="en-US" sz="1300" dirty="0">
                <a:solidFill>
                  <a:srgbClr val="9FB3D1"/>
                </a:solidFill>
                <a:latin typeface="Calibri" pitchFamily="34" charset="0"/>
                <a:ea typeface="Calibri" pitchFamily="34" charset="-122"/>
                <a:cs typeface="Calibri" pitchFamily="34" charset="-120"/>
              </a:rPr>
              <a:t>   Università degli Studi di Palermo</a:t>
            </a:r>
            <a:endParaRPr lang="en-US" sz="1300" dirty="0"/>
          </a:p>
        </p:txBody>
      </p:sp>
      <p:sp>
        <p:nvSpPr>
          <p:cNvPr id="8" name="Text 6"/>
          <p:cNvSpPr txBox="1"/>
          <p:nvPr/>
        </p:nvSpPr>
        <p:spPr>
          <a:xfrm>
            <a:off x="640080" y="5545836"/>
            <a:ext cx="7863840" cy="274320"/>
          </a:xfrm>
          <a:prstGeom prst="rect">
            <a:avLst/>
          </a:prstGeom>
          <a:noFill/>
          <a:ln/>
        </p:spPr>
        <p:txBody>
          <a:bodyPr wrap="square" lIns="0" tIns="0" rIns="0" bIns="0" rtlCol="0" anchor="ctr"/>
          <a:lstStyle/>
          <a:p>
            <a:pPr marL="0" indent="0">
              <a:buNone/>
            </a:pPr>
            <a:r>
              <a:rPr lang="en-US" sz="1200" dirty="0">
                <a:solidFill>
                  <a:srgbClr val="9FB3D1"/>
                </a:solidFill>
                <a:latin typeface="Calibri" pitchFamily="34" charset="0"/>
                <a:ea typeface="Calibri" pitchFamily="34" charset="-122"/>
                <a:cs typeface="Calibri" pitchFamily="34" charset="-120"/>
              </a:rPr>
              <a:t>Visiting researcher, Oceanography Malta Research Group, University of Malta</a:t>
            </a:r>
            <a:endParaRPr lang="en-US" sz="1200" dirty="0"/>
          </a:p>
        </p:txBody>
      </p:sp>
      <p:sp>
        <p:nvSpPr>
          <p:cNvPr id="9" name="Text 7"/>
          <p:cNvSpPr txBox="1"/>
          <p:nvPr/>
        </p:nvSpPr>
        <p:spPr>
          <a:xfrm>
            <a:off x="640080" y="5856732"/>
            <a:ext cx="7863840" cy="274320"/>
          </a:xfrm>
          <a:prstGeom prst="rect">
            <a:avLst/>
          </a:prstGeom>
          <a:noFill/>
          <a:ln/>
        </p:spPr>
        <p:txBody>
          <a:bodyPr wrap="square" lIns="0" tIns="0" rIns="0" bIns="0" rtlCol="0" anchor="ctr"/>
          <a:lstStyle/>
          <a:p>
            <a:pPr marL="0" indent="0">
              <a:buNone/>
            </a:pPr>
            <a:r>
              <a:rPr lang="en-US" sz="1200" dirty="0">
                <a:solidFill>
                  <a:srgbClr val="9FB3D1"/>
                </a:solidFill>
                <a:latin typeface="Calibri" pitchFamily="34" charset="0"/>
                <a:ea typeface="Calibri" pitchFamily="34" charset="-122"/>
                <a:cs typeface="Calibri" pitchFamily="34" charset="-120"/>
              </a:rPr>
              <a:t>8 October 2026</a:t>
            </a:r>
            <a:endParaRPr lang="en-US" sz="1200" dirty="0"/>
          </a:p>
        </p:txBody>
      </p:sp>
      <p:pic>
        <p:nvPicPr>
          <p:cNvPr id="15" name="Picture 14">
            <a:extLst>
              <a:ext uri="{FF2B5EF4-FFF2-40B4-BE49-F238E27FC236}">
                <a16:creationId xmlns:a16="http://schemas.microsoft.com/office/drawing/2014/main" id="{D10377BC-A5F7-014E-C646-AF837566B665}"/>
              </a:ext>
            </a:extLst>
          </p:cNvPr>
          <p:cNvPicPr>
            <a:picLocks noChangeAspect="1"/>
          </p:cNvPicPr>
          <p:nvPr/>
        </p:nvPicPr>
        <p:blipFill>
          <a:blip r:embed="rId4">
            <a:duotone>
              <a:schemeClr val="accent5">
                <a:shade val="45000"/>
                <a:satMod val="135000"/>
              </a:schemeClr>
              <a:prstClr val="white"/>
            </a:duotone>
          </a:blip>
          <a:srcRect/>
          <a:stretch>
            <a:fillRect/>
          </a:stretch>
        </p:blipFill>
        <p:spPr>
          <a:xfrm>
            <a:off x="7685285" y="5784622"/>
            <a:ext cx="1925665" cy="640080"/>
          </a:xfrm>
          <a:prstGeom prst="rect">
            <a:avLst/>
          </a:prstGeom>
        </p:spPr>
      </p:pic>
      <p:pic>
        <p:nvPicPr>
          <p:cNvPr id="17" name="Picture 16">
            <a:extLst>
              <a:ext uri="{FF2B5EF4-FFF2-40B4-BE49-F238E27FC236}">
                <a16:creationId xmlns:a16="http://schemas.microsoft.com/office/drawing/2014/main" id="{845C1843-FD29-2BD6-C731-6C4C006CFE7A}"/>
              </a:ext>
            </a:extLst>
          </p:cNvPr>
          <p:cNvPicPr>
            <a:picLocks noChangeAspect="1"/>
          </p:cNvPicPr>
          <p:nvPr/>
        </p:nvPicPr>
        <p:blipFill>
          <a:blip r:embed="rId5">
            <a:duotone>
              <a:schemeClr val="accent5">
                <a:shade val="45000"/>
                <a:satMod val="135000"/>
              </a:schemeClr>
              <a:prstClr val="white"/>
            </a:duotone>
          </a:blip>
          <a:stretch>
            <a:fillRect/>
          </a:stretch>
        </p:blipFill>
        <p:spPr>
          <a:xfrm>
            <a:off x="8841638" y="5545836"/>
            <a:ext cx="3594202" cy="1103483"/>
          </a:xfrm>
          <a:prstGeom prst="rect">
            <a:avLst/>
          </a:prstGeom>
        </p:spPr>
      </p:pic>
    </p:spTree>
    <p:extLst>
      <p:ext uri="{BB962C8B-B14F-4D97-AF65-F5344CB8AC3E}">
        <p14:creationId xmlns:p14="http://schemas.microsoft.com/office/powerpoint/2010/main" val="35982489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66928" y="438912"/>
            <a:ext cx="8229600" cy="274320"/>
          </a:xfrm>
          <a:prstGeom prst="rect">
            <a:avLst/>
          </a:prstGeom>
          <a:noFill/>
          <a:ln/>
        </p:spPr>
        <p:txBody>
          <a:bodyPr wrap="square" lIns="0" tIns="0" rIns="0" bIns="0" rtlCol="0" anchor="ctr"/>
          <a:lstStyle/>
          <a:p>
            <a:pPr marL="0" indent="0">
              <a:buNone/>
            </a:pPr>
            <a:r>
              <a:rPr lang="en-US" sz="1200" b="1" kern="0" spc="200" dirty="0">
                <a:solidFill>
                  <a:srgbClr val="EB6834"/>
                </a:solidFill>
                <a:latin typeface="Calibri" pitchFamily="34" charset="0"/>
                <a:ea typeface="Calibri" pitchFamily="34" charset="-122"/>
                <a:cs typeface="Calibri" pitchFamily="34" charset="-120"/>
              </a:rPr>
              <a:t>SCOPE</a:t>
            </a:r>
            <a:endParaRPr lang="en-US" sz="1200" dirty="0"/>
          </a:p>
        </p:txBody>
      </p:sp>
      <p:sp>
        <p:nvSpPr>
          <p:cNvPr id="3" name="Text 1"/>
          <p:cNvSpPr txBox="1"/>
          <p:nvPr/>
        </p:nvSpPr>
        <p:spPr>
          <a:xfrm>
            <a:off x="566928" y="749808"/>
            <a:ext cx="10972800" cy="658368"/>
          </a:xfrm>
          <a:prstGeom prst="rect">
            <a:avLst/>
          </a:prstGeom>
          <a:noFill/>
          <a:ln/>
        </p:spPr>
        <p:txBody>
          <a:bodyPr wrap="square" lIns="0" tIns="0" rIns="0" bIns="0" rtlCol="0" anchor="ctr"/>
          <a:lstStyle/>
          <a:p>
            <a:pPr marL="0" indent="0">
              <a:buNone/>
            </a:pPr>
            <a:r>
              <a:rPr lang="en-US" sz="3200" b="1" dirty="0">
                <a:solidFill>
                  <a:srgbClr val="1A1A1A"/>
                </a:solidFill>
                <a:latin typeface="Cambria" pitchFamily="34" charset="0"/>
                <a:ea typeface="Cambria" pitchFamily="34" charset="-122"/>
                <a:cs typeface="Cambria" pitchFamily="34" charset="-120"/>
              </a:rPr>
              <a:t>The milgħuba and the proposed question</a:t>
            </a:r>
            <a:endParaRPr lang="en-US" sz="3200" dirty="0"/>
          </a:p>
        </p:txBody>
      </p:sp>
      <p:sp>
        <p:nvSpPr>
          <p:cNvPr id="4" name="Text 2"/>
          <p:cNvSpPr txBox="1"/>
          <p:nvPr/>
        </p:nvSpPr>
        <p:spPr>
          <a:xfrm>
            <a:off x="566928" y="1408176"/>
            <a:ext cx="10881360" cy="585216"/>
          </a:xfrm>
          <a:prstGeom prst="rect">
            <a:avLst/>
          </a:prstGeom>
          <a:noFill/>
          <a:ln/>
        </p:spPr>
        <p:txBody>
          <a:bodyPr wrap="square" lIns="0" tIns="0" rIns="0" bIns="0" rtlCol="0" anchor="ctr"/>
          <a:lstStyle/>
          <a:p>
            <a:pPr marL="0" indent="0">
              <a:buNone/>
            </a:pPr>
            <a:r>
              <a:rPr lang="en-US" sz="1400" dirty="0">
                <a:solidFill>
                  <a:srgbClr val="5F6368"/>
                </a:solidFill>
                <a:latin typeface="Calibri" pitchFamily="34" charset="0"/>
                <a:ea typeface="Calibri" pitchFamily="34" charset="-122"/>
                <a:cs typeface="Calibri" pitchFamily="34" charset="-120"/>
              </a:rPr>
              <a:t>The milgħuba is treated as a meteotsunami, an atmospherically generated long wave comparable to the rissaga of the Balearics and the marrobbio of the Sicilian shelf.</a:t>
            </a:r>
            <a:endParaRPr lang="en-US" sz="1400" dirty="0"/>
          </a:p>
        </p:txBody>
      </p:sp>
      <p:sp>
        <p:nvSpPr>
          <p:cNvPr id="5" name="Shape 3"/>
          <p:cNvSpPr/>
          <p:nvPr/>
        </p:nvSpPr>
        <p:spPr>
          <a:xfrm>
            <a:off x="566928" y="2395728"/>
            <a:ext cx="3520440" cy="1691640"/>
          </a:xfrm>
          <a:prstGeom prst="roundRect">
            <a:avLst>
              <a:gd name="adj" fmla="val 3243"/>
            </a:avLst>
          </a:prstGeom>
          <a:solidFill>
            <a:srgbClr val="EEF3F6"/>
          </a:solidFill>
          <a:ln/>
        </p:spPr>
      </p:sp>
      <p:sp>
        <p:nvSpPr>
          <p:cNvPr id="6" name="Shape 4"/>
          <p:cNvSpPr/>
          <p:nvPr/>
        </p:nvSpPr>
        <p:spPr>
          <a:xfrm>
            <a:off x="822960" y="2194560"/>
            <a:ext cx="402336" cy="402336"/>
          </a:xfrm>
          <a:prstGeom prst="ellipse">
            <a:avLst/>
          </a:prstGeom>
          <a:solidFill>
            <a:srgbClr val="EB6834"/>
          </a:solidFill>
          <a:ln/>
        </p:spPr>
      </p:sp>
      <p:sp>
        <p:nvSpPr>
          <p:cNvPr id="7" name="Text 5"/>
          <p:cNvSpPr txBox="1"/>
          <p:nvPr/>
        </p:nvSpPr>
        <p:spPr>
          <a:xfrm>
            <a:off x="822960" y="2194560"/>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txBox="1"/>
          <p:nvPr/>
        </p:nvSpPr>
        <p:spPr>
          <a:xfrm>
            <a:off x="822960" y="2697480"/>
            <a:ext cx="3017520" cy="329184"/>
          </a:xfrm>
          <a:prstGeom prst="rect">
            <a:avLst/>
          </a:prstGeom>
          <a:noFill/>
          <a:ln/>
        </p:spPr>
        <p:txBody>
          <a:bodyPr wrap="square" lIns="0" tIns="0" rIns="0" bIns="0" rtlCol="0" anchor="ctr"/>
          <a:lstStyle/>
          <a:p>
            <a:pPr marL="0" indent="0">
              <a:buNone/>
            </a:pPr>
            <a:r>
              <a:rPr lang="en-US" sz="1550" b="1" dirty="0">
                <a:solidFill>
                  <a:srgbClr val="1A1A1A"/>
                </a:solidFill>
                <a:latin typeface="Cambria" pitchFamily="34" charset="0"/>
                <a:ea typeface="Cambria" pitchFamily="34" charset="-122"/>
                <a:cs typeface="Cambria" pitchFamily="34" charset="-120"/>
              </a:rPr>
              <a:t>Proudman resonance</a:t>
            </a:r>
            <a:endParaRPr lang="en-US" sz="1550" dirty="0"/>
          </a:p>
        </p:txBody>
      </p:sp>
      <p:sp>
        <p:nvSpPr>
          <p:cNvPr id="9" name="Text 7"/>
          <p:cNvSpPr txBox="1"/>
          <p:nvPr/>
        </p:nvSpPr>
        <p:spPr>
          <a:xfrm>
            <a:off x="822960" y="3072384"/>
            <a:ext cx="3017520" cy="914400"/>
          </a:xfrm>
          <a:prstGeom prst="rect">
            <a:avLst/>
          </a:prstGeom>
          <a:noFill/>
          <a:ln/>
        </p:spPr>
        <p:txBody>
          <a:bodyPr wrap="square" lIns="0" tIns="0" rIns="0" bIns="0" rtlCol="0" anchor="t"/>
          <a:lstStyle/>
          <a:p>
            <a:pPr marL="0" indent="0">
              <a:lnSpc>
                <a:spcPts val="1600"/>
              </a:lnSpc>
              <a:buNone/>
            </a:pPr>
            <a:r>
              <a:rPr lang="en-US" sz="1200" dirty="0">
                <a:solidFill>
                  <a:srgbClr val="1A1A1A"/>
                </a:solidFill>
                <a:latin typeface="Calibri" pitchFamily="34" charset="0"/>
                <a:ea typeface="Calibri" pitchFamily="34" charset="-122"/>
                <a:cs typeface="Calibri" pitchFamily="34" charset="-120"/>
              </a:rPr>
              <a:t>Over the Malta Plateau, 99 to 190 m deep, disturbances of 94 to 155 km h⁻¹ would travel at the celerity of the long wave beneath them.</a:t>
            </a:r>
            <a:endParaRPr lang="en-US" sz="1200" dirty="0"/>
          </a:p>
        </p:txBody>
      </p:sp>
      <p:sp>
        <p:nvSpPr>
          <p:cNvPr id="10" name="Shape 8"/>
          <p:cNvSpPr/>
          <p:nvPr/>
        </p:nvSpPr>
        <p:spPr>
          <a:xfrm>
            <a:off x="4334256" y="2395728"/>
            <a:ext cx="3520440" cy="1691640"/>
          </a:xfrm>
          <a:prstGeom prst="roundRect">
            <a:avLst>
              <a:gd name="adj" fmla="val 3243"/>
            </a:avLst>
          </a:prstGeom>
          <a:solidFill>
            <a:srgbClr val="EEF3F6"/>
          </a:solidFill>
          <a:ln/>
        </p:spPr>
      </p:sp>
      <p:sp>
        <p:nvSpPr>
          <p:cNvPr id="11" name="Shape 9"/>
          <p:cNvSpPr/>
          <p:nvPr/>
        </p:nvSpPr>
        <p:spPr>
          <a:xfrm>
            <a:off x="4590288" y="2194560"/>
            <a:ext cx="402336" cy="402336"/>
          </a:xfrm>
          <a:prstGeom prst="ellipse">
            <a:avLst/>
          </a:prstGeom>
          <a:solidFill>
            <a:srgbClr val="065A82"/>
          </a:solidFill>
          <a:ln/>
        </p:spPr>
      </p:sp>
      <p:sp>
        <p:nvSpPr>
          <p:cNvPr id="12" name="Text 10"/>
          <p:cNvSpPr txBox="1"/>
          <p:nvPr/>
        </p:nvSpPr>
        <p:spPr>
          <a:xfrm>
            <a:off x="4590288" y="2194560"/>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txBox="1"/>
          <p:nvPr/>
        </p:nvSpPr>
        <p:spPr>
          <a:xfrm>
            <a:off x="4590288" y="2697480"/>
            <a:ext cx="3017520" cy="329184"/>
          </a:xfrm>
          <a:prstGeom prst="rect">
            <a:avLst/>
          </a:prstGeom>
          <a:noFill/>
          <a:ln/>
        </p:spPr>
        <p:txBody>
          <a:bodyPr wrap="square" lIns="0" tIns="0" rIns="0" bIns="0" rtlCol="0" anchor="ctr"/>
          <a:lstStyle/>
          <a:p>
            <a:pPr marL="0" indent="0">
              <a:buNone/>
            </a:pPr>
            <a:r>
              <a:rPr lang="en-US" sz="1550" b="1" dirty="0">
                <a:solidFill>
                  <a:srgbClr val="1A1A1A"/>
                </a:solidFill>
                <a:latin typeface="Cambria" pitchFamily="34" charset="0"/>
                <a:ea typeface="Cambria" pitchFamily="34" charset="-122"/>
                <a:cs typeface="Cambria" pitchFamily="34" charset="-120"/>
              </a:rPr>
              <a:t>Shoaling</a:t>
            </a:r>
            <a:endParaRPr lang="en-US" sz="1550" dirty="0"/>
          </a:p>
        </p:txBody>
      </p:sp>
      <p:sp>
        <p:nvSpPr>
          <p:cNvPr id="14" name="Text 12"/>
          <p:cNvSpPr txBox="1"/>
          <p:nvPr/>
        </p:nvSpPr>
        <p:spPr>
          <a:xfrm>
            <a:off x="4590288" y="3072384"/>
            <a:ext cx="3017520" cy="914400"/>
          </a:xfrm>
          <a:prstGeom prst="rect">
            <a:avLst/>
          </a:prstGeom>
          <a:noFill/>
          <a:ln/>
        </p:spPr>
        <p:txBody>
          <a:bodyPr wrap="square" lIns="0" tIns="0" rIns="0" bIns="0" rtlCol="0" anchor="t"/>
          <a:lstStyle/>
          <a:p>
            <a:pPr marL="0" indent="0">
              <a:lnSpc>
                <a:spcPts val="1600"/>
              </a:lnSpc>
              <a:buNone/>
            </a:pPr>
            <a:r>
              <a:rPr lang="en-US" sz="1200" dirty="0">
                <a:solidFill>
                  <a:srgbClr val="1A1A1A"/>
                </a:solidFill>
                <a:latin typeface="Calibri" pitchFamily="34" charset="0"/>
                <a:ea typeface="Calibri" pitchFamily="34" charset="-122"/>
                <a:cs typeface="Calibri" pitchFamily="34" charset="-120"/>
              </a:rPr>
              <a:t>Green's law gives a factor of 1.75 to 1.84 from 150 m on the plateau into the harbours.</a:t>
            </a:r>
            <a:endParaRPr lang="en-US" sz="1200" dirty="0"/>
          </a:p>
        </p:txBody>
      </p:sp>
      <p:sp>
        <p:nvSpPr>
          <p:cNvPr id="15" name="Shape 13"/>
          <p:cNvSpPr/>
          <p:nvPr/>
        </p:nvSpPr>
        <p:spPr>
          <a:xfrm>
            <a:off x="8101584" y="2395728"/>
            <a:ext cx="3520440" cy="1691640"/>
          </a:xfrm>
          <a:prstGeom prst="roundRect">
            <a:avLst>
              <a:gd name="adj" fmla="val 3243"/>
            </a:avLst>
          </a:prstGeom>
          <a:solidFill>
            <a:srgbClr val="EEF3F6"/>
          </a:solidFill>
          <a:ln/>
        </p:spPr>
      </p:sp>
      <p:sp>
        <p:nvSpPr>
          <p:cNvPr id="16" name="Shape 14"/>
          <p:cNvSpPr/>
          <p:nvPr/>
        </p:nvSpPr>
        <p:spPr>
          <a:xfrm>
            <a:off x="8357616" y="2194560"/>
            <a:ext cx="402336" cy="402336"/>
          </a:xfrm>
          <a:prstGeom prst="ellipse">
            <a:avLst/>
          </a:prstGeom>
          <a:solidFill>
            <a:srgbClr val="065A82"/>
          </a:solidFill>
          <a:ln/>
        </p:spPr>
      </p:sp>
      <p:sp>
        <p:nvSpPr>
          <p:cNvPr id="17" name="Text 15"/>
          <p:cNvSpPr txBox="1"/>
          <p:nvPr/>
        </p:nvSpPr>
        <p:spPr>
          <a:xfrm>
            <a:off x="8357616" y="2194560"/>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8" name="Text 16"/>
          <p:cNvSpPr txBox="1"/>
          <p:nvPr/>
        </p:nvSpPr>
        <p:spPr>
          <a:xfrm>
            <a:off x="8357616" y="2697480"/>
            <a:ext cx="3017520" cy="329184"/>
          </a:xfrm>
          <a:prstGeom prst="rect">
            <a:avLst/>
          </a:prstGeom>
          <a:noFill/>
          <a:ln/>
        </p:spPr>
        <p:txBody>
          <a:bodyPr wrap="square" lIns="0" tIns="0" rIns="0" bIns="0" rtlCol="0" anchor="ctr"/>
          <a:lstStyle/>
          <a:p>
            <a:pPr marL="0" indent="0">
              <a:buNone/>
            </a:pPr>
            <a:r>
              <a:rPr lang="en-US" sz="1550" b="1" dirty="0">
                <a:solidFill>
                  <a:srgbClr val="1A1A1A"/>
                </a:solidFill>
                <a:latin typeface="Cambria" pitchFamily="34" charset="0"/>
                <a:ea typeface="Cambria" pitchFamily="34" charset="-122"/>
                <a:cs typeface="Cambria" pitchFamily="34" charset="-120"/>
              </a:rPr>
              <a:t>Basin resonance</a:t>
            </a:r>
            <a:endParaRPr lang="en-US" sz="1550" dirty="0"/>
          </a:p>
        </p:txBody>
      </p:sp>
      <p:sp>
        <p:nvSpPr>
          <p:cNvPr id="19" name="Text 17"/>
          <p:cNvSpPr txBox="1"/>
          <p:nvPr/>
        </p:nvSpPr>
        <p:spPr>
          <a:xfrm>
            <a:off x="8357616" y="3072384"/>
            <a:ext cx="3017520" cy="914400"/>
          </a:xfrm>
          <a:prstGeom prst="rect">
            <a:avLst/>
          </a:prstGeom>
          <a:noFill/>
          <a:ln/>
        </p:spPr>
        <p:txBody>
          <a:bodyPr wrap="square" lIns="0" tIns="0" rIns="0" bIns="0" rtlCol="0" anchor="t"/>
          <a:lstStyle/>
          <a:p>
            <a:pPr marL="0" indent="0">
              <a:lnSpc>
                <a:spcPts val="1600"/>
              </a:lnSpc>
              <a:buNone/>
            </a:pPr>
            <a:r>
              <a:rPr lang="en-US" sz="1200" dirty="0">
                <a:solidFill>
                  <a:srgbClr val="1A1A1A"/>
                </a:solidFill>
                <a:latin typeface="Calibri" pitchFamily="34" charset="0"/>
                <a:ea typeface="Calibri" pitchFamily="34" charset="-122"/>
                <a:cs typeface="Calibri" pitchFamily="34" charset="-120"/>
              </a:rPr>
              <a:t>First-order estimates place the fundamental modes at 14.5 to 18.4 minutes in the Grand Harbour and 10.4 to 12.8 in Marsamxett.</a:t>
            </a:r>
            <a:endParaRPr lang="en-US" sz="1200" dirty="0"/>
          </a:p>
        </p:txBody>
      </p:sp>
      <p:sp>
        <p:nvSpPr>
          <p:cNvPr id="20" name="Shape 18"/>
          <p:cNvSpPr/>
          <p:nvPr/>
        </p:nvSpPr>
        <p:spPr>
          <a:xfrm>
            <a:off x="566928" y="4315968"/>
            <a:ext cx="11055096" cy="1371600"/>
          </a:xfrm>
          <a:prstGeom prst="roundRect">
            <a:avLst>
              <a:gd name="adj" fmla="val 4000"/>
            </a:avLst>
          </a:prstGeom>
          <a:solidFill>
            <a:srgbClr val="21295C"/>
          </a:solidFill>
          <a:ln/>
        </p:spPr>
      </p:sp>
      <p:sp>
        <p:nvSpPr>
          <p:cNvPr id="21" name="Text 19"/>
          <p:cNvSpPr txBox="1"/>
          <p:nvPr/>
        </p:nvSpPr>
        <p:spPr>
          <a:xfrm>
            <a:off x="886968" y="4443984"/>
            <a:ext cx="5486400" cy="274320"/>
          </a:xfrm>
          <a:prstGeom prst="rect">
            <a:avLst/>
          </a:prstGeom>
          <a:noFill/>
          <a:ln/>
        </p:spPr>
        <p:txBody>
          <a:bodyPr wrap="square" lIns="0" tIns="0" rIns="0" bIns="0" rtlCol="0" anchor="ctr"/>
          <a:lstStyle/>
          <a:p>
            <a:pPr marL="0" indent="0">
              <a:buNone/>
            </a:pPr>
            <a:r>
              <a:rPr lang="en-US" sz="1350" b="1" dirty="0">
                <a:solidFill>
                  <a:srgbClr val="EB6834"/>
                </a:solidFill>
                <a:latin typeface="Cambria" pitchFamily="34" charset="0"/>
                <a:ea typeface="Cambria" pitchFamily="34" charset="-122"/>
                <a:cs typeface="Cambria" pitchFamily="34" charset="-120"/>
              </a:rPr>
              <a:t>Proposed question</a:t>
            </a:r>
            <a:endParaRPr lang="en-US" sz="1350" dirty="0"/>
          </a:p>
        </p:txBody>
      </p:sp>
      <p:sp>
        <p:nvSpPr>
          <p:cNvPr id="22" name="Text 20"/>
          <p:cNvSpPr txBox="1"/>
          <p:nvPr/>
        </p:nvSpPr>
        <p:spPr>
          <a:xfrm>
            <a:off x="886968" y="4754880"/>
            <a:ext cx="10424160" cy="822960"/>
          </a:xfrm>
          <a:prstGeom prst="rect">
            <a:avLst/>
          </a:prstGeom>
          <a:noFill/>
          <a:ln/>
        </p:spPr>
        <p:txBody>
          <a:bodyPr wrap="square" lIns="0" tIns="0" rIns="0" bIns="0" rtlCol="0" anchor="t"/>
          <a:lstStyle/>
          <a:p>
            <a:pPr marL="0" indent="0">
              <a:lnSpc>
                <a:spcPts val="1900"/>
              </a:lnSpc>
              <a:buNone/>
            </a:pPr>
            <a:r>
              <a:rPr lang="en-US" sz="1350" i="1" dirty="0">
                <a:solidFill>
                  <a:srgbClr val="FFFFFF"/>
                </a:solidFill>
                <a:latin typeface="Cambria" pitchFamily="34" charset="0"/>
                <a:ea typeface="Cambria" pitchFamily="34" charset="-122"/>
                <a:cs typeface="Cambria" pitchFamily="34" charset="-120"/>
              </a:rPr>
              <a:t>Of the amplification between the open sea and the heads of the Valletta harbours, how is it partitioned between Proudman resonance over the plateau, shoaling on the approach, and resonance of the basins, and which disturbance speeds and directions maximise that chain?</a:t>
            </a:r>
            <a:endParaRPr lang="en-US" sz="1350" dirty="0"/>
          </a:p>
        </p:txBody>
      </p:sp>
      <p:sp>
        <p:nvSpPr>
          <p:cNvPr id="23" name="Text 21"/>
          <p:cNvSpPr txBox="1"/>
          <p:nvPr/>
        </p:nvSpPr>
        <p:spPr>
          <a:xfrm>
            <a:off x="566928" y="6053328"/>
            <a:ext cx="11055096" cy="310896"/>
          </a:xfrm>
          <a:prstGeom prst="rect">
            <a:avLst/>
          </a:prstGeom>
          <a:noFill/>
          <a:ln/>
        </p:spPr>
        <p:txBody>
          <a:bodyPr wrap="square" lIns="0" tIns="0" rIns="0" bIns="0" rtlCol="0" anchor="ctr"/>
          <a:lstStyle/>
          <a:p>
            <a:pPr marL="0" indent="0">
              <a:buNone/>
            </a:pPr>
            <a:r>
              <a:rPr lang="en-US" sz="1050" i="1" dirty="0">
                <a:solidFill>
                  <a:srgbClr val="5F6368"/>
                </a:solidFill>
                <a:latin typeface="Calibri" pitchFamily="34" charset="0"/>
                <a:ea typeface="Calibri" pitchFamily="34" charset="-122"/>
                <a:cs typeface="Calibri" pitchFamily="34" charset="-120"/>
              </a:rPr>
              <a:t>The modelling framework is that of the Stagnone di Marsala digital twin, Delft3D FM and SWAN, and its transfer to a deep engineered harbour is the methodological test of the thesis.</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66928" y="438912"/>
            <a:ext cx="8229600" cy="274320"/>
          </a:xfrm>
          <a:prstGeom prst="rect">
            <a:avLst/>
          </a:prstGeom>
          <a:noFill/>
          <a:ln/>
        </p:spPr>
        <p:txBody>
          <a:bodyPr wrap="square" lIns="0" tIns="0" rIns="0" bIns="0" rtlCol="0" anchor="ctr"/>
          <a:lstStyle/>
          <a:p>
            <a:pPr marL="0" indent="0">
              <a:buNone/>
            </a:pPr>
            <a:r>
              <a:rPr lang="en-US" sz="1200" b="1" kern="0" spc="200" dirty="0">
                <a:solidFill>
                  <a:srgbClr val="EB6834"/>
                </a:solidFill>
                <a:latin typeface="Calibri" pitchFamily="34" charset="0"/>
                <a:ea typeface="Calibri" pitchFamily="34" charset="-122"/>
                <a:cs typeface="Calibri" pitchFamily="34" charset="-120"/>
              </a:rPr>
              <a:t>NATURAL PERIODS</a:t>
            </a:r>
            <a:endParaRPr lang="en-US" sz="1200" dirty="0"/>
          </a:p>
        </p:txBody>
      </p:sp>
      <p:sp>
        <p:nvSpPr>
          <p:cNvPr id="3" name="Text 1"/>
          <p:cNvSpPr txBox="1"/>
          <p:nvPr/>
        </p:nvSpPr>
        <p:spPr>
          <a:xfrm>
            <a:off x="566928" y="749808"/>
            <a:ext cx="10972800" cy="658368"/>
          </a:xfrm>
          <a:prstGeom prst="rect">
            <a:avLst/>
          </a:prstGeom>
          <a:noFill/>
          <a:ln/>
        </p:spPr>
        <p:txBody>
          <a:bodyPr wrap="square" lIns="0" tIns="0" rIns="0" bIns="0" rtlCol="0" anchor="ctr"/>
          <a:lstStyle/>
          <a:p>
            <a:pPr marL="0" indent="0">
              <a:buNone/>
            </a:pPr>
            <a:r>
              <a:rPr lang="en-US" sz="3200" b="1" dirty="0">
                <a:solidFill>
                  <a:srgbClr val="1A1A1A"/>
                </a:solidFill>
                <a:latin typeface="Cambria" pitchFamily="34" charset="0"/>
                <a:ea typeface="Cambria" pitchFamily="34" charset="-122"/>
                <a:cs typeface="Cambria" pitchFamily="34" charset="-120"/>
              </a:rPr>
              <a:t>First-order estimates of the natural periods</a:t>
            </a:r>
            <a:endParaRPr lang="en-US" sz="3200" dirty="0"/>
          </a:p>
        </p:txBody>
      </p:sp>
      <p:sp>
        <p:nvSpPr>
          <p:cNvPr id="4" name="Text 2"/>
          <p:cNvSpPr txBox="1"/>
          <p:nvPr/>
        </p:nvSpPr>
        <p:spPr>
          <a:xfrm>
            <a:off x="566928" y="1408176"/>
            <a:ext cx="10881360" cy="585216"/>
          </a:xfrm>
          <a:prstGeom prst="rect">
            <a:avLst/>
          </a:prstGeom>
          <a:noFill/>
          <a:ln/>
        </p:spPr>
        <p:txBody>
          <a:bodyPr wrap="square" lIns="0" tIns="0" rIns="0" bIns="0" rtlCol="0" anchor="ctr"/>
          <a:lstStyle/>
          <a:p>
            <a:pPr marL="0" indent="0">
              <a:buNone/>
            </a:pPr>
            <a:r>
              <a:rPr lang="en-US" sz="1400" dirty="0">
                <a:solidFill>
                  <a:srgbClr val="5F6368"/>
                </a:solidFill>
                <a:latin typeface="Calibri" pitchFamily="34" charset="0"/>
                <a:ea typeface="Calibri" pitchFamily="34" charset="-122"/>
                <a:cs typeface="Calibri" pitchFamily="34" charset="-120"/>
              </a:rPr>
              <a:t>Quarter-wave periods for the shelf and the inlets, and eigenmodes of the measured profile for the harbours, against the 0.2 to 2 cph band reported by Drago (2009).</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66928" y="2286000"/>
          <a:ext cx="7772400" cy="914400"/>
        </p:xfrm>
        <a:graphic>
          <a:graphicData uri="http://schemas.openxmlformats.org/drawingml/2006/table">
            <a:tbl>
              <a:tblPr/>
              <a:tblGrid>
                <a:gridCol w="260604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508760">
                  <a:extLst>
                    <a:ext uri="{9D8B030D-6E8A-4147-A177-3AD203B41FA5}">
                      <a16:colId xmlns:a16="http://schemas.microsoft.com/office/drawing/2014/main" val="20002"/>
                    </a:ext>
                  </a:extLst>
                </a:gridCol>
                <a:gridCol w="1417320">
                  <a:extLst>
                    <a:ext uri="{9D8B030D-6E8A-4147-A177-3AD203B41FA5}">
                      <a16:colId xmlns:a16="http://schemas.microsoft.com/office/drawing/2014/main" val="20003"/>
                    </a:ext>
                  </a:extLst>
                </a:gridCol>
                <a:gridCol w="868680">
                  <a:extLst>
                    <a:ext uri="{9D8B030D-6E8A-4147-A177-3AD203B41FA5}">
                      <a16:colId xmlns:a16="http://schemas.microsoft.com/office/drawing/2014/main" val="20004"/>
                    </a:ext>
                  </a:extLst>
                </a:gridCol>
              </a:tblGrid>
              <a:tr h="342900">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Element</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065A82"/>
                    </a:solidFill>
                  </a:tcPr>
                </a:tc>
                <a:tc>
                  <a:txBody>
                    <a:bodyPr/>
                    <a:lstStyle/>
                    <a:p>
                      <a:pPr marL="0" indent="0" algn="r">
                        <a:buNone/>
                      </a:pPr>
                      <a:r>
                        <a:rPr lang="en-US" sz="1200" b="1" dirty="0">
                          <a:solidFill>
                            <a:srgbClr val="FFFFFF"/>
                          </a:solidFill>
                          <a:latin typeface="Calibri" pitchFamily="34" charset="0"/>
                          <a:ea typeface="Calibri" pitchFamily="34" charset="-122"/>
                          <a:cs typeface="Calibri" pitchFamily="34" charset="-120"/>
                        </a:rPr>
                        <a:t>Basis</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065A82"/>
                    </a:solidFill>
                  </a:tcPr>
                </a:tc>
                <a:tc>
                  <a:txBody>
                    <a:bodyPr/>
                    <a:lstStyle/>
                    <a:p>
                      <a:pPr marL="0" indent="0" algn="r">
                        <a:buNone/>
                      </a:pPr>
                      <a:r>
                        <a:rPr lang="en-US" sz="1200" b="1" dirty="0">
                          <a:solidFill>
                            <a:srgbClr val="FFFFFF"/>
                          </a:solidFill>
                          <a:latin typeface="Calibri" pitchFamily="34" charset="0"/>
                          <a:ea typeface="Calibri" pitchFamily="34" charset="-122"/>
                          <a:cs typeface="Calibri" pitchFamily="34" charset="-120"/>
                        </a:rPr>
                        <a:t>Period</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065A82"/>
                    </a:solidFill>
                  </a:tcPr>
                </a:tc>
                <a:tc>
                  <a:txBody>
                    <a:bodyPr/>
                    <a:lstStyle/>
                    <a:p>
                      <a:pPr marL="0" indent="0" algn="r">
                        <a:buNone/>
                      </a:pPr>
                      <a:r>
                        <a:rPr lang="en-US" sz="1200" b="1" dirty="0">
                          <a:solidFill>
                            <a:srgbClr val="FFFFFF"/>
                          </a:solidFill>
                          <a:latin typeface="Calibri" pitchFamily="34" charset="0"/>
                          <a:ea typeface="Calibri" pitchFamily="34" charset="-122"/>
                          <a:cs typeface="Calibri" pitchFamily="34" charset="-120"/>
                        </a:rPr>
                        <a:t>Frequency</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065A82"/>
                    </a:solidFill>
                  </a:tcPr>
                </a:tc>
                <a:tc>
                  <a:txBody>
                    <a:bodyPr/>
                    <a:lstStyle/>
                    <a:p>
                      <a:pPr marL="0" indent="0" algn="l">
                        <a:buNone/>
                      </a:pP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342900">
                <a:tc>
                  <a:txBody>
                    <a:bodyPr/>
                    <a:lstStyle/>
                    <a:p>
                      <a:pPr marL="0" indent="0" algn="l">
                        <a:buNone/>
                      </a:pPr>
                      <a:r>
                        <a:rPr lang="en-US" sz="1200" b="1" dirty="0">
                          <a:solidFill>
                            <a:srgbClr val="1A1A1A"/>
                          </a:solidFill>
                          <a:latin typeface="Calibri" pitchFamily="34" charset="0"/>
                          <a:ea typeface="Calibri" pitchFamily="34" charset="-122"/>
                          <a:cs typeface="Calibri" pitchFamily="34" charset="-120"/>
                        </a:rPr>
                        <a:t>Plateau to Sicily, quarter wave</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DF0E9"/>
                    </a:solidFill>
                  </a:tcPr>
                </a:tc>
                <a:tc>
                  <a:txBody>
                    <a:bodyPr/>
                    <a:lstStyle/>
                    <a:p>
                      <a:pPr marL="0" indent="0" algn="r">
                        <a:buNone/>
                      </a:pPr>
                      <a:r>
                        <a:rPr lang="en-US" sz="1200" dirty="0">
                          <a:solidFill>
                            <a:srgbClr val="1A1A1A"/>
                          </a:solidFill>
                          <a:latin typeface="Calibri" pitchFamily="34" charset="0"/>
                          <a:ea typeface="Calibri" pitchFamily="34" charset="-122"/>
                          <a:cs typeface="Calibri" pitchFamily="34" charset="-120"/>
                        </a:rPr>
                        <a:t>90 km, 150 m</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DF0E9"/>
                    </a:solidFill>
                  </a:tcPr>
                </a:tc>
                <a:tc>
                  <a:txBody>
                    <a:bodyPr/>
                    <a:lstStyle/>
                    <a:p>
                      <a:pPr marL="0" indent="0" algn="r">
                        <a:buNone/>
                      </a:pPr>
                      <a:r>
                        <a:rPr lang="en-US" sz="1200" dirty="0">
                          <a:solidFill>
                            <a:srgbClr val="1A1A1A"/>
                          </a:solidFill>
                          <a:latin typeface="Calibri" pitchFamily="34" charset="0"/>
                          <a:ea typeface="Calibri" pitchFamily="34" charset="-122"/>
                          <a:cs typeface="Calibri" pitchFamily="34" charset="-120"/>
                        </a:rPr>
                        <a:t>156 min</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DF0E9"/>
                    </a:solidFill>
                  </a:tcPr>
                </a:tc>
                <a:tc>
                  <a:txBody>
                    <a:bodyPr/>
                    <a:lstStyle/>
                    <a:p>
                      <a:pPr marL="0" indent="0" algn="r">
                        <a:buNone/>
                      </a:pPr>
                      <a:r>
                        <a:rPr lang="en-US" sz="1200" dirty="0">
                          <a:solidFill>
                            <a:srgbClr val="1A1A1A"/>
                          </a:solidFill>
                          <a:latin typeface="Calibri" pitchFamily="34" charset="0"/>
                          <a:ea typeface="Calibri" pitchFamily="34" charset="-122"/>
                          <a:cs typeface="Calibri" pitchFamily="34" charset="-120"/>
                        </a:rPr>
                        <a:t>0.38 cph</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DF0E9"/>
                    </a:solidFill>
                  </a:tcPr>
                </a:tc>
                <a:tc>
                  <a:txBody>
                    <a:bodyPr/>
                    <a:lstStyle/>
                    <a:p>
                      <a:pPr marL="0" indent="0" algn="l">
                        <a:buNone/>
                      </a:pPr>
                      <a:r>
                        <a:rPr lang="en-US" sz="1200" b="1" dirty="0">
                          <a:solidFill>
                            <a:srgbClr val="EB6834"/>
                          </a:solidFill>
                          <a:latin typeface="Calibri" pitchFamily="34" charset="0"/>
                          <a:ea typeface="Calibri" pitchFamily="34" charset="-122"/>
                          <a:cs typeface="Calibri" pitchFamily="34" charset="-120"/>
                        </a:rPr>
                        <a:t>within</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DF0E9"/>
                    </a:solidFill>
                  </a:tcPr>
                </a:tc>
                <a:extLst>
                  <a:ext uri="{0D108BD9-81ED-4DB2-BD59-A6C34878D82A}">
                    <a16:rowId xmlns:a16="http://schemas.microsoft.com/office/drawing/2014/main" val="10001"/>
                  </a:ext>
                </a:extLst>
              </a:tr>
              <a:tr h="342900">
                <a:tc>
                  <a:txBody>
                    <a:bodyPr/>
                    <a:lstStyle/>
                    <a:p>
                      <a:pPr marL="0" indent="0" algn="l">
                        <a:buNone/>
                      </a:pPr>
                      <a:r>
                        <a:rPr lang="en-US" sz="1200" b="1" dirty="0">
                          <a:solidFill>
                            <a:srgbClr val="1A1A1A"/>
                          </a:solidFill>
                          <a:latin typeface="Calibri" pitchFamily="34" charset="0"/>
                          <a:ea typeface="Calibri" pitchFamily="34" charset="-122"/>
                          <a:cs typeface="Calibri" pitchFamily="34" charset="-120"/>
                        </a:rPr>
                        <a:t>Plateau to Sicily, half wave</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DF0E9"/>
                    </a:solidFill>
                  </a:tcPr>
                </a:tc>
                <a:tc>
                  <a:txBody>
                    <a:bodyPr/>
                    <a:lstStyle/>
                    <a:p>
                      <a:pPr marL="0" indent="0" algn="r">
                        <a:buNone/>
                      </a:pPr>
                      <a:r>
                        <a:rPr lang="en-US" sz="1200" dirty="0">
                          <a:solidFill>
                            <a:srgbClr val="1A1A1A"/>
                          </a:solidFill>
                          <a:latin typeface="Calibri" pitchFamily="34" charset="0"/>
                          <a:ea typeface="Calibri" pitchFamily="34" charset="-122"/>
                          <a:cs typeface="Calibri" pitchFamily="34" charset="-120"/>
                        </a:rPr>
                        <a:t>90 km, 150 m</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DF0E9"/>
                    </a:solidFill>
                  </a:tcPr>
                </a:tc>
                <a:tc>
                  <a:txBody>
                    <a:bodyPr/>
                    <a:lstStyle/>
                    <a:p>
                      <a:pPr marL="0" indent="0" algn="r">
                        <a:buNone/>
                      </a:pPr>
                      <a:r>
                        <a:rPr lang="en-US" sz="1200" dirty="0">
                          <a:solidFill>
                            <a:srgbClr val="1A1A1A"/>
                          </a:solidFill>
                          <a:latin typeface="Calibri" pitchFamily="34" charset="0"/>
                          <a:ea typeface="Calibri" pitchFamily="34" charset="-122"/>
                          <a:cs typeface="Calibri" pitchFamily="34" charset="-120"/>
                        </a:rPr>
                        <a:t>78 min</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DF0E9"/>
                    </a:solidFill>
                  </a:tcPr>
                </a:tc>
                <a:tc>
                  <a:txBody>
                    <a:bodyPr/>
                    <a:lstStyle/>
                    <a:p>
                      <a:pPr marL="0" indent="0" algn="r">
                        <a:buNone/>
                      </a:pPr>
                      <a:r>
                        <a:rPr lang="en-US" sz="1200" dirty="0">
                          <a:solidFill>
                            <a:srgbClr val="1A1A1A"/>
                          </a:solidFill>
                          <a:latin typeface="Calibri" pitchFamily="34" charset="0"/>
                          <a:ea typeface="Calibri" pitchFamily="34" charset="-122"/>
                          <a:cs typeface="Calibri" pitchFamily="34" charset="-120"/>
                        </a:rPr>
                        <a:t>0.77 cph</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DF0E9"/>
                    </a:solidFill>
                  </a:tcPr>
                </a:tc>
                <a:tc>
                  <a:txBody>
                    <a:bodyPr/>
                    <a:lstStyle/>
                    <a:p>
                      <a:pPr marL="0" indent="0" algn="l">
                        <a:buNone/>
                      </a:pPr>
                      <a:r>
                        <a:rPr lang="en-US" sz="1200" b="1" dirty="0">
                          <a:solidFill>
                            <a:srgbClr val="EB6834"/>
                          </a:solidFill>
                          <a:latin typeface="Calibri" pitchFamily="34" charset="0"/>
                          <a:ea typeface="Calibri" pitchFamily="34" charset="-122"/>
                          <a:cs typeface="Calibri" pitchFamily="34" charset="-120"/>
                        </a:rPr>
                        <a:t>within</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DF0E9"/>
                    </a:solidFill>
                  </a:tcPr>
                </a:tc>
                <a:extLst>
                  <a:ext uri="{0D108BD9-81ED-4DB2-BD59-A6C34878D82A}">
                    <a16:rowId xmlns:a16="http://schemas.microsoft.com/office/drawing/2014/main" val="10002"/>
                  </a:ext>
                </a:extLst>
              </a:tr>
              <a:tr h="342900">
                <a:tc>
                  <a:txBody>
                    <a:bodyPr/>
                    <a:lstStyle/>
                    <a:p>
                      <a:pPr marL="0" indent="0" algn="l">
                        <a:buNone/>
                      </a:pPr>
                      <a:r>
                        <a:rPr lang="en-US" sz="1200" b="1" dirty="0">
                          <a:solidFill>
                            <a:srgbClr val="1A1A1A"/>
                          </a:solidFill>
                          <a:latin typeface="Calibri" pitchFamily="34" charset="0"/>
                          <a:ea typeface="Calibri" pitchFamily="34" charset="-122"/>
                          <a:cs typeface="Calibri" pitchFamily="34" charset="-120"/>
                        </a:rPr>
                        <a:t>Near plateau</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DF0E9"/>
                    </a:solidFill>
                  </a:tcPr>
                </a:tc>
                <a:tc>
                  <a:txBody>
                    <a:bodyPr/>
                    <a:lstStyle/>
                    <a:p>
                      <a:pPr marL="0" indent="0" algn="r">
                        <a:buNone/>
                      </a:pPr>
                      <a:r>
                        <a:rPr lang="en-US" sz="1200" dirty="0">
                          <a:solidFill>
                            <a:srgbClr val="1A1A1A"/>
                          </a:solidFill>
                          <a:latin typeface="Calibri" pitchFamily="34" charset="0"/>
                          <a:ea typeface="Calibri" pitchFamily="34" charset="-122"/>
                          <a:cs typeface="Calibri" pitchFamily="34" charset="-120"/>
                        </a:rPr>
                        <a:t>25 km, 120 m</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DF0E9"/>
                    </a:solidFill>
                  </a:tcPr>
                </a:tc>
                <a:tc>
                  <a:txBody>
                    <a:bodyPr/>
                    <a:lstStyle/>
                    <a:p>
                      <a:pPr marL="0" indent="0" algn="r">
                        <a:buNone/>
                      </a:pPr>
                      <a:r>
                        <a:rPr lang="en-US" sz="1200" dirty="0">
                          <a:solidFill>
                            <a:srgbClr val="1A1A1A"/>
                          </a:solidFill>
                          <a:latin typeface="Calibri" pitchFamily="34" charset="0"/>
                          <a:ea typeface="Calibri" pitchFamily="34" charset="-122"/>
                          <a:cs typeface="Calibri" pitchFamily="34" charset="-120"/>
                        </a:rPr>
                        <a:t>49 min</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DF0E9"/>
                    </a:solidFill>
                  </a:tcPr>
                </a:tc>
                <a:tc>
                  <a:txBody>
                    <a:bodyPr/>
                    <a:lstStyle/>
                    <a:p>
                      <a:pPr marL="0" indent="0" algn="r">
                        <a:buNone/>
                      </a:pPr>
                      <a:r>
                        <a:rPr lang="en-US" sz="1200" dirty="0">
                          <a:solidFill>
                            <a:srgbClr val="1A1A1A"/>
                          </a:solidFill>
                          <a:latin typeface="Calibri" pitchFamily="34" charset="0"/>
                          <a:ea typeface="Calibri" pitchFamily="34" charset="-122"/>
                          <a:cs typeface="Calibri" pitchFamily="34" charset="-120"/>
                        </a:rPr>
                        <a:t>1.24 cph</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DF0E9"/>
                    </a:solidFill>
                  </a:tcPr>
                </a:tc>
                <a:tc>
                  <a:txBody>
                    <a:bodyPr/>
                    <a:lstStyle/>
                    <a:p>
                      <a:pPr marL="0" indent="0" algn="l">
                        <a:buNone/>
                      </a:pPr>
                      <a:r>
                        <a:rPr lang="en-US" sz="1200" b="1" dirty="0">
                          <a:solidFill>
                            <a:srgbClr val="EB6834"/>
                          </a:solidFill>
                          <a:latin typeface="Calibri" pitchFamily="34" charset="0"/>
                          <a:ea typeface="Calibri" pitchFamily="34" charset="-122"/>
                          <a:cs typeface="Calibri" pitchFamily="34" charset="-120"/>
                        </a:rPr>
                        <a:t>within</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DF0E9"/>
                    </a:solidFill>
                  </a:tcPr>
                </a:tc>
                <a:extLst>
                  <a:ext uri="{0D108BD9-81ED-4DB2-BD59-A6C34878D82A}">
                    <a16:rowId xmlns:a16="http://schemas.microsoft.com/office/drawing/2014/main" val="10003"/>
                  </a:ext>
                </a:extLst>
              </a:tr>
              <a:tr h="342900">
                <a:tc>
                  <a:txBody>
                    <a:bodyPr/>
                    <a:lstStyle/>
                    <a:p>
                      <a:pPr marL="0" indent="0" algn="l">
                        <a:buNone/>
                      </a:pPr>
                      <a:r>
                        <a:rPr lang="en-US" sz="1200" b="1" dirty="0">
                          <a:solidFill>
                            <a:srgbClr val="1A1A1A"/>
                          </a:solidFill>
                          <a:latin typeface="Calibri" pitchFamily="34" charset="0"/>
                          <a:ea typeface="Calibri" pitchFamily="34" charset="-122"/>
                          <a:cs typeface="Calibri" pitchFamily="34" charset="-120"/>
                        </a:rPr>
                        <a:t>Grand Harbour</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marL="0" indent="0" algn="r">
                        <a:buNone/>
                      </a:pPr>
                      <a:r>
                        <a:rPr lang="en-US" sz="1200" dirty="0">
                          <a:solidFill>
                            <a:srgbClr val="1A1A1A"/>
                          </a:solidFill>
                          <a:latin typeface="Calibri" pitchFamily="34" charset="0"/>
                          <a:ea typeface="Calibri" pitchFamily="34" charset="-122"/>
                          <a:cs typeface="Calibri" pitchFamily="34" charset="-120"/>
                        </a:rPr>
                        <a:t>measured profile</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marL="0" indent="0" algn="r">
                        <a:buNone/>
                      </a:pPr>
                      <a:r>
                        <a:rPr lang="en-US" sz="1200" dirty="0">
                          <a:solidFill>
                            <a:srgbClr val="1A1A1A"/>
                          </a:solidFill>
                          <a:latin typeface="Calibri" pitchFamily="34" charset="0"/>
                          <a:ea typeface="Calibri" pitchFamily="34" charset="-122"/>
                          <a:cs typeface="Calibri" pitchFamily="34" charset="-120"/>
                        </a:rPr>
                        <a:t>14.5 to 18.4 min</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marL="0" indent="0" algn="r">
                        <a:buNone/>
                      </a:pPr>
                      <a:r>
                        <a:rPr lang="en-US" sz="1200" dirty="0">
                          <a:solidFill>
                            <a:srgbClr val="1A1A1A"/>
                          </a:solidFill>
                          <a:latin typeface="Calibri" pitchFamily="34" charset="0"/>
                          <a:ea typeface="Calibri" pitchFamily="34" charset="-122"/>
                          <a:cs typeface="Calibri" pitchFamily="34" charset="-120"/>
                        </a:rPr>
                        <a:t>3.3 to 4.1 cph</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5F6368"/>
                          </a:solidFill>
                          <a:latin typeface="Calibri" pitchFamily="34" charset="0"/>
                          <a:ea typeface="Calibri" pitchFamily="34" charset="-122"/>
                          <a:cs typeface="Calibri" pitchFamily="34" charset="-120"/>
                        </a:rPr>
                        <a:t>outside</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42900">
                <a:tc>
                  <a:txBody>
                    <a:bodyPr/>
                    <a:lstStyle/>
                    <a:p>
                      <a:pPr marL="0" indent="0" algn="l">
                        <a:buNone/>
                      </a:pPr>
                      <a:r>
                        <a:rPr lang="en-US" sz="1200" b="1" dirty="0">
                          <a:solidFill>
                            <a:srgbClr val="1A1A1A"/>
                          </a:solidFill>
                          <a:latin typeface="Calibri" pitchFamily="34" charset="0"/>
                          <a:ea typeface="Calibri" pitchFamily="34" charset="-122"/>
                          <a:cs typeface="Calibri" pitchFamily="34" charset="-120"/>
                        </a:rPr>
                        <a:t>Marsamxett</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marL="0" indent="0" algn="r">
                        <a:buNone/>
                      </a:pPr>
                      <a:r>
                        <a:rPr lang="en-US" sz="1200" dirty="0">
                          <a:solidFill>
                            <a:srgbClr val="1A1A1A"/>
                          </a:solidFill>
                          <a:latin typeface="Calibri" pitchFamily="34" charset="0"/>
                          <a:ea typeface="Calibri" pitchFamily="34" charset="-122"/>
                          <a:cs typeface="Calibri" pitchFamily="34" charset="-120"/>
                        </a:rPr>
                        <a:t>measured profile</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marL="0" indent="0" algn="r">
                        <a:buNone/>
                      </a:pPr>
                      <a:r>
                        <a:rPr lang="en-US" sz="1200" dirty="0">
                          <a:solidFill>
                            <a:srgbClr val="1A1A1A"/>
                          </a:solidFill>
                          <a:latin typeface="Calibri" pitchFamily="34" charset="0"/>
                          <a:ea typeface="Calibri" pitchFamily="34" charset="-122"/>
                          <a:cs typeface="Calibri" pitchFamily="34" charset="-120"/>
                        </a:rPr>
                        <a:t>10.4 to 12.8 min</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marL="0" indent="0" algn="r">
                        <a:buNone/>
                      </a:pPr>
                      <a:r>
                        <a:rPr lang="en-US" sz="1200" dirty="0">
                          <a:solidFill>
                            <a:srgbClr val="1A1A1A"/>
                          </a:solidFill>
                          <a:latin typeface="Calibri" pitchFamily="34" charset="0"/>
                          <a:ea typeface="Calibri" pitchFamily="34" charset="-122"/>
                          <a:cs typeface="Calibri" pitchFamily="34" charset="-120"/>
                        </a:rPr>
                        <a:t>4.7 to 5.8 cph</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5F6368"/>
                          </a:solidFill>
                          <a:latin typeface="Calibri" pitchFamily="34" charset="0"/>
                          <a:ea typeface="Calibri" pitchFamily="34" charset="-122"/>
                          <a:cs typeface="Calibri" pitchFamily="34" charset="-120"/>
                        </a:rPr>
                        <a:t>outside</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42900">
                <a:tc>
                  <a:txBody>
                    <a:bodyPr/>
                    <a:lstStyle/>
                    <a:p>
                      <a:pPr marL="0" indent="0" algn="l">
                        <a:buNone/>
                      </a:pPr>
                      <a:r>
                        <a:rPr lang="en-US" sz="1200" b="1" dirty="0">
                          <a:solidFill>
                            <a:srgbClr val="1A1A1A"/>
                          </a:solidFill>
                          <a:latin typeface="Calibri" pitchFamily="34" charset="0"/>
                          <a:ea typeface="Calibri" pitchFamily="34" charset="-122"/>
                          <a:cs typeface="Calibri" pitchFamily="34" charset="-120"/>
                        </a:rPr>
                        <a:t>A 1 km inlet</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marL="0" indent="0" algn="r">
                        <a:buNone/>
                      </a:pPr>
                      <a:r>
                        <a:rPr lang="en-US" sz="1200" dirty="0">
                          <a:solidFill>
                            <a:srgbClr val="1A1A1A"/>
                          </a:solidFill>
                          <a:latin typeface="Calibri" pitchFamily="34" charset="0"/>
                          <a:ea typeface="Calibri" pitchFamily="34" charset="-122"/>
                          <a:cs typeface="Calibri" pitchFamily="34" charset="-120"/>
                        </a:rPr>
                        <a:t>1.0 km, 12 m</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marL="0" indent="0" algn="r">
                        <a:buNone/>
                      </a:pPr>
                      <a:r>
                        <a:rPr lang="en-US" sz="1200" dirty="0">
                          <a:solidFill>
                            <a:srgbClr val="1A1A1A"/>
                          </a:solidFill>
                          <a:latin typeface="Calibri" pitchFamily="34" charset="0"/>
                          <a:ea typeface="Calibri" pitchFamily="34" charset="-122"/>
                          <a:cs typeface="Calibri" pitchFamily="34" charset="-120"/>
                        </a:rPr>
                        <a:t>6 min</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marL="0" indent="0" algn="r">
                        <a:buNone/>
                      </a:pPr>
                      <a:r>
                        <a:rPr lang="en-US" sz="1200" dirty="0">
                          <a:solidFill>
                            <a:srgbClr val="1A1A1A"/>
                          </a:solidFill>
                          <a:latin typeface="Calibri" pitchFamily="34" charset="0"/>
                          <a:ea typeface="Calibri" pitchFamily="34" charset="-122"/>
                          <a:cs typeface="Calibri" pitchFamily="34" charset="-120"/>
                        </a:rPr>
                        <a:t>9.76 cph</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5F6368"/>
                          </a:solidFill>
                          <a:latin typeface="Calibri" pitchFamily="34" charset="0"/>
                          <a:ea typeface="Calibri" pitchFamily="34" charset="-122"/>
                          <a:cs typeface="Calibri" pitchFamily="34" charset="-120"/>
                        </a:rPr>
                        <a:t>outside</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Shape 3"/>
          <p:cNvSpPr/>
          <p:nvPr/>
        </p:nvSpPr>
        <p:spPr>
          <a:xfrm>
            <a:off x="8641080" y="2286000"/>
            <a:ext cx="2980944" cy="2606040"/>
          </a:xfrm>
          <a:prstGeom prst="roundRect">
            <a:avLst>
              <a:gd name="adj" fmla="val 2105"/>
            </a:avLst>
          </a:prstGeom>
          <a:solidFill>
            <a:srgbClr val="21295C"/>
          </a:solidFill>
          <a:ln/>
        </p:spPr>
      </p:sp>
      <p:sp>
        <p:nvSpPr>
          <p:cNvPr id="7" name="Text 4"/>
          <p:cNvSpPr txBox="1"/>
          <p:nvPr/>
        </p:nvSpPr>
        <p:spPr>
          <a:xfrm>
            <a:off x="8915400" y="2450592"/>
            <a:ext cx="2432304" cy="274320"/>
          </a:xfrm>
          <a:prstGeom prst="rect">
            <a:avLst/>
          </a:prstGeom>
          <a:noFill/>
          <a:ln/>
        </p:spPr>
        <p:txBody>
          <a:bodyPr wrap="square" lIns="0" tIns="0" rIns="0" bIns="0" rtlCol="0" anchor="ctr"/>
          <a:lstStyle/>
          <a:p>
            <a:pPr marL="0" indent="0">
              <a:buNone/>
            </a:pPr>
            <a:r>
              <a:rPr lang="en-US" sz="1350" b="1" dirty="0">
                <a:solidFill>
                  <a:srgbClr val="EB6834"/>
                </a:solidFill>
                <a:latin typeface="Cambria" pitchFamily="34" charset="0"/>
                <a:ea typeface="Cambria" pitchFamily="34" charset="-122"/>
                <a:cs typeface="Cambria" pitchFamily="34" charset="-120"/>
              </a:rPr>
              <a:t>Reading for the domain</a:t>
            </a:r>
            <a:endParaRPr lang="en-US" sz="1350" dirty="0"/>
          </a:p>
        </p:txBody>
      </p:sp>
      <p:sp>
        <p:nvSpPr>
          <p:cNvPr id="8" name="Text 5"/>
          <p:cNvSpPr txBox="1"/>
          <p:nvPr/>
        </p:nvSpPr>
        <p:spPr>
          <a:xfrm>
            <a:off x="8915400" y="2779776"/>
            <a:ext cx="2432304" cy="2002536"/>
          </a:xfrm>
          <a:prstGeom prst="rect">
            <a:avLst/>
          </a:prstGeom>
          <a:noFill/>
          <a:ln/>
        </p:spPr>
        <p:txBody>
          <a:bodyPr wrap="square" lIns="0" tIns="0" rIns="0" bIns="0" rtlCol="0" anchor="t"/>
          <a:lstStyle/>
          <a:p>
            <a:pPr marL="0" indent="0">
              <a:lnSpc>
                <a:spcPts val="1550"/>
              </a:lnSpc>
              <a:spcAft>
                <a:spcPts val="800"/>
              </a:spcAft>
              <a:buNone/>
            </a:pPr>
            <a:r>
              <a:rPr lang="en-US" sz="1150" dirty="0">
                <a:solidFill>
                  <a:srgbClr val="CADCFC"/>
                </a:solidFill>
                <a:latin typeface="Calibri" pitchFamily="34" charset="0"/>
                <a:ea typeface="Calibri" pitchFamily="34" charset="-122"/>
                <a:cs typeface="Calibri" pitchFamily="34" charset="-120"/>
              </a:rPr>
              <a:t>On these estimates the plateau has natural periods within the band and the harbours above it, which suggests that the harbours respond to a shelf-scale oscillation.</a:t>
            </a:r>
            <a:endParaRPr lang="en-US" sz="1150" dirty="0"/>
          </a:p>
          <a:p>
            <a:pPr marL="0" indent="0">
              <a:lnSpc>
                <a:spcPts val="1550"/>
              </a:lnSpc>
              <a:buNone/>
            </a:pPr>
            <a:r>
              <a:rPr lang="en-US" sz="1150" b="1" dirty="0">
                <a:solidFill>
                  <a:srgbClr val="FFFFFF"/>
                </a:solidFill>
                <a:latin typeface="Calibri" pitchFamily="34" charset="0"/>
                <a:ea typeface="Calibri" pitchFamily="34" charset="-122"/>
                <a:cs typeface="Calibri" pitchFamily="34" charset="-120"/>
              </a:rPr>
              <a:t>A domain extending over the plateau, roughly 86 by 66 km, is therefore proposed.</a:t>
            </a:r>
            <a:endParaRPr lang="en-US" sz="1150" dirty="0"/>
          </a:p>
        </p:txBody>
      </p:sp>
      <p:sp>
        <p:nvSpPr>
          <p:cNvPr id="9" name="Text 6"/>
          <p:cNvSpPr txBox="1"/>
          <p:nvPr/>
        </p:nvSpPr>
        <p:spPr>
          <a:xfrm>
            <a:off x="566928" y="6053328"/>
            <a:ext cx="11055096" cy="310896"/>
          </a:xfrm>
          <a:prstGeom prst="rect">
            <a:avLst/>
          </a:prstGeom>
          <a:noFill/>
          <a:ln/>
        </p:spPr>
        <p:txBody>
          <a:bodyPr wrap="square" lIns="0" tIns="0" rIns="0" bIns="0" rtlCol="0" anchor="ctr"/>
          <a:lstStyle/>
          <a:p>
            <a:pPr marL="0" indent="0">
              <a:buNone/>
            </a:pPr>
            <a:r>
              <a:rPr lang="en-US" sz="1050" i="1" dirty="0">
                <a:solidFill>
                  <a:srgbClr val="5F6368"/>
                </a:solidFill>
                <a:latin typeface="Calibri" pitchFamily="34" charset="0"/>
                <a:ea typeface="Calibri" pitchFamily="34" charset="-122"/>
                <a:cs typeface="Calibri" pitchFamily="34" charset="-120"/>
              </a:rPr>
              <a:t>Bathymetry at 10 m from CDI 4036_MEPA, co-registered with the national coastline. The harbour estimates are one-dimensional and await confirmation on the mesh.</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66928" y="438912"/>
            <a:ext cx="8229600" cy="274320"/>
          </a:xfrm>
          <a:prstGeom prst="rect">
            <a:avLst/>
          </a:prstGeom>
          <a:noFill/>
          <a:ln/>
        </p:spPr>
        <p:txBody>
          <a:bodyPr wrap="square" lIns="0" tIns="0" rIns="0" bIns="0" rtlCol="0" anchor="ctr"/>
          <a:lstStyle/>
          <a:p>
            <a:pPr marL="0" indent="0">
              <a:buNone/>
            </a:pPr>
            <a:r>
              <a:rPr lang="en-US" sz="1200" b="1" kern="0" spc="200" dirty="0">
                <a:solidFill>
                  <a:srgbClr val="EB6834"/>
                </a:solidFill>
                <a:latin typeface="Calibri" pitchFamily="34" charset="0"/>
                <a:ea typeface="Calibri" pitchFamily="34" charset="-122"/>
                <a:cs typeface="Calibri" pitchFamily="34" charset="-120"/>
              </a:rPr>
              <a:t>BASIN MODES</a:t>
            </a:r>
            <a:endParaRPr lang="en-US" sz="1200" dirty="0"/>
          </a:p>
        </p:txBody>
      </p:sp>
      <p:sp>
        <p:nvSpPr>
          <p:cNvPr id="3" name="Text 1"/>
          <p:cNvSpPr txBox="1"/>
          <p:nvPr/>
        </p:nvSpPr>
        <p:spPr>
          <a:xfrm>
            <a:off x="566928" y="749808"/>
            <a:ext cx="10972800" cy="658368"/>
          </a:xfrm>
          <a:prstGeom prst="rect">
            <a:avLst/>
          </a:prstGeom>
          <a:noFill/>
          <a:ln/>
        </p:spPr>
        <p:txBody>
          <a:bodyPr wrap="square" lIns="0" tIns="0" rIns="0" bIns="0" rtlCol="0" anchor="ctr"/>
          <a:lstStyle/>
          <a:p>
            <a:pPr marL="0" indent="0">
              <a:buNone/>
            </a:pPr>
            <a:r>
              <a:rPr lang="en-US" sz="3200" b="1" dirty="0">
                <a:solidFill>
                  <a:srgbClr val="1A1A1A"/>
                </a:solidFill>
                <a:latin typeface="Cambria" pitchFamily="34" charset="0"/>
                <a:ea typeface="Cambria" pitchFamily="34" charset="-122"/>
                <a:cs typeface="Cambria" pitchFamily="34" charset="-120"/>
              </a:rPr>
              <a:t>Estimated and observed modes of the Grand Harbour</a:t>
            </a:r>
            <a:endParaRPr lang="en-US" sz="3200" dirty="0"/>
          </a:p>
        </p:txBody>
      </p:sp>
      <p:sp>
        <p:nvSpPr>
          <p:cNvPr id="4" name="Text 2"/>
          <p:cNvSpPr txBox="1"/>
          <p:nvPr/>
        </p:nvSpPr>
        <p:spPr>
          <a:xfrm>
            <a:off x="566928" y="1408176"/>
            <a:ext cx="10881360" cy="585216"/>
          </a:xfrm>
          <a:prstGeom prst="rect">
            <a:avLst/>
          </a:prstGeom>
          <a:noFill/>
          <a:ln/>
        </p:spPr>
        <p:txBody>
          <a:bodyPr wrap="square" lIns="0" tIns="0" rIns="0" bIns="0" rtlCol="0" anchor="ctr"/>
          <a:lstStyle/>
          <a:p>
            <a:pPr marL="0" indent="0">
              <a:buNone/>
            </a:pPr>
            <a:r>
              <a:rPr lang="en-US" sz="1400" dirty="0">
                <a:solidFill>
                  <a:srgbClr val="5F6368"/>
                </a:solidFill>
                <a:latin typeface="Calibri" pitchFamily="34" charset="0"/>
                <a:ea typeface="Calibri" pitchFamily="34" charset="-122"/>
                <a:cs typeface="Calibri" pitchFamily="34" charset="-120"/>
              </a:rPr>
              <a:t>The one-dimensional estimate against the spectrum of the Senglea radar gauge, inside the basin, over the nine months of the public record admitted to the analysis.</a:t>
            </a:r>
            <a:endParaRPr lang="en-US" sz="1400" dirty="0"/>
          </a:p>
        </p:txBody>
      </p:sp>
      <p:pic>
        <p:nvPicPr>
          <p:cNvPr id="5" name="Image 0" descr="C:\Users\Unipa\Documents\MaltaDT\figures\senglea_spectrum.png"/>
          <p:cNvPicPr>
            <a:picLocks noChangeAspect="1"/>
          </p:cNvPicPr>
          <p:nvPr/>
        </p:nvPicPr>
        <p:blipFill>
          <a:blip r:embed="rId3"/>
          <a:stretch>
            <a:fillRect/>
          </a:stretch>
        </p:blipFill>
        <p:spPr>
          <a:xfrm>
            <a:off x="566928" y="2103120"/>
            <a:ext cx="5760720" cy="3931920"/>
          </a:xfrm>
          <a:prstGeom prst="rect">
            <a:avLst/>
          </a:prstGeom>
        </p:spPr>
      </p:pic>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583680" y="2103120"/>
          <a:ext cx="5038344" cy="914400"/>
        </p:xfrm>
        <a:graphic>
          <a:graphicData uri="http://schemas.openxmlformats.org/drawingml/2006/table">
            <a:tbl>
              <a:tblPr/>
              <a:tblGrid>
                <a:gridCol w="1371600">
                  <a:extLst>
                    <a:ext uri="{9D8B030D-6E8A-4147-A177-3AD203B41FA5}">
                      <a16:colId xmlns:a16="http://schemas.microsoft.com/office/drawing/2014/main" val="20000"/>
                    </a:ext>
                  </a:extLst>
                </a:gridCol>
                <a:gridCol w="1517904">
                  <a:extLst>
                    <a:ext uri="{9D8B030D-6E8A-4147-A177-3AD203B41FA5}">
                      <a16:colId xmlns:a16="http://schemas.microsoft.com/office/drawing/2014/main" val="20001"/>
                    </a:ext>
                  </a:extLst>
                </a:gridCol>
                <a:gridCol w="2148840">
                  <a:extLst>
                    <a:ext uri="{9D8B030D-6E8A-4147-A177-3AD203B41FA5}">
                      <a16:colId xmlns:a16="http://schemas.microsoft.com/office/drawing/2014/main" val="20002"/>
                    </a:ext>
                  </a:extLst>
                </a:gridCol>
              </a:tblGrid>
              <a:tr h="310896">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Observed period</a:t>
                      </a:r>
                      <a:endParaRPr lang="en-US" sz="115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065A82"/>
                    </a:solidFill>
                  </a:tcPr>
                </a:tc>
                <a:tc>
                  <a:txBody>
                    <a:bodyPr/>
                    <a:lstStyle/>
                    <a:p>
                      <a:pPr marL="0" indent="0" algn="r">
                        <a:buNone/>
                      </a:pPr>
                      <a:r>
                        <a:rPr lang="en-US" sz="1150" b="1" dirty="0">
                          <a:solidFill>
                            <a:srgbClr val="FFFFFF"/>
                          </a:solidFill>
                          <a:latin typeface="Calibri" pitchFamily="34" charset="0"/>
                          <a:ea typeface="Calibri" pitchFamily="34" charset="-122"/>
                          <a:cs typeface="Calibri" pitchFamily="34" charset="-120"/>
                        </a:rPr>
                        <a:t>Peak ∕ background</a:t>
                      </a:r>
                      <a:endParaRPr lang="en-US" sz="115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065A82"/>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Relation to the estimate</a:t>
                      </a:r>
                      <a:endParaRPr lang="en-US" sz="115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310896">
                <a:tc>
                  <a:txBody>
                    <a:bodyPr/>
                    <a:lstStyle/>
                    <a:p>
                      <a:pPr marL="0" indent="0" algn="l">
                        <a:buNone/>
                      </a:pPr>
                      <a:r>
                        <a:rPr lang="en-US" sz="1150" b="1" dirty="0">
                          <a:solidFill>
                            <a:srgbClr val="1A1A1A"/>
                          </a:solidFill>
                          <a:latin typeface="Calibri" pitchFamily="34" charset="0"/>
                          <a:ea typeface="Calibri" pitchFamily="34" charset="-122"/>
                          <a:cs typeface="Calibri" pitchFamily="34" charset="-120"/>
                        </a:rPr>
                        <a:t>23.0 min</a:t>
                      </a:r>
                      <a:endParaRPr lang="en-US" sz="115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marL="0" indent="0" algn="r">
                        <a:buNone/>
                      </a:pPr>
                      <a:r>
                        <a:rPr lang="en-US" sz="1150" dirty="0">
                          <a:solidFill>
                            <a:srgbClr val="1A1A1A"/>
                          </a:solidFill>
                          <a:latin typeface="Calibri" pitchFamily="34" charset="0"/>
                          <a:ea typeface="Calibri" pitchFamily="34" charset="-122"/>
                          <a:cs typeface="Calibri" pitchFamily="34" charset="-120"/>
                        </a:rPr>
                        <a:t>23.8</a:t>
                      </a:r>
                      <a:endParaRPr lang="en-US" sz="115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A1A1A"/>
                          </a:solidFill>
                          <a:latin typeface="Calibri" pitchFamily="34" charset="0"/>
                          <a:ea typeface="Calibri" pitchFamily="34" charset="-122"/>
                          <a:cs typeface="Calibri" pitchFamily="34" charset="-120"/>
                        </a:rPr>
                        <a:t>longer than estimated</a:t>
                      </a:r>
                      <a:endParaRPr lang="en-US" sz="115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lgn="l">
                        <a:buNone/>
                      </a:pPr>
                      <a:r>
                        <a:rPr lang="en-US" sz="1150" b="1" dirty="0">
                          <a:solidFill>
                            <a:srgbClr val="1A1A1A"/>
                          </a:solidFill>
                          <a:latin typeface="Calibri" pitchFamily="34" charset="0"/>
                          <a:ea typeface="Calibri" pitchFamily="34" charset="-122"/>
                          <a:cs typeface="Calibri" pitchFamily="34" charset="-120"/>
                        </a:rPr>
                        <a:t>16.8 min</a:t>
                      </a:r>
                      <a:endParaRPr lang="en-US" sz="115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EEF3F6"/>
                    </a:solidFill>
                  </a:tcPr>
                </a:tc>
                <a:tc>
                  <a:txBody>
                    <a:bodyPr/>
                    <a:lstStyle/>
                    <a:p>
                      <a:pPr marL="0" indent="0" algn="r">
                        <a:buNone/>
                      </a:pPr>
                      <a:r>
                        <a:rPr lang="en-US" sz="1150" dirty="0">
                          <a:solidFill>
                            <a:srgbClr val="1A1A1A"/>
                          </a:solidFill>
                          <a:latin typeface="Calibri" pitchFamily="34" charset="0"/>
                          <a:ea typeface="Calibri" pitchFamily="34" charset="-122"/>
                          <a:cs typeface="Calibri" pitchFamily="34" charset="-120"/>
                        </a:rPr>
                        <a:t>10.1</a:t>
                      </a:r>
                      <a:endParaRPr lang="en-US" sz="115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EEF3F6"/>
                    </a:solidFill>
                  </a:tcPr>
                </a:tc>
                <a:tc>
                  <a:txBody>
                    <a:bodyPr/>
                    <a:lstStyle/>
                    <a:p>
                      <a:pPr marL="0" indent="0" algn="l">
                        <a:buNone/>
                      </a:pPr>
                      <a:r>
                        <a:rPr lang="en-US" sz="1150" dirty="0">
                          <a:solidFill>
                            <a:srgbClr val="1A1A1A"/>
                          </a:solidFill>
                          <a:latin typeface="Calibri" pitchFamily="34" charset="0"/>
                          <a:ea typeface="Calibri" pitchFamily="34" charset="-122"/>
                          <a:cs typeface="Calibri" pitchFamily="34" charset="-120"/>
                        </a:rPr>
                        <a:t>within 14.5 to 18.4 min</a:t>
                      </a:r>
                      <a:endParaRPr lang="en-US" sz="115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EEF3F6"/>
                    </a:solidFill>
                  </a:tcPr>
                </a:tc>
                <a:extLst>
                  <a:ext uri="{0D108BD9-81ED-4DB2-BD59-A6C34878D82A}">
                    <a16:rowId xmlns:a16="http://schemas.microsoft.com/office/drawing/2014/main" val="10002"/>
                  </a:ext>
                </a:extLst>
              </a:tr>
              <a:tr h="310896">
                <a:tc>
                  <a:txBody>
                    <a:bodyPr/>
                    <a:lstStyle/>
                    <a:p>
                      <a:pPr marL="0" indent="0" algn="l">
                        <a:buNone/>
                      </a:pPr>
                      <a:r>
                        <a:rPr lang="en-US" sz="1150" b="1" dirty="0">
                          <a:solidFill>
                            <a:srgbClr val="1A1A1A"/>
                          </a:solidFill>
                          <a:latin typeface="Calibri" pitchFamily="34" charset="0"/>
                          <a:ea typeface="Calibri" pitchFamily="34" charset="-122"/>
                          <a:cs typeface="Calibri" pitchFamily="34" charset="-120"/>
                        </a:rPr>
                        <a:t>10.0 min</a:t>
                      </a:r>
                      <a:endParaRPr lang="en-US" sz="115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marL="0" indent="0" algn="r">
                        <a:buNone/>
                      </a:pPr>
                      <a:r>
                        <a:rPr lang="en-US" sz="1150" dirty="0">
                          <a:solidFill>
                            <a:srgbClr val="1A1A1A"/>
                          </a:solidFill>
                          <a:latin typeface="Calibri" pitchFamily="34" charset="0"/>
                          <a:ea typeface="Calibri" pitchFamily="34" charset="-122"/>
                          <a:cs typeface="Calibri" pitchFamily="34" charset="-120"/>
                        </a:rPr>
                        <a:t>7.6</a:t>
                      </a:r>
                      <a:endParaRPr lang="en-US" sz="115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marL="0" indent="0" algn="l">
                        <a:buNone/>
                      </a:pPr>
                      <a:endParaRPr lang="en-US" sz="115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lgn="l">
                        <a:buNone/>
                      </a:pPr>
                      <a:r>
                        <a:rPr lang="en-US" sz="1150" b="1" dirty="0">
                          <a:solidFill>
                            <a:srgbClr val="1A1A1A"/>
                          </a:solidFill>
                          <a:latin typeface="Calibri" pitchFamily="34" charset="0"/>
                          <a:ea typeface="Calibri" pitchFamily="34" charset="-122"/>
                          <a:cs typeface="Calibri" pitchFamily="34" charset="-120"/>
                        </a:rPr>
                        <a:t>6.9 min</a:t>
                      </a:r>
                      <a:endParaRPr lang="en-US" sz="115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EEF3F6"/>
                    </a:solidFill>
                  </a:tcPr>
                </a:tc>
                <a:tc>
                  <a:txBody>
                    <a:bodyPr/>
                    <a:lstStyle/>
                    <a:p>
                      <a:pPr marL="0" indent="0" algn="r">
                        <a:buNone/>
                      </a:pPr>
                      <a:r>
                        <a:rPr lang="en-US" sz="1150" dirty="0">
                          <a:solidFill>
                            <a:srgbClr val="1A1A1A"/>
                          </a:solidFill>
                          <a:latin typeface="Calibri" pitchFamily="34" charset="0"/>
                          <a:ea typeface="Calibri" pitchFamily="34" charset="-122"/>
                          <a:cs typeface="Calibri" pitchFamily="34" charset="-120"/>
                        </a:rPr>
                        <a:t>15.2</a:t>
                      </a:r>
                      <a:endParaRPr lang="en-US" sz="115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EEF3F6"/>
                    </a:solidFill>
                  </a:tcPr>
                </a:tc>
                <a:tc>
                  <a:txBody>
                    <a:bodyPr/>
                    <a:lstStyle/>
                    <a:p>
                      <a:pPr marL="0" indent="0" algn="l">
                        <a:buNone/>
                      </a:pPr>
                      <a:r>
                        <a:rPr lang="en-US" sz="1150" dirty="0">
                          <a:solidFill>
                            <a:srgbClr val="1A1A1A"/>
                          </a:solidFill>
                          <a:latin typeface="Calibri" pitchFamily="34" charset="0"/>
                          <a:ea typeface="Calibri" pitchFamily="34" charset="-122"/>
                          <a:cs typeface="Calibri" pitchFamily="34" charset="-120"/>
                        </a:rPr>
                        <a:t>near the inlet estimate</a:t>
                      </a:r>
                      <a:endParaRPr lang="en-US" sz="115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EEF3F6"/>
                    </a:solidFill>
                  </a:tcPr>
                </a:tc>
                <a:extLst>
                  <a:ext uri="{0D108BD9-81ED-4DB2-BD59-A6C34878D82A}">
                    <a16:rowId xmlns:a16="http://schemas.microsoft.com/office/drawing/2014/main" val="10004"/>
                  </a:ext>
                </a:extLst>
              </a:tr>
            </a:tbl>
          </a:graphicData>
        </a:graphic>
      </p:graphicFrame>
      <p:sp>
        <p:nvSpPr>
          <p:cNvPr id="7" name="Shape 3"/>
          <p:cNvSpPr/>
          <p:nvPr/>
        </p:nvSpPr>
        <p:spPr>
          <a:xfrm>
            <a:off x="6583680" y="3785616"/>
            <a:ext cx="5038344" cy="2249424"/>
          </a:xfrm>
          <a:prstGeom prst="roundRect">
            <a:avLst>
              <a:gd name="adj" fmla="val 2439"/>
            </a:avLst>
          </a:prstGeom>
          <a:solidFill>
            <a:srgbClr val="21295C"/>
          </a:solidFill>
          <a:ln/>
        </p:spPr>
      </p:sp>
      <p:sp>
        <p:nvSpPr>
          <p:cNvPr id="8" name="Text 4"/>
          <p:cNvSpPr txBox="1"/>
          <p:nvPr/>
        </p:nvSpPr>
        <p:spPr>
          <a:xfrm>
            <a:off x="6858000" y="3950208"/>
            <a:ext cx="4489704" cy="274320"/>
          </a:xfrm>
          <a:prstGeom prst="rect">
            <a:avLst/>
          </a:prstGeom>
          <a:noFill/>
          <a:ln/>
        </p:spPr>
        <p:txBody>
          <a:bodyPr wrap="square" lIns="0" tIns="0" rIns="0" bIns="0" rtlCol="0" anchor="ctr"/>
          <a:lstStyle/>
          <a:p>
            <a:pPr marL="0" indent="0">
              <a:buNone/>
            </a:pPr>
            <a:r>
              <a:rPr lang="en-US" sz="1350" b="1" dirty="0">
                <a:solidFill>
                  <a:srgbClr val="EB6834"/>
                </a:solidFill>
                <a:latin typeface="Cambria" pitchFamily="34" charset="0"/>
                <a:ea typeface="Cambria" pitchFamily="34" charset="-122"/>
                <a:cs typeface="Cambria" pitchFamily="34" charset="-120"/>
              </a:rPr>
              <a:t>Preliminary reading</a:t>
            </a:r>
            <a:endParaRPr lang="en-US" sz="1350" dirty="0"/>
          </a:p>
        </p:txBody>
      </p:sp>
      <p:sp>
        <p:nvSpPr>
          <p:cNvPr id="9" name="Text 5"/>
          <p:cNvSpPr txBox="1"/>
          <p:nvPr/>
        </p:nvSpPr>
        <p:spPr>
          <a:xfrm>
            <a:off x="6858000" y="4279392"/>
            <a:ext cx="4489704" cy="1645920"/>
          </a:xfrm>
          <a:prstGeom prst="rect">
            <a:avLst/>
          </a:prstGeom>
          <a:noFill/>
          <a:ln/>
        </p:spPr>
        <p:txBody>
          <a:bodyPr wrap="square" lIns="0" tIns="0" rIns="0" bIns="0" rtlCol="0" anchor="t"/>
          <a:lstStyle/>
          <a:p>
            <a:pPr marL="342900" indent="-342900">
              <a:lnSpc>
                <a:spcPts val="1550"/>
              </a:lnSpc>
              <a:spcAft>
                <a:spcPts val="500"/>
              </a:spcAft>
              <a:buSzPct val="100000"/>
              <a:buChar char="•"/>
            </a:pPr>
            <a:r>
              <a:rPr lang="en-US" sz="1150" dirty="0">
                <a:solidFill>
                  <a:srgbClr val="CADCFC"/>
                </a:solidFill>
                <a:latin typeface="Calibri" pitchFamily="34" charset="0"/>
                <a:ea typeface="Calibri" pitchFamily="34" charset="-122"/>
                <a:cs typeface="Calibri" pitchFamily="34" charset="-120"/>
              </a:rPr>
              <a:t>The observed peaks lie above the milgħuba band, in agreement with the estimate.</a:t>
            </a:r>
            <a:endParaRPr lang="en-US" sz="1150" dirty="0"/>
          </a:p>
          <a:p>
            <a:pPr marL="342900" indent="-342900">
              <a:lnSpc>
                <a:spcPts val="1550"/>
              </a:lnSpc>
              <a:spcAft>
                <a:spcPts val="500"/>
              </a:spcAft>
              <a:buSzPct val="100000"/>
              <a:buChar char="•"/>
            </a:pPr>
            <a:r>
              <a:rPr lang="en-US" sz="1150" dirty="0">
                <a:solidFill>
                  <a:srgbClr val="CADCFC"/>
                </a:solidFill>
                <a:latin typeface="Calibri" pitchFamily="34" charset="0"/>
                <a:ea typeface="Calibri" pitchFamily="34" charset="-122"/>
                <a:cs typeface="Calibri" pitchFamily="34" charset="-120"/>
              </a:rPr>
              <a:t>The dominant peak, at 23 minutes, is longer than estimated. It may be the fundamental, underestimated by the calculation, or a mode of the approach shared by the two harbours.</a:t>
            </a:r>
            <a:endParaRPr lang="en-US" sz="1150" dirty="0"/>
          </a:p>
          <a:p>
            <a:pPr marL="342900" indent="-342900">
              <a:lnSpc>
                <a:spcPts val="1550"/>
              </a:lnSpc>
              <a:buSzPct val="100000"/>
              <a:buChar char="•"/>
            </a:pPr>
            <a:r>
              <a:rPr lang="en-US" sz="1150" dirty="0">
                <a:solidFill>
                  <a:srgbClr val="CADCFC"/>
                </a:solidFill>
                <a:latin typeface="Calibri" pitchFamily="34" charset="0"/>
                <a:ea typeface="Calibri" pitchFamily="34" charset="-122"/>
                <a:cs typeface="Calibri" pitchFamily="34" charset="-120"/>
              </a:rPr>
              <a:t>On the supplied coastline, removing the St Elmo breakwater changes the estimate by 0.1 minute.</a:t>
            </a:r>
            <a:endParaRPr lang="en-US" sz="1150" dirty="0"/>
          </a:p>
        </p:txBody>
      </p:sp>
      <p:sp>
        <p:nvSpPr>
          <p:cNvPr id="10" name="Text 6"/>
          <p:cNvSpPr txBox="1"/>
          <p:nvPr/>
        </p:nvSpPr>
        <p:spPr>
          <a:xfrm>
            <a:off x="566928" y="6053328"/>
            <a:ext cx="11055096" cy="310896"/>
          </a:xfrm>
          <a:prstGeom prst="rect">
            <a:avLst/>
          </a:prstGeom>
          <a:noFill/>
          <a:ln/>
        </p:spPr>
        <p:txBody>
          <a:bodyPr wrap="square" lIns="0" tIns="0" rIns="0" bIns="0" rtlCol="0" anchor="ctr"/>
          <a:lstStyle/>
          <a:p>
            <a:pPr marL="0" indent="0">
              <a:buNone/>
            </a:pPr>
            <a:r>
              <a:rPr lang="en-US" sz="1050" i="1" dirty="0">
                <a:solidFill>
                  <a:srgbClr val="5F6368"/>
                </a:solidFill>
                <a:latin typeface="Calibri" pitchFamily="34" charset="0"/>
                <a:ea typeface="Calibri" pitchFamily="34" charset="-122"/>
                <a:cs typeface="Calibri" pitchFamily="34" charset="-120"/>
              </a:rPr>
              <a:t>A single gauge does not separate the two readings of the 23-minute peak. The modal structure computed on the mesh, or a second gauge, would.</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66928" y="438912"/>
            <a:ext cx="8229600" cy="274320"/>
          </a:xfrm>
          <a:prstGeom prst="rect">
            <a:avLst/>
          </a:prstGeom>
          <a:noFill/>
          <a:ln/>
        </p:spPr>
        <p:txBody>
          <a:bodyPr wrap="square" lIns="0" tIns="0" rIns="0" bIns="0" rtlCol="0" anchor="ctr"/>
          <a:lstStyle/>
          <a:p>
            <a:pPr marL="0" indent="0">
              <a:buNone/>
            </a:pPr>
            <a:r>
              <a:rPr lang="en-US" sz="1200" b="1" kern="0" spc="200" dirty="0">
                <a:solidFill>
                  <a:srgbClr val="EB6834"/>
                </a:solidFill>
                <a:latin typeface="Calibri" pitchFamily="34" charset="0"/>
                <a:ea typeface="Calibri" pitchFamily="34" charset="-122"/>
                <a:cs typeface="Calibri" pitchFamily="34" charset="-120"/>
              </a:rPr>
              <a:t>MODEL CONFIGURATION</a:t>
            </a:r>
            <a:endParaRPr lang="en-US" sz="1200" dirty="0"/>
          </a:p>
        </p:txBody>
      </p:sp>
      <p:sp>
        <p:nvSpPr>
          <p:cNvPr id="3" name="Text 1"/>
          <p:cNvSpPr txBox="1"/>
          <p:nvPr/>
        </p:nvSpPr>
        <p:spPr>
          <a:xfrm>
            <a:off x="566928" y="749808"/>
            <a:ext cx="10972800" cy="658368"/>
          </a:xfrm>
          <a:prstGeom prst="rect">
            <a:avLst/>
          </a:prstGeom>
          <a:noFill/>
          <a:ln/>
        </p:spPr>
        <p:txBody>
          <a:bodyPr wrap="square" lIns="0" tIns="0" rIns="0" bIns="0" rtlCol="0" anchor="ctr"/>
          <a:lstStyle/>
          <a:p>
            <a:pPr marL="0" indent="0">
              <a:buNone/>
            </a:pPr>
            <a:r>
              <a:rPr lang="en-US" sz="3200" b="1" dirty="0">
                <a:solidFill>
                  <a:srgbClr val="1A1A1A"/>
                </a:solidFill>
                <a:latin typeface="Cambria" pitchFamily="34" charset="0"/>
                <a:ea typeface="Cambria" pitchFamily="34" charset="-122"/>
                <a:cs typeface="Cambria" pitchFamily="34" charset="-120"/>
              </a:rPr>
              <a:t>Working mesh and open boundary</a:t>
            </a:r>
            <a:endParaRPr lang="en-US" sz="3200" dirty="0"/>
          </a:p>
        </p:txBody>
      </p:sp>
      <p:sp>
        <p:nvSpPr>
          <p:cNvPr id="4" name="Text 2"/>
          <p:cNvSpPr txBox="1"/>
          <p:nvPr/>
        </p:nvSpPr>
        <p:spPr>
          <a:xfrm>
            <a:off x="566928" y="1408176"/>
            <a:ext cx="10881360" cy="585216"/>
          </a:xfrm>
          <a:prstGeom prst="rect">
            <a:avLst/>
          </a:prstGeom>
          <a:noFill/>
          <a:ln/>
        </p:spPr>
        <p:txBody>
          <a:bodyPr wrap="square" lIns="0" tIns="0" rIns="0" bIns="0" rtlCol="0" anchor="ctr"/>
          <a:lstStyle/>
          <a:p>
            <a:pPr marL="0" indent="0">
              <a:buNone/>
            </a:pPr>
            <a:r>
              <a:rPr lang="en-US" sz="1400" dirty="0">
                <a:solidFill>
                  <a:srgbClr val="5F6368"/>
                </a:solidFill>
                <a:latin typeface="Calibri" pitchFamily="34" charset="0"/>
                <a:ea typeface="Calibri" pitchFamily="34" charset="-122"/>
                <a:cs typeface="Calibri" pitchFamily="34" charset="-120"/>
              </a:rPr>
              <a:t>A domain over the Malta Plateau with quadtree refinement toward the harbour inlets, tested in D-Flow FM 2026.01 at rest and under a forced long wave.</a:t>
            </a:r>
            <a:endParaRPr lang="en-US" sz="1400" dirty="0"/>
          </a:p>
        </p:txBody>
      </p:sp>
      <p:pic>
        <p:nvPicPr>
          <p:cNvPr id="5" name="Image 0" descr="C:\Users\Unipa\Documents\MaltaDT\figures\mesh_v02.png"/>
          <p:cNvPicPr>
            <a:picLocks noChangeAspect="1"/>
          </p:cNvPicPr>
          <p:nvPr/>
        </p:nvPicPr>
        <p:blipFill>
          <a:blip r:embed="rId3"/>
          <a:stretch>
            <a:fillRect/>
          </a:stretch>
        </p:blipFill>
        <p:spPr>
          <a:xfrm>
            <a:off x="566928" y="2057400"/>
            <a:ext cx="7040880" cy="2816352"/>
          </a:xfrm>
          <a:prstGeom prst="rect">
            <a:avLst/>
          </a:prstGeom>
        </p:spPr>
      </p:pic>
      <p:sp>
        <p:nvSpPr>
          <p:cNvPr id="6" name="Text 3"/>
          <p:cNvSpPr txBox="1"/>
          <p:nvPr/>
        </p:nvSpPr>
        <p:spPr>
          <a:xfrm>
            <a:off x="8001000" y="2057400"/>
            <a:ext cx="3566160" cy="420624"/>
          </a:xfrm>
          <a:prstGeom prst="rect">
            <a:avLst/>
          </a:prstGeom>
          <a:noFill/>
          <a:ln/>
        </p:spPr>
        <p:txBody>
          <a:bodyPr wrap="square" lIns="0" tIns="0" rIns="0" bIns="0" rtlCol="0" anchor="ctr"/>
          <a:lstStyle/>
          <a:p>
            <a:pPr marL="0" indent="0">
              <a:buNone/>
            </a:pPr>
            <a:r>
              <a:rPr lang="en-US" sz="2300" b="1" dirty="0">
                <a:solidFill>
                  <a:srgbClr val="065A82"/>
                </a:solidFill>
                <a:latin typeface="Cambria" pitchFamily="34" charset="0"/>
                <a:ea typeface="Cambria" pitchFamily="34" charset="-122"/>
                <a:cs typeface="Cambria" pitchFamily="34" charset="-120"/>
              </a:rPr>
              <a:t>26,766</a:t>
            </a:r>
            <a:endParaRPr lang="en-US" sz="2300" dirty="0"/>
          </a:p>
        </p:txBody>
      </p:sp>
      <p:sp>
        <p:nvSpPr>
          <p:cNvPr id="7" name="Text 4"/>
          <p:cNvSpPr txBox="1"/>
          <p:nvPr/>
        </p:nvSpPr>
        <p:spPr>
          <a:xfrm>
            <a:off x="8001000" y="2478024"/>
            <a:ext cx="3566160" cy="457200"/>
          </a:xfrm>
          <a:prstGeom prst="rect">
            <a:avLst/>
          </a:prstGeom>
          <a:noFill/>
          <a:ln/>
        </p:spPr>
        <p:txBody>
          <a:bodyPr wrap="square" lIns="0" tIns="0" rIns="0" bIns="0" rtlCol="0" anchor="t"/>
          <a:lstStyle/>
          <a:p>
            <a:pPr marL="0" indent="0">
              <a:buNone/>
            </a:pPr>
            <a:r>
              <a:rPr lang="en-US" sz="1150" dirty="0">
                <a:solidFill>
                  <a:srgbClr val="5F6368"/>
                </a:solidFill>
                <a:latin typeface="Calibri" pitchFamily="34" charset="0"/>
                <a:ea typeface="Calibri" pitchFamily="34" charset="-122"/>
                <a:cs typeface="Calibri" pitchFamily="34" charset="-120"/>
              </a:rPr>
              <a:t>faces, from 1920 m on the plateau</a:t>
            </a:r>
            <a:endParaRPr lang="en-US" sz="1150" dirty="0"/>
          </a:p>
          <a:p>
            <a:pPr marL="0" indent="0">
              <a:buNone/>
            </a:pPr>
            <a:r>
              <a:rPr lang="en-US" sz="1150" dirty="0">
                <a:solidFill>
                  <a:srgbClr val="5F6368"/>
                </a:solidFill>
                <a:latin typeface="Calibri" pitchFamily="34" charset="0"/>
                <a:ea typeface="Calibri" pitchFamily="34" charset="-122"/>
                <a:cs typeface="Calibri" pitchFamily="34" charset="-120"/>
              </a:rPr>
              <a:t>to 15 m in the harbour channels</a:t>
            </a:r>
            <a:endParaRPr lang="en-US" sz="1150" dirty="0"/>
          </a:p>
        </p:txBody>
      </p:sp>
      <p:sp>
        <p:nvSpPr>
          <p:cNvPr id="8" name="Text 5"/>
          <p:cNvSpPr txBox="1"/>
          <p:nvPr/>
        </p:nvSpPr>
        <p:spPr>
          <a:xfrm>
            <a:off x="8001000" y="3017520"/>
            <a:ext cx="3566160" cy="420624"/>
          </a:xfrm>
          <a:prstGeom prst="rect">
            <a:avLst/>
          </a:prstGeom>
          <a:noFill/>
          <a:ln/>
        </p:spPr>
        <p:txBody>
          <a:bodyPr wrap="square" lIns="0" tIns="0" rIns="0" bIns="0" rtlCol="0" anchor="ctr"/>
          <a:lstStyle/>
          <a:p>
            <a:pPr marL="0" indent="0">
              <a:buNone/>
            </a:pPr>
            <a:r>
              <a:rPr lang="en-US" sz="2300" b="1" dirty="0">
                <a:solidFill>
                  <a:srgbClr val="EB6834"/>
                </a:solidFill>
                <a:latin typeface="Cambria" pitchFamily="34" charset="0"/>
                <a:ea typeface="Cambria" pitchFamily="34" charset="-122"/>
                <a:cs typeface="Cambria" pitchFamily="34" charset="-120"/>
              </a:rPr>
              <a:t>3.7 s</a:t>
            </a:r>
            <a:endParaRPr lang="en-US" sz="2300" dirty="0"/>
          </a:p>
        </p:txBody>
      </p:sp>
      <p:sp>
        <p:nvSpPr>
          <p:cNvPr id="9" name="Text 6"/>
          <p:cNvSpPr txBox="1"/>
          <p:nvPr/>
        </p:nvSpPr>
        <p:spPr>
          <a:xfrm>
            <a:off x="8001000" y="3438144"/>
            <a:ext cx="3566160" cy="457200"/>
          </a:xfrm>
          <a:prstGeom prst="rect">
            <a:avLst/>
          </a:prstGeom>
          <a:noFill/>
          <a:ln/>
        </p:spPr>
        <p:txBody>
          <a:bodyPr wrap="square" lIns="0" tIns="0" rIns="0" bIns="0" rtlCol="0" anchor="t"/>
          <a:lstStyle/>
          <a:p>
            <a:pPr marL="0" indent="0">
              <a:buNone/>
            </a:pPr>
            <a:r>
              <a:rPr lang="en-US" sz="1150" dirty="0">
                <a:solidFill>
                  <a:srgbClr val="5F6368"/>
                </a:solidFill>
                <a:latin typeface="Calibri" pitchFamily="34" charset="0"/>
                <a:ea typeface="Calibri" pitchFamily="34" charset="-122"/>
                <a:cs typeface="Calibri" pitchFamily="34" charset="-120"/>
              </a:rPr>
              <a:t>time step under a 25-minute wave,</a:t>
            </a:r>
            <a:endParaRPr lang="en-US" sz="1150" dirty="0"/>
          </a:p>
          <a:p>
            <a:pPr marL="0" indent="0">
              <a:buNone/>
            </a:pPr>
            <a:r>
              <a:rPr lang="en-US" sz="1150" dirty="0">
                <a:solidFill>
                  <a:srgbClr val="5F6368"/>
                </a:solidFill>
                <a:latin typeface="Calibri" pitchFamily="34" charset="0"/>
                <a:ea typeface="Calibri" pitchFamily="34" charset="-122"/>
                <a:cs typeface="Calibri" pitchFamily="34" charset="-120"/>
              </a:rPr>
              <a:t>set by the 15 m cells</a:t>
            </a:r>
            <a:endParaRPr lang="en-US" sz="1150" dirty="0"/>
          </a:p>
        </p:txBody>
      </p:sp>
      <p:sp>
        <p:nvSpPr>
          <p:cNvPr id="10" name="Text 7"/>
          <p:cNvSpPr txBox="1"/>
          <p:nvPr/>
        </p:nvSpPr>
        <p:spPr>
          <a:xfrm>
            <a:off x="8001000" y="3977640"/>
            <a:ext cx="3566160" cy="420624"/>
          </a:xfrm>
          <a:prstGeom prst="rect">
            <a:avLst/>
          </a:prstGeom>
          <a:noFill/>
          <a:ln/>
        </p:spPr>
        <p:txBody>
          <a:bodyPr wrap="square" lIns="0" tIns="0" rIns="0" bIns="0" rtlCol="0" anchor="ctr"/>
          <a:lstStyle/>
          <a:p>
            <a:pPr marL="0" indent="0">
              <a:buNone/>
            </a:pPr>
            <a:r>
              <a:rPr lang="en-US" sz="2300" b="1" dirty="0">
                <a:solidFill>
                  <a:srgbClr val="065A82"/>
                </a:solidFill>
                <a:latin typeface="Cambria" pitchFamily="34" charset="0"/>
                <a:ea typeface="Cambria" pitchFamily="34" charset="-122"/>
                <a:cs typeface="Cambria" pitchFamily="34" charset="-120"/>
              </a:rPr>
              <a:t>611 s</a:t>
            </a:r>
            <a:endParaRPr lang="en-US" sz="2300" dirty="0"/>
          </a:p>
        </p:txBody>
      </p:sp>
      <p:sp>
        <p:nvSpPr>
          <p:cNvPr id="11" name="Text 8"/>
          <p:cNvSpPr txBox="1"/>
          <p:nvPr/>
        </p:nvSpPr>
        <p:spPr>
          <a:xfrm>
            <a:off x="8001000" y="4398264"/>
            <a:ext cx="3566160" cy="457200"/>
          </a:xfrm>
          <a:prstGeom prst="rect">
            <a:avLst/>
          </a:prstGeom>
          <a:noFill/>
          <a:ln/>
        </p:spPr>
        <p:txBody>
          <a:bodyPr wrap="square" lIns="0" tIns="0" rIns="0" bIns="0" rtlCol="0" anchor="t"/>
          <a:lstStyle/>
          <a:p>
            <a:pPr marL="0" indent="0">
              <a:buNone/>
            </a:pPr>
            <a:r>
              <a:rPr lang="en-US" sz="1150" dirty="0">
                <a:solidFill>
                  <a:srgbClr val="5F6368"/>
                </a:solidFill>
                <a:latin typeface="Calibri" pitchFamily="34" charset="0"/>
                <a:ea typeface="Calibri" pitchFamily="34" charset="-122"/>
                <a:cs typeface="Calibri" pitchFamily="34" charset="-120"/>
              </a:rPr>
              <a:t>wall time per simulated day,</a:t>
            </a:r>
            <a:endParaRPr lang="en-US" sz="1150" dirty="0"/>
          </a:p>
          <a:p>
            <a:pPr marL="0" indent="0">
              <a:buNone/>
            </a:pPr>
            <a:r>
              <a:rPr lang="en-US" sz="1150" dirty="0">
                <a:solidFill>
                  <a:srgbClr val="5F6368"/>
                </a:solidFill>
                <a:latin typeface="Calibri" pitchFamily="34" charset="0"/>
                <a:ea typeface="Calibri" pitchFamily="34" charset="-122"/>
                <a:cs typeface="Calibri" pitchFamily="34" charset="-120"/>
              </a:rPr>
              <a:t>two-dimensional, serial</a:t>
            </a:r>
            <a:endParaRPr lang="en-US" sz="1150" dirty="0"/>
          </a:p>
        </p:txBody>
      </p:sp>
      <p:sp>
        <p:nvSpPr>
          <p:cNvPr id="12" name="Shape 9"/>
          <p:cNvSpPr/>
          <p:nvPr/>
        </p:nvSpPr>
        <p:spPr>
          <a:xfrm>
            <a:off x="566928" y="5029200"/>
            <a:ext cx="5440680" cy="1325880"/>
          </a:xfrm>
          <a:prstGeom prst="roundRect">
            <a:avLst>
              <a:gd name="adj" fmla="val 4138"/>
            </a:avLst>
          </a:prstGeom>
          <a:solidFill>
            <a:srgbClr val="EEF3F6"/>
          </a:solidFill>
          <a:ln/>
        </p:spPr>
      </p:sp>
      <p:sp>
        <p:nvSpPr>
          <p:cNvPr id="13" name="Text 10"/>
          <p:cNvSpPr txBox="1"/>
          <p:nvPr/>
        </p:nvSpPr>
        <p:spPr>
          <a:xfrm>
            <a:off x="841248" y="5193792"/>
            <a:ext cx="4892040" cy="274320"/>
          </a:xfrm>
          <a:prstGeom prst="rect">
            <a:avLst/>
          </a:prstGeom>
          <a:noFill/>
          <a:ln/>
        </p:spPr>
        <p:txBody>
          <a:bodyPr wrap="square" lIns="0" tIns="0" rIns="0" bIns="0" rtlCol="0" anchor="ctr"/>
          <a:lstStyle/>
          <a:p>
            <a:pPr marL="0" indent="0">
              <a:buNone/>
            </a:pPr>
            <a:r>
              <a:rPr lang="en-US" sz="1350" b="1" dirty="0">
                <a:solidFill>
                  <a:srgbClr val="065A82"/>
                </a:solidFill>
                <a:latin typeface="Cambria" pitchFamily="34" charset="0"/>
                <a:ea typeface="Cambria" pitchFamily="34" charset="-122"/>
                <a:cs typeface="Cambria" pitchFamily="34" charset="-120"/>
              </a:rPr>
              <a:t>Open boundary</a:t>
            </a:r>
            <a:endParaRPr lang="en-US" sz="1350" dirty="0"/>
          </a:p>
        </p:txBody>
      </p:sp>
      <p:sp>
        <p:nvSpPr>
          <p:cNvPr id="14" name="Text 11"/>
          <p:cNvSpPr txBox="1"/>
          <p:nvPr/>
        </p:nvSpPr>
        <p:spPr>
          <a:xfrm>
            <a:off x="841248" y="5522976"/>
            <a:ext cx="4892040" cy="722376"/>
          </a:xfrm>
          <a:prstGeom prst="rect">
            <a:avLst/>
          </a:prstGeom>
          <a:noFill/>
          <a:ln/>
        </p:spPr>
        <p:txBody>
          <a:bodyPr wrap="square" lIns="0" tIns="0" rIns="0" bIns="0" rtlCol="0" anchor="t"/>
          <a:lstStyle/>
          <a:p>
            <a:pPr marL="0" indent="0">
              <a:lnSpc>
                <a:spcPts val="1550"/>
              </a:lnSpc>
              <a:buNone/>
            </a:pPr>
            <a:r>
              <a:rPr lang="en-US" sz="1150" dirty="0">
                <a:solidFill>
                  <a:srgbClr val="1A1A1A"/>
                </a:solidFill>
                <a:latin typeface="Calibri" pitchFamily="34" charset="0"/>
                <a:ea typeface="Calibri" pitchFamily="34" charset="-122"/>
                <a:cs typeface="Calibri" pitchFamily="34" charset="-120"/>
              </a:rPr>
              <a:t>In an idealised pulse test a Riemann boundary reflected 0.3 to 1.3 per cent at normal incidence and 5 to 9 per cent up to 30°, against 94 to 100 per cent for a prescribed level. A residual current and a CMEMS signal remain to be tested.</a:t>
            </a:r>
            <a:endParaRPr lang="en-US" sz="1150" dirty="0"/>
          </a:p>
        </p:txBody>
      </p:sp>
      <p:sp>
        <p:nvSpPr>
          <p:cNvPr id="15" name="Shape 12"/>
          <p:cNvSpPr/>
          <p:nvPr/>
        </p:nvSpPr>
        <p:spPr>
          <a:xfrm>
            <a:off x="6181344" y="5029200"/>
            <a:ext cx="5440680" cy="1325880"/>
          </a:xfrm>
          <a:prstGeom prst="roundRect">
            <a:avLst>
              <a:gd name="adj" fmla="val 4138"/>
            </a:avLst>
          </a:prstGeom>
          <a:solidFill>
            <a:srgbClr val="21295C"/>
          </a:solidFill>
          <a:ln/>
        </p:spPr>
      </p:sp>
      <p:sp>
        <p:nvSpPr>
          <p:cNvPr id="16" name="Text 13"/>
          <p:cNvSpPr txBox="1"/>
          <p:nvPr/>
        </p:nvSpPr>
        <p:spPr>
          <a:xfrm>
            <a:off x="6455664" y="5193792"/>
            <a:ext cx="4892040" cy="274320"/>
          </a:xfrm>
          <a:prstGeom prst="rect">
            <a:avLst/>
          </a:prstGeom>
          <a:noFill/>
          <a:ln/>
        </p:spPr>
        <p:txBody>
          <a:bodyPr wrap="square" lIns="0" tIns="0" rIns="0" bIns="0" rtlCol="0" anchor="ctr"/>
          <a:lstStyle/>
          <a:p>
            <a:pPr marL="0" indent="0">
              <a:buNone/>
            </a:pPr>
            <a:r>
              <a:rPr lang="en-US" sz="1350" b="1" dirty="0">
                <a:solidFill>
                  <a:srgbClr val="EB6834"/>
                </a:solidFill>
                <a:latin typeface="Cambria" pitchFamily="34" charset="0"/>
                <a:ea typeface="Cambria" pitchFamily="34" charset="-122"/>
                <a:cs typeface="Cambria" pitchFamily="34" charset="-120"/>
              </a:rPr>
              <a:t>Indicative cost</a:t>
            </a:r>
            <a:endParaRPr lang="en-US" sz="1350" dirty="0"/>
          </a:p>
        </p:txBody>
      </p:sp>
      <p:sp>
        <p:nvSpPr>
          <p:cNvPr id="17" name="Text 14"/>
          <p:cNvSpPr txBox="1"/>
          <p:nvPr/>
        </p:nvSpPr>
        <p:spPr>
          <a:xfrm>
            <a:off x="6455664" y="5522976"/>
            <a:ext cx="4892040" cy="722376"/>
          </a:xfrm>
          <a:prstGeom prst="rect">
            <a:avLst/>
          </a:prstGeom>
          <a:noFill/>
          <a:ln/>
        </p:spPr>
        <p:txBody>
          <a:bodyPr wrap="square" lIns="0" tIns="0" rIns="0" bIns="0" rtlCol="0" anchor="t"/>
          <a:lstStyle/>
          <a:p>
            <a:pPr marL="0" indent="0">
              <a:lnSpc>
                <a:spcPts val="1550"/>
              </a:lnSpc>
              <a:buNone/>
            </a:pPr>
            <a:r>
              <a:rPr lang="en-US" sz="1150" dirty="0">
                <a:solidFill>
                  <a:srgbClr val="CADCFC"/>
                </a:solidFill>
                <a:latin typeface="Calibri" pitchFamily="34" charset="0"/>
                <a:ea typeface="Calibri" pitchFamily="34" charset="-122"/>
                <a:cs typeface="Calibri" pitchFamily="34" charset="-120"/>
              </a:rPr>
              <a:t>Some 16 h for the two-dimensional sweep and of the order of 45 h on 8 processes for the three-dimensional runs, the latter scaled from the Stagnone configuration and uncertain by a factor of two.</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66928" y="438912"/>
            <a:ext cx="8229600" cy="274320"/>
          </a:xfrm>
          <a:prstGeom prst="rect">
            <a:avLst/>
          </a:prstGeom>
          <a:noFill/>
          <a:ln/>
        </p:spPr>
        <p:txBody>
          <a:bodyPr wrap="square" lIns="0" tIns="0" rIns="0" bIns="0" rtlCol="0" anchor="ctr"/>
          <a:lstStyle/>
          <a:p>
            <a:pPr marL="0" indent="0">
              <a:buNone/>
            </a:pPr>
            <a:r>
              <a:rPr lang="en-US" sz="1200" b="1" kern="0" spc="200" dirty="0">
                <a:solidFill>
                  <a:srgbClr val="EB6834"/>
                </a:solidFill>
                <a:latin typeface="Calibri" pitchFamily="34" charset="0"/>
                <a:ea typeface="Calibri" pitchFamily="34" charset="-122"/>
                <a:cs typeface="Calibri" pitchFamily="34" charset="-120"/>
              </a:rPr>
              <a:t>PROPOSED DESIGN</a:t>
            </a:r>
            <a:endParaRPr lang="en-US" sz="1200" dirty="0"/>
          </a:p>
        </p:txBody>
      </p:sp>
      <p:sp>
        <p:nvSpPr>
          <p:cNvPr id="3" name="Text 1"/>
          <p:cNvSpPr txBox="1"/>
          <p:nvPr/>
        </p:nvSpPr>
        <p:spPr>
          <a:xfrm>
            <a:off x="566928" y="749808"/>
            <a:ext cx="10972800" cy="658368"/>
          </a:xfrm>
          <a:prstGeom prst="rect">
            <a:avLst/>
          </a:prstGeom>
          <a:noFill/>
          <a:ln/>
        </p:spPr>
        <p:txBody>
          <a:bodyPr wrap="square" lIns="0" tIns="0" rIns="0" bIns="0" rtlCol="0" anchor="ctr"/>
          <a:lstStyle/>
          <a:p>
            <a:pPr marL="0" indent="0">
              <a:buNone/>
            </a:pPr>
            <a:r>
              <a:rPr lang="en-US" sz="3200" b="1" dirty="0">
                <a:solidFill>
                  <a:srgbClr val="1A1A1A"/>
                </a:solidFill>
                <a:latin typeface="Cambria" pitchFamily="34" charset="0"/>
                <a:ea typeface="Cambria" pitchFamily="34" charset="-122"/>
                <a:cs typeface="Cambria" pitchFamily="34" charset="-120"/>
              </a:rPr>
              <a:t>A parametric sweep and its test against observations</a:t>
            </a:r>
            <a:endParaRPr lang="en-US" sz="3200" dirty="0"/>
          </a:p>
        </p:txBody>
      </p:sp>
      <p:sp>
        <p:nvSpPr>
          <p:cNvPr id="4" name="Text 2"/>
          <p:cNvSpPr txBox="1"/>
          <p:nvPr/>
        </p:nvSpPr>
        <p:spPr>
          <a:xfrm>
            <a:off x="566928" y="1408176"/>
            <a:ext cx="10881360" cy="585216"/>
          </a:xfrm>
          <a:prstGeom prst="rect">
            <a:avLst/>
          </a:prstGeom>
          <a:noFill/>
          <a:ln/>
        </p:spPr>
        <p:txBody>
          <a:bodyPr wrap="square" lIns="0" tIns="0" rIns="0" bIns="0" rtlCol="0" anchor="ctr"/>
          <a:lstStyle/>
          <a:p>
            <a:pPr marL="0" indent="0">
              <a:buNone/>
            </a:pPr>
            <a:r>
              <a:rPr lang="en-US" sz="1400" dirty="0">
                <a:solidFill>
                  <a:srgbClr val="5F6368"/>
                </a:solidFill>
                <a:latin typeface="Calibri" pitchFamily="34" charset="0"/>
                <a:ea typeface="Calibri" pitchFamily="34" charset="-122"/>
                <a:cs typeface="Calibri" pitchFamily="34" charset="-120"/>
              </a:rPr>
              <a:t>ERA5 does not resolve the atmospheric gravity waves associated with the phenomenon, so a hindcast of individual events is not attempted.</a:t>
            </a:r>
            <a:endParaRPr lang="en-US" sz="1400" dirty="0"/>
          </a:p>
        </p:txBody>
      </p:sp>
      <p:sp>
        <p:nvSpPr>
          <p:cNvPr id="5" name="Shape 3"/>
          <p:cNvSpPr/>
          <p:nvPr/>
        </p:nvSpPr>
        <p:spPr>
          <a:xfrm>
            <a:off x="566928" y="2331720"/>
            <a:ext cx="402336" cy="402336"/>
          </a:xfrm>
          <a:prstGeom prst="ellipse">
            <a:avLst/>
          </a:prstGeom>
          <a:solidFill>
            <a:srgbClr val="065A82"/>
          </a:solidFill>
          <a:ln/>
        </p:spPr>
      </p:sp>
      <p:sp>
        <p:nvSpPr>
          <p:cNvPr id="6" name="Text 4"/>
          <p:cNvSpPr txBox="1"/>
          <p:nvPr/>
        </p:nvSpPr>
        <p:spPr>
          <a:xfrm>
            <a:off x="566928" y="2331720"/>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1188720" y="2313432"/>
            <a:ext cx="4572000" cy="292608"/>
          </a:xfrm>
          <a:prstGeom prst="rect">
            <a:avLst/>
          </a:prstGeom>
          <a:noFill/>
          <a:ln/>
        </p:spPr>
        <p:txBody>
          <a:bodyPr wrap="square" lIns="0" tIns="0" rIns="0" bIns="0" rtlCol="0" anchor="ctr"/>
          <a:lstStyle/>
          <a:p>
            <a:pPr marL="0" indent="0">
              <a:buNone/>
            </a:pPr>
            <a:r>
              <a:rPr lang="en-US" sz="1450" b="1" dirty="0">
                <a:solidFill>
                  <a:srgbClr val="1A1A1A"/>
                </a:solidFill>
                <a:latin typeface="Cambria" pitchFamily="34" charset="0"/>
                <a:ea typeface="Cambria" pitchFamily="34" charset="-122"/>
                <a:cs typeface="Cambria" pitchFamily="34" charset="-120"/>
              </a:rPr>
              <a:t>Sweep</a:t>
            </a:r>
            <a:endParaRPr lang="en-US" sz="1450" dirty="0"/>
          </a:p>
        </p:txBody>
      </p:sp>
      <p:sp>
        <p:nvSpPr>
          <p:cNvPr id="8" name="Text 6"/>
          <p:cNvSpPr txBox="1"/>
          <p:nvPr/>
        </p:nvSpPr>
        <p:spPr>
          <a:xfrm>
            <a:off x="1188720" y="2624328"/>
            <a:ext cx="5394960" cy="658368"/>
          </a:xfrm>
          <a:prstGeom prst="rect">
            <a:avLst/>
          </a:prstGeom>
          <a:noFill/>
          <a:ln/>
        </p:spPr>
        <p:txBody>
          <a:bodyPr wrap="square" lIns="0" tIns="0" rIns="0" bIns="0" rtlCol="0" anchor="t"/>
          <a:lstStyle/>
          <a:p>
            <a:pPr marL="0" indent="0">
              <a:lnSpc>
                <a:spcPts val="1700"/>
              </a:lnSpc>
              <a:buNone/>
            </a:pPr>
            <a:r>
              <a:rPr lang="en-US" sz="1250" dirty="0">
                <a:solidFill>
                  <a:srgbClr val="5F6368"/>
                </a:solidFill>
                <a:latin typeface="Calibri" pitchFamily="34" charset="0"/>
                <a:ea typeface="Calibri" pitchFamily="34" charset="-122"/>
                <a:cs typeface="Calibri" pitchFamily="34" charset="-120"/>
              </a:rPr>
              <a:t>A moving pressure disturbance is imposed, and its speed, direction, width and duration are varied.</a:t>
            </a:r>
            <a:endParaRPr lang="en-US" sz="1250" dirty="0"/>
          </a:p>
        </p:txBody>
      </p:sp>
      <p:sp>
        <p:nvSpPr>
          <p:cNvPr id="9" name="Shape 7"/>
          <p:cNvSpPr/>
          <p:nvPr/>
        </p:nvSpPr>
        <p:spPr>
          <a:xfrm>
            <a:off x="566928" y="3502152"/>
            <a:ext cx="402336" cy="402336"/>
          </a:xfrm>
          <a:prstGeom prst="ellipse">
            <a:avLst/>
          </a:prstGeom>
          <a:solidFill>
            <a:srgbClr val="065A82"/>
          </a:solidFill>
          <a:ln/>
        </p:spPr>
      </p:sp>
      <p:sp>
        <p:nvSpPr>
          <p:cNvPr id="10" name="Text 8"/>
          <p:cNvSpPr txBox="1"/>
          <p:nvPr/>
        </p:nvSpPr>
        <p:spPr>
          <a:xfrm>
            <a:off x="566928" y="3502152"/>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9"/>
          <p:cNvSpPr txBox="1"/>
          <p:nvPr/>
        </p:nvSpPr>
        <p:spPr>
          <a:xfrm>
            <a:off x="1188720" y="3483864"/>
            <a:ext cx="4572000" cy="292608"/>
          </a:xfrm>
          <a:prstGeom prst="rect">
            <a:avLst/>
          </a:prstGeom>
          <a:noFill/>
          <a:ln/>
        </p:spPr>
        <p:txBody>
          <a:bodyPr wrap="square" lIns="0" tIns="0" rIns="0" bIns="0" rtlCol="0" anchor="ctr"/>
          <a:lstStyle/>
          <a:p>
            <a:pPr marL="0" indent="0">
              <a:buNone/>
            </a:pPr>
            <a:r>
              <a:rPr lang="en-US" sz="1450" b="1" dirty="0">
                <a:solidFill>
                  <a:srgbClr val="1A1A1A"/>
                </a:solidFill>
                <a:latin typeface="Cambria" pitchFamily="34" charset="0"/>
                <a:ea typeface="Cambria" pitchFamily="34" charset="-122"/>
                <a:cs typeface="Cambria" pitchFamily="34" charset="-120"/>
              </a:rPr>
              <a:t>Response surface</a:t>
            </a:r>
            <a:endParaRPr lang="en-US" sz="1450" dirty="0"/>
          </a:p>
        </p:txBody>
      </p:sp>
      <p:sp>
        <p:nvSpPr>
          <p:cNvPr id="12" name="Text 10"/>
          <p:cNvSpPr txBox="1"/>
          <p:nvPr/>
        </p:nvSpPr>
        <p:spPr>
          <a:xfrm>
            <a:off x="1188720" y="3794760"/>
            <a:ext cx="5394960" cy="658368"/>
          </a:xfrm>
          <a:prstGeom prst="rect">
            <a:avLst/>
          </a:prstGeom>
          <a:noFill/>
          <a:ln/>
        </p:spPr>
        <p:txBody>
          <a:bodyPr wrap="square" lIns="0" tIns="0" rIns="0" bIns="0" rtlCol="0" anchor="t"/>
          <a:lstStyle/>
          <a:p>
            <a:pPr marL="0" indent="0">
              <a:lnSpc>
                <a:spcPts val="1700"/>
              </a:lnSpc>
              <a:buNone/>
            </a:pPr>
            <a:r>
              <a:rPr lang="en-US" sz="1250" dirty="0">
                <a:solidFill>
                  <a:srgbClr val="5F6368"/>
                </a:solidFill>
                <a:latin typeface="Calibri" pitchFamily="34" charset="0"/>
                <a:ea typeface="Calibri" pitchFamily="34" charset="-122"/>
                <a:cs typeface="Calibri" pitchFamily="34" charset="-120"/>
              </a:rPr>
              <a:t>The output would be a transfer function of the geometry, independent of any particular storm.</a:t>
            </a:r>
            <a:endParaRPr lang="en-US" sz="1250" dirty="0"/>
          </a:p>
        </p:txBody>
      </p:sp>
      <p:sp>
        <p:nvSpPr>
          <p:cNvPr id="13" name="Shape 11"/>
          <p:cNvSpPr/>
          <p:nvPr/>
        </p:nvSpPr>
        <p:spPr>
          <a:xfrm>
            <a:off x="566928" y="4672584"/>
            <a:ext cx="402336" cy="402336"/>
          </a:xfrm>
          <a:prstGeom prst="ellipse">
            <a:avLst/>
          </a:prstGeom>
          <a:solidFill>
            <a:srgbClr val="EB6834"/>
          </a:solidFill>
          <a:ln/>
        </p:spPr>
      </p:sp>
      <p:sp>
        <p:nvSpPr>
          <p:cNvPr id="14" name="Text 12"/>
          <p:cNvSpPr txBox="1"/>
          <p:nvPr/>
        </p:nvSpPr>
        <p:spPr>
          <a:xfrm>
            <a:off x="566928" y="4672584"/>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3"/>
          <p:cNvSpPr txBox="1"/>
          <p:nvPr/>
        </p:nvSpPr>
        <p:spPr>
          <a:xfrm>
            <a:off x="1188720" y="4654296"/>
            <a:ext cx="4572000" cy="292608"/>
          </a:xfrm>
          <a:prstGeom prst="rect">
            <a:avLst/>
          </a:prstGeom>
          <a:noFill/>
          <a:ln/>
        </p:spPr>
        <p:txBody>
          <a:bodyPr wrap="square" lIns="0" tIns="0" rIns="0" bIns="0" rtlCol="0" anchor="ctr"/>
          <a:lstStyle/>
          <a:p>
            <a:pPr marL="0" indent="0">
              <a:buNone/>
            </a:pPr>
            <a:r>
              <a:rPr lang="en-US" sz="1450" b="1" dirty="0">
                <a:solidFill>
                  <a:srgbClr val="1A1A1A"/>
                </a:solidFill>
                <a:latin typeface="Cambria" pitchFamily="34" charset="0"/>
                <a:ea typeface="Cambria" pitchFamily="34" charset="-122"/>
                <a:cs typeface="Cambria" pitchFamily="34" charset="-120"/>
              </a:rPr>
              <a:t>Test against the observations</a:t>
            </a:r>
            <a:endParaRPr lang="en-US" sz="1450" dirty="0"/>
          </a:p>
        </p:txBody>
      </p:sp>
      <p:sp>
        <p:nvSpPr>
          <p:cNvPr id="16" name="Text 14"/>
          <p:cNvSpPr txBox="1"/>
          <p:nvPr/>
        </p:nvSpPr>
        <p:spPr>
          <a:xfrm>
            <a:off x="1188720" y="4965192"/>
            <a:ext cx="5394960" cy="658368"/>
          </a:xfrm>
          <a:prstGeom prst="rect">
            <a:avLst/>
          </a:prstGeom>
          <a:noFill/>
          <a:ln/>
        </p:spPr>
        <p:txBody>
          <a:bodyPr wrap="square" lIns="0" tIns="0" rIns="0" bIns="0" rtlCol="0" anchor="t"/>
          <a:lstStyle/>
          <a:p>
            <a:pPr marL="0" indent="0">
              <a:lnSpc>
                <a:spcPts val="1700"/>
              </a:lnSpc>
              <a:buNone/>
            </a:pPr>
            <a:r>
              <a:rPr lang="en-US" sz="1250" dirty="0">
                <a:solidFill>
                  <a:srgbClr val="5F6368"/>
                </a:solidFill>
                <a:latin typeface="Calibri" pitchFamily="34" charset="0"/>
                <a:ea typeface="Calibri" pitchFamily="34" charset="-122"/>
                <a:cs typeface="Calibri" pitchFamily="34" charset="-120"/>
              </a:rPr>
              <a:t>Recorded events would then be located on the surface, to examine whether they occur under the conditions identified as resonant.</a:t>
            </a:r>
            <a:endParaRPr lang="en-US" sz="1250" dirty="0"/>
          </a:p>
        </p:txBody>
      </p:sp>
      <p:sp>
        <p:nvSpPr>
          <p:cNvPr id="17" name="Shape 15"/>
          <p:cNvSpPr/>
          <p:nvPr/>
        </p:nvSpPr>
        <p:spPr>
          <a:xfrm>
            <a:off x="6949440" y="2194560"/>
            <a:ext cx="4672584" cy="3063240"/>
          </a:xfrm>
          <a:prstGeom prst="roundRect">
            <a:avLst>
              <a:gd name="adj" fmla="val 1791"/>
            </a:avLst>
          </a:prstGeom>
          <a:solidFill>
            <a:srgbClr val="21295C"/>
          </a:solidFill>
          <a:ln/>
        </p:spPr>
      </p:sp>
      <p:sp>
        <p:nvSpPr>
          <p:cNvPr id="18" name="Text 16"/>
          <p:cNvSpPr txBox="1"/>
          <p:nvPr/>
        </p:nvSpPr>
        <p:spPr>
          <a:xfrm>
            <a:off x="7223760" y="2359152"/>
            <a:ext cx="4123944" cy="274320"/>
          </a:xfrm>
          <a:prstGeom prst="rect">
            <a:avLst/>
          </a:prstGeom>
          <a:noFill/>
          <a:ln/>
        </p:spPr>
        <p:txBody>
          <a:bodyPr wrap="square" lIns="0" tIns="0" rIns="0" bIns="0" rtlCol="0" anchor="ctr"/>
          <a:lstStyle/>
          <a:p>
            <a:pPr marL="0" indent="0">
              <a:buNone/>
            </a:pPr>
            <a:r>
              <a:rPr lang="en-US" sz="1350" b="1" dirty="0">
                <a:solidFill>
                  <a:srgbClr val="EB6834"/>
                </a:solidFill>
                <a:latin typeface="Cambria" pitchFamily="34" charset="0"/>
                <a:ea typeface="Cambria" pitchFamily="34" charset="-122"/>
                <a:cs typeface="Cambria" pitchFamily="34" charset="-120"/>
              </a:rPr>
              <a:t>Two extensions under consideration</a:t>
            </a:r>
            <a:endParaRPr lang="en-US" sz="1350" dirty="0"/>
          </a:p>
        </p:txBody>
      </p:sp>
      <p:sp>
        <p:nvSpPr>
          <p:cNvPr id="19" name="Text 17"/>
          <p:cNvSpPr txBox="1"/>
          <p:nvPr/>
        </p:nvSpPr>
        <p:spPr>
          <a:xfrm>
            <a:off x="7223760" y="2688336"/>
            <a:ext cx="4123944" cy="2459736"/>
          </a:xfrm>
          <a:prstGeom prst="rect">
            <a:avLst/>
          </a:prstGeom>
          <a:noFill/>
          <a:ln/>
        </p:spPr>
        <p:txBody>
          <a:bodyPr wrap="square" lIns="0" tIns="0" rIns="0" bIns="0" rtlCol="0" anchor="t"/>
          <a:lstStyle/>
          <a:p>
            <a:pPr marL="0" indent="0">
              <a:lnSpc>
                <a:spcPts val="1550"/>
              </a:lnSpc>
              <a:buNone/>
            </a:pPr>
            <a:r>
              <a:rPr lang="en-US" sz="1150" b="1" dirty="0">
                <a:solidFill>
                  <a:srgbClr val="FFFFFF"/>
                </a:solidFill>
                <a:latin typeface="Calibri" pitchFamily="34" charset="0"/>
                <a:ea typeface="Calibri" pitchFamily="34" charset="-122"/>
                <a:cs typeface="Calibri" pitchFamily="34" charset="-120"/>
              </a:rPr>
              <a:t>Climate. </a:t>
            </a:r>
            <a:r>
              <a:rPr lang="en-US" sz="1150" dirty="0">
                <a:solidFill>
                  <a:srgbClr val="CADCFC"/>
                </a:solidFill>
                <a:latin typeface="Calibri" pitchFamily="34" charset="0"/>
                <a:ea typeface="Calibri" pitchFamily="34" charset="-122"/>
                <a:cs typeface="Calibri" pitchFamily="34" charset="-120"/>
              </a:rPr>
              <a:t>The response surface would be a property of the geometry, so projected changes in the forcing could be applied to it without repeating the hydrodynamics.
</a:t>
            </a:r>
            <a:endParaRPr lang="en-US" sz="1150" dirty="0"/>
          </a:p>
          <a:p>
            <a:pPr marL="0" indent="0">
              <a:lnSpc>
                <a:spcPts val="1550"/>
              </a:lnSpc>
              <a:buNone/>
            </a:pPr>
            <a:r>
              <a:rPr lang="en-US" sz="1150" b="1" dirty="0">
                <a:solidFill>
                  <a:srgbClr val="FFFFFF"/>
                </a:solidFill>
                <a:latin typeface="Calibri" pitchFamily="34" charset="0"/>
                <a:ea typeface="Calibri" pitchFamily="34" charset="-122"/>
                <a:cs typeface="Calibri" pitchFamily="34" charset="-120"/>
              </a:rPr>
              <a:t>Geometry of the mouth. </a:t>
            </a:r>
            <a:r>
              <a:rPr lang="en-US" sz="1150" dirty="0">
                <a:solidFill>
                  <a:srgbClr val="CADCFC"/>
                </a:solidFill>
                <a:latin typeface="Calibri" pitchFamily="34" charset="0"/>
                <a:ea typeface="Calibri" pitchFamily="34" charset="-122"/>
                <a:cs typeface="Calibri" pitchFamily="34" charset="-120"/>
              </a:rPr>
              <a:t>On the measured profile a restriction of a quarter lengthens the estimated mode by 1.5 to 4 per cent, of the same order as a metre of sea level rise. The effect on exchange is expected to be larger. The exercise is a sensitivity on the class of basin and represents no particular design.</a:t>
            </a:r>
            <a:endParaRPr lang="en-US" sz="1150" dirty="0"/>
          </a:p>
        </p:txBody>
      </p:sp>
      <p:sp>
        <p:nvSpPr>
          <p:cNvPr id="20" name="Text 18"/>
          <p:cNvSpPr txBox="1"/>
          <p:nvPr/>
        </p:nvSpPr>
        <p:spPr>
          <a:xfrm>
            <a:off x="566928" y="6053328"/>
            <a:ext cx="11055096" cy="310896"/>
          </a:xfrm>
          <a:prstGeom prst="rect">
            <a:avLst/>
          </a:prstGeom>
          <a:noFill/>
          <a:ln/>
        </p:spPr>
        <p:txBody>
          <a:bodyPr wrap="square" lIns="0" tIns="0" rIns="0" bIns="0" rtlCol="0" anchor="ctr"/>
          <a:lstStyle/>
          <a:p>
            <a:pPr marL="0" indent="0">
              <a:buNone/>
            </a:pPr>
            <a:r>
              <a:rPr lang="en-US" sz="1050" i="1" dirty="0">
                <a:solidFill>
                  <a:srgbClr val="5F6368"/>
                </a:solidFill>
                <a:latin typeface="Calibri" pitchFamily="34" charset="0"/>
                <a:ea typeface="Calibri" pitchFamily="34" charset="-122"/>
                <a:cs typeface="Calibri" pitchFamily="34" charset="-120"/>
              </a:rPr>
              <a:t>The milgħuba is reported to flood Msida, at the head of Msida Creek inside Marsamxett, together with Marsaskala, Xemxija, Marsaxlokk and Sliema.</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66928" y="438912"/>
            <a:ext cx="8229600" cy="274320"/>
          </a:xfrm>
          <a:prstGeom prst="rect">
            <a:avLst/>
          </a:prstGeom>
          <a:noFill/>
          <a:ln/>
        </p:spPr>
        <p:txBody>
          <a:bodyPr wrap="square" lIns="0" tIns="0" rIns="0" bIns="0" rtlCol="0" anchor="ctr"/>
          <a:lstStyle/>
          <a:p>
            <a:pPr marL="0" indent="0">
              <a:buNone/>
            </a:pPr>
            <a:r>
              <a:rPr lang="en-US" sz="1200" b="1" kern="0" spc="200" dirty="0">
                <a:solidFill>
                  <a:srgbClr val="EB6834"/>
                </a:solidFill>
                <a:latin typeface="Calibri" pitchFamily="34" charset="0"/>
                <a:ea typeface="Calibri" pitchFamily="34" charset="-122"/>
                <a:cs typeface="Calibri" pitchFamily="34" charset="-120"/>
              </a:rPr>
              <a:t>OBSERVATIONS</a:t>
            </a:r>
            <a:endParaRPr lang="en-US" sz="1200" dirty="0"/>
          </a:p>
        </p:txBody>
      </p:sp>
      <p:sp>
        <p:nvSpPr>
          <p:cNvPr id="3" name="Text 1"/>
          <p:cNvSpPr txBox="1"/>
          <p:nvPr/>
        </p:nvSpPr>
        <p:spPr>
          <a:xfrm>
            <a:off x="566928" y="749808"/>
            <a:ext cx="10972800" cy="658368"/>
          </a:xfrm>
          <a:prstGeom prst="rect">
            <a:avLst/>
          </a:prstGeom>
          <a:noFill/>
          <a:ln/>
        </p:spPr>
        <p:txBody>
          <a:bodyPr wrap="square" lIns="0" tIns="0" rIns="0" bIns="0" rtlCol="0" anchor="ctr"/>
          <a:lstStyle/>
          <a:p>
            <a:pPr marL="0" indent="0">
              <a:buNone/>
            </a:pPr>
            <a:r>
              <a:rPr lang="en-US" sz="3200" b="1" dirty="0">
                <a:solidFill>
                  <a:srgbClr val="1A1A1A"/>
                </a:solidFill>
                <a:latin typeface="Cambria" pitchFamily="34" charset="0"/>
                <a:ea typeface="Cambria" pitchFamily="34" charset="-122"/>
                <a:cs typeface="Cambria" pitchFamily="34" charset="-120"/>
              </a:rPr>
              <a:t>Reported events against the public record</a:t>
            </a:r>
            <a:endParaRPr lang="en-US" sz="3200" dirty="0"/>
          </a:p>
        </p:txBody>
      </p:sp>
      <p:sp>
        <p:nvSpPr>
          <p:cNvPr id="4" name="Text 2"/>
          <p:cNvSpPr txBox="1"/>
          <p:nvPr/>
        </p:nvSpPr>
        <p:spPr>
          <a:xfrm>
            <a:off x="566928" y="1408176"/>
            <a:ext cx="10881360" cy="585216"/>
          </a:xfrm>
          <a:prstGeom prst="rect">
            <a:avLst/>
          </a:prstGeom>
          <a:noFill/>
          <a:ln/>
        </p:spPr>
        <p:txBody>
          <a:bodyPr wrap="square" lIns="0" tIns="0" rIns="0" bIns="0" rtlCol="0" anchor="ctr"/>
          <a:lstStyle/>
          <a:p>
            <a:pPr marL="0" indent="0">
              <a:buNone/>
            </a:pPr>
            <a:r>
              <a:rPr lang="en-US" sz="1400" dirty="0">
                <a:solidFill>
                  <a:srgbClr val="5F6368"/>
                </a:solidFill>
                <a:latin typeface="Calibri" pitchFamily="34" charset="0"/>
                <a:ea typeface="Calibri" pitchFamily="34" charset="-122"/>
                <a:cs typeface="Calibri" pitchFamily="34" charset="-120"/>
              </a:rPr>
              <a:t>The public copy of the Senglea record covers 43 per cent of the span from June 2021 to December 2024, and transmission ceased on 13 December 2024.</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66928" y="2194560"/>
          <a:ext cx="11055096" cy="914400"/>
        </p:xfrm>
        <a:graphic>
          <a:graphicData uri="http://schemas.openxmlformats.org/drawingml/2006/table">
            <a:tbl>
              <a:tblPr/>
              <a:tblGrid>
                <a:gridCol w="137160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4480560">
                  <a:extLst>
                    <a:ext uri="{9D8B030D-6E8A-4147-A177-3AD203B41FA5}">
                      <a16:colId xmlns:a16="http://schemas.microsoft.com/office/drawing/2014/main" val="20002"/>
                    </a:ext>
                  </a:extLst>
                </a:gridCol>
                <a:gridCol w="3557016">
                  <a:extLst>
                    <a:ext uri="{9D8B030D-6E8A-4147-A177-3AD203B41FA5}">
                      <a16:colId xmlns:a16="http://schemas.microsoft.com/office/drawing/2014/main" val="20003"/>
                    </a:ext>
                  </a:extLst>
                </a:gridCol>
              </a:tblGrid>
              <a:tr h="347472">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Date</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065A82"/>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Type</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065A82"/>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Reported effects</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065A82"/>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Senglea, public copy</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347472">
                <a:tc>
                  <a:txBody>
                    <a:bodyPr/>
                    <a:lstStyle/>
                    <a:p>
                      <a:pPr marL="0" indent="0" algn="l">
                        <a:buNone/>
                      </a:pPr>
                      <a:r>
                        <a:rPr lang="en-US" sz="1200" b="1" dirty="0">
                          <a:solidFill>
                            <a:srgbClr val="1A1A1A"/>
                          </a:solidFill>
                          <a:latin typeface="Calibri" pitchFamily="34" charset="0"/>
                          <a:ea typeface="Calibri" pitchFamily="34" charset="-122"/>
                          <a:cs typeface="Calibri" pitchFamily="34" charset="-120"/>
                        </a:rPr>
                        <a:t>25 Oct 2018</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seismic tsunami</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excursions of some 25 cm at Portomaso</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before installation</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7472">
                <a:tc>
                  <a:txBody>
                    <a:bodyPr/>
                    <a:lstStyle/>
                    <a:p>
                      <a:pPr marL="0" indent="0" algn="l">
                        <a:buNone/>
                      </a:pPr>
                      <a:r>
                        <a:rPr lang="en-US" sz="1200" b="1" dirty="0">
                          <a:solidFill>
                            <a:srgbClr val="1A1A1A"/>
                          </a:solidFill>
                          <a:latin typeface="Calibri" pitchFamily="34" charset="0"/>
                          <a:ea typeface="Calibri" pitchFamily="34" charset="-122"/>
                          <a:cs typeface="Calibri" pitchFamily="34" charset="-120"/>
                        </a:rPr>
                        <a:t>18 Jun 2019</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EEF3F6"/>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milgħuba</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EEF3F6"/>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sea bed exposed and quay overtopped in St Paul's Bay</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EEF3F6"/>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before installation</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EEF3F6"/>
                    </a:solidFill>
                  </a:tcPr>
                </a:tc>
                <a:extLst>
                  <a:ext uri="{0D108BD9-81ED-4DB2-BD59-A6C34878D82A}">
                    <a16:rowId xmlns:a16="http://schemas.microsoft.com/office/drawing/2014/main" val="10002"/>
                  </a:ext>
                </a:extLst>
              </a:tr>
              <a:tr h="347472">
                <a:tc>
                  <a:txBody>
                    <a:bodyPr/>
                    <a:lstStyle/>
                    <a:p>
                      <a:pPr marL="0" indent="0" algn="l">
                        <a:buNone/>
                      </a:pPr>
                      <a:r>
                        <a:rPr lang="en-US" sz="1200" b="1" dirty="0">
                          <a:solidFill>
                            <a:srgbClr val="1A1A1A"/>
                          </a:solidFill>
                          <a:latin typeface="Calibri" pitchFamily="34" charset="0"/>
                          <a:ea typeface="Calibri" pitchFamily="34" charset="-122"/>
                          <a:cs typeface="Calibri" pitchFamily="34" charset="-120"/>
                        </a:rPr>
                        <a:t>30 Jun 2022</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milgħuba</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flooding at Marsaskala, St Julian's and Qawra</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no data, record resumes on 1 July</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47472">
                <a:tc>
                  <a:txBody>
                    <a:bodyPr/>
                    <a:lstStyle/>
                    <a:p>
                      <a:pPr marL="0" indent="0" algn="l">
                        <a:buNone/>
                      </a:pPr>
                      <a:r>
                        <a:rPr lang="en-US" sz="1200" b="1" dirty="0">
                          <a:solidFill>
                            <a:srgbClr val="1A1A1A"/>
                          </a:solidFill>
                          <a:latin typeface="Calibri" pitchFamily="34" charset="0"/>
                          <a:ea typeface="Calibri" pitchFamily="34" charset="-122"/>
                          <a:cs typeface="Calibri" pitchFamily="34" charset="-120"/>
                        </a:rPr>
                        <a:t>1 Jul 2023</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EEF3F6"/>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milgħuba</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EEF3F6"/>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flooding at Marsaskala and Xemxija</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EEF3F6"/>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displaced level, not usable</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EEF3F6"/>
                    </a:solidFill>
                  </a:tcPr>
                </a:tc>
                <a:extLst>
                  <a:ext uri="{0D108BD9-81ED-4DB2-BD59-A6C34878D82A}">
                    <a16:rowId xmlns:a16="http://schemas.microsoft.com/office/drawing/2014/main" val="10004"/>
                  </a:ext>
                </a:extLst>
              </a:tr>
              <a:tr h="347472">
                <a:tc>
                  <a:txBody>
                    <a:bodyPr/>
                    <a:lstStyle/>
                    <a:p>
                      <a:pPr marL="0" indent="0" algn="l">
                        <a:buNone/>
                      </a:pPr>
                      <a:r>
                        <a:rPr lang="en-US" sz="1200" b="1" dirty="0">
                          <a:solidFill>
                            <a:srgbClr val="1A1A1A"/>
                          </a:solidFill>
                          <a:latin typeface="Calibri" pitchFamily="34" charset="0"/>
                          <a:ea typeface="Calibri" pitchFamily="34" charset="-122"/>
                          <a:cs typeface="Calibri" pitchFamily="34" charset="-120"/>
                        </a:rPr>
                        <a:t>13 Jun 2024</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meteotsunami</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flooding of the main square of Msida</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displaced level, not usable</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Shape 3"/>
          <p:cNvSpPr/>
          <p:nvPr/>
        </p:nvSpPr>
        <p:spPr>
          <a:xfrm>
            <a:off x="566928" y="4498848"/>
            <a:ext cx="5440680" cy="1481328"/>
          </a:xfrm>
          <a:prstGeom prst="roundRect">
            <a:avLst>
              <a:gd name="adj" fmla="val 3704"/>
            </a:avLst>
          </a:prstGeom>
          <a:solidFill>
            <a:srgbClr val="EEF3F6"/>
          </a:solidFill>
          <a:ln/>
        </p:spPr>
      </p:sp>
      <p:sp>
        <p:nvSpPr>
          <p:cNvPr id="7" name="Text 4"/>
          <p:cNvSpPr txBox="1"/>
          <p:nvPr/>
        </p:nvSpPr>
        <p:spPr>
          <a:xfrm>
            <a:off x="841248" y="4663440"/>
            <a:ext cx="4892040" cy="274320"/>
          </a:xfrm>
          <a:prstGeom prst="rect">
            <a:avLst/>
          </a:prstGeom>
          <a:noFill/>
          <a:ln/>
        </p:spPr>
        <p:txBody>
          <a:bodyPr wrap="square" lIns="0" tIns="0" rIns="0" bIns="0" rtlCol="0" anchor="ctr"/>
          <a:lstStyle/>
          <a:p>
            <a:pPr marL="0" indent="0">
              <a:buNone/>
            </a:pPr>
            <a:r>
              <a:rPr lang="en-US" sz="1350" b="1" dirty="0">
                <a:solidFill>
                  <a:srgbClr val="065A82"/>
                </a:solidFill>
                <a:latin typeface="Cambria" pitchFamily="34" charset="0"/>
                <a:ea typeface="Cambria" pitchFamily="34" charset="-122"/>
                <a:cs typeface="Cambria" pitchFamily="34" charset="-120"/>
              </a:rPr>
              <a:t>State of the record</a:t>
            </a:r>
            <a:endParaRPr lang="en-US" sz="1350" dirty="0"/>
          </a:p>
        </p:txBody>
      </p:sp>
      <p:sp>
        <p:nvSpPr>
          <p:cNvPr id="5" name="Text 5"/>
          <p:cNvSpPr txBox="1"/>
          <p:nvPr/>
        </p:nvSpPr>
        <p:spPr>
          <a:xfrm>
            <a:off x="841248" y="4992624"/>
            <a:ext cx="4892040" cy="877824"/>
          </a:xfrm>
          <a:prstGeom prst="rect">
            <a:avLst/>
          </a:prstGeom>
          <a:noFill/>
          <a:ln/>
        </p:spPr>
        <p:txBody>
          <a:bodyPr wrap="square" lIns="0" tIns="0" rIns="0" bIns="0" rtlCol="0" anchor="t"/>
          <a:lstStyle/>
          <a:p>
            <a:pPr marL="0" indent="0">
              <a:lnSpc>
                <a:spcPts val="1550"/>
              </a:lnSpc>
              <a:buNone/>
            </a:pPr>
            <a:r>
              <a:rPr lang="en-US" sz="1150" dirty="0">
                <a:solidFill>
                  <a:srgbClr val="1A1A1A"/>
                </a:solidFill>
                <a:latin typeface="Calibri" pitchFamily="34" charset="0"/>
                <a:ea typeface="Calibri" pitchFamily="34" charset="-122"/>
                <a:cs typeface="Calibri" pitchFamily="34" charset="-120"/>
              </a:rPr>
              <a:t>Two windows are provisionally admitted to the analysis, 24 June to 31 December 2021 and 1 December 2022 to 31 March 2023. From April 2023 the level appears displaced by some 2 m and the gauge transmits by day only.</a:t>
            </a:r>
            <a:endParaRPr lang="en-US" sz="1150" dirty="0"/>
          </a:p>
        </p:txBody>
      </p:sp>
      <p:sp>
        <p:nvSpPr>
          <p:cNvPr id="9" name="Shape 6"/>
          <p:cNvSpPr/>
          <p:nvPr/>
        </p:nvSpPr>
        <p:spPr>
          <a:xfrm>
            <a:off x="6181344" y="4498848"/>
            <a:ext cx="5440680" cy="1481328"/>
          </a:xfrm>
          <a:prstGeom prst="roundRect">
            <a:avLst>
              <a:gd name="adj" fmla="val 3704"/>
            </a:avLst>
          </a:prstGeom>
          <a:solidFill>
            <a:srgbClr val="21295C"/>
          </a:solidFill>
          <a:ln/>
        </p:spPr>
      </p:sp>
      <p:sp>
        <p:nvSpPr>
          <p:cNvPr id="10" name="Text 7"/>
          <p:cNvSpPr txBox="1"/>
          <p:nvPr/>
        </p:nvSpPr>
        <p:spPr>
          <a:xfrm>
            <a:off x="6455664" y="4663440"/>
            <a:ext cx="4892040" cy="274320"/>
          </a:xfrm>
          <a:prstGeom prst="rect">
            <a:avLst/>
          </a:prstGeom>
          <a:noFill/>
          <a:ln/>
        </p:spPr>
        <p:txBody>
          <a:bodyPr wrap="square" lIns="0" tIns="0" rIns="0" bIns="0" rtlCol="0" anchor="ctr"/>
          <a:lstStyle/>
          <a:p>
            <a:pPr marL="0" indent="0">
              <a:buNone/>
            </a:pPr>
            <a:r>
              <a:rPr lang="en-US" sz="1350" b="1" dirty="0">
                <a:solidFill>
                  <a:srgbClr val="EB6834"/>
                </a:solidFill>
                <a:latin typeface="Cambria" pitchFamily="34" charset="0"/>
                <a:ea typeface="Cambria" pitchFamily="34" charset="-122"/>
                <a:cs typeface="Cambria" pitchFamily="34" charset="-120"/>
              </a:rPr>
              <a:t>Consequence for the study</a:t>
            </a:r>
            <a:endParaRPr lang="en-US" sz="1350" dirty="0"/>
          </a:p>
        </p:txBody>
      </p:sp>
      <p:sp>
        <p:nvSpPr>
          <p:cNvPr id="11" name="Text 8"/>
          <p:cNvSpPr txBox="1"/>
          <p:nvPr/>
        </p:nvSpPr>
        <p:spPr>
          <a:xfrm>
            <a:off x="6455664" y="4992624"/>
            <a:ext cx="4892040" cy="877824"/>
          </a:xfrm>
          <a:prstGeom prst="rect">
            <a:avLst/>
          </a:prstGeom>
          <a:noFill/>
          <a:ln/>
        </p:spPr>
        <p:txBody>
          <a:bodyPr wrap="square" lIns="0" tIns="0" rIns="0" bIns="0" rtlCol="0" anchor="t"/>
          <a:lstStyle/>
          <a:p>
            <a:pPr marL="0" indent="0">
              <a:lnSpc>
                <a:spcPts val="1550"/>
              </a:lnSpc>
              <a:buNone/>
            </a:pPr>
            <a:r>
              <a:rPr lang="en-US" sz="1150" dirty="0">
                <a:solidFill>
                  <a:srgbClr val="CADCFC"/>
                </a:solidFill>
                <a:latin typeface="Calibri" pitchFamily="34" charset="0"/>
                <a:ea typeface="Calibri" pitchFamily="34" charset="-122"/>
                <a:cs typeface="Calibri" pitchFamily="34" charset="-120"/>
              </a:rPr>
              <a:t>None of the three events since installation is resolved in the public copy. The archive of the group, sea level and one-minute pressure, would therefore be the record against which the response surface is tested.</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66928" y="438912"/>
            <a:ext cx="8229600" cy="274320"/>
          </a:xfrm>
          <a:prstGeom prst="rect">
            <a:avLst/>
          </a:prstGeom>
          <a:noFill/>
          <a:ln/>
        </p:spPr>
        <p:txBody>
          <a:bodyPr wrap="square" lIns="0" tIns="0" rIns="0" bIns="0" rtlCol="0" anchor="ctr"/>
          <a:lstStyle/>
          <a:p>
            <a:pPr marL="0" indent="0">
              <a:buNone/>
            </a:pPr>
            <a:r>
              <a:rPr lang="en-US" sz="1200" b="1" kern="0" spc="200" dirty="0">
                <a:solidFill>
                  <a:srgbClr val="EB6834"/>
                </a:solidFill>
                <a:latin typeface="Calibri" pitchFamily="34" charset="0"/>
                <a:ea typeface="Calibri" pitchFamily="34" charset="-122"/>
                <a:cs typeface="Calibri" pitchFamily="34" charset="-120"/>
              </a:rPr>
              <a:t>OPEN QUESTIONS</a:t>
            </a:r>
            <a:endParaRPr lang="en-US" sz="1200" dirty="0"/>
          </a:p>
        </p:txBody>
      </p:sp>
      <p:sp>
        <p:nvSpPr>
          <p:cNvPr id="3" name="Text 1"/>
          <p:cNvSpPr txBox="1"/>
          <p:nvPr/>
        </p:nvSpPr>
        <p:spPr>
          <a:xfrm>
            <a:off x="566928" y="749808"/>
            <a:ext cx="10972800" cy="658368"/>
          </a:xfrm>
          <a:prstGeom prst="rect">
            <a:avLst/>
          </a:prstGeom>
          <a:noFill/>
          <a:ln/>
        </p:spPr>
        <p:txBody>
          <a:bodyPr wrap="square" lIns="0" tIns="0" rIns="0" bIns="0" rtlCol="0" anchor="ctr"/>
          <a:lstStyle/>
          <a:p>
            <a:pPr marL="0" indent="0">
              <a:buNone/>
            </a:pPr>
            <a:r>
              <a:rPr lang="en-US" sz="3200" b="1" dirty="0">
                <a:solidFill>
                  <a:srgbClr val="1A1A1A"/>
                </a:solidFill>
                <a:latin typeface="Cambria" pitchFamily="34" charset="0"/>
                <a:ea typeface="Cambria" pitchFamily="34" charset="-122"/>
                <a:cs typeface="Cambria" pitchFamily="34" charset="-120"/>
              </a:rPr>
              <a:t>Open questions for the continuation</a:t>
            </a:r>
            <a:endParaRPr lang="en-US" sz="3200" dirty="0"/>
          </a:p>
        </p:txBody>
      </p:sp>
      <p:sp>
        <p:nvSpPr>
          <p:cNvPr id="4" name="Shape 2"/>
          <p:cNvSpPr/>
          <p:nvPr/>
        </p:nvSpPr>
        <p:spPr>
          <a:xfrm>
            <a:off x="566928" y="1874520"/>
            <a:ext cx="402336" cy="402336"/>
          </a:xfrm>
          <a:prstGeom prst="ellipse">
            <a:avLst/>
          </a:prstGeom>
          <a:solidFill>
            <a:srgbClr val="065A82"/>
          </a:solidFill>
          <a:ln/>
        </p:spPr>
      </p:sp>
      <p:sp>
        <p:nvSpPr>
          <p:cNvPr id="5" name="Text 3"/>
          <p:cNvSpPr txBox="1"/>
          <p:nvPr/>
        </p:nvSpPr>
        <p:spPr>
          <a:xfrm>
            <a:off x="566928" y="1874520"/>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133856" y="1847088"/>
            <a:ext cx="4828032" cy="475488"/>
          </a:xfrm>
          <a:prstGeom prst="rect">
            <a:avLst/>
          </a:prstGeom>
          <a:noFill/>
          <a:ln/>
        </p:spPr>
        <p:txBody>
          <a:bodyPr wrap="square" lIns="0" tIns="0" rIns="0" bIns="0" rtlCol="0" anchor="ctr"/>
          <a:lstStyle/>
          <a:p>
            <a:pPr marL="0" indent="0">
              <a:lnSpc>
                <a:spcPts val="1600"/>
              </a:lnSpc>
              <a:buNone/>
            </a:pPr>
            <a:r>
              <a:rPr lang="en-US" sz="1280" b="1" dirty="0">
                <a:solidFill>
                  <a:srgbClr val="1A1A1A"/>
                </a:solidFill>
                <a:latin typeface="Calibri" pitchFamily="34" charset="0"/>
                <a:ea typeface="Calibri" pitchFamily="34" charset="-122"/>
                <a:cs typeface="Calibri" pitchFamily="34" charset="-120"/>
              </a:rPr>
              <a:t>Sea level and one-minute pressure from the archive of the group on the dates of the events</a:t>
            </a:r>
            <a:endParaRPr lang="en-US" sz="1280" dirty="0"/>
          </a:p>
        </p:txBody>
      </p:sp>
      <p:sp>
        <p:nvSpPr>
          <p:cNvPr id="7" name="Text 5"/>
          <p:cNvSpPr txBox="1"/>
          <p:nvPr/>
        </p:nvSpPr>
        <p:spPr>
          <a:xfrm>
            <a:off x="1133856" y="2331720"/>
            <a:ext cx="4828032" cy="896112"/>
          </a:xfrm>
          <a:prstGeom prst="rect">
            <a:avLst/>
          </a:prstGeom>
          <a:noFill/>
          <a:ln/>
        </p:spPr>
        <p:txBody>
          <a:bodyPr wrap="square" lIns="0" tIns="0" rIns="0" bIns="0" rtlCol="0" anchor="t"/>
          <a:lstStyle/>
          <a:p>
            <a:pPr marL="0" indent="0">
              <a:lnSpc>
                <a:spcPts val="1450"/>
              </a:lnSpc>
              <a:buNone/>
            </a:pPr>
            <a:r>
              <a:rPr lang="en-US" sz="1100" dirty="0">
                <a:solidFill>
                  <a:srgbClr val="5F6368"/>
                </a:solidFill>
                <a:latin typeface="Calibri" pitchFamily="34" charset="0"/>
                <a:ea typeface="Calibri" pitchFamily="34" charset="-122"/>
                <a:cs typeface="Calibri" pitchFamily="34" charset="-120"/>
              </a:rPr>
              <a:t>Senglea and Delimara for 29 June to 2 July 2022, 30 June to 2 July 2023 and 12 to 14 June 2024, with PORTO pressure at Elmo, Kordin and Msida.</a:t>
            </a:r>
            <a:endParaRPr lang="en-US" sz="1100" dirty="0"/>
          </a:p>
        </p:txBody>
      </p:sp>
      <p:sp>
        <p:nvSpPr>
          <p:cNvPr id="8" name="Shape 6"/>
          <p:cNvSpPr/>
          <p:nvPr/>
        </p:nvSpPr>
        <p:spPr>
          <a:xfrm>
            <a:off x="6126480" y="1874520"/>
            <a:ext cx="402336" cy="402336"/>
          </a:xfrm>
          <a:prstGeom prst="ellipse">
            <a:avLst/>
          </a:prstGeom>
          <a:solidFill>
            <a:srgbClr val="1C7293"/>
          </a:solidFill>
          <a:ln/>
        </p:spPr>
      </p:sp>
      <p:sp>
        <p:nvSpPr>
          <p:cNvPr id="9" name="Text 7"/>
          <p:cNvSpPr txBox="1"/>
          <p:nvPr/>
        </p:nvSpPr>
        <p:spPr>
          <a:xfrm>
            <a:off x="6126480" y="1874520"/>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0" name="Text 8"/>
          <p:cNvSpPr txBox="1"/>
          <p:nvPr/>
        </p:nvSpPr>
        <p:spPr>
          <a:xfrm>
            <a:off x="6693408" y="1847088"/>
            <a:ext cx="4828032" cy="475488"/>
          </a:xfrm>
          <a:prstGeom prst="rect">
            <a:avLst/>
          </a:prstGeom>
          <a:noFill/>
          <a:ln/>
        </p:spPr>
        <p:txBody>
          <a:bodyPr wrap="square" lIns="0" tIns="0" rIns="0" bIns="0" rtlCol="0" anchor="ctr"/>
          <a:lstStyle/>
          <a:p>
            <a:pPr marL="0" indent="0">
              <a:lnSpc>
                <a:spcPts val="1600"/>
              </a:lnSpc>
              <a:buNone/>
            </a:pPr>
            <a:r>
              <a:rPr lang="en-US" sz="1280" b="1" dirty="0">
                <a:solidFill>
                  <a:srgbClr val="1A1A1A"/>
                </a:solidFill>
                <a:latin typeface="Calibri" pitchFamily="34" charset="0"/>
                <a:ea typeface="Calibri" pitchFamily="34" charset="-122"/>
                <a:cs typeface="Calibri" pitchFamily="34" charset="-120"/>
              </a:rPr>
              <a:t>History of the Senglea installation, and Portomaso at one minute</a:t>
            </a:r>
            <a:endParaRPr lang="en-US" sz="1280" dirty="0"/>
          </a:p>
        </p:txBody>
      </p:sp>
      <p:sp>
        <p:nvSpPr>
          <p:cNvPr id="11" name="Text 9"/>
          <p:cNvSpPr txBox="1"/>
          <p:nvPr/>
        </p:nvSpPr>
        <p:spPr>
          <a:xfrm>
            <a:off x="6693408" y="2331720"/>
            <a:ext cx="4828032" cy="896112"/>
          </a:xfrm>
          <a:prstGeom prst="rect">
            <a:avLst/>
          </a:prstGeom>
          <a:noFill/>
          <a:ln/>
        </p:spPr>
        <p:txBody>
          <a:bodyPr wrap="square" lIns="0" tIns="0" rIns="0" bIns="0" rtlCol="0" anchor="t"/>
          <a:lstStyle/>
          <a:p>
            <a:pPr marL="0" indent="0">
              <a:lnSpc>
                <a:spcPts val="1450"/>
              </a:lnSpc>
              <a:buNone/>
            </a:pPr>
            <a:r>
              <a:rPr lang="en-US" sz="1100" dirty="0">
                <a:solidFill>
                  <a:srgbClr val="5F6368"/>
                </a:solidFill>
                <a:latin typeface="Calibri" pitchFamily="34" charset="0"/>
                <a:ea typeface="Calibri" pitchFamily="34" charset="-122"/>
                <a:cs typeface="Calibri" pitchFamily="34" charset="-120"/>
              </a:rPr>
              <a:t>Confirmation of the windows admitted and the cause of the displacement from April 2023. A gauge outside both basins would help separate the readings of the 23-minute peak.</a:t>
            </a:r>
            <a:endParaRPr lang="en-US" sz="1100" dirty="0"/>
          </a:p>
        </p:txBody>
      </p:sp>
      <p:sp>
        <p:nvSpPr>
          <p:cNvPr id="12" name="Shape 10"/>
          <p:cNvSpPr/>
          <p:nvPr/>
        </p:nvSpPr>
        <p:spPr>
          <a:xfrm>
            <a:off x="566928" y="3355848"/>
            <a:ext cx="402336" cy="402336"/>
          </a:xfrm>
          <a:prstGeom prst="ellipse">
            <a:avLst/>
          </a:prstGeom>
          <a:solidFill>
            <a:srgbClr val="065A82"/>
          </a:solidFill>
          <a:ln/>
        </p:spPr>
      </p:sp>
      <p:sp>
        <p:nvSpPr>
          <p:cNvPr id="13" name="Text 11"/>
          <p:cNvSpPr txBox="1"/>
          <p:nvPr/>
        </p:nvSpPr>
        <p:spPr>
          <a:xfrm>
            <a:off x="566928" y="3355848"/>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4" name="Text 12"/>
          <p:cNvSpPr txBox="1"/>
          <p:nvPr/>
        </p:nvSpPr>
        <p:spPr>
          <a:xfrm>
            <a:off x="1133856" y="3328416"/>
            <a:ext cx="4828032" cy="475488"/>
          </a:xfrm>
          <a:prstGeom prst="rect">
            <a:avLst/>
          </a:prstGeom>
          <a:noFill/>
          <a:ln/>
        </p:spPr>
        <p:txBody>
          <a:bodyPr wrap="square" lIns="0" tIns="0" rIns="0" bIns="0" rtlCol="0" anchor="ctr"/>
          <a:lstStyle/>
          <a:p>
            <a:pPr marL="0" indent="0">
              <a:lnSpc>
                <a:spcPts val="1600"/>
              </a:lnSpc>
              <a:buNone/>
            </a:pPr>
            <a:r>
              <a:rPr lang="en-US" sz="1280" b="1" dirty="0">
                <a:solidFill>
                  <a:srgbClr val="1A1A1A"/>
                </a:solidFill>
                <a:latin typeface="Calibri" pitchFamily="34" charset="0"/>
                <a:ea typeface="Calibri" pitchFamily="34" charset="-122"/>
                <a:cs typeface="Calibri" pitchFamily="34" charset="-120"/>
              </a:rPr>
              <a:t>Appropriateness of the sensitivity exercise on the harbour mouth</a:t>
            </a:r>
            <a:endParaRPr lang="en-US" sz="1280" dirty="0"/>
          </a:p>
        </p:txBody>
      </p:sp>
      <p:sp>
        <p:nvSpPr>
          <p:cNvPr id="15" name="Text 13"/>
          <p:cNvSpPr txBox="1"/>
          <p:nvPr/>
        </p:nvSpPr>
        <p:spPr>
          <a:xfrm>
            <a:off x="1133856" y="3813048"/>
            <a:ext cx="4828032" cy="896112"/>
          </a:xfrm>
          <a:prstGeom prst="rect">
            <a:avLst/>
          </a:prstGeom>
          <a:noFill/>
          <a:ln/>
        </p:spPr>
        <p:txBody>
          <a:bodyPr wrap="square" lIns="0" tIns="0" rIns="0" bIns="0" rtlCol="0" anchor="t"/>
          <a:lstStyle/>
          <a:p>
            <a:pPr marL="0" indent="0">
              <a:lnSpc>
                <a:spcPts val="1450"/>
              </a:lnSpc>
              <a:buNone/>
            </a:pPr>
            <a:r>
              <a:rPr lang="en-US" sz="1100" dirty="0">
                <a:solidFill>
                  <a:srgbClr val="5F6368"/>
                </a:solidFill>
                <a:latin typeface="Calibri" pitchFamily="34" charset="0"/>
                <a:ea typeface="Calibri" pitchFamily="34" charset="-122"/>
                <a:cs typeface="Calibri" pitchFamily="34" charset="-120"/>
              </a:rPr>
              <a:t>The exercise is a response curve over the class of basin and carries no assessment of the project in consultation. The present geometry of the entrance, the Ricasoli arm in particular, bears on the estimate.</a:t>
            </a:r>
            <a:endParaRPr lang="en-US" sz="1100" dirty="0"/>
          </a:p>
        </p:txBody>
      </p:sp>
      <p:sp>
        <p:nvSpPr>
          <p:cNvPr id="16" name="Shape 14"/>
          <p:cNvSpPr/>
          <p:nvPr/>
        </p:nvSpPr>
        <p:spPr>
          <a:xfrm>
            <a:off x="6126480" y="3355848"/>
            <a:ext cx="402336" cy="402336"/>
          </a:xfrm>
          <a:prstGeom prst="ellipse">
            <a:avLst/>
          </a:prstGeom>
          <a:solidFill>
            <a:srgbClr val="1C7293"/>
          </a:solidFill>
          <a:ln/>
        </p:spPr>
      </p:sp>
      <p:sp>
        <p:nvSpPr>
          <p:cNvPr id="17" name="Text 15"/>
          <p:cNvSpPr txBox="1"/>
          <p:nvPr/>
        </p:nvSpPr>
        <p:spPr>
          <a:xfrm>
            <a:off x="6126480" y="3355848"/>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8" name="Text 16"/>
          <p:cNvSpPr txBox="1"/>
          <p:nvPr/>
        </p:nvSpPr>
        <p:spPr>
          <a:xfrm>
            <a:off x="6693408" y="3328416"/>
            <a:ext cx="4828032" cy="475488"/>
          </a:xfrm>
          <a:prstGeom prst="rect">
            <a:avLst/>
          </a:prstGeom>
          <a:noFill/>
          <a:ln/>
        </p:spPr>
        <p:txBody>
          <a:bodyPr wrap="square" lIns="0" tIns="0" rIns="0" bIns="0" rtlCol="0" anchor="ctr"/>
          <a:lstStyle/>
          <a:p>
            <a:pPr marL="0" indent="0">
              <a:lnSpc>
                <a:spcPts val="1600"/>
              </a:lnSpc>
              <a:buNone/>
            </a:pPr>
            <a:r>
              <a:rPr lang="en-US" sz="1280" b="1" dirty="0">
                <a:solidFill>
                  <a:srgbClr val="1A1A1A"/>
                </a:solidFill>
                <a:latin typeface="Calibri" pitchFamily="34" charset="0"/>
                <a:ea typeface="Calibri" pitchFamily="34" charset="-122"/>
                <a:cs typeface="Calibri" pitchFamily="34" charset="-120"/>
              </a:rPr>
              <a:t>Prior work on the generation of the wave</a:t>
            </a:r>
            <a:endParaRPr lang="en-US" sz="1280" dirty="0"/>
          </a:p>
        </p:txBody>
      </p:sp>
      <p:sp>
        <p:nvSpPr>
          <p:cNvPr id="19" name="Text 17"/>
          <p:cNvSpPr txBox="1"/>
          <p:nvPr/>
        </p:nvSpPr>
        <p:spPr>
          <a:xfrm>
            <a:off x="6693408" y="3813048"/>
            <a:ext cx="4828032" cy="896112"/>
          </a:xfrm>
          <a:prstGeom prst="rect">
            <a:avLst/>
          </a:prstGeom>
          <a:noFill/>
          <a:ln/>
        </p:spPr>
        <p:txBody>
          <a:bodyPr wrap="square" lIns="0" tIns="0" rIns="0" bIns="0" rtlCol="0" anchor="t"/>
          <a:lstStyle/>
          <a:p>
            <a:pPr marL="0" indent="0">
              <a:lnSpc>
                <a:spcPts val="1450"/>
              </a:lnSpc>
              <a:buNone/>
            </a:pPr>
            <a:r>
              <a:rPr lang="en-US" sz="1100" dirty="0">
                <a:solidFill>
                  <a:srgbClr val="5F6368"/>
                </a:solidFill>
                <a:latin typeface="Calibri" pitchFamily="34" charset="0"/>
                <a:ea typeface="Calibri" pitchFamily="34" charset="-122"/>
                <a:cs typeface="Calibri" pitchFamily="34" charset="-120"/>
              </a:rPr>
              <a:t>Published work imposes the long wave at the offshore boundary. Unpublished material may have treated its generation over the shelf, in which case the question would be reformulated.</a:t>
            </a:r>
            <a:endParaRPr lang="en-US" sz="1100" dirty="0"/>
          </a:p>
        </p:txBody>
      </p:sp>
      <p:sp>
        <p:nvSpPr>
          <p:cNvPr id="20" name="Shape 18"/>
          <p:cNvSpPr/>
          <p:nvPr/>
        </p:nvSpPr>
        <p:spPr>
          <a:xfrm>
            <a:off x="566928" y="4837176"/>
            <a:ext cx="402336" cy="402336"/>
          </a:xfrm>
          <a:prstGeom prst="ellipse">
            <a:avLst/>
          </a:prstGeom>
          <a:solidFill>
            <a:srgbClr val="065A82"/>
          </a:solidFill>
          <a:ln/>
        </p:spPr>
      </p:sp>
      <p:sp>
        <p:nvSpPr>
          <p:cNvPr id="21" name="Text 19"/>
          <p:cNvSpPr txBox="1"/>
          <p:nvPr/>
        </p:nvSpPr>
        <p:spPr>
          <a:xfrm>
            <a:off x="566928" y="4837176"/>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2" name="Text 20"/>
          <p:cNvSpPr txBox="1"/>
          <p:nvPr/>
        </p:nvSpPr>
        <p:spPr>
          <a:xfrm>
            <a:off x="1133856" y="4809744"/>
            <a:ext cx="4828032" cy="475488"/>
          </a:xfrm>
          <a:prstGeom prst="rect">
            <a:avLst/>
          </a:prstGeom>
          <a:noFill/>
          <a:ln/>
        </p:spPr>
        <p:txBody>
          <a:bodyPr wrap="square" lIns="0" tIns="0" rIns="0" bIns="0" rtlCol="0" anchor="ctr"/>
          <a:lstStyle/>
          <a:p>
            <a:pPr marL="0" indent="0">
              <a:lnSpc>
                <a:spcPts val="1600"/>
              </a:lnSpc>
              <a:buNone/>
            </a:pPr>
            <a:r>
              <a:rPr lang="en-US" sz="1280" b="1" dirty="0">
                <a:solidFill>
                  <a:srgbClr val="1A1A1A"/>
                </a:solidFill>
                <a:latin typeface="Calibri" pitchFamily="34" charset="0"/>
                <a:ea typeface="Calibri" pitchFamily="34" charset="-122"/>
                <a:cs typeface="Calibri" pitchFamily="34" charset="-120"/>
              </a:rPr>
              <a:t>Elements of ROSARIO-SHYFEM to be reflected in the configuration</a:t>
            </a:r>
            <a:endParaRPr lang="en-US" sz="1280" dirty="0"/>
          </a:p>
        </p:txBody>
      </p:sp>
      <p:sp>
        <p:nvSpPr>
          <p:cNvPr id="23" name="Text 21"/>
          <p:cNvSpPr txBox="1"/>
          <p:nvPr/>
        </p:nvSpPr>
        <p:spPr>
          <a:xfrm>
            <a:off x="1133856" y="5294376"/>
            <a:ext cx="4828032" cy="896112"/>
          </a:xfrm>
          <a:prstGeom prst="rect">
            <a:avLst/>
          </a:prstGeom>
          <a:noFill/>
          <a:ln/>
        </p:spPr>
        <p:txBody>
          <a:bodyPr wrap="square" lIns="0" tIns="0" rIns="0" bIns="0" rtlCol="0" anchor="t"/>
          <a:lstStyle/>
          <a:p>
            <a:pPr marL="0" indent="0">
              <a:lnSpc>
                <a:spcPts val="1450"/>
              </a:lnSpc>
              <a:buNone/>
            </a:pPr>
            <a:r>
              <a:rPr lang="en-US" sz="1100" dirty="0">
                <a:solidFill>
                  <a:srgbClr val="5F6368"/>
                </a:solidFill>
                <a:latin typeface="Calibri" pitchFamily="34" charset="0"/>
                <a:ea typeface="Calibri" pitchFamily="34" charset="-122"/>
                <a:cs typeface="Calibri" pitchFamily="34" charset="-120"/>
              </a:rPr>
              <a:t>The treatment of the open boundary and the bathymetry inside the harbours, in particular at the heads of Msida and Pietà Creeks, where the 10 m grid has gaps.</a:t>
            </a:r>
            <a:endParaRPr lang="en-US" sz="1100" dirty="0"/>
          </a:p>
        </p:txBody>
      </p:sp>
      <p:sp>
        <p:nvSpPr>
          <p:cNvPr id="24" name="Shape 22"/>
          <p:cNvSpPr/>
          <p:nvPr/>
        </p:nvSpPr>
        <p:spPr>
          <a:xfrm>
            <a:off x="6126480" y="4837176"/>
            <a:ext cx="402336" cy="402336"/>
          </a:xfrm>
          <a:prstGeom prst="ellipse">
            <a:avLst/>
          </a:prstGeom>
          <a:solidFill>
            <a:srgbClr val="1C7293"/>
          </a:solidFill>
          <a:ln/>
        </p:spPr>
      </p:sp>
      <p:sp>
        <p:nvSpPr>
          <p:cNvPr id="25" name="Text 23"/>
          <p:cNvSpPr txBox="1"/>
          <p:nvPr/>
        </p:nvSpPr>
        <p:spPr>
          <a:xfrm>
            <a:off x="6126480" y="4837176"/>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6" name="Text 24"/>
          <p:cNvSpPr txBox="1"/>
          <p:nvPr/>
        </p:nvSpPr>
        <p:spPr>
          <a:xfrm>
            <a:off x="6693408" y="4809744"/>
            <a:ext cx="4828032" cy="475488"/>
          </a:xfrm>
          <a:prstGeom prst="rect">
            <a:avLst/>
          </a:prstGeom>
          <a:noFill/>
          <a:ln/>
        </p:spPr>
        <p:txBody>
          <a:bodyPr wrap="square" lIns="0" tIns="0" rIns="0" bIns="0" rtlCol="0" anchor="ctr"/>
          <a:lstStyle/>
          <a:p>
            <a:pPr marL="0" indent="0">
              <a:lnSpc>
                <a:spcPts val="1600"/>
              </a:lnSpc>
              <a:buNone/>
            </a:pPr>
            <a:r>
              <a:rPr lang="en-US" sz="1280" b="1" dirty="0">
                <a:solidFill>
                  <a:srgbClr val="1A1A1A"/>
                </a:solidFill>
                <a:latin typeface="Calibri" pitchFamily="34" charset="0"/>
                <a:ea typeface="Calibri" pitchFamily="34" charset="-122"/>
                <a:cs typeface="Calibri" pitchFamily="34" charset="-120"/>
              </a:rPr>
              <a:t>Data for validation</a:t>
            </a:r>
            <a:endParaRPr lang="en-US" sz="1280" dirty="0"/>
          </a:p>
        </p:txBody>
      </p:sp>
      <p:sp>
        <p:nvSpPr>
          <p:cNvPr id="27" name="Text 25"/>
          <p:cNvSpPr txBox="1"/>
          <p:nvPr/>
        </p:nvSpPr>
        <p:spPr>
          <a:xfrm>
            <a:off x="6693408" y="5294376"/>
            <a:ext cx="4828032" cy="896112"/>
          </a:xfrm>
          <a:prstGeom prst="rect">
            <a:avLst/>
          </a:prstGeom>
          <a:noFill/>
          <a:ln/>
        </p:spPr>
        <p:txBody>
          <a:bodyPr wrap="square" lIns="0" tIns="0" rIns="0" bIns="0" rtlCol="0" anchor="t"/>
          <a:lstStyle/>
          <a:p>
            <a:pPr marL="0" indent="0">
              <a:lnSpc>
                <a:spcPts val="1450"/>
              </a:lnSpc>
              <a:buNone/>
            </a:pPr>
            <a:r>
              <a:rPr lang="en-US" sz="1100" dirty="0">
                <a:solidFill>
                  <a:srgbClr val="5F6368"/>
                </a:solidFill>
                <a:latin typeface="Calibri" pitchFamily="34" charset="0"/>
                <a:ea typeface="Calibri" pitchFamily="34" charset="-122"/>
                <a:cs typeface="Calibri" pitchFamily="34" charset="-120"/>
              </a:rPr>
              <a:t>Currents and stratification inside the harbours, waves beyond the BLUE buoy, the levelling datum of the bathymetry against the gauge zeros, and Storm Harry, January 2026, as a possible case.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1737360" y="3840480"/>
            <a:ext cx="4754880" cy="4754880"/>
          </a:xfrm>
          <a:prstGeom prst="ellipse">
            <a:avLst/>
          </a:prstGeom>
          <a:solidFill>
            <a:srgbClr val="065A82">
              <a:alpha val="40000"/>
            </a:srgbClr>
          </a:solidFill>
          <a:ln/>
        </p:spPr>
      </p:sp>
      <p:sp>
        <p:nvSpPr>
          <p:cNvPr id="3" name="Text 1"/>
          <p:cNvSpPr txBox="1"/>
          <p:nvPr/>
        </p:nvSpPr>
        <p:spPr>
          <a:xfrm>
            <a:off x="566928" y="640080"/>
            <a:ext cx="8229600" cy="274320"/>
          </a:xfrm>
          <a:prstGeom prst="rect">
            <a:avLst/>
          </a:prstGeom>
          <a:noFill/>
          <a:ln/>
        </p:spPr>
        <p:txBody>
          <a:bodyPr wrap="square" lIns="0" tIns="0" rIns="0" bIns="0" rtlCol="0" anchor="ctr"/>
          <a:lstStyle/>
          <a:p>
            <a:pPr marL="0" indent="0">
              <a:buNone/>
            </a:pPr>
            <a:r>
              <a:rPr lang="en-US" sz="1200" b="1" kern="0" spc="200" dirty="0">
                <a:solidFill>
                  <a:srgbClr val="EB6834"/>
                </a:solidFill>
                <a:latin typeface="Calibri" pitchFamily="34" charset="0"/>
                <a:ea typeface="Calibri" pitchFamily="34" charset="-122"/>
                <a:cs typeface="Calibri" pitchFamily="34" charset="-120"/>
              </a:rPr>
              <a:t>SEQUENCE</a:t>
            </a:r>
            <a:endParaRPr lang="en-US" sz="1200" dirty="0"/>
          </a:p>
        </p:txBody>
      </p:sp>
      <p:sp>
        <p:nvSpPr>
          <p:cNvPr id="4" name="Text 2"/>
          <p:cNvSpPr txBox="1"/>
          <p:nvPr/>
        </p:nvSpPr>
        <p:spPr>
          <a:xfrm>
            <a:off x="566928" y="960120"/>
            <a:ext cx="1051560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Planned sequence to the first production runs</a:t>
            </a:r>
            <a:endParaRPr lang="en-US" sz="3000" dirty="0"/>
          </a:p>
        </p:txBody>
      </p:sp>
      <p:sp>
        <p:nvSpPr>
          <p:cNvPr id="5" name="Shape 3"/>
          <p:cNvSpPr/>
          <p:nvPr/>
        </p:nvSpPr>
        <p:spPr>
          <a:xfrm>
            <a:off x="612648" y="2148840"/>
            <a:ext cx="155448" cy="155448"/>
          </a:xfrm>
          <a:prstGeom prst="ellipse">
            <a:avLst/>
          </a:prstGeom>
          <a:solidFill>
            <a:srgbClr val="CADCFC"/>
          </a:solidFill>
          <a:ln/>
        </p:spPr>
      </p:sp>
      <p:sp>
        <p:nvSpPr>
          <p:cNvPr id="6" name="Text 4"/>
          <p:cNvSpPr txBox="1"/>
          <p:nvPr/>
        </p:nvSpPr>
        <p:spPr>
          <a:xfrm>
            <a:off x="978408" y="2057400"/>
            <a:ext cx="2011680" cy="301752"/>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To date</a:t>
            </a:r>
            <a:endParaRPr lang="en-US" sz="1300" dirty="0"/>
          </a:p>
        </p:txBody>
      </p:sp>
      <p:sp>
        <p:nvSpPr>
          <p:cNvPr id="7" name="Text 5"/>
          <p:cNvSpPr txBox="1"/>
          <p:nvPr/>
        </p:nvSpPr>
        <p:spPr>
          <a:xfrm>
            <a:off x="3035808" y="2057400"/>
            <a:ext cx="3657600" cy="731520"/>
          </a:xfrm>
          <a:prstGeom prst="rect">
            <a:avLst/>
          </a:prstGeom>
          <a:noFill/>
          <a:ln/>
        </p:spPr>
        <p:txBody>
          <a:bodyPr wrap="square" lIns="0" tIns="0" rIns="0" bIns="0" rtlCol="0" anchor="t"/>
          <a:lstStyle/>
          <a:p>
            <a:pPr marL="0" indent="0">
              <a:lnSpc>
                <a:spcPts val="1500"/>
              </a:lnSpc>
              <a:buNone/>
            </a:pPr>
            <a:r>
              <a:rPr lang="en-US" sz="1200" dirty="0">
                <a:solidFill>
                  <a:srgbClr val="9FB3D1"/>
                </a:solidFill>
                <a:latin typeface="Calibri" pitchFamily="34" charset="0"/>
                <a:ea typeface="Calibri" pitchFamily="34" charset="-122"/>
                <a:cs typeface="Calibri" pitchFamily="34" charset="-120"/>
              </a:rPr>
              <a:t>First-order basin modes, pulse test of the boundary, Senglea spectrum, working mesh.</a:t>
            </a:r>
            <a:endParaRPr lang="en-US" sz="1200" dirty="0"/>
          </a:p>
        </p:txBody>
      </p:sp>
      <p:sp>
        <p:nvSpPr>
          <p:cNvPr id="8" name="Shape 6"/>
          <p:cNvSpPr/>
          <p:nvPr/>
        </p:nvSpPr>
        <p:spPr>
          <a:xfrm>
            <a:off x="612648" y="3081528"/>
            <a:ext cx="155448" cy="155448"/>
          </a:xfrm>
          <a:prstGeom prst="ellipse">
            <a:avLst/>
          </a:prstGeom>
          <a:solidFill>
            <a:srgbClr val="CADCFC"/>
          </a:solidFill>
          <a:ln/>
        </p:spPr>
      </p:sp>
      <p:sp>
        <p:nvSpPr>
          <p:cNvPr id="9" name="Text 7"/>
          <p:cNvSpPr txBox="1"/>
          <p:nvPr/>
        </p:nvSpPr>
        <p:spPr>
          <a:xfrm>
            <a:off x="978408" y="2990088"/>
            <a:ext cx="2011680" cy="301752"/>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October</a:t>
            </a:r>
            <a:endParaRPr lang="en-US" sz="1300" dirty="0"/>
          </a:p>
        </p:txBody>
      </p:sp>
      <p:sp>
        <p:nvSpPr>
          <p:cNvPr id="10" name="Text 8"/>
          <p:cNvSpPr txBox="1"/>
          <p:nvPr/>
        </p:nvSpPr>
        <p:spPr>
          <a:xfrm>
            <a:off x="3035808" y="2990088"/>
            <a:ext cx="3657600" cy="731520"/>
          </a:xfrm>
          <a:prstGeom prst="rect">
            <a:avLst/>
          </a:prstGeom>
          <a:noFill/>
          <a:ln/>
        </p:spPr>
        <p:txBody>
          <a:bodyPr wrap="square" lIns="0" tIns="0" rIns="0" bIns="0" rtlCol="0" anchor="t"/>
          <a:lstStyle/>
          <a:p>
            <a:pPr marL="0" indent="0">
              <a:lnSpc>
                <a:spcPts val="1500"/>
              </a:lnSpc>
              <a:buNone/>
            </a:pPr>
            <a:r>
              <a:rPr lang="en-US" sz="1200" dirty="0">
                <a:solidFill>
                  <a:srgbClr val="9FB3D1"/>
                </a:solidFill>
                <a:latin typeface="Calibri" pitchFamily="34" charset="0"/>
                <a:ea typeface="Calibri" pitchFamily="34" charset="-122"/>
                <a:cs typeface="Calibri" pitchFamily="34" charset="-120"/>
              </a:rPr>
              <a:t>Bathymetry at the heads of Msida and Pietà Creeks, remaining boundary tests, response of the mesh to a broadband impulse.</a:t>
            </a:r>
            <a:endParaRPr lang="en-US" sz="1200" dirty="0"/>
          </a:p>
        </p:txBody>
      </p:sp>
      <p:sp>
        <p:nvSpPr>
          <p:cNvPr id="11" name="Shape 9"/>
          <p:cNvSpPr/>
          <p:nvPr/>
        </p:nvSpPr>
        <p:spPr>
          <a:xfrm>
            <a:off x="612648" y="4014216"/>
            <a:ext cx="155448" cy="155448"/>
          </a:xfrm>
          <a:prstGeom prst="ellipse">
            <a:avLst/>
          </a:prstGeom>
          <a:solidFill>
            <a:srgbClr val="CADCFC"/>
          </a:solidFill>
          <a:ln/>
        </p:spPr>
      </p:sp>
      <p:sp>
        <p:nvSpPr>
          <p:cNvPr id="12" name="Text 10"/>
          <p:cNvSpPr txBox="1"/>
          <p:nvPr/>
        </p:nvSpPr>
        <p:spPr>
          <a:xfrm>
            <a:off x="978408" y="3922776"/>
            <a:ext cx="2011680" cy="301752"/>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2 to 4 November</a:t>
            </a:r>
            <a:endParaRPr lang="en-US" sz="1300" dirty="0"/>
          </a:p>
        </p:txBody>
      </p:sp>
      <p:sp>
        <p:nvSpPr>
          <p:cNvPr id="13" name="Text 11"/>
          <p:cNvSpPr txBox="1"/>
          <p:nvPr/>
        </p:nvSpPr>
        <p:spPr>
          <a:xfrm>
            <a:off x="3035808" y="3922776"/>
            <a:ext cx="3657600" cy="731520"/>
          </a:xfrm>
          <a:prstGeom prst="rect">
            <a:avLst/>
          </a:prstGeom>
          <a:noFill/>
          <a:ln/>
        </p:spPr>
        <p:txBody>
          <a:bodyPr wrap="square" lIns="0" tIns="0" rIns="0" bIns="0" rtlCol="0" anchor="t"/>
          <a:lstStyle/>
          <a:p>
            <a:pPr marL="0" indent="0">
              <a:lnSpc>
                <a:spcPts val="1500"/>
              </a:lnSpc>
              <a:buNone/>
            </a:pPr>
            <a:r>
              <a:rPr lang="en-US" sz="1200" dirty="0">
                <a:solidFill>
                  <a:srgbClr val="9FB3D1"/>
                </a:solidFill>
                <a:latin typeface="Calibri" pitchFamily="34" charset="0"/>
                <a:ea typeface="Calibri" pitchFamily="34" charset="-122"/>
                <a:cs typeface="Calibri" pitchFamily="34" charset="-120"/>
              </a:rPr>
              <a:t>Delft3D User Days at Deltares, with the configuration questions.</a:t>
            </a:r>
            <a:endParaRPr lang="en-US" sz="1200" dirty="0"/>
          </a:p>
        </p:txBody>
      </p:sp>
      <p:sp>
        <p:nvSpPr>
          <p:cNvPr id="14" name="Shape 12"/>
          <p:cNvSpPr/>
          <p:nvPr/>
        </p:nvSpPr>
        <p:spPr>
          <a:xfrm>
            <a:off x="612648" y="4946904"/>
            <a:ext cx="155448" cy="155448"/>
          </a:xfrm>
          <a:prstGeom prst="ellipse">
            <a:avLst/>
          </a:prstGeom>
          <a:solidFill>
            <a:srgbClr val="CADCFC"/>
          </a:solidFill>
          <a:ln/>
        </p:spPr>
      </p:sp>
      <p:sp>
        <p:nvSpPr>
          <p:cNvPr id="15" name="Text 13"/>
          <p:cNvSpPr txBox="1"/>
          <p:nvPr/>
        </p:nvSpPr>
        <p:spPr>
          <a:xfrm>
            <a:off x="978408" y="4855464"/>
            <a:ext cx="2011680" cy="301752"/>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November</a:t>
            </a:r>
            <a:endParaRPr lang="en-US" sz="1300" dirty="0"/>
          </a:p>
        </p:txBody>
      </p:sp>
      <p:sp>
        <p:nvSpPr>
          <p:cNvPr id="16" name="Text 14"/>
          <p:cNvSpPr txBox="1"/>
          <p:nvPr/>
        </p:nvSpPr>
        <p:spPr>
          <a:xfrm>
            <a:off x="3035808" y="4855464"/>
            <a:ext cx="3657600" cy="731520"/>
          </a:xfrm>
          <a:prstGeom prst="rect">
            <a:avLst/>
          </a:prstGeom>
          <a:noFill/>
          <a:ln/>
        </p:spPr>
        <p:txBody>
          <a:bodyPr wrap="square" lIns="0" tIns="0" rIns="0" bIns="0" rtlCol="0" anchor="t"/>
          <a:lstStyle/>
          <a:p>
            <a:pPr marL="0" indent="0">
              <a:lnSpc>
                <a:spcPts val="1500"/>
              </a:lnSpc>
              <a:buNone/>
            </a:pPr>
            <a:r>
              <a:rPr lang="en-US" sz="1200" dirty="0">
                <a:solidFill>
                  <a:srgbClr val="9FB3D1"/>
                </a:solidFill>
                <a:latin typeface="Calibri" pitchFamily="34" charset="0"/>
                <a:ea typeface="Calibri" pitchFamily="34" charset="-122"/>
                <a:cs typeface="Calibri" pitchFamily="34" charset="-120"/>
              </a:rPr>
              <a:t>Parametric sweep in two dimensions, first three-dimensional runs.</a:t>
            </a:r>
            <a:endParaRPr lang="en-US" sz="1200" dirty="0"/>
          </a:p>
        </p:txBody>
      </p:sp>
      <p:sp>
        <p:nvSpPr>
          <p:cNvPr id="17" name="Shape 15"/>
          <p:cNvSpPr/>
          <p:nvPr/>
        </p:nvSpPr>
        <p:spPr>
          <a:xfrm>
            <a:off x="6858000" y="1965960"/>
            <a:ext cx="4764024" cy="2148840"/>
          </a:xfrm>
          <a:prstGeom prst="roundRect">
            <a:avLst>
              <a:gd name="adj" fmla="val 2553"/>
            </a:avLst>
          </a:prstGeom>
          <a:solidFill>
            <a:srgbClr val="065A82">
              <a:alpha val="70000"/>
            </a:srgbClr>
          </a:solidFill>
          <a:ln/>
        </p:spPr>
      </p:sp>
      <p:sp>
        <p:nvSpPr>
          <p:cNvPr id="18" name="Text 16"/>
          <p:cNvSpPr txBox="1"/>
          <p:nvPr/>
        </p:nvSpPr>
        <p:spPr>
          <a:xfrm>
            <a:off x="7132320" y="2176272"/>
            <a:ext cx="4206240" cy="274320"/>
          </a:xfrm>
          <a:prstGeom prst="rect">
            <a:avLst/>
          </a:prstGeom>
          <a:noFill/>
          <a:ln/>
        </p:spPr>
        <p:txBody>
          <a:bodyPr wrap="square" lIns="0" tIns="0" rIns="0" bIns="0" rtlCol="0" anchor="ctr"/>
          <a:lstStyle/>
          <a:p>
            <a:pPr marL="0" indent="0">
              <a:buNone/>
            </a:pPr>
            <a:r>
              <a:rPr lang="en-US" sz="1400" b="1" dirty="0">
                <a:solidFill>
                  <a:srgbClr val="EB6834"/>
                </a:solidFill>
                <a:latin typeface="Cambria" pitchFamily="34" charset="0"/>
                <a:ea typeface="Cambria" pitchFamily="34" charset="-122"/>
                <a:cs typeface="Cambria" pitchFamily="34" charset="-120"/>
              </a:rPr>
              <a:t>Beyond the period</a:t>
            </a:r>
            <a:endParaRPr lang="en-US" sz="1400" dirty="0"/>
          </a:p>
        </p:txBody>
      </p:sp>
      <p:sp>
        <p:nvSpPr>
          <p:cNvPr id="19" name="Text 17"/>
          <p:cNvSpPr txBox="1"/>
          <p:nvPr/>
        </p:nvSpPr>
        <p:spPr>
          <a:xfrm>
            <a:off x="7132320" y="2542032"/>
            <a:ext cx="4206240" cy="2011680"/>
          </a:xfrm>
          <a:prstGeom prst="rect">
            <a:avLst/>
          </a:prstGeom>
          <a:noFill/>
          <a:ln/>
        </p:spPr>
        <p:txBody>
          <a:bodyPr wrap="square" lIns="0" tIns="0" rIns="0" bIns="0" rtlCol="0" anchor="t"/>
          <a:lstStyle/>
          <a:p>
            <a:pPr marL="0" indent="0">
              <a:lnSpc>
                <a:spcPts val="1550"/>
              </a:lnSpc>
              <a:spcAft>
                <a:spcPts val="900"/>
              </a:spcAft>
              <a:buNone/>
            </a:pPr>
            <a:r>
              <a:rPr lang="en-US" sz="1150" dirty="0">
                <a:solidFill>
                  <a:srgbClr val="DCE7F5"/>
                </a:solidFill>
                <a:latin typeface="Calibri" pitchFamily="34" charset="0"/>
                <a:ea typeface="Calibri" pitchFamily="34" charset="-122"/>
                <a:cs typeface="Calibri" pitchFamily="34" charset="-120"/>
              </a:rPr>
              <a:t>The Stagnone twin runs containerised on the EDITO Datalab and publishes to its object storage.</a:t>
            </a:r>
            <a:endParaRPr lang="en-US" sz="1150" dirty="0"/>
          </a:p>
          <a:p>
            <a:pPr marL="0" indent="0">
              <a:lnSpc>
                <a:spcPts val="1550"/>
              </a:lnSpc>
              <a:buNone/>
            </a:pPr>
            <a:r>
              <a:rPr lang="en-US" sz="1150" dirty="0">
                <a:solidFill>
                  <a:srgbClr val="DCE7F5"/>
                </a:solidFill>
                <a:latin typeface="Calibri" pitchFamily="34" charset="0"/>
                <a:ea typeface="Calibri" pitchFamily="34" charset="-122"/>
                <a:cs typeface="Calibri" pitchFamily="34" charset="-120"/>
              </a:rPr>
              <a:t>A Valletta configuration could take the same route, should it prove stable in time, which would correspond to the relocatable setup requested in the design report of the group (Drago, 2018).</a:t>
            </a:r>
            <a:endParaRPr lang="en-US" sz="1150" dirty="0"/>
          </a:p>
        </p:txBody>
      </p:sp>
      <p:sp>
        <p:nvSpPr>
          <p:cNvPr id="20" name="Text 18"/>
          <p:cNvSpPr txBox="1"/>
          <p:nvPr/>
        </p:nvSpPr>
        <p:spPr>
          <a:xfrm>
            <a:off x="566928" y="6199632"/>
            <a:ext cx="5852160" cy="274320"/>
          </a:xfrm>
          <a:prstGeom prst="rect">
            <a:avLst/>
          </a:prstGeom>
          <a:noFill/>
          <a:ln/>
        </p:spPr>
        <p:txBody>
          <a:bodyPr wrap="square" lIns="0" tIns="0" rIns="0" bIns="0" rtlCol="0" anchor="ctr"/>
          <a:lstStyle/>
          <a:p>
            <a:pPr marL="0" indent="0">
              <a:buNone/>
            </a:pPr>
            <a:r>
              <a:rPr lang="en-US" sz="1100" i="1" dirty="0">
                <a:solidFill>
                  <a:srgbClr val="7F93B3"/>
                </a:solidFill>
                <a:latin typeface="Calibri" pitchFamily="34" charset="0"/>
                <a:ea typeface="Calibri" pitchFamily="34" charset="-122"/>
                <a:cs typeface="Calibri" pitchFamily="34" charset="-120"/>
              </a:rPr>
              <a:t>Documents, figures and the reproducible analysis are in the project repository.</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2226</Words>
  <Application>Microsoft Office PowerPoint</Application>
  <PresentationFormat>Widescreen</PresentationFormat>
  <Paragraphs>198</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Valletta harbour system: preliminary results and open questions</dc:title>
  <dc:subject>PptxGenJS Presentation</dc:subject>
  <dc:creator>Cicero Martins Jr</dc:creator>
  <cp:lastModifiedBy>CICERO MARTINS JUNIOR</cp:lastModifiedBy>
  <cp:revision>2</cp:revision>
  <dcterms:created xsi:type="dcterms:W3CDTF">2026-10-08T09:59:15Z</dcterms:created>
  <dcterms:modified xsi:type="dcterms:W3CDTF">2026-10-08T09:59:17Z</dcterms:modified>
</cp:coreProperties>
</file>