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covers the intended model and the matters to be settled before its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The thesis contribution is framework reusability, and Valletta constitutes the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data came from the group's own contribution to EMODnet. The public product gives the inlets one to three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was tested against its two plausible failures, the Helmholtz idealisation and excitation below resonance. The domain follows from this table. Whether the group's harbour records carry energy near 17 minutes is the first outstanding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applied companion is a map of exposure by inlet and quay. The fallback, with independent value, is harbour renewal under the Water Framework Directive.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sweep of six speeds by eight directions amounts to forty-eight runs, barotropic and uncoupled, and therefore inexpensive.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determine what the study can be. The remainder is resolvable by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B3 loses four working days to Delft and holds fifteen rather than nineteen.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sp>
      <p:sp>
        <p:nvSpPr>
          <p:cNvPr id="3" name="Shape 1"/>
          <p:cNvSpPr/>
          <p:nvPr/>
        </p:nvSpPr>
        <p:spPr>
          <a:xfrm>
            <a:off x="10058400" y="3108960"/>
            <a:ext cx="2377440" cy="2377440"/>
          </a:xfrm>
          <a:prstGeom prst="ellipse">
            <a:avLst/>
          </a:prstGeom>
          <a:solidFill>
            <a:srgbClr val="EB6834">
              <a:alpha val="30000"/>
            </a:srgbClr>
          </a:solidFill>
          <a:ln/>
        </p:spPr>
      </p:sp>
      <p:sp>
        <p:nvSpPr>
          <p:cNvPr id="4" name="Text 2"/>
          <p:cNvSpPr txBox="1"/>
          <p:nvPr/>
        </p:nvSpPr>
        <p:spPr>
          <a:xfrm>
            <a:off x="566928" y="1371600"/>
            <a:ext cx="768096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Model concept, and the questions to settle</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Cicero Martins Jr</a:t>
            </a:r>
            <a:pPr indent="0" marL="0">
              <a:buNone/>
            </a:pP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Research period at the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25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a:t>
            </a:r>
            <a:endParaRPr lang="en-US" sz="1450" dirty="0"/>
          </a:p>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establish little. A transfer to a deep engineered harbour establishes whether the pipeline is reusable or was fitted to one site.</a:t>
            </a:r>
            <a:endParaRPr lang="en-US" sz="1450" dirty="0"/>
          </a:p>
          <a:p>
            <a:pPr indent="0" marL="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constitute a finding about where the generality of the framework ends, and they are recorded as such.</a:t>
            </a:r>
            <a:endParaRPr lang="en-US" sz="14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gridCol w="1828800"/>
                <a:gridCol w="1828800"/>
              </a:tblGrid>
              <a:tr h="420624">
                <a:tc>
                  <a:txBody>
                    <a:bodyPr/>
                    <a:lstStyle/>
                    <a:p>
                      <a:pPr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Supplied by the host group on 22 and 23 September.</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indent="0" marL="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than the public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r>
          <p:cNvPicPr>
            <a:picLocks noChangeAspect="1"/>
          </p:cNvPicPr>
          <p:nvPr/>
        </p:nvPicPr>
        <p:blipFill>
          <a:blip r:embed="rId1"/>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indent="0" marL="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milgħuba is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From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Quarter-wave and Helmholtz estimates agree at 12 to 18 minutes.</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At Ciutadella, Menorca, the three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RESONANT PERIODS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harbours do not resonate in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Quarter-wave periods, T = 4L∕√(gh), against the 0.2 to 2 cph band reported by Drago.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743200"/>
                <a:gridCol w="868680"/>
                <a:gridCol w="777240"/>
                <a:gridCol w="960120"/>
                <a:gridCol w="1051560"/>
                <a:gridCol w="137160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16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3.49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13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286000"/>
            <a:ext cx="2980944" cy="2432304"/>
          </a:xfrm>
          <a:prstGeom prst="roundRect">
            <a:avLst>
              <a:gd name="adj" fmla="val 2256"/>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The consequence</a:t>
            </a:r>
            <a:endParaRPr lang="en-US" sz="1400" dirty="0"/>
          </a:p>
        </p:txBody>
      </p:sp>
      <p:sp>
        <p:nvSpPr>
          <p:cNvPr id="8" name="Text 5"/>
          <p:cNvSpPr txBox="1"/>
          <p:nvPr/>
        </p:nvSpPr>
        <p:spPr>
          <a:xfrm>
            <a:off x="8915400" y="2880360"/>
            <a:ext cx="2468880" cy="173736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available boundary product carries no energy there.
</a:t>
            </a:r>
            <a:endParaRPr lang="en-US" sz="1150" dirty="0"/>
          </a:p>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The domain is therefore required to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 Helmholtz idealisation returns 12 to 18 minutes likewise, and the harbours amplify by less than a tenth across the band.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r>
          <p:cNvPicPr>
            <a:picLocks noChangeAspect="1"/>
          </p:cNvPicPr>
          <p:nvPr/>
        </p:nvPicPr>
        <p:blipFill>
          <a:blip r:embed="rId1"/>
          <a:stretch>
            <a:fillRect/>
          </a:stretch>
        </p:blipFill>
        <p:spPr>
          <a:xfrm>
            <a:off x="566928" y="1572768"/>
            <a:ext cx="11055096" cy="4956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geometry sets the resolution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17-minute wave in 16 m of water is 12.8 km long. The planform of the inlets is what must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868680"/>
          </a:xfrm>
          <a:prstGeom prst="rect">
            <a:avLst/>
          </a:prstGeom>
          <a:noFill/>
          <a:ln/>
        </p:spPr>
        <p:txBody>
          <a:bodyPr wrap="square" lIns="0" tIns="0" rIns="0" bIns="0" rtlCol="0" anchor="ctr"/>
          <a:lstStyle/>
          <a:p>
            <a:pPr indent="0" marL="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
</a:t>
            </a:r>
            <a:endParaRPr lang="en-US" sz="1250" dirty="0"/>
          </a:p>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456432"/>
          <a:ext cx="4937760" cy="914400"/>
        </p:xfrm>
        <a:graphic>
          <a:graphicData uri="http://schemas.openxmlformats.org/drawingml/2006/table">
            <a:tbl>
              <a:tblPr/>
              <a:tblGrid>
                <a:gridCol w="3291840"/>
                <a:gridCol w="164592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Inlets and entrances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basins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Nearshore, within 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Coastal, 2 to 15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Approximately 28,500 cells. A time step of 6 to 12 s at Courant 5 to 10 in the finest cells, which samples a 17-minute wave about a hundred times per cycle. The 10 m of the source data is the floor;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Attribution of amplification</a:t>
            </a:r>
            <a:endParaRPr lang="en-US" sz="3200" dirty="0"/>
          </a:p>
        </p:txBody>
      </p:sp>
      <p:sp>
        <p:nvSpPr>
          <p:cNvPr id="4" name="Shape 2"/>
          <p:cNvSpPr/>
          <p:nvPr/>
        </p:nvSpPr>
        <p:spPr>
          <a:xfrm>
            <a:off x="566928" y="1874520"/>
            <a:ext cx="11055096" cy="1298448"/>
          </a:xfrm>
          <a:prstGeom prst="roundRect">
            <a:avLst>
              <a:gd name="adj" fmla="val 4225"/>
            </a:avLst>
          </a:prstGeom>
          <a:solidFill>
            <a:srgbClr val="EEF3F6"/>
          </a:solidFill>
          <a:ln/>
        </p:spPr>
      </p:sp>
      <p:sp>
        <p:nvSpPr>
          <p:cNvPr id="5" name="Text 3"/>
          <p:cNvSpPr txBox="1"/>
          <p:nvPr/>
        </p:nvSpPr>
        <p:spPr>
          <a:xfrm>
            <a:off x="886968" y="2084832"/>
            <a:ext cx="10424160" cy="914400"/>
          </a:xfrm>
          <a:prstGeom prst="rect">
            <a:avLst/>
          </a:prstGeom>
          <a:noFill/>
          <a:ln/>
        </p:spPr>
        <p:txBody>
          <a:bodyPr wrap="square" lIns="0" tIns="0" rIns="0" bIns="0" rtlCol="0" anchor="ctr"/>
          <a:lstStyle/>
          <a:p>
            <a:pPr indent="0" marL="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6" name="Text 4"/>
          <p:cNvSpPr txBox="1"/>
          <p:nvPr/>
        </p:nvSpPr>
        <p:spPr>
          <a:xfrm>
            <a:off x="566928" y="3456432"/>
            <a:ext cx="521208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The formulation it replaces</a:t>
            </a:r>
            <a:endParaRPr lang="en-US" sz="1400" dirty="0"/>
          </a:p>
        </p:txBody>
      </p:sp>
      <p:sp>
        <p:nvSpPr>
          <p:cNvPr id="7" name="Text 5"/>
          <p:cNvSpPr txBox="1"/>
          <p:nvPr/>
        </p:nvSpPr>
        <p:spPr>
          <a:xfrm>
            <a:off x="566928" y="3803904"/>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Whether the model reproduces the observed signal admits a binary and asymmetric answer. An affirmative result confirms what is expected of a mature solver, and a negative result is attributed to the configuration rather than to the physics.</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The formulation interrogates the instrument rather than the system, and its answer concerns no constituency beyond the modelling community.</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It is accordingly relocated to the methods.</a:t>
            </a:r>
            <a:endParaRPr lang="en-US" sz="1200" dirty="0"/>
          </a:p>
        </p:txBody>
      </p:sp>
      <p:sp>
        <p:nvSpPr>
          <p:cNvPr id="8" name="Text 6"/>
          <p:cNvSpPr txBox="1"/>
          <p:nvPr/>
        </p:nvSpPr>
        <p:spPr>
          <a:xfrm>
            <a:off x="6355080" y="3456432"/>
            <a:ext cx="52120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Prior work the study must clear</a:t>
            </a:r>
            <a:endParaRPr lang="en-US" sz="1400" dirty="0"/>
          </a:p>
        </p:txBody>
      </p:sp>
      <p:sp>
        <p:nvSpPr>
          <p:cNvPr id="9" name="Text 7"/>
          <p:cNvSpPr txBox="1"/>
          <p:nvPr/>
        </p:nvSpPr>
        <p:spPr>
          <a:xfrm>
            <a:off x="6355080" y="3803904"/>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A repetition at Valletta in three dimensions would be incremental.</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The generation side is untreated, since the prior work imposes the offshore wave rather than producing 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which has constituted the largest standing risk in the project.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Impose a moving pressure disturbance and vary its speed, direction, width and duration.</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Inversion of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observations cease to be the forcing and become the test, addressing whether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whereas climate change acts on the distribution of the forcing.
</a:t>
            </a:r>
            <a:endParaRPr lang="en-US" sz="1150" dirty="0"/>
          </a:p>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OUTSTANDING QUESTIONS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Six questions and their bearing on the study</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 sea level record inside the Grand Harbour, and at what sampling interval?</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A spectrum would establish whether the basins carry energy near 17 minutes. The 0.2 to 2 cph band is observed at Mellieħa, on another coast, so the present analysis can only infer the Valletta response.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full extent of prior work on the milgħuba, published or not?</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contribution rests on the generation side being unaddressed. That claim derives from a literature search rather than from consultation with its authors.</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sampling interval of the PORTO sea level stations?</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seiche band is 0.2 to 2 cph. At an interval coarser than one minute the model has no observational target within its own frequency range.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documented damage or disruption inside the commercial port?</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Flooding is documented at Msida and elsewhere. Records of mooring failure or interrupted operations would be held by Transport Malta and the terminals.</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levelling datum behind the bathymetry, and how does its zero relate to the tide gauges?</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What remains to be established is the offset against the gauges used for validation.</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Would the group regard the attribution question as a contribution, or as their own intention?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Establishing this early avoids a duplication of intent.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IMMEDIATE SEQUENCE</a:t>
            </a:r>
            <a:endParaRPr lang="en-US" sz="1200" dirty="0"/>
          </a:p>
        </p:txBody>
      </p:sp>
      <p:sp>
        <p:nvSpPr>
          <p:cNvPr id="4" name="Text 2"/>
          <p:cNvSpPr txBox="1"/>
          <p:nvPr/>
        </p:nvSpPr>
        <p:spPr>
          <a:xfrm>
            <a:off x="566928" y="96012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Before the mesh is built</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September</a:t>
            </a:r>
            <a:endParaRPr lang="en-US" sz="1300" dirty="0"/>
          </a:p>
        </p:txBody>
      </p:sp>
      <p:sp>
        <p:nvSpPr>
          <p:cNvPr id="7" name="Text 5"/>
          <p:cNvSpPr txBox="1"/>
          <p:nvPr/>
        </p:nvSpPr>
        <p:spPr>
          <a:xfrm>
            <a:off x="3721608" y="1965960"/>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Seiche climatology from the Portomaso and PORTO archives. No model is required.</a:t>
            </a:r>
            <a:endParaRPr lang="en-US" sz="1250" dirty="0"/>
          </a:p>
        </p:txBody>
      </p:sp>
      <p:sp>
        <p:nvSpPr>
          <p:cNvPr id="8" name="Shape 6"/>
          <p:cNvSpPr/>
          <p:nvPr/>
        </p:nvSpPr>
        <p:spPr>
          <a:xfrm>
            <a:off x="612648" y="2843784"/>
            <a:ext cx="155448" cy="155448"/>
          </a:xfrm>
          <a:prstGeom prst="ellipse">
            <a:avLst/>
          </a:prstGeom>
          <a:solidFill>
            <a:srgbClr val="EB6834"/>
          </a:solidFill>
          <a:ln/>
        </p:spPr>
      </p:sp>
      <p:sp>
        <p:nvSpPr>
          <p:cNvPr id="9" name="Text 7"/>
          <p:cNvSpPr txBox="1"/>
          <p:nvPr/>
        </p:nvSpPr>
        <p:spPr>
          <a:xfrm>
            <a:off x="978408" y="2752344"/>
            <a:ext cx="2651760" cy="301752"/>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0" name="Text 8"/>
          <p:cNvSpPr txBox="1"/>
          <p:nvPr/>
        </p:nvSpPr>
        <p:spPr>
          <a:xfrm>
            <a:off x="3721608" y="2752344"/>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Delft3D User Days abstract.</a:t>
            </a:r>
            <a:endParaRPr lang="en-US" sz="1250" dirty="0"/>
          </a:p>
        </p:txBody>
      </p:sp>
      <p:sp>
        <p:nvSpPr>
          <p:cNvPr id="11" name="Shape 9"/>
          <p:cNvSpPr/>
          <p:nvPr/>
        </p:nvSpPr>
        <p:spPr>
          <a:xfrm>
            <a:off x="612648" y="3630168"/>
            <a:ext cx="155448" cy="155448"/>
          </a:xfrm>
          <a:prstGeom prst="ellipse">
            <a:avLst/>
          </a:prstGeom>
          <a:solidFill>
            <a:srgbClr val="CADCFC"/>
          </a:solidFill>
          <a:ln/>
        </p:spPr>
      </p:sp>
      <p:sp>
        <p:nvSpPr>
          <p:cNvPr id="12" name="Text 10"/>
          <p:cNvSpPr txBox="1"/>
          <p:nvPr/>
        </p:nvSpPr>
        <p:spPr>
          <a:xfrm>
            <a:off x="978408" y="3538728"/>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Early October</a:t>
            </a:r>
            <a:endParaRPr lang="en-US" sz="1300" dirty="0"/>
          </a:p>
        </p:txBody>
      </p:sp>
      <p:sp>
        <p:nvSpPr>
          <p:cNvPr id="13" name="Text 11"/>
          <p:cNvSpPr txBox="1"/>
          <p:nvPr/>
        </p:nvSpPr>
        <p:spPr>
          <a:xfrm>
            <a:off x="3721608" y="3538728"/>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Merged bathymetry over the domain, gaps intersected with the coastline.</a:t>
            </a:r>
            <a:endParaRPr lang="en-US" sz="1250" dirty="0"/>
          </a:p>
        </p:txBody>
      </p:sp>
      <p:sp>
        <p:nvSpPr>
          <p:cNvPr id="14" name="Shape 12"/>
          <p:cNvSpPr/>
          <p:nvPr/>
        </p:nvSpPr>
        <p:spPr>
          <a:xfrm>
            <a:off x="612648" y="4416552"/>
            <a:ext cx="155448" cy="155448"/>
          </a:xfrm>
          <a:prstGeom prst="ellipse">
            <a:avLst/>
          </a:prstGeom>
          <a:solidFill>
            <a:srgbClr val="CADCFC"/>
          </a:solidFill>
          <a:ln/>
        </p:spPr>
      </p:sp>
      <p:sp>
        <p:nvSpPr>
          <p:cNvPr id="15" name="Text 13"/>
          <p:cNvSpPr txBox="1"/>
          <p:nvPr/>
        </p:nvSpPr>
        <p:spPr>
          <a:xfrm>
            <a:off x="978408" y="4325112"/>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721608" y="4325112"/>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Delft3D User Days at Deltares, with the four configuration questions.</a:t>
            </a:r>
            <a:endParaRPr lang="en-US" sz="1250" dirty="0"/>
          </a:p>
        </p:txBody>
      </p:sp>
      <p:sp>
        <p:nvSpPr>
          <p:cNvPr id="17" name="Shape 15"/>
          <p:cNvSpPr/>
          <p:nvPr/>
        </p:nvSpPr>
        <p:spPr>
          <a:xfrm>
            <a:off x="612648" y="5202936"/>
            <a:ext cx="155448" cy="155448"/>
          </a:xfrm>
          <a:prstGeom prst="ellipse">
            <a:avLst/>
          </a:prstGeom>
          <a:solidFill>
            <a:srgbClr val="CADCFC"/>
          </a:solidFill>
          <a:ln/>
        </p:spPr>
      </p:sp>
      <p:sp>
        <p:nvSpPr>
          <p:cNvPr id="18" name="Text 16"/>
          <p:cNvSpPr txBox="1"/>
          <p:nvPr/>
        </p:nvSpPr>
        <p:spPr>
          <a:xfrm>
            <a:off x="978408" y="5111496"/>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October to November</a:t>
            </a:r>
            <a:endParaRPr lang="en-US" sz="1300" dirty="0"/>
          </a:p>
        </p:txBody>
      </p:sp>
      <p:sp>
        <p:nvSpPr>
          <p:cNvPr id="19" name="Text 17"/>
          <p:cNvSpPr txBox="1"/>
          <p:nvPr/>
        </p:nvSpPr>
        <p:spPr>
          <a:xfrm>
            <a:off x="3721608" y="5111496"/>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Mesh, Riemann boundary verified by synthetic pulse, first runs.</a:t>
            </a:r>
            <a:endParaRPr lang="en-US" sz="1250" dirty="0"/>
          </a:p>
        </p:txBody>
      </p:sp>
      <p:sp>
        <p:nvSpPr>
          <p:cNvPr id="20" name="Text 18"/>
          <p:cNvSpPr txBox="1"/>
          <p:nvPr/>
        </p:nvSpPr>
        <p:spPr>
          <a:xfrm>
            <a:off x="566928" y="6144768"/>
            <a:ext cx="10058400" cy="274320"/>
          </a:xfrm>
          <a:prstGeom prst="rect">
            <a:avLst/>
          </a:prstGeom>
          <a:noFill/>
          <a:ln/>
        </p:spPr>
        <p:txBody>
          <a:bodyPr wrap="square" lIns="0" tIns="0" rIns="0" bIns="0" rtlCol="0" anchor="ctr"/>
          <a:lstStyle/>
          <a:p>
            <a:pPr indent="0" marL="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dc:title>
  <dc:subject>PptxGenJS Presentation</dc:subject>
  <dc:creator>Cicero Martins Jr</dc:creator>
  <cp:lastModifiedBy>Cicero Martins Jr</cp:lastModifiedBy>
  <cp:revision>1</cp:revision>
  <dcterms:created xsi:type="dcterms:W3CDTF">2026-09-25T08:45:03Z</dcterms:created>
  <dcterms:modified xsi:type="dcterms:W3CDTF">2026-09-25T08:45:03Z</dcterms:modified>
</cp:coreProperties>
</file>