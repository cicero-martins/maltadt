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covers the intended model and the matters to be settled before its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The thesis contribution is framework reusability, and Valletta constitutes the harder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m data came from the group's own contribution to EMODnet. The public product gives the inlets one to three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three-stage chain organises the study and determines the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estimate was tested against its two plausible failures, the Helmholtz idealisation and excitation below resonance. The domain follows from this table. Whether the group's harbour records carry energy near 17 minutes is the first outstanding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B, roughly 86 by 66 km, east to 15 degrees, short of the escarpment. Stopping there is also what keeps sigma layers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for Deltares concerns whether sigma holds from 15 m to 150 m, or whether a z-sigma hybrid is indicated.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a proposal rather than a decision. Whether the group has work of its own planned on the generation side, and how the effort should be divided if so, is worth putting directly. The applied companion is a map of exposure by inlet and quay, and the fallback, with independent value, is harbour renewal under the Water Framework Directive.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sweep of six speeds by eight directions amounts to forty-eight runs, barotropic and uncoupled, and therefore inexpensive.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determine what the study can be, and the remainder is resolvable by execution. The question of whether the group has its own intentions on the generation side belongs with the preceding slide rather than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B3 loses four working days to Delft and holds fifteen rather than nineteen.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8503920" y="-1280160"/>
            <a:ext cx="5120640" cy="5120640"/>
          </a:xfrm>
          <a:prstGeom prst="ellipse">
            <a:avLst/>
          </a:prstGeom>
          <a:solidFill>
            <a:srgbClr val="065A82">
              <a:alpha val="45000"/>
            </a:srgbClr>
          </a:solidFill>
          <a:ln/>
        </p:spPr>
      </p:sp>
      <p:sp>
        <p:nvSpPr>
          <p:cNvPr id="3" name="Shape 1"/>
          <p:cNvSpPr/>
          <p:nvPr/>
        </p:nvSpPr>
        <p:spPr>
          <a:xfrm>
            <a:off x="10058400" y="3108960"/>
            <a:ext cx="2377440" cy="2377440"/>
          </a:xfrm>
          <a:prstGeom prst="ellipse">
            <a:avLst/>
          </a:prstGeom>
          <a:solidFill>
            <a:srgbClr val="EB6834">
              <a:alpha val="30000"/>
            </a:srgbClr>
          </a:solidFill>
          <a:ln/>
        </p:spPr>
      </p:sp>
      <p:sp>
        <p:nvSpPr>
          <p:cNvPr id="4" name="Text 2"/>
          <p:cNvSpPr txBox="1"/>
          <p:nvPr/>
        </p:nvSpPr>
        <p:spPr>
          <a:xfrm>
            <a:off x="566928" y="1371600"/>
            <a:ext cx="768096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WETWISE · WP3 · Maltese pilot</a:t>
            </a:r>
            <a:endParaRPr lang="en-US" sz="1200" dirty="0"/>
          </a:p>
        </p:txBody>
      </p:sp>
      <p:sp>
        <p:nvSpPr>
          <p:cNvPr id="5" name="Text 3"/>
          <p:cNvSpPr txBox="1"/>
          <p:nvPr/>
        </p:nvSpPr>
        <p:spPr>
          <a:xfrm>
            <a:off x="566928" y="1783080"/>
            <a:ext cx="7863840" cy="868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66928" y="2697480"/>
            <a:ext cx="7863840" cy="45720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Model concept, and the questions to settle</a:t>
            </a:r>
            <a:endParaRPr lang="en-US" sz="1900" dirty="0"/>
          </a:p>
        </p:txBody>
      </p:sp>
      <p:sp>
        <p:nvSpPr>
          <p:cNvPr id="7" name="Text 5"/>
          <p:cNvSpPr txBox="1"/>
          <p:nvPr/>
        </p:nvSpPr>
        <p:spPr>
          <a:xfrm>
            <a:off x="566928" y="3977640"/>
            <a:ext cx="786384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Cicero Martins Jr</a:t>
            </a:r>
            <a:pPr indent="0" marL="0">
              <a:buNone/>
            </a:pP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566928" y="4279392"/>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Research period at the Oceanography Malta Research Group, University of Malta</a:t>
            </a:r>
            <a:endParaRPr lang="en-US" sz="1200" dirty="0"/>
          </a:p>
        </p:txBody>
      </p:sp>
      <p:sp>
        <p:nvSpPr>
          <p:cNvPr id="9" name="Text 7"/>
          <p:cNvSpPr txBox="1"/>
          <p:nvPr/>
        </p:nvSpPr>
        <p:spPr>
          <a:xfrm>
            <a:off x="566928" y="4590288"/>
            <a:ext cx="7863840" cy="274320"/>
          </a:xfrm>
          <a:prstGeom prst="rect">
            <a:avLst/>
          </a:prstGeom>
          <a:noFill/>
          <a:ln/>
        </p:spPr>
        <p:txBody>
          <a:bodyPr wrap="square" lIns="0" tIns="0" rIns="0" bIns="0" rtlCol="0" anchor="ctr"/>
          <a:lstStyle/>
          <a:p>
            <a:pPr indent="0" marL="0">
              <a:buNone/>
            </a:pPr>
            <a:r>
              <a:rPr lang="en-US" sz="1200" dirty="0">
                <a:solidFill>
                  <a:srgbClr val="9FB3D1"/>
                </a:solidFill>
                <a:latin typeface="Calibri" pitchFamily="34" charset="0"/>
                <a:ea typeface="Calibri" pitchFamily="34" charset="-122"/>
                <a:cs typeface="Calibri" pitchFamily="34" charset="-120"/>
              </a:rPr>
              <a:t>25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ORIGIN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framework, carried across archetype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The solver and the assembly are unchanged, while the governing physics differs.</a:t>
            </a:r>
            <a:endParaRPr lang="en-US" sz="1400" dirty="0"/>
          </a:p>
        </p:txBody>
      </p:sp>
      <p:sp>
        <p:nvSpPr>
          <p:cNvPr id="5" name="Text 3"/>
          <p:cNvSpPr txBox="1"/>
          <p:nvPr/>
        </p:nvSpPr>
        <p:spPr>
          <a:xfrm>
            <a:off x="566928" y="2057400"/>
            <a:ext cx="5212080" cy="2743200"/>
          </a:xfrm>
          <a:prstGeom prst="rect">
            <a:avLst/>
          </a:prstGeom>
          <a:noFill/>
          <a:ln/>
        </p:spPr>
        <p:txBody>
          <a:bodyPr wrap="square" lIns="0" tIns="0" rIns="0" bIns="0" rtlCol="0" anchor="ctr"/>
          <a:lstStyle/>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The framework originates in the Stagnone di Marsala digital twin, a coupled Delft3D FM and SWAN model of a shallow vegetated lagoon.</a:t>
            </a:r>
            <a:endParaRPr lang="en-US" sz="1450" dirty="0"/>
          </a:p>
          <a:p>
            <a:pPr indent="0" marL="0">
              <a:lnSpc>
                <a:spcPts val="2200"/>
              </a:lnSpc>
              <a:spcAft>
                <a:spcPts val="1000"/>
              </a:spcAft>
              <a:buNone/>
            </a:pPr>
            <a:r>
              <a:rPr lang="en-US" sz="1450" dirty="0">
                <a:solidFill>
                  <a:srgbClr val="1A1A1A"/>
                </a:solidFill>
                <a:latin typeface="Calibri" pitchFamily="34" charset="0"/>
                <a:ea typeface="Calibri" pitchFamily="34" charset="-122"/>
                <a:cs typeface="Calibri" pitchFamily="34" charset="-120"/>
              </a:rPr>
              <a:t>A transfer to a second lagoon would remain within a single archetype and would establish little. A transfer to a deep engineered harbour establishes whether the pipeline is reusable or was fitted to one site.</a:t>
            </a:r>
            <a:endParaRPr lang="en-US" sz="1450" dirty="0"/>
          </a:p>
          <a:p>
            <a:pPr indent="0" marL="0">
              <a:lnSpc>
                <a:spcPts val="2200"/>
              </a:lnSpc>
              <a:buNone/>
            </a:pPr>
            <a:r>
              <a:rPr lang="en-US" sz="1450" dirty="0">
                <a:solidFill>
                  <a:srgbClr val="1A1A1A"/>
                </a:solidFill>
                <a:latin typeface="Calibri" pitchFamily="34" charset="0"/>
                <a:ea typeface="Calibri" pitchFamily="34" charset="-122"/>
                <a:cs typeface="Calibri" pitchFamily="34" charset="-120"/>
              </a:rPr>
              <a:t>The stages that transfer constitute the reuse. Those that do not constitute a finding about where the generality of the framework ends, and they are recorded as such.</a:t>
            </a:r>
            <a:endParaRPr lang="en-US" sz="14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63640" y="2057400"/>
          <a:ext cx="5358384" cy="914400"/>
        </p:xfrm>
        <a:graphic>
          <a:graphicData uri="http://schemas.openxmlformats.org/drawingml/2006/table">
            <a:tbl>
              <a:tblPr/>
              <a:tblGrid>
                <a:gridCol w="1700784"/>
                <a:gridCol w="1828800"/>
                <a:gridCol w="1828800"/>
              </a:tblGrid>
              <a:tr h="420624">
                <a:tc>
                  <a:txBody>
                    <a:bodyPr/>
                    <a:lstStyle/>
                    <a:p>
                      <a:pPr indent="0" marL="0">
                        <a:buNone/>
                      </a:pP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Stagnone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Valletta</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065A82"/>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Depth</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sub-metre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12 to 20 m</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Bed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seagrass canopy</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engineered, quay walls</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Boundary signal</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tide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long wave, atmospheric</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A1A1A"/>
                          </a:solidFill>
                          <a:latin typeface="Calibri" pitchFamily="34" charset="0"/>
                          <a:ea typeface="Calibri" pitchFamily="34" charset="-122"/>
                          <a:cs typeface="Calibri" pitchFamily="34" charset="-120"/>
                        </a:rPr>
                        <a:t>Circulation driver</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wind</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c>
                  <a:txBody>
                    <a:bodyPr/>
                    <a:lstStyle/>
                    <a:p>
                      <a:pPr indent="0" marL="0">
                        <a:buNone/>
                      </a:pPr>
                      <a:r>
                        <a:rPr lang="en-US" sz="1250" dirty="0">
                          <a:solidFill>
                            <a:srgbClr val="1A1A1A"/>
                          </a:solidFill>
                          <a:latin typeface="Calibri" pitchFamily="34" charset="0"/>
                          <a:ea typeface="Calibri" pitchFamily="34" charset="-122"/>
                          <a:cs typeface="Calibri" pitchFamily="34" charset="-120"/>
                        </a:rPr>
                        <a:t>the same long wave</a:t>
                      </a:r>
                      <a:endParaRPr lang="en-US" sz="1250" dirty="0">
                        <a:latin typeface="Calibri" charset="0"/>
                        <a:ea typeface="Calibri" charset="0"/>
                        <a:cs typeface="Calibri" charset="0"/>
                      </a:endParaRPr>
                    </a:p>
                  </a:txBody>
                  <a:tcPr marL="91440" marR="91440" marT="45720" marB="45720" anchor="ctr">
                    <a:lnL w="6350" cap="flat" cmpd="sng" algn="ctr">
                      <a:solidFill>
                        <a:srgbClr val="D6DEE3"/>
                      </a:solidFill>
                      <a:prstDash val="solid"/>
                      <a:round/>
                      <a:headEnd type="none" w="med" len="med"/>
                      <a:tailEnd type="none" w="med" len="med"/>
                    </a:lnL>
                    <a:lnR w="6350" cap="flat" cmpd="sng" algn="ctr">
                      <a:solidFill>
                        <a:srgbClr val="D6DEE3"/>
                      </a:solidFill>
                      <a:prstDash val="solid"/>
                      <a:round/>
                      <a:headEnd type="none" w="med" len="med"/>
                      <a:tailEnd type="none" w="med" len="med"/>
                    </a:lnR>
                    <a:lnT w="6350" cap="flat" cmpd="sng" algn="ctr">
                      <a:solidFill>
                        <a:srgbClr val="D6DEE3"/>
                      </a:solidFill>
                      <a:prstDash val="solid"/>
                      <a:round/>
                      <a:headEnd type="none" w="med" len="med"/>
                      <a:tailEnd type="none" w="med" len="med"/>
                    </a:lnT>
                    <a:lnB w="6350" cap="flat" cmpd="sng" algn="ctr">
                      <a:solidFill>
                        <a:srgbClr val="D6DEE3"/>
                      </a:solidFill>
                      <a:prstDash val="solid"/>
                      <a:round/>
                      <a:headEnd type="none" w="med" len="med"/>
                      <a:tailEnd type="none" w="med" len="med"/>
                    </a:lnB>
                    <a:solidFill>
                      <a:srgbClr val="EEF3F6"/>
                    </a:solidFill>
                  </a:tcPr>
                </a:tc>
              </a:tr>
            </a:tbl>
          </a:graphicData>
        </a:graphic>
      </p:graphicFrame>
      <p:sp>
        <p:nvSpPr>
          <p:cNvPr id="7" name="Text 4"/>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transfer effort is logged stage by stage as transferred, re-parameterised or not applicable. That log constitutes the methodological result.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AVAILABLE DATA</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Bathymetry and coastline, co-registered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Supplied by the host group on 22 and 23 September.</a:t>
            </a:r>
            <a:endParaRPr lang="en-US" sz="1400" dirty="0"/>
          </a:p>
        </p:txBody>
      </p:sp>
      <p:sp>
        <p:nvSpPr>
          <p:cNvPr id="5" name="Text 3"/>
          <p:cNvSpPr txBox="1"/>
          <p:nvPr/>
        </p:nvSpPr>
        <p:spPr>
          <a:xfrm>
            <a:off x="566928" y="2057400"/>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10 m</a:t>
            </a:r>
            <a:endParaRPr lang="en-US" sz="2700" dirty="0"/>
          </a:p>
        </p:txBody>
      </p:sp>
      <p:sp>
        <p:nvSpPr>
          <p:cNvPr id="6" name="Text 4"/>
          <p:cNvSpPr txBox="1"/>
          <p:nvPr/>
        </p:nvSpPr>
        <p:spPr>
          <a:xfrm>
            <a:off x="566928" y="2532888"/>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merged LiDAR and sonar,</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CDI 4036_MEPA</a:t>
            </a:r>
            <a:endParaRPr lang="en-US" sz="1200" dirty="0"/>
          </a:p>
        </p:txBody>
      </p:sp>
      <p:sp>
        <p:nvSpPr>
          <p:cNvPr id="7" name="Text 5"/>
          <p:cNvSpPr txBox="1"/>
          <p:nvPr/>
        </p:nvSpPr>
        <p:spPr>
          <a:xfrm>
            <a:off x="566928" y="3227832"/>
            <a:ext cx="2286000" cy="475488"/>
          </a:xfrm>
          <a:prstGeom prst="rect">
            <a:avLst/>
          </a:prstGeom>
          <a:noFill/>
          <a:ln/>
        </p:spPr>
        <p:txBody>
          <a:bodyPr wrap="square" lIns="0" tIns="0" rIns="0" bIns="0" rtlCol="0" anchor="ctr"/>
          <a:lstStyle/>
          <a:p>
            <a:pPr indent="0" marL="0">
              <a:buNone/>
            </a:pPr>
            <a:r>
              <a:rPr lang="en-US" sz="2700" b="1" dirty="0">
                <a:solidFill>
                  <a:srgbClr val="EB6834"/>
                </a:solidFill>
                <a:latin typeface="Cambria" pitchFamily="34" charset="0"/>
                <a:ea typeface="Cambria" pitchFamily="34" charset="-122"/>
                <a:cs typeface="Cambria" pitchFamily="34" charset="-120"/>
              </a:rPr>
              <a:t>174 to 256×</a:t>
            </a:r>
            <a:endParaRPr lang="en-US" sz="2700" dirty="0"/>
          </a:p>
        </p:txBody>
      </p:sp>
      <p:sp>
        <p:nvSpPr>
          <p:cNvPr id="8" name="Text 6"/>
          <p:cNvSpPr txBox="1"/>
          <p:nvPr/>
        </p:nvSpPr>
        <p:spPr>
          <a:xfrm>
            <a:off x="566928" y="3703320"/>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more resolved water cells</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than the public product</a:t>
            </a:r>
            <a:endParaRPr lang="en-US" sz="1200" dirty="0"/>
          </a:p>
        </p:txBody>
      </p:sp>
      <p:sp>
        <p:nvSpPr>
          <p:cNvPr id="9" name="Text 7"/>
          <p:cNvSpPr txBox="1"/>
          <p:nvPr/>
        </p:nvSpPr>
        <p:spPr>
          <a:xfrm>
            <a:off x="566928" y="4398264"/>
            <a:ext cx="2286000" cy="475488"/>
          </a:xfrm>
          <a:prstGeom prst="rect">
            <a:avLst/>
          </a:prstGeom>
          <a:noFill/>
          <a:ln/>
        </p:spPr>
        <p:txBody>
          <a:bodyPr wrap="square" lIns="0" tIns="0" rIns="0" bIns="0" rtlCol="0" anchor="ctr"/>
          <a:lstStyle/>
          <a:p>
            <a:pPr indent="0" marL="0">
              <a:buNone/>
            </a:pPr>
            <a:r>
              <a:rPr lang="en-US" sz="2700" b="1" dirty="0">
                <a:solidFill>
                  <a:srgbClr val="065A82"/>
                </a:solidFill>
                <a:latin typeface="Cambria" pitchFamily="34" charset="0"/>
                <a:ea typeface="Cambria" pitchFamily="34" charset="-122"/>
                <a:cs typeface="Cambria" pitchFamily="34" charset="-120"/>
              </a:rPr>
              <a:t>99.5 %</a:t>
            </a:r>
            <a:endParaRPr lang="en-US" sz="2700" dirty="0"/>
          </a:p>
        </p:txBody>
      </p:sp>
      <p:sp>
        <p:nvSpPr>
          <p:cNvPr id="10" name="Text 8"/>
          <p:cNvSpPr txBox="1"/>
          <p:nvPr/>
        </p:nvSpPr>
        <p:spPr>
          <a:xfrm>
            <a:off x="566928" y="4873752"/>
            <a:ext cx="3108960" cy="54864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land and water agreement</a:t>
            </a:r>
            <a:endParaRPr lang="en-US" sz="1200" dirty="0"/>
          </a:p>
          <a:p>
            <a:pPr indent="0" marL="0">
              <a:buNone/>
            </a:pPr>
            <a:r>
              <a:rPr lang="en-US" sz="1200" dirty="0">
                <a:solidFill>
                  <a:srgbClr val="5F6368"/>
                </a:solidFill>
                <a:latin typeface="Calibri" pitchFamily="34" charset="0"/>
                <a:ea typeface="Calibri" pitchFamily="34" charset="-122"/>
                <a:cs typeface="Calibri" pitchFamily="34" charset="-120"/>
              </a:rPr>
              <a:t>with the coastline</a:t>
            </a:r>
            <a:endParaRPr lang="en-US" sz="1200" dirty="0"/>
          </a:p>
        </p:txBody>
      </p:sp>
      <p:pic>
        <p:nvPicPr>
          <p:cNvPr id="11" name="Image 0" descr="C:\Users\Unipa\Documents\MaltaDT\figures\bathymetry_overview.png">    </p:cNvPr>
          <p:cNvPicPr>
            <a:picLocks noChangeAspect="1"/>
          </p:cNvPicPr>
          <p:nvPr/>
        </p:nvPicPr>
        <p:blipFill>
          <a:blip r:embed="rId1"/>
          <a:stretch>
            <a:fillRect/>
          </a:stretch>
        </p:blipFill>
        <p:spPr>
          <a:xfrm>
            <a:off x="4160520" y="1783080"/>
            <a:ext cx="4754880" cy="4059936"/>
          </a:xfrm>
          <a:prstGeom prst="rect">
            <a:avLst/>
          </a:prstGeom>
        </p:spPr>
      </p:pic>
      <p:sp>
        <p:nvSpPr>
          <p:cNvPr id="12" name="Text 9"/>
          <p:cNvSpPr txBox="1"/>
          <p:nvPr/>
        </p:nvSpPr>
        <p:spPr>
          <a:xfrm>
            <a:off x="9189720" y="2377440"/>
            <a:ext cx="2468880" cy="2011680"/>
          </a:xfrm>
          <a:prstGeom prst="rect">
            <a:avLst/>
          </a:prstGeom>
          <a:noFill/>
          <a:ln/>
        </p:spPr>
        <p:txBody>
          <a:bodyPr wrap="square" lIns="0" tIns="0" rIns="0" bIns="0" rtlCol="0" anchor="ctr"/>
          <a:lstStyle/>
          <a:p>
            <a:pPr indent="0" marL="0">
              <a:lnSpc>
                <a:spcPts val="1600"/>
              </a:lnSpc>
              <a:buNone/>
            </a:pPr>
            <a:r>
              <a:rPr lang="en-US" sz="1150" b="1" dirty="0">
                <a:solidFill>
                  <a:srgbClr val="1A1A1A"/>
                </a:solidFill>
                <a:latin typeface="Calibri" pitchFamily="34" charset="0"/>
                <a:ea typeface="Calibri" pitchFamily="34" charset="-122"/>
                <a:cs typeface="Calibri" pitchFamily="34" charset="-120"/>
              </a:rPr>
              <a:t>Two coordinate reference conditions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grids do not encode their datum. Interpreted as WGS84 they are displaced by 197 m, and no error is raised.
</a:t>
            </a:r>
            <a:endParaRPr lang="en-US" sz="1150" dirty="0"/>
          </a:p>
          <a:p>
            <a:pPr indent="0" marL="0">
              <a:lnSpc>
                <a:spcPts val="1600"/>
              </a:lnSpc>
              <a:buNone/>
            </a:pPr>
            <a:r>
              <a:rPr lang="en-US" sz="1150" dirty="0">
                <a:solidFill>
                  <a:srgbClr val="5F6368"/>
                </a:solidFill>
                <a:latin typeface="Calibri" pitchFamily="34" charset="0"/>
                <a:ea typeface="Calibri" pitchFamily="34" charset="-122"/>
                <a:cs typeface="Calibri" pitchFamily="34" charset="-120"/>
              </a:rPr>
              <a:t>The bathymetry is ED50 and the coastline is WGS84, so neither overlays the other without a datum transformation.</a:t>
            </a:r>
            <a:endParaRPr lang="en-US" sz="1150" dirty="0"/>
          </a:p>
        </p:txBody>
      </p:sp>
      <p:sp>
        <p:nvSpPr>
          <p:cNvPr id="13" name="Text 10"/>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Grand Harbour 1.64 km², mean depth 15.9 m. Marsamxett 1.32 km², mean depth 13.3 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THE PHENOMENON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milgħuba is a meteotsunami</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An atmospherically generated long wave, known as rissaga in the Balearics and as marrobbio on the Sicilian shelf.</a:t>
            </a:r>
            <a:endParaRPr lang="en-US" sz="1400" dirty="0"/>
          </a:p>
        </p:txBody>
      </p:sp>
      <p:sp>
        <p:nvSpPr>
          <p:cNvPr id="5" name="Shape 3"/>
          <p:cNvSpPr/>
          <p:nvPr/>
        </p:nvSpPr>
        <p:spPr>
          <a:xfrm>
            <a:off x="566928" y="2487168"/>
            <a:ext cx="3520440" cy="2286000"/>
          </a:xfrm>
          <a:prstGeom prst="roundRect">
            <a:avLst>
              <a:gd name="adj" fmla="val 2400"/>
            </a:avLst>
          </a:prstGeom>
          <a:solidFill>
            <a:srgbClr val="EEF3F6"/>
          </a:solidFill>
          <a:ln/>
        </p:spPr>
      </p:sp>
      <p:sp>
        <p:nvSpPr>
          <p:cNvPr id="6" name="Shape 4"/>
          <p:cNvSpPr/>
          <p:nvPr/>
        </p:nvSpPr>
        <p:spPr>
          <a:xfrm>
            <a:off x="822960" y="2212848"/>
            <a:ext cx="402336" cy="402336"/>
          </a:xfrm>
          <a:prstGeom prst="ellipse">
            <a:avLst/>
          </a:prstGeom>
          <a:solidFill>
            <a:srgbClr val="EB6834"/>
          </a:solidFill>
          <a:ln/>
        </p:spPr>
      </p:sp>
      <p:sp>
        <p:nvSpPr>
          <p:cNvPr id="7" name="Text 5"/>
          <p:cNvSpPr txBox="1"/>
          <p:nvPr/>
        </p:nvSpPr>
        <p:spPr>
          <a:xfrm>
            <a:off x="822960"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Energy transfers most efficiently when the atmospheric disturbance travels at the celerity of the long wave beneath it.</a:t>
            </a:r>
            <a:endParaRPr lang="en-US" sz="1200" dirty="0"/>
          </a:p>
        </p:txBody>
      </p:sp>
      <p:sp>
        <p:nvSpPr>
          <p:cNvPr id="10" name="Text 8"/>
          <p:cNvSpPr txBox="1"/>
          <p:nvPr/>
        </p:nvSpPr>
        <p:spPr>
          <a:xfrm>
            <a:off x="822960"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The Malta Plateau, 99 to 190 m, is resonant with disturbances of 94 to 155 km h⁻¹.</a:t>
            </a:r>
            <a:endParaRPr lang="en-US" sz="1100" dirty="0"/>
          </a:p>
        </p:txBody>
      </p:sp>
      <p:sp>
        <p:nvSpPr>
          <p:cNvPr id="11" name="Shape 9"/>
          <p:cNvSpPr/>
          <p:nvPr/>
        </p:nvSpPr>
        <p:spPr>
          <a:xfrm>
            <a:off x="4334256" y="2487168"/>
            <a:ext cx="3520440" cy="2286000"/>
          </a:xfrm>
          <a:prstGeom prst="roundRect">
            <a:avLst>
              <a:gd name="adj" fmla="val 2400"/>
            </a:avLst>
          </a:prstGeom>
          <a:solidFill>
            <a:srgbClr val="EEF3F6"/>
          </a:solidFill>
          <a:ln/>
        </p:spPr>
      </p:sp>
      <p:sp>
        <p:nvSpPr>
          <p:cNvPr id="12" name="Shape 10"/>
          <p:cNvSpPr/>
          <p:nvPr/>
        </p:nvSpPr>
        <p:spPr>
          <a:xfrm>
            <a:off x="4590288" y="2212848"/>
            <a:ext cx="402336" cy="402336"/>
          </a:xfrm>
          <a:prstGeom prst="ellipse">
            <a:avLst/>
          </a:prstGeom>
          <a:solidFill>
            <a:srgbClr val="065A82"/>
          </a:solidFill>
          <a:ln/>
        </p:spPr>
      </p:sp>
      <p:sp>
        <p:nvSpPr>
          <p:cNvPr id="13" name="Text 11"/>
          <p:cNvSpPr txBox="1"/>
          <p:nvPr/>
        </p:nvSpPr>
        <p:spPr>
          <a:xfrm>
            <a:off x="4590288"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4590288"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5" name="Text 13"/>
          <p:cNvSpPr txBox="1"/>
          <p:nvPr/>
        </p:nvSpPr>
        <p:spPr>
          <a:xfrm>
            <a:off x="4590288"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Green's law governs the amplification of the wave over the shoaling approach.</a:t>
            </a:r>
            <a:endParaRPr lang="en-US" sz="1200" dirty="0"/>
          </a:p>
        </p:txBody>
      </p:sp>
      <p:sp>
        <p:nvSpPr>
          <p:cNvPr id="16" name="Text 14"/>
          <p:cNvSpPr txBox="1"/>
          <p:nvPr/>
        </p:nvSpPr>
        <p:spPr>
          <a:xfrm>
            <a:off x="4590288"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From the plateau into the harbours, a factor of 1.75 to 1.84.</a:t>
            </a:r>
            <a:endParaRPr lang="en-US" sz="1100" dirty="0"/>
          </a:p>
        </p:txBody>
      </p:sp>
      <p:sp>
        <p:nvSpPr>
          <p:cNvPr id="17" name="Shape 15"/>
          <p:cNvSpPr/>
          <p:nvPr/>
        </p:nvSpPr>
        <p:spPr>
          <a:xfrm>
            <a:off x="8101584" y="2487168"/>
            <a:ext cx="3520440" cy="2286000"/>
          </a:xfrm>
          <a:prstGeom prst="roundRect">
            <a:avLst>
              <a:gd name="adj" fmla="val 2400"/>
            </a:avLst>
          </a:prstGeom>
          <a:solidFill>
            <a:srgbClr val="EEF3F6"/>
          </a:solidFill>
          <a:ln/>
        </p:spPr>
      </p:sp>
      <p:sp>
        <p:nvSpPr>
          <p:cNvPr id="18" name="Shape 16"/>
          <p:cNvSpPr/>
          <p:nvPr/>
        </p:nvSpPr>
        <p:spPr>
          <a:xfrm>
            <a:off x="8357616" y="2212848"/>
            <a:ext cx="402336" cy="402336"/>
          </a:xfrm>
          <a:prstGeom prst="ellipse">
            <a:avLst/>
          </a:prstGeom>
          <a:solidFill>
            <a:srgbClr val="065A82"/>
          </a:solidFill>
          <a:ln/>
        </p:spPr>
      </p:sp>
      <p:sp>
        <p:nvSpPr>
          <p:cNvPr id="19" name="Text 17"/>
          <p:cNvSpPr txBox="1"/>
          <p:nvPr/>
        </p:nvSpPr>
        <p:spPr>
          <a:xfrm>
            <a:off x="8357616" y="2212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8357616" y="2788920"/>
            <a:ext cx="3017520" cy="329184"/>
          </a:xfrm>
          <a:prstGeom prst="rect">
            <a:avLst/>
          </a:prstGeom>
          <a:noFill/>
          <a:ln/>
        </p:spPr>
        <p:txBody>
          <a:bodyPr wrap="square" lIns="0" tIns="0" rIns="0" bIns="0" rtlCol="0" anchor="ctr"/>
          <a:lstStyle/>
          <a:p>
            <a:pPr indent="0" marL="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21" name="Text 19"/>
          <p:cNvSpPr txBox="1"/>
          <p:nvPr/>
        </p:nvSpPr>
        <p:spPr>
          <a:xfrm>
            <a:off x="8357616" y="3145536"/>
            <a:ext cx="3017520" cy="749808"/>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The geometry of the basin amplifies the wave arriving at its mouth.</a:t>
            </a:r>
            <a:endParaRPr lang="en-US" sz="1200" dirty="0"/>
          </a:p>
        </p:txBody>
      </p:sp>
      <p:sp>
        <p:nvSpPr>
          <p:cNvPr id="22" name="Text 20"/>
          <p:cNvSpPr txBox="1"/>
          <p:nvPr/>
        </p:nvSpPr>
        <p:spPr>
          <a:xfrm>
            <a:off x="8357616" y="3950208"/>
            <a:ext cx="3017520" cy="731520"/>
          </a:xfrm>
          <a:prstGeom prst="rect">
            <a:avLst/>
          </a:prstGeom>
          <a:noFill/>
          <a:ln/>
        </p:spPr>
        <p:txBody>
          <a:bodyPr wrap="square" lIns="0" tIns="0" rIns="0" bIns="0" rtlCol="0" anchor="ctr"/>
          <a:lstStyle/>
          <a:p>
            <a:pPr indent="0" marL="0">
              <a:lnSpc>
                <a:spcPts val="1500"/>
              </a:lnSpc>
              <a:buNone/>
            </a:pPr>
            <a:r>
              <a:rPr lang="en-US" sz="1100" b="1" dirty="0">
                <a:solidFill>
                  <a:srgbClr val="1C7293"/>
                </a:solidFill>
                <a:latin typeface="Calibri" pitchFamily="34" charset="0"/>
                <a:ea typeface="Calibri" pitchFamily="34" charset="-122"/>
                <a:cs typeface="Calibri" pitchFamily="34" charset="-120"/>
              </a:rPr>
              <a:t>Quarter-wave and Helmholtz estimates agree at 12 to 18 minutes.</a:t>
            </a:r>
            <a:endParaRPr lang="en-US" sz="110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At Ciutadella, Menorca, the three compound to an order of magnitude. No equivalent decomposition has been published for Malta.</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RESONANT PERIODS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harbours do not resonate in the observed band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Quarter-wave periods, T = 4L∕√(gh), against the 0.2 to 2 cph band reported by Drago.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743200"/>
                <a:gridCol w="868680"/>
                <a:gridCol w="777240"/>
                <a:gridCol w="960120"/>
                <a:gridCol w="1051560"/>
                <a:gridCol w="137160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l"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150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25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algn="l" indent="0" marL="0">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16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17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3.49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13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18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3.26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1.0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12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6" name="Shape 3"/>
          <p:cNvSpPr/>
          <p:nvPr/>
        </p:nvSpPr>
        <p:spPr>
          <a:xfrm>
            <a:off x="8641080" y="2286000"/>
            <a:ext cx="2980944" cy="2432304"/>
          </a:xfrm>
          <a:prstGeom prst="roundRect">
            <a:avLst>
              <a:gd name="adj" fmla="val 2256"/>
            </a:avLst>
          </a:prstGeom>
          <a:solidFill>
            <a:srgbClr val="21295C"/>
          </a:solidFill>
          <a:ln/>
        </p:spPr>
      </p:sp>
      <p:sp>
        <p:nvSpPr>
          <p:cNvPr id="7" name="Text 4"/>
          <p:cNvSpPr txBox="1"/>
          <p:nvPr/>
        </p:nvSpPr>
        <p:spPr>
          <a:xfrm>
            <a:off x="8915400" y="2514600"/>
            <a:ext cx="24688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The consequence</a:t>
            </a:r>
            <a:endParaRPr lang="en-US" sz="1400" dirty="0"/>
          </a:p>
        </p:txBody>
      </p:sp>
      <p:sp>
        <p:nvSpPr>
          <p:cNvPr id="8" name="Text 5"/>
          <p:cNvSpPr txBox="1"/>
          <p:nvPr/>
        </p:nvSpPr>
        <p:spPr>
          <a:xfrm>
            <a:off x="8915400" y="2880360"/>
            <a:ext cx="2468880" cy="1737360"/>
          </a:xfrm>
          <a:prstGeom prst="rect">
            <a:avLst/>
          </a:prstGeom>
          <a:noFill/>
          <a:ln/>
        </p:spPr>
        <p:txBody>
          <a:bodyPr wrap="square" lIns="0" tIns="0" rIns="0" bIns="0" rtlCol="0" anchor="ctr"/>
          <a:lstStyle/>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The harbours respond to a shelf-scale oscillation rather than generating one.
</a:t>
            </a:r>
            <a:endParaRPr lang="en-US" sz="1150" dirty="0"/>
          </a:p>
          <a:p>
            <a:pPr indent="0" marL="0">
              <a:lnSpc>
                <a:spcPts val="1500"/>
              </a:lnSpc>
              <a:buNone/>
            </a:pPr>
            <a:r>
              <a:rPr lang="en-US" sz="1150" dirty="0">
                <a:solidFill>
                  <a:srgbClr val="CADCFC"/>
                </a:solidFill>
                <a:latin typeface="Calibri" pitchFamily="34" charset="0"/>
                <a:ea typeface="Calibri" pitchFamily="34" charset="-122"/>
                <a:cs typeface="Calibri" pitchFamily="34" charset="-120"/>
              </a:rPr>
              <a:t>A domain confined to the harbours holds no resonator in the band, and the available boundary product carries no energy there.
</a:t>
            </a:r>
            <a:endParaRPr lang="en-US" sz="1150" dirty="0"/>
          </a:p>
          <a:p>
            <a:pPr indent="0" marL="0">
              <a:lnSpc>
                <a:spcPts val="1500"/>
              </a:lnSpc>
              <a:buNone/>
            </a:pPr>
            <a:r>
              <a:rPr lang="en-US" sz="1150" b="1" dirty="0">
                <a:solidFill>
                  <a:srgbClr val="FFFFFF"/>
                </a:solidFill>
                <a:latin typeface="Calibri" pitchFamily="34" charset="0"/>
                <a:ea typeface="Calibri" pitchFamily="34" charset="-122"/>
                <a:cs typeface="Calibri" pitchFamily="34" charset="-120"/>
              </a:rPr>
              <a:t>The domain is therefore required to contain the plateau.</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A Helmholtz idealisation returns 12 to 18 minutes likewise, and the harbours amplify by less than a tenth across the band.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EXTENT</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Extent over the plateau, and its cost</a:t>
            </a:r>
            <a:endParaRPr lang="en-US" sz="3200" dirty="0"/>
          </a:p>
        </p:txBody>
      </p:sp>
      <p:pic>
        <p:nvPicPr>
          <p:cNvPr id="4" name="Image 0" descr="C:\Users\Unipa\Documents\MaltaDT\figures\domain_design.png">    </p:cNvPr>
          <p:cNvPicPr>
            <a:picLocks noChangeAspect="1"/>
          </p:cNvPicPr>
          <p:nvPr/>
        </p:nvPicPr>
        <p:blipFill>
          <a:blip r:embed="rId1"/>
          <a:stretch>
            <a:fillRect/>
          </a:stretch>
        </p:blipFill>
        <p:spPr>
          <a:xfrm>
            <a:off x="566928" y="1572768"/>
            <a:ext cx="11055096" cy="495604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MODEL CONCEPT, DISCRETISATION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The geometry sets the resolution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A 17-minute wave in 16 m of water is 12.8 km long. The planform of the inlets is what must be resolved.</a:t>
            </a:r>
            <a:endParaRPr lang="en-US" sz="1400" dirty="0"/>
          </a:p>
        </p:txBody>
      </p:sp>
      <p:sp>
        <p:nvSpPr>
          <p:cNvPr id="5" name="Text 3"/>
          <p:cNvSpPr txBox="1"/>
          <p:nvPr/>
        </p:nvSpPr>
        <p:spPr>
          <a:xfrm>
            <a:off x="566928" y="2103120"/>
            <a:ext cx="502920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Measured channel width</a:t>
            </a:r>
            <a:endParaRPr lang="en-US" sz="1400" dirty="0"/>
          </a:p>
        </p:txBody>
      </p:sp>
      <p:sp>
        <p:nvSpPr>
          <p:cNvPr id="6" name="Text 4"/>
          <p:cNvSpPr txBox="1"/>
          <p:nvPr/>
        </p:nvSpPr>
        <p:spPr>
          <a:xfrm>
            <a:off x="566928" y="2450592"/>
            <a:ext cx="4937760" cy="868680"/>
          </a:xfrm>
          <a:prstGeom prst="rect">
            <a:avLst/>
          </a:prstGeom>
          <a:noFill/>
          <a:ln/>
        </p:spPr>
        <p:txBody>
          <a:bodyPr wrap="square" lIns="0" tIns="0" rIns="0" bIns="0" rtlCol="0" anchor="ctr"/>
          <a:lstStyle/>
          <a:p>
            <a:pPr indent="0" marL="0">
              <a:lnSpc>
                <a:spcPts val="1700"/>
              </a:lnSpc>
              <a:spcAft>
                <a:spcPts val="800"/>
              </a:spcAft>
              <a:buNone/>
            </a:pPr>
            <a:r>
              <a:rPr lang="en-US" sz="1250" dirty="0">
                <a:solidFill>
                  <a:srgbClr val="1A1A1A"/>
                </a:solidFill>
                <a:latin typeface="Calibri" pitchFamily="34" charset="0"/>
                <a:ea typeface="Calibri" pitchFamily="34" charset="-122"/>
                <a:cs typeface="Calibri" pitchFamily="34" charset="-120"/>
              </a:rPr>
              <a:t>Half the channel length of Marsamxett is narrower than 135 m, and a third narrower than 50 m.
</a:t>
            </a:r>
            <a:endParaRPr lang="en-US" sz="1250" dirty="0"/>
          </a:p>
          <a:p>
            <a:pPr indent="0" marL="0">
              <a:lnSpc>
                <a:spcPts val="1700"/>
              </a:lnSpc>
              <a:buNone/>
            </a:pPr>
            <a:r>
              <a:rPr lang="en-US" sz="1250" dirty="0">
                <a:solidFill>
                  <a:srgbClr val="1A1A1A"/>
                </a:solidFill>
                <a:latin typeface="Calibri" pitchFamily="34" charset="0"/>
                <a:ea typeface="Calibri" pitchFamily="34" charset="-122"/>
                <a:cs typeface="Calibri" pitchFamily="34" charset="-120"/>
              </a:rPr>
              <a:t>Four to five cells carry the conveyance of a channel, eight to ten resolve the flow across it.</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456432"/>
          <a:ext cx="4937760" cy="914400"/>
        </p:xfrm>
        <a:graphic>
          <a:graphicData uri="http://schemas.openxmlformats.org/drawingml/2006/table">
            <a:tbl>
              <a:tblPr/>
              <a:tblGrid>
                <a:gridCol w="3291840"/>
                <a:gridCol w="1645920"/>
              </a:tblGrid>
              <a:tr h="3429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Zone</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Inlets and entrances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Harbour basins</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Nearshore, within 2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Coastal, 2 to 15 km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300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r>
              <a:tr h="342900">
                <a:tc>
                  <a:txBody>
                    <a:bodyPr/>
                    <a:lstStyle/>
                    <a:p>
                      <a:pPr algn="l" indent="0" marL="0">
                        <a:buNone/>
                      </a:pPr>
                      <a:r>
                        <a:rPr lang="en-US" sz="1200" dirty="0">
                          <a:solidFill>
                            <a:srgbClr val="1A1A1A"/>
                          </a:solidFill>
                          <a:latin typeface="Calibri" pitchFamily="34" charset="0"/>
                          <a:ea typeface="Calibri" pitchFamily="34" charset="-122"/>
                          <a:cs typeface="Calibri" pitchFamily="34" charset="-120"/>
                        </a:rPr>
                        <a:t>Open plateau</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A1A1A"/>
                          </a:solidFill>
                          <a:latin typeface="Calibri" pitchFamily="34" charset="0"/>
                          <a:ea typeface="Calibri" pitchFamily="34" charset="-122"/>
                          <a:cs typeface="Calibri" pitchFamily="34" charset="-120"/>
                        </a:rPr>
                        <a:t>1500 m</a:t>
                      </a:r>
                      <a:endParaRPr lang="en-US" sz="1200" dirty="0">
                        <a:latin typeface="Calibri" charset="0"/>
                        <a:ea typeface="Calibri" charset="0"/>
                        <a:cs typeface="Calibri" charset="0"/>
                      </a:endParaRPr>
                    </a:p>
                  </a:txBody>
                  <a:tcPr marL="91440" marR="91440" marT="45720" marB="45720"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r>
            </a:tbl>
          </a:graphicData>
        </a:graphic>
      </p:graphicFrame>
      <p:sp>
        <p:nvSpPr>
          <p:cNvPr id="8" name="Shape 5"/>
          <p:cNvSpPr/>
          <p:nvPr/>
        </p:nvSpPr>
        <p:spPr>
          <a:xfrm>
            <a:off x="5989320" y="2103120"/>
            <a:ext cx="5632704" cy="1481328"/>
          </a:xfrm>
          <a:prstGeom prst="roundRect">
            <a:avLst>
              <a:gd name="adj" fmla="val 3704"/>
            </a:avLst>
          </a:prstGeom>
          <a:solidFill>
            <a:srgbClr val="EEF3F6"/>
          </a:solidFill>
          <a:ln/>
        </p:spPr>
      </p:sp>
      <p:sp>
        <p:nvSpPr>
          <p:cNvPr id="9" name="Text 6"/>
          <p:cNvSpPr txBox="1"/>
          <p:nvPr/>
        </p:nvSpPr>
        <p:spPr>
          <a:xfrm>
            <a:off x="6263640" y="2286000"/>
            <a:ext cx="5120640" cy="274320"/>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Mesh and time step</a:t>
            </a:r>
            <a:endParaRPr lang="en-US" sz="1400" dirty="0"/>
          </a:p>
        </p:txBody>
      </p:sp>
      <p:sp>
        <p:nvSpPr>
          <p:cNvPr id="10" name="Text 7"/>
          <p:cNvSpPr txBox="1"/>
          <p:nvPr/>
        </p:nvSpPr>
        <p:spPr>
          <a:xfrm>
            <a:off x="6263640" y="2615184"/>
            <a:ext cx="5120640" cy="868680"/>
          </a:xfrm>
          <a:prstGeom prst="rect">
            <a:avLst/>
          </a:prstGeom>
          <a:noFill/>
          <a:ln/>
        </p:spPr>
        <p:txBody>
          <a:bodyPr wrap="square" lIns="0" tIns="0" rIns="0" bIns="0" rtlCol="0" anchor="ctr"/>
          <a:lstStyle/>
          <a:p>
            <a:pPr indent="0" marL="0">
              <a:lnSpc>
                <a:spcPts val="1600"/>
              </a:lnSpc>
              <a:buNone/>
            </a:pPr>
            <a:r>
              <a:rPr lang="en-US" sz="1200" dirty="0">
                <a:solidFill>
                  <a:srgbClr val="1A1A1A"/>
                </a:solidFill>
                <a:latin typeface="Calibri" pitchFamily="34" charset="0"/>
                <a:ea typeface="Calibri" pitchFamily="34" charset="-122"/>
                <a:cs typeface="Calibri" pitchFamily="34" charset="-120"/>
              </a:rPr>
              <a:t>Approximately 28,500 cells. A time step of 6 to 12 s at Courant 5 to 10 in the finest cells, which samples a 17-minute wave about a hundred times per cycle. The 10 m of the source data is the floor; below 15 m a mesh interpolates rather than resolves.</a:t>
            </a:r>
            <a:endParaRPr lang="en-US" sz="1200" dirty="0"/>
          </a:p>
        </p:txBody>
      </p:sp>
      <p:sp>
        <p:nvSpPr>
          <p:cNvPr id="11" name="Shape 8"/>
          <p:cNvSpPr/>
          <p:nvPr/>
        </p:nvSpPr>
        <p:spPr>
          <a:xfrm>
            <a:off x="5989320" y="3730752"/>
            <a:ext cx="5632704" cy="1874520"/>
          </a:xfrm>
          <a:prstGeom prst="roundRect">
            <a:avLst>
              <a:gd name="adj" fmla="val 2927"/>
            </a:avLst>
          </a:prstGeom>
          <a:solidFill>
            <a:srgbClr val="21295C"/>
          </a:solidFill>
          <a:ln/>
        </p:spPr>
      </p:sp>
      <p:sp>
        <p:nvSpPr>
          <p:cNvPr id="12" name="Text 9"/>
          <p:cNvSpPr txBox="1"/>
          <p:nvPr/>
        </p:nvSpPr>
        <p:spPr>
          <a:xfrm>
            <a:off x="6263640" y="3913632"/>
            <a:ext cx="5120640" cy="27432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Vertical, 12 to 15 sigma layers</a:t>
            </a:r>
            <a:endParaRPr lang="en-US" sz="1400" dirty="0"/>
          </a:p>
        </p:txBody>
      </p:sp>
      <p:sp>
        <p:nvSpPr>
          <p:cNvPr id="13" name="Text 10"/>
          <p:cNvSpPr txBox="1"/>
          <p:nvPr/>
        </p:nvSpPr>
        <p:spPr>
          <a:xfrm>
            <a:off x="6263640" y="4242816"/>
            <a:ext cx="5120640" cy="1188720"/>
          </a:xfrm>
          <a:prstGeom prst="rect">
            <a:avLst/>
          </a:prstGeom>
          <a:noFill/>
          <a:ln/>
        </p:spPr>
        <p:txBody>
          <a:bodyPr wrap="square" lIns="0" tIns="0" rIns="0" bIns="0" rtlCol="0" anchor="ctr"/>
          <a:lstStyle/>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The count is set by residence time, not by the seiche, which is barotropic. Fifteen layers give roughly one metre at the bed in the basins.
</a:t>
            </a:r>
            <a:endParaRPr lang="en-US" sz="1200" dirty="0"/>
          </a:p>
          <a:p>
            <a:pPr indent="0" marL="0">
              <a:lnSpc>
                <a:spcPts val="1600"/>
              </a:lnSpc>
              <a:buNone/>
            </a:pPr>
            <a:r>
              <a:rPr lang="en-US" sz="1200" dirty="0">
                <a:solidFill>
                  <a:srgbClr val="CADCFC"/>
                </a:solidFill>
                <a:latin typeface="Calibri" pitchFamily="34" charset="0"/>
                <a:ea typeface="Calibri" pitchFamily="34" charset="-122"/>
                <a:cs typeface="Calibri" pitchFamily="34" charset="-120"/>
              </a:rPr>
              <a:t>Sigma is defensible only because the domain stops short of the escarpment, where the plateau gradient is one part in a thousand.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RESEARCH QUESTION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proposed question, for the group to judge</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Drafted this week and put to the group before it is committed to.</a:t>
            </a:r>
            <a:endParaRPr lang="en-US" sz="1400" dirty="0"/>
          </a:p>
        </p:txBody>
      </p:sp>
      <p:sp>
        <p:nvSpPr>
          <p:cNvPr id="5" name="Shape 3"/>
          <p:cNvSpPr/>
          <p:nvPr/>
        </p:nvSpPr>
        <p:spPr>
          <a:xfrm>
            <a:off x="566928" y="2139696"/>
            <a:ext cx="11055096" cy="1298448"/>
          </a:xfrm>
          <a:prstGeom prst="roundRect">
            <a:avLst>
              <a:gd name="adj" fmla="val 4225"/>
            </a:avLst>
          </a:prstGeom>
          <a:solidFill>
            <a:srgbClr val="EEF3F6"/>
          </a:solidFill>
          <a:ln/>
        </p:spPr>
      </p:sp>
      <p:sp>
        <p:nvSpPr>
          <p:cNvPr id="6" name="Text 4"/>
          <p:cNvSpPr txBox="1"/>
          <p:nvPr/>
        </p:nvSpPr>
        <p:spPr>
          <a:xfrm>
            <a:off x="886968" y="2350008"/>
            <a:ext cx="10424160" cy="914400"/>
          </a:xfrm>
          <a:prstGeom prst="rect">
            <a:avLst/>
          </a:prstGeom>
          <a:noFill/>
          <a:ln/>
        </p:spPr>
        <p:txBody>
          <a:bodyPr wrap="square" lIns="0" tIns="0" rIns="0" bIns="0" rtlCol="0" anchor="ctr"/>
          <a:lstStyle/>
          <a:p>
            <a:pPr indent="0" marL="0">
              <a:lnSpc>
                <a:spcPts val="2100"/>
              </a:lnSpc>
              <a:buNone/>
            </a:pPr>
            <a:r>
              <a:rPr lang="en-US" sz="1500" i="1" dirty="0">
                <a:solidFill>
                  <a:srgbClr val="1A1A1A"/>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themselves, and which atmospheric disturbance speeds and directions maximise that chain?</a:t>
            </a:r>
            <a:endParaRPr lang="en-US" sz="1500" dirty="0"/>
          </a:p>
        </p:txBody>
      </p:sp>
      <p:sp>
        <p:nvSpPr>
          <p:cNvPr id="7" name="Text 5"/>
          <p:cNvSpPr txBox="1"/>
          <p:nvPr/>
        </p:nvSpPr>
        <p:spPr>
          <a:xfrm>
            <a:off x="566928" y="3721608"/>
            <a:ext cx="5212080" cy="292608"/>
          </a:xfrm>
          <a:prstGeom prst="rect">
            <a:avLst/>
          </a:prstGeom>
          <a:noFill/>
          <a:ln/>
        </p:spPr>
        <p:txBody>
          <a:bodyPr wrap="square" lIns="0" tIns="0" rIns="0" bIns="0" rtlCol="0" anchor="ctr"/>
          <a:lstStyle/>
          <a:p>
            <a:pPr indent="0" marL="0">
              <a:buNone/>
            </a:pPr>
            <a:r>
              <a:rPr lang="en-US" sz="1400" b="1" dirty="0">
                <a:solidFill>
                  <a:srgbClr val="065A82"/>
                </a:solidFill>
                <a:latin typeface="Cambria" pitchFamily="34" charset="0"/>
                <a:ea typeface="Cambria" pitchFamily="34" charset="-122"/>
                <a:cs typeface="Cambria" pitchFamily="34" charset="-120"/>
              </a:rPr>
              <a:t>Basis for the formulation</a:t>
            </a:r>
            <a:endParaRPr lang="en-US" sz="1400" dirty="0"/>
          </a:p>
        </p:txBody>
      </p:sp>
      <p:sp>
        <p:nvSpPr>
          <p:cNvPr id="8" name="Text 6"/>
          <p:cNvSpPr txBox="1"/>
          <p:nvPr/>
        </p:nvSpPr>
        <p:spPr>
          <a:xfrm>
            <a:off x="566928" y="4069080"/>
            <a:ext cx="5212080"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answering it requires a model. No arrangement of gauges separates the three stages of amplification from one another.</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It is framed so that it does not repeat the prior work, which treats the response of a basin to a wave already present at its boundary.</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Should the group judge the standing of that prior work differently, the formulation changes with it.</a:t>
            </a:r>
            <a:endParaRPr lang="en-US" sz="1200" dirty="0"/>
          </a:p>
        </p:txBody>
      </p:sp>
      <p:sp>
        <p:nvSpPr>
          <p:cNvPr id="9" name="Text 7"/>
          <p:cNvSpPr txBox="1"/>
          <p:nvPr/>
        </p:nvSpPr>
        <p:spPr>
          <a:xfrm>
            <a:off x="6355080" y="3721608"/>
            <a:ext cx="5212080" cy="292608"/>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Prior work the study must clear</a:t>
            </a:r>
            <a:endParaRPr lang="en-US" sz="1400" dirty="0"/>
          </a:p>
        </p:txBody>
      </p:sp>
      <p:sp>
        <p:nvSpPr>
          <p:cNvPr id="10" name="Text 8"/>
          <p:cNvSpPr txBox="1"/>
          <p:nvPr/>
        </p:nvSpPr>
        <p:spPr>
          <a:xfrm>
            <a:off x="6355080" y="4069080"/>
            <a:ext cx="5266944" cy="173736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Maltese coastal seiches were modelled in 2007, in a two-dimensional depth-averaged POM, for Mellieħa and St Paul's Bay, forced by a prescribed offshore long wave.</a:t>
            </a:r>
            <a:endParaRPr lang="en-US" sz="1200" dirty="0"/>
          </a:p>
          <a:p>
            <a:pPr marL="342900" indent="-342900">
              <a:lnSpc>
                <a:spcPts val="1600"/>
              </a:lnSpc>
              <a:spcAft>
                <a:spcPts val="700"/>
              </a:spcAft>
              <a:buSzPct val="100000"/>
              <a:buChar char="•"/>
            </a:pPr>
            <a:r>
              <a:rPr lang="en-US" sz="1200" dirty="0">
                <a:solidFill>
                  <a:srgbClr val="1A1A1A"/>
                </a:solidFill>
                <a:latin typeface="Calibri" pitchFamily="34" charset="0"/>
                <a:ea typeface="Calibri" pitchFamily="34" charset="-122"/>
                <a:cs typeface="Calibri" pitchFamily="34" charset="-120"/>
              </a:rPr>
              <a:t>A repetition at Valletta in three dimensions would be incremental.</a:t>
            </a:r>
            <a:endParaRPr lang="en-US" sz="1200" dirty="0"/>
          </a:p>
          <a:p>
            <a:pPr marL="342900" indent="-342900">
              <a:lnSpc>
                <a:spcPts val="1600"/>
              </a:lnSpc>
              <a:buSzPct val="100000"/>
              <a:buChar char="•"/>
            </a:pPr>
            <a:r>
              <a:rPr lang="en-US" sz="1200" dirty="0">
                <a:solidFill>
                  <a:srgbClr val="1A1A1A"/>
                </a:solidFill>
                <a:latin typeface="Calibri" pitchFamily="34" charset="0"/>
                <a:ea typeface="Calibri" pitchFamily="34" charset="-122"/>
                <a:cs typeface="Calibri" pitchFamily="34" charset="-120"/>
              </a:rPr>
              <a:t>The generation side is untreated, since the prior work imposes the offshore wave rather than producing it.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EXPERIMENTAL DESIGN</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parametric sweep in place of a hindcast</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indent="0" marL="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that trigger the phenomenon, which has constituted the largest standing risk in the project.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Impose a moving pressure disturbance and vary its speed, direction, width and duration.</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output is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3383280" cy="292608"/>
          </a:xfrm>
          <a:prstGeom prst="rect">
            <a:avLst/>
          </a:prstGeom>
          <a:noFill/>
          <a:ln/>
        </p:spPr>
        <p:txBody>
          <a:bodyPr wrap="square" lIns="0" tIns="0" rIns="0" bIns="0" rtlCol="0" anchor="ctr"/>
          <a:lstStyle/>
          <a:p>
            <a:pPr indent="0" marL="0">
              <a:buNone/>
            </a:pPr>
            <a:r>
              <a:rPr lang="en-US" sz="1450" b="1" dirty="0">
                <a:solidFill>
                  <a:srgbClr val="1A1A1A"/>
                </a:solidFill>
                <a:latin typeface="Cambria" pitchFamily="34" charset="0"/>
                <a:ea typeface="Cambria" pitchFamily="34" charset="-122"/>
                <a:cs typeface="Cambria" pitchFamily="34" charset="-120"/>
              </a:rPr>
              <a:t>Inversion of the observations</a:t>
            </a:r>
            <a:endParaRPr lang="en-US" sz="1450" dirty="0"/>
          </a:p>
        </p:txBody>
      </p:sp>
      <p:sp>
        <p:nvSpPr>
          <p:cNvPr id="16" name="Text 14"/>
          <p:cNvSpPr txBox="1"/>
          <p:nvPr/>
        </p:nvSpPr>
        <p:spPr>
          <a:xfrm>
            <a:off x="1188720" y="4965192"/>
            <a:ext cx="6035040" cy="658368"/>
          </a:xfrm>
          <a:prstGeom prst="rect">
            <a:avLst/>
          </a:prstGeom>
          <a:noFill/>
          <a:ln/>
        </p:spPr>
        <p:txBody>
          <a:bodyPr wrap="square" lIns="0" tIns="0" rIns="0" bIns="0" rtlCol="0" anchor="ctr"/>
          <a:lstStyle/>
          <a:p>
            <a:pPr indent="0" marL="0">
              <a:lnSpc>
                <a:spcPts val="1700"/>
              </a:lnSpc>
              <a:buNone/>
            </a:pPr>
            <a:r>
              <a:rPr lang="en-US" sz="1250" dirty="0">
                <a:solidFill>
                  <a:srgbClr val="5F6368"/>
                </a:solidFill>
                <a:latin typeface="Calibri" pitchFamily="34" charset="0"/>
                <a:ea typeface="Calibri" pitchFamily="34" charset="-122"/>
                <a:cs typeface="Calibri" pitchFamily="34" charset="-120"/>
              </a:rPr>
              <a:t>The observations cease to be the forcing and become the test, addressing whether recorded events occur under the conditions identified as resonant.</a:t>
            </a:r>
            <a:endParaRPr lang="en-US" sz="1250" dirty="0"/>
          </a:p>
        </p:txBody>
      </p:sp>
      <p:sp>
        <p:nvSpPr>
          <p:cNvPr id="17" name="Shape 15"/>
          <p:cNvSpPr/>
          <p:nvPr/>
        </p:nvSpPr>
        <p:spPr>
          <a:xfrm>
            <a:off x="7680960" y="2286000"/>
            <a:ext cx="3941064" cy="3108960"/>
          </a:xfrm>
          <a:prstGeom prst="roundRect">
            <a:avLst>
              <a:gd name="adj" fmla="val 1765"/>
            </a:avLst>
          </a:prstGeom>
          <a:solidFill>
            <a:srgbClr val="21295C"/>
          </a:solidFill>
          <a:ln/>
        </p:spPr>
      </p:sp>
      <p:sp>
        <p:nvSpPr>
          <p:cNvPr id="18" name="Text 16"/>
          <p:cNvSpPr txBox="1"/>
          <p:nvPr/>
        </p:nvSpPr>
        <p:spPr>
          <a:xfrm>
            <a:off x="7955280" y="2487168"/>
            <a:ext cx="3429000" cy="548640"/>
          </a:xfrm>
          <a:prstGeom prst="rect">
            <a:avLst/>
          </a:prstGeom>
          <a:noFill/>
          <a:ln/>
        </p:spPr>
        <p:txBody>
          <a:bodyPr wrap="square" lIns="0" tIns="0" rIns="0" bIns="0" rtlCol="0" anchor="ctr"/>
          <a:lstStyle/>
          <a:p>
            <a:pPr indent="0" marL="0">
              <a:buNone/>
            </a:pPr>
            <a:r>
              <a:rPr lang="en-US" sz="1400" b="1" dirty="0">
                <a:solidFill>
                  <a:srgbClr val="EB6834"/>
                </a:solidFill>
                <a:latin typeface="Cambria" pitchFamily="34" charset="0"/>
                <a:ea typeface="Cambria" pitchFamily="34" charset="-122"/>
                <a:cs typeface="Cambria" pitchFamily="34" charset="-120"/>
              </a:rPr>
              <a:t>Bearing beyond the present study</a:t>
            </a:r>
            <a:endParaRPr lang="en-US" sz="1400" dirty="0"/>
          </a:p>
        </p:txBody>
      </p:sp>
      <p:sp>
        <p:nvSpPr>
          <p:cNvPr id="19" name="Text 17"/>
          <p:cNvSpPr txBox="1"/>
          <p:nvPr/>
        </p:nvSpPr>
        <p:spPr>
          <a:xfrm>
            <a:off x="7955280" y="3063240"/>
            <a:ext cx="3429000" cy="2103120"/>
          </a:xfrm>
          <a:prstGeom prst="rect">
            <a:avLst/>
          </a:prstGeom>
          <a:noFill/>
          <a:ln/>
        </p:spPr>
        <p:txBody>
          <a:bodyPr wrap="square" lIns="0" tIns="0" rIns="0" bIns="0" rtlCol="0" anchor="ctr"/>
          <a:lstStyle/>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A response surface is a property of the geometry, whereas climate change acts on the distribution of the forcing.
</a:t>
            </a:r>
            <a:endParaRPr lang="en-US" sz="1150" dirty="0"/>
          </a:p>
          <a:p>
            <a:pPr indent="0" marL="0">
              <a:lnSpc>
                <a:spcPts val="1550"/>
              </a:lnSpc>
              <a:buNone/>
            </a:pPr>
            <a:r>
              <a:rPr lang="en-US" sz="1150" dirty="0">
                <a:solidFill>
                  <a:srgbClr val="CADCFC"/>
                </a:solidFill>
                <a:latin typeface="Calibri" pitchFamily="34" charset="0"/>
                <a:ea typeface="Calibri" pitchFamily="34" charset="-122"/>
                <a:cs typeface="Calibri" pitchFamily="34" charset="-120"/>
              </a:rPr>
              <a:t>The two separate, so the surface is computed once and any later study with synoptic projections may convolve them without repeating the hydrodynamics.
</a:t>
            </a:r>
            <a:endParaRPr lang="en-US" sz="1150" dirty="0"/>
          </a:p>
          <a:p>
            <a:pPr indent="0" marL="0">
              <a:lnSpc>
                <a:spcPts val="1550"/>
              </a:lnSpc>
              <a:buNone/>
            </a:pPr>
            <a:r>
              <a:rPr lang="en-US" sz="1150" b="1" dirty="0">
                <a:solidFill>
                  <a:srgbClr val="FFFFFF"/>
                </a:solidFill>
                <a:latin typeface="Calibri" pitchFamily="34" charset="0"/>
                <a:ea typeface="Calibri" pitchFamily="34" charset="-122"/>
                <a:cs typeface="Calibri" pitchFamily="34" charset="-120"/>
              </a:rPr>
              <a:t>No climate scenario need be run through the model.</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indent="0" marL="0">
              <a:buNone/>
            </a:pPr>
            <a:r>
              <a:rPr lang="en-US" sz="1050" i="1" dirty="0">
                <a:solidFill>
                  <a:srgbClr val="5F6368"/>
                </a:solidFill>
                <a:latin typeface="Calibri" pitchFamily="34" charset="0"/>
                <a:ea typeface="Calibri" pitchFamily="34" charset="-122"/>
                <a:cs typeface="Calibri" pitchFamily="34" charset="-120"/>
              </a:rPr>
              <a:t>The milgħuba floods Msida, at the head of Msida Creek inside Marsamxett, together with Marsaskala, Xemxija, Marsaxlokk and Sliema.</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OUTSTANDING QUESTIONS</a:t>
            </a:r>
            <a:endParaRPr lang="en-US" sz="1200" dirty="0"/>
          </a:p>
        </p:txBody>
      </p:sp>
      <p:sp>
        <p:nvSpPr>
          <p:cNvPr id="3" name="Text 1"/>
          <p:cNvSpPr txBox="1"/>
          <p:nvPr/>
        </p:nvSpPr>
        <p:spPr>
          <a:xfrm>
            <a:off x="566928" y="749808"/>
            <a:ext cx="10424160" cy="658368"/>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Six questions and their bearing on the study</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 sea level record inside the Grand Harbour, and at what sampling interval?</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A spectrum would establish whether the basins carry energy near 17 minutes. The 0.2 to 2 cph band is observed at Mellieħa, on another coast, so the present analysis can only infer the Valletta response.</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Has the generation of the wave been modelled, or only its effect on a basin?</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2007 study imposes the long wave at the offshore boundary and computes the response. Modelling how the atmosphere produces that wave over the shelf is what this study proposes. Whether it is genuinely untouched is known only from a literature search.</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sampling interval of the PORTO sea level stations?</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seiche band is 0.2 to 2 cph. At an interval coarser than one minute the model has no observational target within its own frequency range.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documented damage or disruption inside the commercial port?</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Flooding is documented at Msida and elsewhere. Records of mooring failure or interrupted operations would be held by Transport Malta and the terminals.</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What is the levelling datum behind the bathymetry, and how does its zero relate to the tide gauges?</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The files declare ellipsoidal heights while the data are orthometric. What remains to be established is the offset against the gauges used for validation.</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indent="0" marL="0">
              <a:lnSpc>
                <a:spcPts val="1600"/>
              </a:lnSpc>
              <a:buNone/>
            </a:pPr>
            <a:r>
              <a:rPr lang="en-US" sz="1280" b="1" dirty="0">
                <a:solidFill>
                  <a:srgbClr val="1A1A1A"/>
                </a:solidFill>
                <a:latin typeface="Calibri" pitchFamily="34" charset="0"/>
                <a:ea typeface="Calibri" pitchFamily="34" charset="-122"/>
                <a:cs typeface="Calibri" pitchFamily="34" charset="-120"/>
              </a:rPr>
              <a:t>Is there any wave record beyond the BLUE buoy?</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ctr"/>
          <a:lstStyle/>
          <a:p>
            <a:pPr indent="0" marL="0">
              <a:lnSpc>
                <a:spcPts val="1450"/>
              </a:lnSpc>
              <a:buNone/>
            </a:pPr>
            <a:r>
              <a:rPr lang="en-US" sz="1100" dirty="0">
                <a:solidFill>
                  <a:srgbClr val="5F6368"/>
                </a:solidFill>
                <a:latin typeface="Calibri" pitchFamily="34" charset="0"/>
                <a:ea typeface="Calibri" pitchFamily="34" charset="-122"/>
                <a:cs typeface="Calibri" pitchFamily="34" charset="-120"/>
              </a:rPr>
              <a:t>Wave validation presently rests on a single point 3.7 km offshore. The radar reports a derived product whose own accuracy was assessed against models, so it serves as a cross-check rather than a reference.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737360" y="3840480"/>
            <a:ext cx="4754880" cy="4754880"/>
          </a:xfrm>
          <a:prstGeom prst="ellipse">
            <a:avLst/>
          </a:prstGeom>
          <a:solidFill>
            <a:srgbClr val="065A82">
              <a:alpha val="40000"/>
            </a:srgbClr>
          </a:solidFill>
          <a:ln/>
        </p:spPr>
      </p:sp>
      <p:sp>
        <p:nvSpPr>
          <p:cNvPr id="3" name="Text 1"/>
          <p:cNvSpPr txBox="1"/>
          <p:nvPr/>
        </p:nvSpPr>
        <p:spPr>
          <a:xfrm>
            <a:off x="566928" y="640080"/>
            <a:ext cx="8229600" cy="274320"/>
          </a:xfrm>
          <a:prstGeom prst="rect">
            <a:avLst/>
          </a:prstGeom>
          <a:noFill/>
          <a:ln/>
        </p:spPr>
        <p:txBody>
          <a:bodyPr wrap="square" lIns="0" tIns="0" rIns="0" bIns="0" rtlCol="0" anchor="ctr"/>
          <a:lstStyle/>
          <a:p>
            <a:pPr indent="0" marL="0">
              <a:buNone/>
            </a:pPr>
            <a:r>
              <a:rPr lang="en-US" sz="1200" b="1" spc="200" kern="0" dirty="0">
                <a:solidFill>
                  <a:srgbClr val="EB6834"/>
                </a:solidFill>
                <a:latin typeface="Calibri" pitchFamily="34" charset="0"/>
                <a:ea typeface="Calibri" pitchFamily="34" charset="-122"/>
                <a:cs typeface="Calibri" pitchFamily="34" charset="-120"/>
              </a:rPr>
              <a:t>IMMEDIATE SEQUENCE</a:t>
            </a:r>
            <a:endParaRPr lang="en-US" sz="1200" dirty="0"/>
          </a:p>
        </p:txBody>
      </p:sp>
      <p:sp>
        <p:nvSpPr>
          <p:cNvPr id="4" name="Text 2"/>
          <p:cNvSpPr txBox="1"/>
          <p:nvPr/>
        </p:nvSpPr>
        <p:spPr>
          <a:xfrm>
            <a:off x="566928" y="960120"/>
            <a:ext cx="91440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Before the mesh is built</a:t>
            </a:r>
            <a:endParaRPr lang="en-US" sz="3000" dirty="0"/>
          </a:p>
        </p:txBody>
      </p:sp>
      <p:sp>
        <p:nvSpPr>
          <p:cNvPr id="5" name="Shape 3"/>
          <p:cNvSpPr/>
          <p:nvPr/>
        </p:nvSpPr>
        <p:spPr>
          <a:xfrm>
            <a:off x="612648" y="2057400"/>
            <a:ext cx="155448" cy="155448"/>
          </a:xfrm>
          <a:prstGeom prst="ellipse">
            <a:avLst/>
          </a:prstGeom>
          <a:solidFill>
            <a:srgbClr val="CADCFC"/>
          </a:solidFill>
          <a:ln/>
        </p:spPr>
      </p:sp>
      <p:sp>
        <p:nvSpPr>
          <p:cNvPr id="6" name="Text 4"/>
          <p:cNvSpPr txBox="1"/>
          <p:nvPr/>
        </p:nvSpPr>
        <p:spPr>
          <a:xfrm>
            <a:off x="978408" y="1965960"/>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September</a:t>
            </a:r>
            <a:endParaRPr lang="en-US" sz="1300" dirty="0"/>
          </a:p>
        </p:txBody>
      </p:sp>
      <p:sp>
        <p:nvSpPr>
          <p:cNvPr id="7" name="Text 5"/>
          <p:cNvSpPr txBox="1"/>
          <p:nvPr/>
        </p:nvSpPr>
        <p:spPr>
          <a:xfrm>
            <a:off x="3721608" y="1965960"/>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Seiche climatology from the Portomaso and PORTO archives. No model is required.</a:t>
            </a:r>
            <a:endParaRPr lang="en-US" sz="1250" dirty="0"/>
          </a:p>
        </p:txBody>
      </p:sp>
      <p:sp>
        <p:nvSpPr>
          <p:cNvPr id="8" name="Shape 6"/>
          <p:cNvSpPr/>
          <p:nvPr/>
        </p:nvSpPr>
        <p:spPr>
          <a:xfrm>
            <a:off x="612648" y="2843784"/>
            <a:ext cx="155448" cy="155448"/>
          </a:xfrm>
          <a:prstGeom prst="ellipse">
            <a:avLst/>
          </a:prstGeom>
          <a:solidFill>
            <a:srgbClr val="EB6834"/>
          </a:solidFill>
          <a:ln/>
        </p:spPr>
      </p:sp>
      <p:sp>
        <p:nvSpPr>
          <p:cNvPr id="9" name="Text 7"/>
          <p:cNvSpPr txBox="1"/>
          <p:nvPr/>
        </p:nvSpPr>
        <p:spPr>
          <a:xfrm>
            <a:off x="978408" y="2752344"/>
            <a:ext cx="2651760" cy="301752"/>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19 October</a:t>
            </a:r>
            <a:endParaRPr lang="en-US" sz="1300" dirty="0"/>
          </a:p>
        </p:txBody>
      </p:sp>
      <p:sp>
        <p:nvSpPr>
          <p:cNvPr id="10" name="Text 8"/>
          <p:cNvSpPr txBox="1"/>
          <p:nvPr/>
        </p:nvSpPr>
        <p:spPr>
          <a:xfrm>
            <a:off x="3721608" y="2752344"/>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Delft3D User Days abstract.</a:t>
            </a:r>
            <a:endParaRPr lang="en-US" sz="1250" dirty="0"/>
          </a:p>
        </p:txBody>
      </p:sp>
      <p:sp>
        <p:nvSpPr>
          <p:cNvPr id="11" name="Shape 9"/>
          <p:cNvSpPr/>
          <p:nvPr/>
        </p:nvSpPr>
        <p:spPr>
          <a:xfrm>
            <a:off x="612648" y="3630168"/>
            <a:ext cx="155448" cy="155448"/>
          </a:xfrm>
          <a:prstGeom prst="ellipse">
            <a:avLst/>
          </a:prstGeom>
          <a:solidFill>
            <a:srgbClr val="CADCFC"/>
          </a:solidFill>
          <a:ln/>
        </p:spPr>
      </p:sp>
      <p:sp>
        <p:nvSpPr>
          <p:cNvPr id="12" name="Text 10"/>
          <p:cNvSpPr txBox="1"/>
          <p:nvPr/>
        </p:nvSpPr>
        <p:spPr>
          <a:xfrm>
            <a:off x="978408" y="3538728"/>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Early October</a:t>
            </a:r>
            <a:endParaRPr lang="en-US" sz="1300" dirty="0"/>
          </a:p>
        </p:txBody>
      </p:sp>
      <p:sp>
        <p:nvSpPr>
          <p:cNvPr id="13" name="Text 11"/>
          <p:cNvSpPr txBox="1"/>
          <p:nvPr/>
        </p:nvSpPr>
        <p:spPr>
          <a:xfrm>
            <a:off x="3721608" y="3538728"/>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Merged bathymetry over the domain, gaps intersected with the coastline.</a:t>
            </a:r>
            <a:endParaRPr lang="en-US" sz="1250" dirty="0"/>
          </a:p>
        </p:txBody>
      </p:sp>
      <p:sp>
        <p:nvSpPr>
          <p:cNvPr id="14" name="Shape 12"/>
          <p:cNvSpPr/>
          <p:nvPr/>
        </p:nvSpPr>
        <p:spPr>
          <a:xfrm>
            <a:off x="612648" y="4416552"/>
            <a:ext cx="155448" cy="155448"/>
          </a:xfrm>
          <a:prstGeom prst="ellipse">
            <a:avLst/>
          </a:prstGeom>
          <a:solidFill>
            <a:srgbClr val="CADCFC"/>
          </a:solidFill>
          <a:ln/>
        </p:spPr>
      </p:sp>
      <p:sp>
        <p:nvSpPr>
          <p:cNvPr id="15" name="Text 13"/>
          <p:cNvSpPr txBox="1"/>
          <p:nvPr/>
        </p:nvSpPr>
        <p:spPr>
          <a:xfrm>
            <a:off x="978408" y="4325112"/>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6" name="Text 14"/>
          <p:cNvSpPr txBox="1"/>
          <p:nvPr/>
        </p:nvSpPr>
        <p:spPr>
          <a:xfrm>
            <a:off x="3721608" y="4325112"/>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Delft3D User Days at Deltares, with the four configuration questions.</a:t>
            </a:r>
            <a:endParaRPr lang="en-US" sz="1250" dirty="0"/>
          </a:p>
        </p:txBody>
      </p:sp>
      <p:sp>
        <p:nvSpPr>
          <p:cNvPr id="17" name="Shape 15"/>
          <p:cNvSpPr/>
          <p:nvPr/>
        </p:nvSpPr>
        <p:spPr>
          <a:xfrm>
            <a:off x="612648" y="5202936"/>
            <a:ext cx="155448" cy="155448"/>
          </a:xfrm>
          <a:prstGeom prst="ellipse">
            <a:avLst/>
          </a:prstGeom>
          <a:solidFill>
            <a:srgbClr val="CADCFC"/>
          </a:solidFill>
          <a:ln/>
        </p:spPr>
      </p:sp>
      <p:sp>
        <p:nvSpPr>
          <p:cNvPr id="18" name="Text 16"/>
          <p:cNvSpPr txBox="1"/>
          <p:nvPr/>
        </p:nvSpPr>
        <p:spPr>
          <a:xfrm>
            <a:off x="978408" y="5111496"/>
            <a:ext cx="2651760" cy="30175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Late October to November</a:t>
            </a:r>
            <a:endParaRPr lang="en-US" sz="1300" dirty="0"/>
          </a:p>
        </p:txBody>
      </p:sp>
      <p:sp>
        <p:nvSpPr>
          <p:cNvPr id="19" name="Text 17"/>
          <p:cNvSpPr txBox="1"/>
          <p:nvPr/>
        </p:nvSpPr>
        <p:spPr>
          <a:xfrm>
            <a:off x="3721608" y="5111496"/>
            <a:ext cx="7863840" cy="512064"/>
          </a:xfrm>
          <a:prstGeom prst="rect">
            <a:avLst/>
          </a:prstGeom>
          <a:noFill/>
          <a:ln/>
        </p:spPr>
        <p:txBody>
          <a:bodyPr wrap="square" lIns="0" tIns="0" rIns="0" bIns="0" rtlCol="0" anchor="ctr"/>
          <a:lstStyle/>
          <a:p>
            <a:pPr indent="0" marL="0">
              <a:lnSpc>
                <a:spcPts val="1600"/>
              </a:lnSpc>
              <a:buNone/>
            </a:pPr>
            <a:r>
              <a:rPr lang="en-US" sz="1250" dirty="0">
                <a:solidFill>
                  <a:srgbClr val="9FB3D1"/>
                </a:solidFill>
                <a:latin typeface="Calibri" pitchFamily="34" charset="0"/>
                <a:ea typeface="Calibri" pitchFamily="34" charset="-122"/>
                <a:cs typeface="Calibri" pitchFamily="34" charset="-120"/>
              </a:rPr>
              <a:t>Mesh, Riemann boundary verified by synthetic pulse, first runs.</a:t>
            </a:r>
            <a:endParaRPr lang="en-US" sz="1250" dirty="0"/>
          </a:p>
        </p:txBody>
      </p:sp>
      <p:sp>
        <p:nvSpPr>
          <p:cNvPr id="20" name="Text 18"/>
          <p:cNvSpPr txBox="1"/>
          <p:nvPr/>
        </p:nvSpPr>
        <p:spPr>
          <a:xfrm>
            <a:off x="566928" y="6144768"/>
            <a:ext cx="10058400" cy="274320"/>
          </a:xfrm>
          <a:prstGeom prst="rect">
            <a:avLst/>
          </a:prstGeom>
          <a:noFill/>
          <a:ln/>
        </p:spPr>
        <p:txBody>
          <a:bodyPr wrap="square" lIns="0" tIns="0" rIns="0" bIns="0" rtlCol="0" anchor="ctr"/>
          <a:lstStyle/>
          <a:p>
            <a:pPr indent="0" marL="0">
              <a:buNone/>
            </a:pPr>
            <a:r>
              <a:rPr lang="en-US" sz="1100" i="1" dirty="0">
                <a:solidFill>
                  <a:srgbClr val="7F93B3"/>
                </a:solidFill>
                <a:latin typeface="Calibri" pitchFamily="34" charset="0"/>
                <a:ea typeface="Calibri" pitchFamily="34" charset="-122"/>
                <a:cs typeface="Calibri" pitchFamily="34" charset="-120"/>
              </a:rPr>
              <a:t>Documents, figures and the reproducible analysis are in the project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model concept</dc:title>
  <dc:subject>PptxGenJS Presentation</dc:subject>
  <dc:creator>Cicero Martins Jr</dc:creator>
  <cp:lastModifiedBy>Cicero Martins Jr</cp:lastModifiedBy>
  <cp:revision>1</cp:revision>
  <dcterms:created xsi:type="dcterms:W3CDTF">2026-09-25T10:18:49Z</dcterms:created>
  <dcterms:modified xsi:type="dcterms:W3CDTF">2026-09-25T10:18:49Z</dcterms:modified>
</cp:coreProperties>
</file>