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deck covers the intended model and the matters to be settled before its construction.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The thesis contribution is framework reusability, and Valletta constitutes the harder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10 m data came from the group's own contribution to EMODnet. The public product gives the inlets one to three cells.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three-stage chain organises the study and determines the domain.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estimate was tested against its two plausible failures, the Helmholtz idealisation and excitation below resonance. The domain follows from this table. One correction is outstanding and it is not conservative: the coastline carries the St Elmo breakwater as a detached polygon of 378 m, so the mouth is not the single 400 m opening assumed, and a smaller section lengthens the period toward the observed band. Whether the group's harbour records carry energy near 17 minutes is the first outstanding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Domain B, roughly 86 by 66 km, east to 15 degrees, short of the escarpment. Stopping there is also what keeps sigma layers defensible.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question for Deltares concerns whether sigma holds from 15 m to 150 m, or whether a z-sigma hybrid is indicated. The wave nest was sized from the width of the harbour entrances and landed within a quarter of the resolution the group already uses on this coast, which is an independent check on the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here is claimed as a capability the group lacks. The relocatability requirement in the design report corresponds to the framework-transfer argument of the thesis, and the porting log is the evidence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question is a proposal rather than a decision. Whether the group has work of its own planned on the generation side, and how the effort would then be divided, should be put to them directly. The applied companion is a map of exposure by inlet and quay, and the renewal question, treated on the following slides, has independent standing under the Water Framework Directive.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framing is a response curve over the class of basin. The exact geometry of any proposed structure is neither needed nor used, and the exercise carries no assessment of the project now in consultation. Whether to pursue it at all is the first of the outstanding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sweep of six speeds by eight directions amounts to forty-eight runs, barotropic and uncoupled, and therefore inexpensive. The sensitivity of the preceding slide is a second evaluation of the same sweep over a modified mouth, which is why it is affordable within the period.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items determine what the study can be, and the remainder is resolvable by execution. One question is dropped from the six because the record now answers it in part: damage inside the port is documented for the wind-wave storms of February 2019 and February 2023, and what remains open is disruption attributable to long waves specifically, held by Transport Malta and the terminals.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Block B3 loses four working days to Delft and holds fifteen rather than nineteen. The EDITO deployment is conditional on the configuration proving stable in time, and it belongs to block B6 alongside the integration into the existing ocean.mt portal.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295C"/>
        </a:solidFill>
      </p:bgPr>
    </p:bg>
    <p:spTree>
      <p:nvGrpSpPr>
        <p:cNvPr id="1" name=""/>
        <p:cNvGrpSpPr/>
        <p:nvPr/>
      </p:nvGrpSpPr>
      <p:grpSpPr>
        <a:xfrm>
          <a:off x="0" y="0"/>
          <a:ext cx="0" cy="0"/>
          <a:chOff x="0" y="0"/>
          <a:chExt cx="0" cy="0"/>
        </a:xfrm>
      </p:grpSpPr>
      <p:sp>
        <p:nvSpPr>
          <p:cNvPr id="2" name="Shape 0"/>
          <p:cNvSpPr/>
          <p:nvPr/>
        </p:nvSpPr>
        <p:spPr>
          <a:xfrm>
            <a:off x="8503920" y="-1280160"/>
            <a:ext cx="5120640" cy="5120640"/>
          </a:xfrm>
          <a:prstGeom prst="ellipse">
            <a:avLst/>
          </a:prstGeom>
          <a:solidFill>
            <a:srgbClr val="065A82">
              <a:alpha val="45000"/>
            </a:srgbClr>
          </a:solidFill>
          <a:ln/>
        </p:spPr>
      </p:sp>
      <p:sp>
        <p:nvSpPr>
          <p:cNvPr id="3" name="Shape 1"/>
          <p:cNvSpPr/>
          <p:nvPr/>
        </p:nvSpPr>
        <p:spPr>
          <a:xfrm>
            <a:off x="10058400" y="3108960"/>
            <a:ext cx="2377440" cy="2377440"/>
          </a:xfrm>
          <a:prstGeom prst="ellipse">
            <a:avLst/>
          </a:prstGeom>
          <a:solidFill>
            <a:srgbClr val="EB6834">
              <a:alpha val="30000"/>
            </a:srgbClr>
          </a:solidFill>
          <a:ln/>
        </p:spPr>
      </p:sp>
      <p:sp>
        <p:nvSpPr>
          <p:cNvPr id="4" name="Text 2"/>
          <p:cNvSpPr txBox="1"/>
          <p:nvPr/>
        </p:nvSpPr>
        <p:spPr>
          <a:xfrm>
            <a:off x="566928" y="1371600"/>
            <a:ext cx="7680960" cy="274320"/>
          </a:xfrm>
          <a:prstGeom prst="rect">
            <a:avLst/>
          </a:prstGeom>
          <a:noFill/>
          <a:ln/>
        </p:spPr>
        <p:txBody>
          <a:bodyPr wrap="square" lIns="0" tIns="0" rIns="0" bIns="0" rtlCol="0" anchor="ctr"/>
          <a:lstStyle/>
          <a:p>
            <a:pPr indent="0" marL="0">
              <a:buNone/>
            </a:pPr>
            <a:r>
              <a:rPr lang="en-US" sz="1200" b="1" spc="200" kern="0" dirty="0">
                <a:solidFill>
                  <a:srgbClr val="EB6834"/>
                </a:solidFill>
                <a:latin typeface="Calibri" pitchFamily="34" charset="0"/>
                <a:ea typeface="Calibri" pitchFamily="34" charset="-122"/>
                <a:cs typeface="Calibri" pitchFamily="34" charset="-120"/>
              </a:rPr>
              <a:t>WETWISE · WP3 · Maltese pilot</a:t>
            </a:r>
            <a:endParaRPr lang="en-US" sz="1200" dirty="0"/>
          </a:p>
        </p:txBody>
      </p:sp>
      <p:sp>
        <p:nvSpPr>
          <p:cNvPr id="5" name="Text 3"/>
          <p:cNvSpPr txBox="1"/>
          <p:nvPr/>
        </p:nvSpPr>
        <p:spPr>
          <a:xfrm>
            <a:off x="566928" y="1783080"/>
            <a:ext cx="7863840" cy="86868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The Valletta harbour system</a:t>
            </a:r>
            <a:endParaRPr lang="en-US" sz="4000" dirty="0"/>
          </a:p>
        </p:txBody>
      </p:sp>
      <p:sp>
        <p:nvSpPr>
          <p:cNvPr id="6" name="Text 4"/>
          <p:cNvSpPr txBox="1"/>
          <p:nvPr/>
        </p:nvSpPr>
        <p:spPr>
          <a:xfrm>
            <a:off x="566928" y="2697480"/>
            <a:ext cx="7863840" cy="457200"/>
          </a:xfrm>
          <a:prstGeom prst="rect">
            <a:avLst/>
          </a:prstGeom>
          <a:noFill/>
          <a:ln/>
        </p:spPr>
        <p:txBody>
          <a:bodyPr wrap="square" lIns="0" tIns="0" rIns="0" bIns="0" rtlCol="0" anchor="ctr"/>
          <a:lstStyle/>
          <a:p>
            <a:pPr indent="0" marL="0">
              <a:buNone/>
            </a:pPr>
            <a:r>
              <a:rPr lang="en-US" sz="1900" dirty="0">
                <a:solidFill>
                  <a:srgbClr val="CADCFC"/>
                </a:solidFill>
                <a:latin typeface="Calibri" pitchFamily="34" charset="0"/>
                <a:ea typeface="Calibri" pitchFamily="34" charset="-122"/>
                <a:cs typeface="Calibri" pitchFamily="34" charset="-120"/>
              </a:rPr>
              <a:t>Model concept, and the questions to settle</a:t>
            </a:r>
            <a:endParaRPr lang="en-US" sz="1900" dirty="0"/>
          </a:p>
        </p:txBody>
      </p:sp>
      <p:sp>
        <p:nvSpPr>
          <p:cNvPr id="7" name="Text 5"/>
          <p:cNvSpPr txBox="1"/>
          <p:nvPr/>
        </p:nvSpPr>
        <p:spPr>
          <a:xfrm>
            <a:off x="566928" y="3977640"/>
            <a:ext cx="7863840"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Cicero Martins Jr</a:t>
            </a:r>
            <a:pPr indent="0" marL="0">
              <a:buNone/>
            </a:pPr>
            <a:r>
              <a:rPr lang="en-US" sz="1300" dirty="0">
                <a:solidFill>
                  <a:srgbClr val="9FB3D1"/>
                </a:solidFill>
                <a:latin typeface="Calibri" pitchFamily="34" charset="0"/>
                <a:ea typeface="Calibri" pitchFamily="34" charset="-122"/>
                <a:cs typeface="Calibri" pitchFamily="34" charset="-120"/>
              </a:rPr>
              <a:t>   Università degli Studi di Palermo</a:t>
            </a:r>
            <a:endParaRPr lang="en-US" sz="1300" dirty="0"/>
          </a:p>
        </p:txBody>
      </p:sp>
      <p:sp>
        <p:nvSpPr>
          <p:cNvPr id="8" name="Text 6"/>
          <p:cNvSpPr txBox="1"/>
          <p:nvPr/>
        </p:nvSpPr>
        <p:spPr>
          <a:xfrm>
            <a:off x="566928" y="4279392"/>
            <a:ext cx="7863840" cy="274320"/>
          </a:xfrm>
          <a:prstGeom prst="rect">
            <a:avLst/>
          </a:prstGeom>
          <a:noFill/>
          <a:ln/>
        </p:spPr>
        <p:txBody>
          <a:bodyPr wrap="square" lIns="0" tIns="0" rIns="0" bIns="0" rtlCol="0" anchor="ctr"/>
          <a:lstStyle/>
          <a:p>
            <a:pPr indent="0" marL="0">
              <a:buNone/>
            </a:pPr>
            <a:r>
              <a:rPr lang="en-US" sz="1200" dirty="0">
                <a:solidFill>
                  <a:srgbClr val="9FB3D1"/>
                </a:solidFill>
                <a:latin typeface="Calibri" pitchFamily="34" charset="0"/>
                <a:ea typeface="Calibri" pitchFamily="34" charset="-122"/>
                <a:cs typeface="Calibri" pitchFamily="34" charset="-120"/>
              </a:rPr>
              <a:t>Research period at the Oceanography Malta Research Group, University of Malta</a:t>
            </a:r>
            <a:endParaRPr lang="en-US" sz="1200" dirty="0"/>
          </a:p>
        </p:txBody>
      </p:sp>
      <p:sp>
        <p:nvSpPr>
          <p:cNvPr id="9" name="Text 7"/>
          <p:cNvSpPr txBox="1"/>
          <p:nvPr/>
        </p:nvSpPr>
        <p:spPr>
          <a:xfrm>
            <a:off x="566928" y="4590288"/>
            <a:ext cx="7863840" cy="274320"/>
          </a:xfrm>
          <a:prstGeom prst="rect">
            <a:avLst/>
          </a:prstGeom>
          <a:noFill/>
          <a:ln/>
        </p:spPr>
        <p:txBody>
          <a:bodyPr wrap="square" lIns="0" tIns="0" rIns="0" bIns="0" rtlCol="0" anchor="ctr"/>
          <a:lstStyle/>
          <a:p>
            <a:pPr indent="0" marL="0">
              <a:buNone/>
            </a:pPr>
            <a:r>
              <a:rPr lang="en-US" sz="1200" dirty="0">
                <a:solidFill>
                  <a:srgbClr val="9FB3D1"/>
                </a:solidFill>
                <a:latin typeface="Calibri" pitchFamily="34" charset="0"/>
                <a:ea typeface="Calibri" pitchFamily="34" charset="-122"/>
                <a:cs typeface="Calibri" pitchFamily="34" charset="-120"/>
              </a:rPr>
              <a:t>25 September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indent="0" marL="0">
              <a:buNone/>
            </a:pPr>
            <a:r>
              <a:rPr lang="en-US" sz="1200" b="1" spc="200" kern="0" dirty="0">
                <a:solidFill>
                  <a:srgbClr val="EB6834"/>
                </a:solidFill>
                <a:latin typeface="Calibri" pitchFamily="34" charset="0"/>
                <a:ea typeface="Calibri" pitchFamily="34" charset="-122"/>
                <a:cs typeface="Calibri" pitchFamily="34" charset="-120"/>
              </a:rPr>
              <a:t>ORIGIN</a:t>
            </a:r>
            <a:endParaRPr lang="en-US" sz="1200" dirty="0"/>
          </a:p>
        </p:txBody>
      </p:sp>
      <p:sp>
        <p:nvSpPr>
          <p:cNvPr id="3" name="Text 1"/>
          <p:cNvSpPr txBox="1"/>
          <p:nvPr/>
        </p:nvSpPr>
        <p:spPr>
          <a:xfrm>
            <a:off x="566928" y="749808"/>
            <a:ext cx="10424160" cy="658368"/>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A framework, carried across archetype</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indent="0" marL="0">
              <a:buNone/>
            </a:pPr>
            <a:r>
              <a:rPr lang="en-US" sz="1400" dirty="0">
                <a:solidFill>
                  <a:srgbClr val="5F6368"/>
                </a:solidFill>
                <a:latin typeface="Calibri" pitchFamily="34" charset="0"/>
                <a:ea typeface="Calibri" pitchFamily="34" charset="-122"/>
                <a:cs typeface="Calibri" pitchFamily="34" charset="-120"/>
              </a:rPr>
              <a:t>The solver and the assembly are unchanged, while the governing physics differs.</a:t>
            </a:r>
            <a:endParaRPr lang="en-US" sz="1400" dirty="0"/>
          </a:p>
        </p:txBody>
      </p:sp>
      <p:sp>
        <p:nvSpPr>
          <p:cNvPr id="5" name="Text 3"/>
          <p:cNvSpPr txBox="1"/>
          <p:nvPr/>
        </p:nvSpPr>
        <p:spPr>
          <a:xfrm>
            <a:off x="566928" y="2057400"/>
            <a:ext cx="5212080" cy="2743200"/>
          </a:xfrm>
          <a:prstGeom prst="rect">
            <a:avLst/>
          </a:prstGeom>
          <a:noFill/>
          <a:ln/>
        </p:spPr>
        <p:txBody>
          <a:bodyPr wrap="square" lIns="0" tIns="0" rIns="0" bIns="0" rtlCol="0" anchor="ctr"/>
          <a:lstStyle/>
          <a:p>
            <a:pPr indent="0" marL="0">
              <a:lnSpc>
                <a:spcPts val="2200"/>
              </a:lnSpc>
              <a:spcAft>
                <a:spcPts val="1000"/>
              </a:spcAft>
              <a:buNone/>
            </a:pPr>
            <a:r>
              <a:rPr lang="en-US" sz="1450" dirty="0">
                <a:solidFill>
                  <a:srgbClr val="1A1A1A"/>
                </a:solidFill>
                <a:latin typeface="Calibri" pitchFamily="34" charset="0"/>
                <a:ea typeface="Calibri" pitchFamily="34" charset="-122"/>
                <a:cs typeface="Calibri" pitchFamily="34" charset="-120"/>
              </a:rPr>
              <a:t>The framework originates in the Stagnone di Marsala digital twin, a coupled Delft3D FM and SWAN model of a shallow vegetated lagoon.</a:t>
            </a:r>
            <a:endParaRPr lang="en-US" sz="1450" dirty="0"/>
          </a:p>
          <a:p>
            <a:pPr indent="0" marL="0">
              <a:lnSpc>
                <a:spcPts val="2200"/>
              </a:lnSpc>
              <a:spcAft>
                <a:spcPts val="1000"/>
              </a:spcAft>
              <a:buNone/>
            </a:pPr>
            <a:r>
              <a:rPr lang="en-US" sz="1450" dirty="0">
                <a:solidFill>
                  <a:srgbClr val="1A1A1A"/>
                </a:solidFill>
                <a:latin typeface="Calibri" pitchFamily="34" charset="0"/>
                <a:ea typeface="Calibri" pitchFamily="34" charset="-122"/>
                <a:cs typeface="Calibri" pitchFamily="34" charset="-120"/>
              </a:rPr>
              <a:t>A transfer to a second lagoon would remain within a single archetype and would establish little. A transfer to a deep engineered harbour establishes whether the pipeline is reusable or was fitted to one site.</a:t>
            </a:r>
            <a:endParaRPr lang="en-US" sz="1450" dirty="0"/>
          </a:p>
          <a:p>
            <a:pPr indent="0" marL="0">
              <a:lnSpc>
                <a:spcPts val="2200"/>
              </a:lnSpc>
              <a:buNone/>
            </a:pPr>
            <a:r>
              <a:rPr lang="en-US" sz="1450" dirty="0">
                <a:solidFill>
                  <a:srgbClr val="1A1A1A"/>
                </a:solidFill>
                <a:latin typeface="Calibri" pitchFamily="34" charset="0"/>
                <a:ea typeface="Calibri" pitchFamily="34" charset="-122"/>
                <a:cs typeface="Calibri" pitchFamily="34" charset="-120"/>
              </a:rPr>
              <a:t>The stages that transfer constitute the reuse. Those that do not constitute a finding about where the generality of the framework ends, and they are recorded as such.</a:t>
            </a:r>
            <a:endParaRPr lang="en-US" sz="14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263640" y="2057400"/>
          <a:ext cx="5358384" cy="914400"/>
        </p:xfrm>
        <a:graphic>
          <a:graphicData uri="http://schemas.openxmlformats.org/drawingml/2006/table">
            <a:tbl>
              <a:tblPr/>
              <a:tblGrid>
                <a:gridCol w="1700784"/>
                <a:gridCol w="1828800"/>
                <a:gridCol w="1828800"/>
              </a:tblGrid>
              <a:tr h="420624">
                <a:tc>
                  <a:txBody>
                    <a:bodyPr/>
                    <a:lstStyle/>
                    <a:p>
                      <a:pPr indent="0" marL="0">
                        <a:buNone/>
                      </a:pPr>
                      <a:endParaRPr lang="en-US" sz="1250" dirty="0">
                        <a:latin typeface="Calibri" charset="0"/>
                        <a:ea typeface="Calibri" charset="0"/>
                        <a:cs typeface="Calibri" charset="0"/>
                      </a:endParaRPr>
                    </a:p>
                  </a:txBody>
                  <a:tcPr marL="91440" marR="91440" marT="45720" marB="45720"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065A82"/>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Stagnone</a:t>
                      </a:r>
                      <a:endParaRPr lang="en-US" sz="1250" dirty="0">
                        <a:latin typeface="Calibri" charset="0"/>
                        <a:ea typeface="Calibri" charset="0"/>
                        <a:cs typeface="Calibri" charset="0"/>
                      </a:endParaRPr>
                    </a:p>
                  </a:txBody>
                  <a:tcPr marL="91440" marR="91440" marT="45720" marB="45720"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065A82"/>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Valletta</a:t>
                      </a:r>
                      <a:endParaRPr lang="en-US" sz="1250" dirty="0">
                        <a:latin typeface="Calibri" charset="0"/>
                        <a:ea typeface="Calibri" charset="0"/>
                        <a:cs typeface="Calibri" charset="0"/>
                      </a:endParaRPr>
                    </a:p>
                  </a:txBody>
                  <a:tcPr marL="91440" marR="91440" marT="45720" marB="45720"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065A82"/>
                    </a:solidFill>
                  </a:tcPr>
                </a:tc>
              </a:tr>
              <a:tr h="420624">
                <a:tc>
                  <a:txBody>
                    <a:bodyPr/>
                    <a:lstStyle/>
                    <a:p>
                      <a:pPr indent="0" marL="0">
                        <a:buNone/>
                      </a:pPr>
                      <a:r>
                        <a:rPr lang="en-US" sz="1250" b="1" dirty="0">
                          <a:solidFill>
                            <a:srgbClr val="1A1A1A"/>
                          </a:solidFill>
                          <a:latin typeface="Calibri" pitchFamily="34" charset="0"/>
                          <a:ea typeface="Calibri" pitchFamily="34" charset="-122"/>
                          <a:cs typeface="Calibri" pitchFamily="34" charset="-120"/>
                        </a:rPr>
                        <a:t>Depth</a:t>
                      </a:r>
                      <a:endParaRPr lang="en-US" sz="1250" dirty="0">
                        <a:latin typeface="Calibri" charset="0"/>
                        <a:ea typeface="Calibri" charset="0"/>
                        <a:cs typeface="Calibri" charset="0"/>
                      </a:endParaRPr>
                    </a:p>
                  </a:txBody>
                  <a:tcPr marL="91440" marR="91440" marT="45720" marB="45720"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Calibri" pitchFamily="34" charset="0"/>
                          <a:ea typeface="Calibri" pitchFamily="34" charset="-122"/>
                          <a:cs typeface="Calibri" pitchFamily="34" charset="-120"/>
                        </a:rPr>
                        <a:t>sub-metre</a:t>
                      </a:r>
                      <a:endParaRPr lang="en-US" sz="1250" dirty="0">
                        <a:latin typeface="Calibri" charset="0"/>
                        <a:ea typeface="Calibri" charset="0"/>
                        <a:cs typeface="Calibri" charset="0"/>
                      </a:endParaRPr>
                    </a:p>
                  </a:txBody>
                  <a:tcPr marL="91440" marR="91440" marT="45720" marB="45720"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Calibri" pitchFamily="34" charset="0"/>
                          <a:ea typeface="Calibri" pitchFamily="34" charset="-122"/>
                          <a:cs typeface="Calibri" pitchFamily="34" charset="-120"/>
                        </a:rPr>
                        <a:t>12 to 20 m</a:t>
                      </a:r>
                      <a:endParaRPr lang="en-US" sz="1250" dirty="0">
                        <a:latin typeface="Calibri" charset="0"/>
                        <a:ea typeface="Calibri" charset="0"/>
                        <a:cs typeface="Calibri" charset="0"/>
                      </a:endParaRPr>
                    </a:p>
                  </a:txBody>
                  <a:tcPr marL="91440" marR="91440" marT="45720" marB="45720"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FFFFFF"/>
                    </a:solidFill>
                  </a:tcPr>
                </a:tc>
              </a:tr>
              <a:tr h="420624">
                <a:tc>
                  <a:txBody>
                    <a:bodyPr/>
                    <a:lstStyle/>
                    <a:p>
                      <a:pPr indent="0" marL="0">
                        <a:buNone/>
                      </a:pPr>
                      <a:r>
                        <a:rPr lang="en-US" sz="1250" b="1" dirty="0">
                          <a:solidFill>
                            <a:srgbClr val="1A1A1A"/>
                          </a:solidFill>
                          <a:latin typeface="Calibri" pitchFamily="34" charset="0"/>
                          <a:ea typeface="Calibri" pitchFamily="34" charset="-122"/>
                          <a:cs typeface="Calibri" pitchFamily="34" charset="-120"/>
                        </a:rPr>
                        <a:t>Bed</a:t>
                      </a:r>
                      <a:endParaRPr lang="en-US" sz="1250" dirty="0">
                        <a:latin typeface="Calibri" charset="0"/>
                        <a:ea typeface="Calibri" charset="0"/>
                        <a:cs typeface="Calibri" charset="0"/>
                      </a:endParaRPr>
                    </a:p>
                  </a:txBody>
                  <a:tcPr marL="91440" marR="91440" marT="45720" marB="45720"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EEF3F6"/>
                    </a:solidFill>
                  </a:tcPr>
                </a:tc>
                <a:tc>
                  <a:txBody>
                    <a:bodyPr/>
                    <a:lstStyle/>
                    <a:p>
                      <a:pPr indent="0" marL="0">
                        <a:buNone/>
                      </a:pPr>
                      <a:r>
                        <a:rPr lang="en-US" sz="1250" dirty="0">
                          <a:solidFill>
                            <a:srgbClr val="1A1A1A"/>
                          </a:solidFill>
                          <a:latin typeface="Calibri" pitchFamily="34" charset="0"/>
                          <a:ea typeface="Calibri" pitchFamily="34" charset="-122"/>
                          <a:cs typeface="Calibri" pitchFamily="34" charset="-120"/>
                        </a:rPr>
                        <a:t>seagrass canopy</a:t>
                      </a:r>
                      <a:endParaRPr lang="en-US" sz="1250" dirty="0">
                        <a:latin typeface="Calibri" charset="0"/>
                        <a:ea typeface="Calibri" charset="0"/>
                        <a:cs typeface="Calibri" charset="0"/>
                      </a:endParaRPr>
                    </a:p>
                  </a:txBody>
                  <a:tcPr marL="91440" marR="91440" marT="45720" marB="45720"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EEF3F6"/>
                    </a:solidFill>
                  </a:tcPr>
                </a:tc>
                <a:tc>
                  <a:txBody>
                    <a:bodyPr/>
                    <a:lstStyle/>
                    <a:p>
                      <a:pPr indent="0" marL="0">
                        <a:buNone/>
                      </a:pPr>
                      <a:r>
                        <a:rPr lang="en-US" sz="1250" dirty="0">
                          <a:solidFill>
                            <a:srgbClr val="1A1A1A"/>
                          </a:solidFill>
                          <a:latin typeface="Calibri" pitchFamily="34" charset="0"/>
                          <a:ea typeface="Calibri" pitchFamily="34" charset="-122"/>
                          <a:cs typeface="Calibri" pitchFamily="34" charset="-120"/>
                        </a:rPr>
                        <a:t>engineered, quay walls</a:t>
                      </a:r>
                      <a:endParaRPr lang="en-US" sz="1250" dirty="0">
                        <a:latin typeface="Calibri" charset="0"/>
                        <a:ea typeface="Calibri" charset="0"/>
                        <a:cs typeface="Calibri" charset="0"/>
                      </a:endParaRPr>
                    </a:p>
                  </a:txBody>
                  <a:tcPr marL="91440" marR="91440" marT="45720" marB="45720"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EEF3F6"/>
                    </a:solidFill>
                  </a:tcPr>
                </a:tc>
              </a:tr>
              <a:tr h="420624">
                <a:tc>
                  <a:txBody>
                    <a:bodyPr/>
                    <a:lstStyle/>
                    <a:p>
                      <a:pPr indent="0" marL="0">
                        <a:buNone/>
                      </a:pPr>
                      <a:r>
                        <a:rPr lang="en-US" sz="1250" b="1" dirty="0">
                          <a:solidFill>
                            <a:srgbClr val="1A1A1A"/>
                          </a:solidFill>
                          <a:latin typeface="Calibri" pitchFamily="34" charset="0"/>
                          <a:ea typeface="Calibri" pitchFamily="34" charset="-122"/>
                          <a:cs typeface="Calibri" pitchFamily="34" charset="-120"/>
                        </a:rPr>
                        <a:t>Boundary signal</a:t>
                      </a:r>
                      <a:endParaRPr lang="en-US" sz="1250" dirty="0">
                        <a:latin typeface="Calibri" charset="0"/>
                        <a:ea typeface="Calibri" charset="0"/>
                        <a:cs typeface="Calibri" charset="0"/>
                      </a:endParaRPr>
                    </a:p>
                  </a:txBody>
                  <a:tcPr marL="91440" marR="91440" marT="45720" marB="45720"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Calibri" pitchFamily="34" charset="0"/>
                          <a:ea typeface="Calibri" pitchFamily="34" charset="-122"/>
                          <a:cs typeface="Calibri" pitchFamily="34" charset="-120"/>
                        </a:rPr>
                        <a:t>tide</a:t>
                      </a:r>
                      <a:endParaRPr lang="en-US" sz="1250" dirty="0">
                        <a:latin typeface="Calibri" charset="0"/>
                        <a:ea typeface="Calibri" charset="0"/>
                        <a:cs typeface="Calibri" charset="0"/>
                      </a:endParaRPr>
                    </a:p>
                  </a:txBody>
                  <a:tcPr marL="91440" marR="91440" marT="45720" marB="45720"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Calibri" pitchFamily="34" charset="0"/>
                          <a:ea typeface="Calibri" pitchFamily="34" charset="-122"/>
                          <a:cs typeface="Calibri" pitchFamily="34" charset="-120"/>
                        </a:rPr>
                        <a:t>long wave, atmospheric</a:t>
                      </a:r>
                      <a:endParaRPr lang="en-US" sz="1250" dirty="0">
                        <a:latin typeface="Calibri" charset="0"/>
                        <a:ea typeface="Calibri" charset="0"/>
                        <a:cs typeface="Calibri" charset="0"/>
                      </a:endParaRPr>
                    </a:p>
                  </a:txBody>
                  <a:tcPr marL="91440" marR="91440" marT="45720" marB="45720"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FFFFFF"/>
                    </a:solidFill>
                  </a:tcPr>
                </a:tc>
              </a:tr>
              <a:tr h="420624">
                <a:tc>
                  <a:txBody>
                    <a:bodyPr/>
                    <a:lstStyle/>
                    <a:p>
                      <a:pPr indent="0" marL="0">
                        <a:buNone/>
                      </a:pPr>
                      <a:r>
                        <a:rPr lang="en-US" sz="1250" b="1" dirty="0">
                          <a:solidFill>
                            <a:srgbClr val="1A1A1A"/>
                          </a:solidFill>
                          <a:latin typeface="Calibri" pitchFamily="34" charset="0"/>
                          <a:ea typeface="Calibri" pitchFamily="34" charset="-122"/>
                          <a:cs typeface="Calibri" pitchFamily="34" charset="-120"/>
                        </a:rPr>
                        <a:t>Circulation driver</a:t>
                      </a:r>
                      <a:endParaRPr lang="en-US" sz="1250" dirty="0">
                        <a:latin typeface="Calibri" charset="0"/>
                        <a:ea typeface="Calibri" charset="0"/>
                        <a:cs typeface="Calibri" charset="0"/>
                      </a:endParaRPr>
                    </a:p>
                  </a:txBody>
                  <a:tcPr marL="91440" marR="91440" marT="45720" marB="45720"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EEF3F6"/>
                    </a:solidFill>
                  </a:tcPr>
                </a:tc>
                <a:tc>
                  <a:txBody>
                    <a:bodyPr/>
                    <a:lstStyle/>
                    <a:p>
                      <a:pPr indent="0" marL="0">
                        <a:buNone/>
                      </a:pPr>
                      <a:r>
                        <a:rPr lang="en-US" sz="1250" dirty="0">
                          <a:solidFill>
                            <a:srgbClr val="1A1A1A"/>
                          </a:solidFill>
                          <a:latin typeface="Calibri" pitchFamily="34" charset="0"/>
                          <a:ea typeface="Calibri" pitchFamily="34" charset="-122"/>
                          <a:cs typeface="Calibri" pitchFamily="34" charset="-120"/>
                        </a:rPr>
                        <a:t>wind</a:t>
                      </a:r>
                      <a:endParaRPr lang="en-US" sz="1250" dirty="0">
                        <a:latin typeface="Calibri" charset="0"/>
                        <a:ea typeface="Calibri" charset="0"/>
                        <a:cs typeface="Calibri" charset="0"/>
                      </a:endParaRPr>
                    </a:p>
                  </a:txBody>
                  <a:tcPr marL="91440" marR="91440" marT="45720" marB="45720"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EEF3F6"/>
                    </a:solidFill>
                  </a:tcPr>
                </a:tc>
                <a:tc>
                  <a:txBody>
                    <a:bodyPr/>
                    <a:lstStyle/>
                    <a:p>
                      <a:pPr indent="0" marL="0">
                        <a:buNone/>
                      </a:pPr>
                      <a:r>
                        <a:rPr lang="en-US" sz="1250" dirty="0">
                          <a:solidFill>
                            <a:srgbClr val="1A1A1A"/>
                          </a:solidFill>
                          <a:latin typeface="Calibri" pitchFamily="34" charset="0"/>
                          <a:ea typeface="Calibri" pitchFamily="34" charset="-122"/>
                          <a:cs typeface="Calibri" pitchFamily="34" charset="-120"/>
                        </a:rPr>
                        <a:t>the same long wave</a:t>
                      </a:r>
                      <a:endParaRPr lang="en-US" sz="1250" dirty="0">
                        <a:latin typeface="Calibri" charset="0"/>
                        <a:ea typeface="Calibri" charset="0"/>
                        <a:cs typeface="Calibri" charset="0"/>
                      </a:endParaRPr>
                    </a:p>
                  </a:txBody>
                  <a:tcPr marL="91440" marR="91440" marT="45720" marB="45720"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EEF3F6"/>
                    </a:solidFill>
                  </a:tcPr>
                </a:tc>
              </a:tr>
            </a:tbl>
          </a:graphicData>
        </a:graphic>
      </p:graphicFrame>
      <p:sp>
        <p:nvSpPr>
          <p:cNvPr id="7" name="Text 4"/>
          <p:cNvSpPr txBox="1"/>
          <p:nvPr/>
        </p:nvSpPr>
        <p:spPr>
          <a:xfrm>
            <a:off x="566928" y="6053328"/>
            <a:ext cx="11055096" cy="310896"/>
          </a:xfrm>
          <a:prstGeom prst="rect">
            <a:avLst/>
          </a:prstGeom>
          <a:noFill/>
          <a:ln/>
        </p:spPr>
        <p:txBody>
          <a:bodyPr wrap="square" lIns="0" tIns="0" rIns="0" bIns="0" rtlCol="0" anchor="ctr"/>
          <a:lstStyle/>
          <a:p>
            <a:pPr indent="0" marL="0">
              <a:buNone/>
            </a:pPr>
            <a:r>
              <a:rPr lang="en-US" sz="1050" i="1" dirty="0">
                <a:solidFill>
                  <a:srgbClr val="5F6368"/>
                </a:solidFill>
                <a:latin typeface="Calibri" pitchFamily="34" charset="0"/>
                <a:ea typeface="Calibri" pitchFamily="34" charset="-122"/>
                <a:cs typeface="Calibri" pitchFamily="34" charset="-120"/>
              </a:rPr>
              <a:t>The transfer effort is logged stage by stage as transferred, re-parameterised or not applicable. That log constitutes the methodological result.</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indent="0" marL="0">
              <a:buNone/>
            </a:pPr>
            <a:r>
              <a:rPr lang="en-US" sz="1200" b="1" spc="200" kern="0" dirty="0">
                <a:solidFill>
                  <a:srgbClr val="EB6834"/>
                </a:solidFill>
                <a:latin typeface="Calibri" pitchFamily="34" charset="0"/>
                <a:ea typeface="Calibri" pitchFamily="34" charset="-122"/>
                <a:cs typeface="Calibri" pitchFamily="34" charset="-120"/>
              </a:rPr>
              <a:t>AVAILABLE DATA</a:t>
            </a:r>
            <a:endParaRPr lang="en-US" sz="1200" dirty="0"/>
          </a:p>
        </p:txBody>
      </p:sp>
      <p:sp>
        <p:nvSpPr>
          <p:cNvPr id="3" name="Text 1"/>
          <p:cNvSpPr txBox="1"/>
          <p:nvPr/>
        </p:nvSpPr>
        <p:spPr>
          <a:xfrm>
            <a:off x="566928" y="749808"/>
            <a:ext cx="10424160" cy="658368"/>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Bathymetry and coastline, co-registered</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indent="0" marL="0">
              <a:buNone/>
            </a:pPr>
            <a:r>
              <a:rPr lang="en-US" sz="1400" dirty="0">
                <a:solidFill>
                  <a:srgbClr val="5F6368"/>
                </a:solidFill>
                <a:latin typeface="Calibri" pitchFamily="34" charset="0"/>
                <a:ea typeface="Calibri" pitchFamily="34" charset="-122"/>
                <a:cs typeface="Calibri" pitchFamily="34" charset="-120"/>
              </a:rPr>
              <a:t>Supplied by the host group on 22 and 23 September.</a:t>
            </a:r>
            <a:endParaRPr lang="en-US" sz="1400" dirty="0"/>
          </a:p>
        </p:txBody>
      </p:sp>
      <p:sp>
        <p:nvSpPr>
          <p:cNvPr id="5" name="Text 3"/>
          <p:cNvSpPr txBox="1"/>
          <p:nvPr/>
        </p:nvSpPr>
        <p:spPr>
          <a:xfrm>
            <a:off x="566928" y="2057400"/>
            <a:ext cx="2286000" cy="475488"/>
          </a:xfrm>
          <a:prstGeom prst="rect">
            <a:avLst/>
          </a:prstGeom>
          <a:noFill/>
          <a:ln/>
        </p:spPr>
        <p:txBody>
          <a:bodyPr wrap="square" lIns="0" tIns="0" rIns="0" bIns="0" rtlCol="0" anchor="ctr"/>
          <a:lstStyle/>
          <a:p>
            <a:pPr indent="0" marL="0">
              <a:buNone/>
            </a:pPr>
            <a:r>
              <a:rPr lang="en-US" sz="2700" b="1" dirty="0">
                <a:solidFill>
                  <a:srgbClr val="065A82"/>
                </a:solidFill>
                <a:latin typeface="Cambria" pitchFamily="34" charset="0"/>
                <a:ea typeface="Cambria" pitchFamily="34" charset="-122"/>
                <a:cs typeface="Cambria" pitchFamily="34" charset="-120"/>
              </a:rPr>
              <a:t>10 m</a:t>
            </a:r>
            <a:endParaRPr lang="en-US" sz="2700" dirty="0"/>
          </a:p>
        </p:txBody>
      </p:sp>
      <p:sp>
        <p:nvSpPr>
          <p:cNvPr id="6" name="Text 4"/>
          <p:cNvSpPr txBox="1"/>
          <p:nvPr/>
        </p:nvSpPr>
        <p:spPr>
          <a:xfrm>
            <a:off x="566928" y="2532888"/>
            <a:ext cx="3108960" cy="548640"/>
          </a:xfrm>
          <a:prstGeom prst="rect">
            <a:avLst/>
          </a:prstGeom>
          <a:noFill/>
          <a:ln/>
        </p:spPr>
        <p:txBody>
          <a:bodyPr wrap="square" lIns="0" tIns="0" rIns="0" bIns="0" rtlCol="0" anchor="ctr"/>
          <a:lstStyle/>
          <a:p>
            <a:pPr indent="0" marL="0">
              <a:buNone/>
            </a:pPr>
            <a:r>
              <a:rPr lang="en-US" sz="1200" dirty="0">
                <a:solidFill>
                  <a:srgbClr val="5F6368"/>
                </a:solidFill>
                <a:latin typeface="Calibri" pitchFamily="34" charset="0"/>
                <a:ea typeface="Calibri" pitchFamily="34" charset="-122"/>
                <a:cs typeface="Calibri" pitchFamily="34" charset="-120"/>
              </a:rPr>
              <a:t>merged LiDAR and sonar,</a:t>
            </a:r>
            <a:endParaRPr lang="en-US" sz="1200" dirty="0"/>
          </a:p>
          <a:p>
            <a:pPr indent="0" marL="0">
              <a:buNone/>
            </a:pPr>
            <a:r>
              <a:rPr lang="en-US" sz="1200" dirty="0">
                <a:solidFill>
                  <a:srgbClr val="5F6368"/>
                </a:solidFill>
                <a:latin typeface="Calibri" pitchFamily="34" charset="0"/>
                <a:ea typeface="Calibri" pitchFamily="34" charset="-122"/>
                <a:cs typeface="Calibri" pitchFamily="34" charset="-120"/>
              </a:rPr>
              <a:t>CDI 4036_MEPA</a:t>
            </a:r>
            <a:endParaRPr lang="en-US" sz="1200" dirty="0"/>
          </a:p>
        </p:txBody>
      </p:sp>
      <p:sp>
        <p:nvSpPr>
          <p:cNvPr id="7" name="Text 5"/>
          <p:cNvSpPr txBox="1"/>
          <p:nvPr/>
        </p:nvSpPr>
        <p:spPr>
          <a:xfrm>
            <a:off x="566928" y="3227832"/>
            <a:ext cx="2286000" cy="475488"/>
          </a:xfrm>
          <a:prstGeom prst="rect">
            <a:avLst/>
          </a:prstGeom>
          <a:noFill/>
          <a:ln/>
        </p:spPr>
        <p:txBody>
          <a:bodyPr wrap="square" lIns="0" tIns="0" rIns="0" bIns="0" rtlCol="0" anchor="ctr"/>
          <a:lstStyle/>
          <a:p>
            <a:pPr indent="0" marL="0">
              <a:buNone/>
            </a:pPr>
            <a:r>
              <a:rPr lang="en-US" sz="2700" b="1" dirty="0">
                <a:solidFill>
                  <a:srgbClr val="EB6834"/>
                </a:solidFill>
                <a:latin typeface="Cambria" pitchFamily="34" charset="0"/>
                <a:ea typeface="Cambria" pitchFamily="34" charset="-122"/>
                <a:cs typeface="Cambria" pitchFamily="34" charset="-120"/>
              </a:rPr>
              <a:t>174 to 256×</a:t>
            </a:r>
            <a:endParaRPr lang="en-US" sz="2700" dirty="0"/>
          </a:p>
        </p:txBody>
      </p:sp>
      <p:sp>
        <p:nvSpPr>
          <p:cNvPr id="8" name="Text 6"/>
          <p:cNvSpPr txBox="1"/>
          <p:nvPr/>
        </p:nvSpPr>
        <p:spPr>
          <a:xfrm>
            <a:off x="566928" y="3703320"/>
            <a:ext cx="3108960" cy="548640"/>
          </a:xfrm>
          <a:prstGeom prst="rect">
            <a:avLst/>
          </a:prstGeom>
          <a:noFill/>
          <a:ln/>
        </p:spPr>
        <p:txBody>
          <a:bodyPr wrap="square" lIns="0" tIns="0" rIns="0" bIns="0" rtlCol="0" anchor="ctr"/>
          <a:lstStyle/>
          <a:p>
            <a:pPr indent="0" marL="0">
              <a:buNone/>
            </a:pPr>
            <a:r>
              <a:rPr lang="en-US" sz="1200" dirty="0">
                <a:solidFill>
                  <a:srgbClr val="5F6368"/>
                </a:solidFill>
                <a:latin typeface="Calibri" pitchFamily="34" charset="0"/>
                <a:ea typeface="Calibri" pitchFamily="34" charset="-122"/>
                <a:cs typeface="Calibri" pitchFamily="34" charset="-120"/>
              </a:rPr>
              <a:t>more resolved water cells</a:t>
            </a:r>
            <a:endParaRPr lang="en-US" sz="1200" dirty="0"/>
          </a:p>
          <a:p>
            <a:pPr indent="0" marL="0">
              <a:buNone/>
            </a:pPr>
            <a:r>
              <a:rPr lang="en-US" sz="1200" dirty="0">
                <a:solidFill>
                  <a:srgbClr val="5F6368"/>
                </a:solidFill>
                <a:latin typeface="Calibri" pitchFamily="34" charset="0"/>
                <a:ea typeface="Calibri" pitchFamily="34" charset="-122"/>
                <a:cs typeface="Calibri" pitchFamily="34" charset="-120"/>
              </a:rPr>
              <a:t>than the public product</a:t>
            </a:r>
            <a:endParaRPr lang="en-US" sz="1200" dirty="0"/>
          </a:p>
        </p:txBody>
      </p:sp>
      <p:sp>
        <p:nvSpPr>
          <p:cNvPr id="9" name="Text 7"/>
          <p:cNvSpPr txBox="1"/>
          <p:nvPr/>
        </p:nvSpPr>
        <p:spPr>
          <a:xfrm>
            <a:off x="566928" y="4398264"/>
            <a:ext cx="2286000" cy="475488"/>
          </a:xfrm>
          <a:prstGeom prst="rect">
            <a:avLst/>
          </a:prstGeom>
          <a:noFill/>
          <a:ln/>
        </p:spPr>
        <p:txBody>
          <a:bodyPr wrap="square" lIns="0" tIns="0" rIns="0" bIns="0" rtlCol="0" anchor="ctr"/>
          <a:lstStyle/>
          <a:p>
            <a:pPr indent="0" marL="0">
              <a:buNone/>
            </a:pPr>
            <a:r>
              <a:rPr lang="en-US" sz="2700" b="1" dirty="0">
                <a:solidFill>
                  <a:srgbClr val="065A82"/>
                </a:solidFill>
                <a:latin typeface="Cambria" pitchFamily="34" charset="0"/>
                <a:ea typeface="Cambria" pitchFamily="34" charset="-122"/>
                <a:cs typeface="Cambria" pitchFamily="34" charset="-120"/>
              </a:rPr>
              <a:t>99.5 %</a:t>
            </a:r>
            <a:endParaRPr lang="en-US" sz="2700" dirty="0"/>
          </a:p>
        </p:txBody>
      </p:sp>
      <p:sp>
        <p:nvSpPr>
          <p:cNvPr id="10" name="Text 8"/>
          <p:cNvSpPr txBox="1"/>
          <p:nvPr/>
        </p:nvSpPr>
        <p:spPr>
          <a:xfrm>
            <a:off x="566928" y="4873752"/>
            <a:ext cx="3108960" cy="548640"/>
          </a:xfrm>
          <a:prstGeom prst="rect">
            <a:avLst/>
          </a:prstGeom>
          <a:noFill/>
          <a:ln/>
        </p:spPr>
        <p:txBody>
          <a:bodyPr wrap="square" lIns="0" tIns="0" rIns="0" bIns="0" rtlCol="0" anchor="ctr"/>
          <a:lstStyle/>
          <a:p>
            <a:pPr indent="0" marL="0">
              <a:buNone/>
            </a:pPr>
            <a:r>
              <a:rPr lang="en-US" sz="1200" dirty="0">
                <a:solidFill>
                  <a:srgbClr val="5F6368"/>
                </a:solidFill>
                <a:latin typeface="Calibri" pitchFamily="34" charset="0"/>
                <a:ea typeface="Calibri" pitchFamily="34" charset="-122"/>
                <a:cs typeface="Calibri" pitchFamily="34" charset="-120"/>
              </a:rPr>
              <a:t>land and water agreement</a:t>
            </a:r>
            <a:endParaRPr lang="en-US" sz="1200" dirty="0"/>
          </a:p>
          <a:p>
            <a:pPr indent="0" marL="0">
              <a:buNone/>
            </a:pPr>
            <a:r>
              <a:rPr lang="en-US" sz="1200" dirty="0">
                <a:solidFill>
                  <a:srgbClr val="5F6368"/>
                </a:solidFill>
                <a:latin typeface="Calibri" pitchFamily="34" charset="0"/>
                <a:ea typeface="Calibri" pitchFamily="34" charset="-122"/>
                <a:cs typeface="Calibri" pitchFamily="34" charset="-120"/>
              </a:rPr>
              <a:t>with the coastline</a:t>
            </a:r>
            <a:endParaRPr lang="en-US" sz="1200" dirty="0"/>
          </a:p>
        </p:txBody>
      </p:sp>
      <p:pic>
        <p:nvPicPr>
          <p:cNvPr id="11" name="Image 0" descr="C:\Users\Unipa\Documents\MaltaDT\figures\bathymetry_overview.png">    </p:cNvPr>
          <p:cNvPicPr>
            <a:picLocks noChangeAspect="1"/>
          </p:cNvPicPr>
          <p:nvPr/>
        </p:nvPicPr>
        <p:blipFill>
          <a:blip r:embed="rId1"/>
          <a:stretch>
            <a:fillRect/>
          </a:stretch>
        </p:blipFill>
        <p:spPr>
          <a:xfrm>
            <a:off x="4160520" y="1783080"/>
            <a:ext cx="4754880" cy="4059936"/>
          </a:xfrm>
          <a:prstGeom prst="rect">
            <a:avLst/>
          </a:prstGeom>
        </p:spPr>
      </p:pic>
      <p:sp>
        <p:nvSpPr>
          <p:cNvPr id="12" name="Text 9"/>
          <p:cNvSpPr txBox="1"/>
          <p:nvPr/>
        </p:nvSpPr>
        <p:spPr>
          <a:xfrm>
            <a:off x="9189720" y="2377440"/>
            <a:ext cx="2468880" cy="2011680"/>
          </a:xfrm>
          <a:prstGeom prst="rect">
            <a:avLst/>
          </a:prstGeom>
          <a:noFill/>
          <a:ln/>
        </p:spPr>
        <p:txBody>
          <a:bodyPr wrap="square" lIns="0" tIns="0" rIns="0" bIns="0" rtlCol="0" anchor="ctr"/>
          <a:lstStyle/>
          <a:p>
            <a:pPr indent="0" marL="0">
              <a:lnSpc>
                <a:spcPts val="1600"/>
              </a:lnSpc>
              <a:buNone/>
            </a:pPr>
            <a:r>
              <a:rPr lang="en-US" sz="1150" b="1" dirty="0">
                <a:solidFill>
                  <a:srgbClr val="1A1A1A"/>
                </a:solidFill>
                <a:latin typeface="Calibri" pitchFamily="34" charset="0"/>
                <a:ea typeface="Calibri" pitchFamily="34" charset="-122"/>
                <a:cs typeface="Calibri" pitchFamily="34" charset="-120"/>
              </a:rPr>
              <a:t>Two coordinate reference conditions
</a:t>
            </a:r>
            <a:endParaRPr lang="en-US" sz="1150" dirty="0"/>
          </a:p>
          <a:p>
            <a:pPr indent="0" marL="0">
              <a:lnSpc>
                <a:spcPts val="1600"/>
              </a:lnSpc>
              <a:buNone/>
            </a:pPr>
            <a:r>
              <a:rPr lang="en-US" sz="1150" dirty="0">
                <a:solidFill>
                  <a:srgbClr val="5F6368"/>
                </a:solidFill>
                <a:latin typeface="Calibri" pitchFamily="34" charset="0"/>
                <a:ea typeface="Calibri" pitchFamily="34" charset="-122"/>
                <a:cs typeface="Calibri" pitchFamily="34" charset="-120"/>
              </a:rPr>
              <a:t>The grids do not encode their datum. Interpreted as WGS84 they are displaced by 197 m, and no error is raised.
</a:t>
            </a:r>
            <a:endParaRPr lang="en-US" sz="1150" dirty="0"/>
          </a:p>
          <a:p>
            <a:pPr indent="0" marL="0">
              <a:lnSpc>
                <a:spcPts val="1600"/>
              </a:lnSpc>
              <a:buNone/>
            </a:pPr>
            <a:r>
              <a:rPr lang="en-US" sz="1150" dirty="0">
                <a:solidFill>
                  <a:srgbClr val="5F6368"/>
                </a:solidFill>
                <a:latin typeface="Calibri" pitchFamily="34" charset="0"/>
                <a:ea typeface="Calibri" pitchFamily="34" charset="-122"/>
                <a:cs typeface="Calibri" pitchFamily="34" charset="-120"/>
              </a:rPr>
              <a:t>The bathymetry is ED50 and the coastline is WGS84, so neither overlays the other without a datum transformation.</a:t>
            </a:r>
            <a:endParaRPr lang="en-US" sz="1150" dirty="0"/>
          </a:p>
        </p:txBody>
      </p:sp>
      <p:sp>
        <p:nvSpPr>
          <p:cNvPr id="13" name="Text 10"/>
          <p:cNvSpPr txBox="1"/>
          <p:nvPr/>
        </p:nvSpPr>
        <p:spPr>
          <a:xfrm>
            <a:off x="566928" y="6053328"/>
            <a:ext cx="11055096" cy="310896"/>
          </a:xfrm>
          <a:prstGeom prst="rect">
            <a:avLst/>
          </a:prstGeom>
          <a:noFill/>
          <a:ln/>
        </p:spPr>
        <p:txBody>
          <a:bodyPr wrap="square" lIns="0" tIns="0" rIns="0" bIns="0" rtlCol="0" anchor="ctr"/>
          <a:lstStyle/>
          <a:p>
            <a:pPr indent="0" marL="0">
              <a:buNone/>
            </a:pPr>
            <a:r>
              <a:rPr lang="en-US" sz="1050" i="1" dirty="0">
                <a:solidFill>
                  <a:srgbClr val="5F6368"/>
                </a:solidFill>
                <a:latin typeface="Calibri" pitchFamily="34" charset="0"/>
                <a:ea typeface="Calibri" pitchFamily="34" charset="-122"/>
                <a:cs typeface="Calibri" pitchFamily="34" charset="-120"/>
              </a:rPr>
              <a:t>Grand Harbour 1.64 km², mean depth 15.9 m. Marsamxett 1.32 km², mean depth 13.3 m.</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indent="0" marL="0">
              <a:buNone/>
            </a:pPr>
            <a:r>
              <a:rPr lang="en-US" sz="1200" b="1" spc="200" kern="0" dirty="0">
                <a:solidFill>
                  <a:srgbClr val="EB6834"/>
                </a:solidFill>
                <a:latin typeface="Calibri" pitchFamily="34" charset="0"/>
                <a:ea typeface="Calibri" pitchFamily="34" charset="-122"/>
                <a:cs typeface="Calibri" pitchFamily="34" charset="-120"/>
              </a:rPr>
              <a:t>THE PHENOMENON</a:t>
            </a:r>
            <a:endParaRPr lang="en-US" sz="1200" dirty="0"/>
          </a:p>
        </p:txBody>
      </p:sp>
      <p:sp>
        <p:nvSpPr>
          <p:cNvPr id="3" name="Text 1"/>
          <p:cNvSpPr txBox="1"/>
          <p:nvPr/>
        </p:nvSpPr>
        <p:spPr>
          <a:xfrm>
            <a:off x="566928" y="749808"/>
            <a:ext cx="10424160" cy="658368"/>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The milgħuba is a meteotsunami</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indent="0" marL="0">
              <a:buNone/>
            </a:pPr>
            <a:r>
              <a:rPr lang="en-US" sz="1400" dirty="0">
                <a:solidFill>
                  <a:srgbClr val="5F6368"/>
                </a:solidFill>
                <a:latin typeface="Calibri" pitchFamily="34" charset="0"/>
                <a:ea typeface="Calibri" pitchFamily="34" charset="-122"/>
                <a:cs typeface="Calibri" pitchFamily="34" charset="-120"/>
              </a:rPr>
              <a:t>An atmospherically generated long wave, known as rissaga in the Balearics and as marrobbio on the Sicilian shelf.</a:t>
            </a:r>
            <a:endParaRPr lang="en-US" sz="1400" dirty="0"/>
          </a:p>
        </p:txBody>
      </p:sp>
      <p:sp>
        <p:nvSpPr>
          <p:cNvPr id="5" name="Shape 3"/>
          <p:cNvSpPr/>
          <p:nvPr/>
        </p:nvSpPr>
        <p:spPr>
          <a:xfrm>
            <a:off x="566928" y="2487168"/>
            <a:ext cx="3520440" cy="2286000"/>
          </a:xfrm>
          <a:prstGeom prst="roundRect">
            <a:avLst>
              <a:gd name="adj" fmla="val 2400"/>
            </a:avLst>
          </a:prstGeom>
          <a:solidFill>
            <a:srgbClr val="EEF3F6"/>
          </a:solidFill>
          <a:ln/>
        </p:spPr>
      </p:sp>
      <p:sp>
        <p:nvSpPr>
          <p:cNvPr id="6" name="Shape 4"/>
          <p:cNvSpPr/>
          <p:nvPr/>
        </p:nvSpPr>
        <p:spPr>
          <a:xfrm>
            <a:off x="822960" y="2212848"/>
            <a:ext cx="402336" cy="402336"/>
          </a:xfrm>
          <a:prstGeom prst="ellipse">
            <a:avLst/>
          </a:prstGeom>
          <a:solidFill>
            <a:srgbClr val="EB6834"/>
          </a:solidFill>
          <a:ln/>
        </p:spPr>
      </p:sp>
      <p:sp>
        <p:nvSpPr>
          <p:cNvPr id="7" name="Text 5"/>
          <p:cNvSpPr txBox="1"/>
          <p:nvPr/>
        </p:nvSpPr>
        <p:spPr>
          <a:xfrm>
            <a:off x="822960" y="221284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8" name="Text 6"/>
          <p:cNvSpPr txBox="1"/>
          <p:nvPr/>
        </p:nvSpPr>
        <p:spPr>
          <a:xfrm>
            <a:off x="822960" y="2788920"/>
            <a:ext cx="3017520" cy="329184"/>
          </a:xfrm>
          <a:prstGeom prst="rect">
            <a:avLst/>
          </a:prstGeom>
          <a:noFill/>
          <a:ln/>
        </p:spPr>
        <p:txBody>
          <a:bodyPr wrap="square" lIns="0" tIns="0" rIns="0" bIns="0" rtlCol="0" anchor="ctr"/>
          <a:lstStyle/>
          <a:p>
            <a:pPr indent="0" marL="0">
              <a:buNone/>
            </a:pPr>
            <a:r>
              <a:rPr lang="en-US" sz="1550" b="1" dirty="0">
                <a:solidFill>
                  <a:srgbClr val="1A1A1A"/>
                </a:solidFill>
                <a:latin typeface="Cambria" pitchFamily="34" charset="0"/>
                <a:ea typeface="Cambria" pitchFamily="34" charset="-122"/>
                <a:cs typeface="Cambria" pitchFamily="34" charset="-120"/>
              </a:rPr>
              <a:t>Proudman resonance</a:t>
            </a:r>
            <a:endParaRPr lang="en-US" sz="1550" dirty="0"/>
          </a:p>
        </p:txBody>
      </p:sp>
      <p:sp>
        <p:nvSpPr>
          <p:cNvPr id="9" name="Text 7"/>
          <p:cNvSpPr txBox="1"/>
          <p:nvPr/>
        </p:nvSpPr>
        <p:spPr>
          <a:xfrm>
            <a:off x="822960" y="3145536"/>
            <a:ext cx="3017520" cy="749808"/>
          </a:xfrm>
          <a:prstGeom prst="rect">
            <a:avLst/>
          </a:prstGeom>
          <a:noFill/>
          <a:ln/>
        </p:spPr>
        <p:txBody>
          <a:bodyPr wrap="square" lIns="0" tIns="0" rIns="0" bIns="0" rtlCol="0" anchor="ctr"/>
          <a:lstStyle/>
          <a:p>
            <a:pPr indent="0" marL="0">
              <a:lnSpc>
                <a:spcPts val="1600"/>
              </a:lnSpc>
              <a:buNone/>
            </a:pPr>
            <a:r>
              <a:rPr lang="en-US" sz="1200" dirty="0">
                <a:solidFill>
                  <a:srgbClr val="1A1A1A"/>
                </a:solidFill>
                <a:latin typeface="Calibri" pitchFamily="34" charset="0"/>
                <a:ea typeface="Calibri" pitchFamily="34" charset="-122"/>
                <a:cs typeface="Calibri" pitchFamily="34" charset="-120"/>
              </a:rPr>
              <a:t>Energy transfers most efficiently when the atmospheric disturbance travels at the celerity of the long wave beneath it.</a:t>
            </a:r>
            <a:endParaRPr lang="en-US" sz="1200" dirty="0"/>
          </a:p>
        </p:txBody>
      </p:sp>
      <p:sp>
        <p:nvSpPr>
          <p:cNvPr id="10" name="Text 8"/>
          <p:cNvSpPr txBox="1"/>
          <p:nvPr/>
        </p:nvSpPr>
        <p:spPr>
          <a:xfrm>
            <a:off x="822960" y="3950208"/>
            <a:ext cx="3017520" cy="731520"/>
          </a:xfrm>
          <a:prstGeom prst="rect">
            <a:avLst/>
          </a:prstGeom>
          <a:noFill/>
          <a:ln/>
        </p:spPr>
        <p:txBody>
          <a:bodyPr wrap="square" lIns="0" tIns="0" rIns="0" bIns="0" rtlCol="0" anchor="ctr"/>
          <a:lstStyle/>
          <a:p>
            <a:pPr indent="0" marL="0">
              <a:lnSpc>
                <a:spcPts val="1500"/>
              </a:lnSpc>
              <a:buNone/>
            </a:pPr>
            <a:r>
              <a:rPr lang="en-US" sz="1100" b="1" dirty="0">
                <a:solidFill>
                  <a:srgbClr val="1C7293"/>
                </a:solidFill>
                <a:latin typeface="Calibri" pitchFamily="34" charset="0"/>
                <a:ea typeface="Calibri" pitchFamily="34" charset="-122"/>
                <a:cs typeface="Calibri" pitchFamily="34" charset="-120"/>
              </a:rPr>
              <a:t>The Malta Plateau, 99 to 190 m, is resonant with disturbances of 94 to 155 km h⁻¹.</a:t>
            </a:r>
            <a:endParaRPr lang="en-US" sz="1100" dirty="0"/>
          </a:p>
        </p:txBody>
      </p:sp>
      <p:sp>
        <p:nvSpPr>
          <p:cNvPr id="11" name="Shape 9"/>
          <p:cNvSpPr/>
          <p:nvPr/>
        </p:nvSpPr>
        <p:spPr>
          <a:xfrm>
            <a:off x="4334256" y="2487168"/>
            <a:ext cx="3520440" cy="2286000"/>
          </a:xfrm>
          <a:prstGeom prst="roundRect">
            <a:avLst>
              <a:gd name="adj" fmla="val 2400"/>
            </a:avLst>
          </a:prstGeom>
          <a:solidFill>
            <a:srgbClr val="EEF3F6"/>
          </a:solidFill>
          <a:ln/>
        </p:spPr>
      </p:sp>
      <p:sp>
        <p:nvSpPr>
          <p:cNvPr id="12" name="Shape 10"/>
          <p:cNvSpPr/>
          <p:nvPr/>
        </p:nvSpPr>
        <p:spPr>
          <a:xfrm>
            <a:off x="4590288" y="2212848"/>
            <a:ext cx="402336" cy="402336"/>
          </a:xfrm>
          <a:prstGeom prst="ellipse">
            <a:avLst/>
          </a:prstGeom>
          <a:solidFill>
            <a:srgbClr val="065A82"/>
          </a:solidFill>
          <a:ln/>
        </p:spPr>
      </p:sp>
      <p:sp>
        <p:nvSpPr>
          <p:cNvPr id="13" name="Text 11"/>
          <p:cNvSpPr txBox="1"/>
          <p:nvPr/>
        </p:nvSpPr>
        <p:spPr>
          <a:xfrm>
            <a:off x="4590288" y="221284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4" name="Text 12"/>
          <p:cNvSpPr txBox="1"/>
          <p:nvPr/>
        </p:nvSpPr>
        <p:spPr>
          <a:xfrm>
            <a:off x="4590288" y="2788920"/>
            <a:ext cx="3017520" cy="329184"/>
          </a:xfrm>
          <a:prstGeom prst="rect">
            <a:avLst/>
          </a:prstGeom>
          <a:noFill/>
          <a:ln/>
        </p:spPr>
        <p:txBody>
          <a:bodyPr wrap="square" lIns="0" tIns="0" rIns="0" bIns="0" rtlCol="0" anchor="ctr"/>
          <a:lstStyle/>
          <a:p>
            <a:pPr indent="0" marL="0">
              <a:buNone/>
            </a:pPr>
            <a:r>
              <a:rPr lang="en-US" sz="1550" b="1" dirty="0">
                <a:solidFill>
                  <a:srgbClr val="1A1A1A"/>
                </a:solidFill>
                <a:latin typeface="Cambria" pitchFamily="34" charset="0"/>
                <a:ea typeface="Cambria" pitchFamily="34" charset="-122"/>
                <a:cs typeface="Cambria" pitchFamily="34" charset="-120"/>
              </a:rPr>
              <a:t>Shoaling</a:t>
            </a:r>
            <a:endParaRPr lang="en-US" sz="1550" dirty="0"/>
          </a:p>
        </p:txBody>
      </p:sp>
      <p:sp>
        <p:nvSpPr>
          <p:cNvPr id="15" name="Text 13"/>
          <p:cNvSpPr txBox="1"/>
          <p:nvPr/>
        </p:nvSpPr>
        <p:spPr>
          <a:xfrm>
            <a:off x="4590288" y="3145536"/>
            <a:ext cx="3017520" cy="749808"/>
          </a:xfrm>
          <a:prstGeom prst="rect">
            <a:avLst/>
          </a:prstGeom>
          <a:noFill/>
          <a:ln/>
        </p:spPr>
        <p:txBody>
          <a:bodyPr wrap="square" lIns="0" tIns="0" rIns="0" bIns="0" rtlCol="0" anchor="ctr"/>
          <a:lstStyle/>
          <a:p>
            <a:pPr indent="0" marL="0">
              <a:lnSpc>
                <a:spcPts val="1600"/>
              </a:lnSpc>
              <a:buNone/>
            </a:pPr>
            <a:r>
              <a:rPr lang="en-US" sz="1200" dirty="0">
                <a:solidFill>
                  <a:srgbClr val="1A1A1A"/>
                </a:solidFill>
                <a:latin typeface="Calibri" pitchFamily="34" charset="0"/>
                <a:ea typeface="Calibri" pitchFamily="34" charset="-122"/>
                <a:cs typeface="Calibri" pitchFamily="34" charset="-120"/>
              </a:rPr>
              <a:t>Green's law governs the amplification of the wave over the shoaling approach.</a:t>
            </a:r>
            <a:endParaRPr lang="en-US" sz="1200" dirty="0"/>
          </a:p>
        </p:txBody>
      </p:sp>
      <p:sp>
        <p:nvSpPr>
          <p:cNvPr id="16" name="Text 14"/>
          <p:cNvSpPr txBox="1"/>
          <p:nvPr/>
        </p:nvSpPr>
        <p:spPr>
          <a:xfrm>
            <a:off x="4590288" y="3950208"/>
            <a:ext cx="3017520" cy="731520"/>
          </a:xfrm>
          <a:prstGeom prst="rect">
            <a:avLst/>
          </a:prstGeom>
          <a:noFill/>
          <a:ln/>
        </p:spPr>
        <p:txBody>
          <a:bodyPr wrap="square" lIns="0" tIns="0" rIns="0" bIns="0" rtlCol="0" anchor="ctr"/>
          <a:lstStyle/>
          <a:p>
            <a:pPr indent="0" marL="0">
              <a:lnSpc>
                <a:spcPts val="1500"/>
              </a:lnSpc>
              <a:buNone/>
            </a:pPr>
            <a:r>
              <a:rPr lang="en-US" sz="1100" b="1" dirty="0">
                <a:solidFill>
                  <a:srgbClr val="1C7293"/>
                </a:solidFill>
                <a:latin typeface="Calibri" pitchFamily="34" charset="0"/>
                <a:ea typeface="Calibri" pitchFamily="34" charset="-122"/>
                <a:cs typeface="Calibri" pitchFamily="34" charset="-120"/>
              </a:rPr>
              <a:t>From the plateau into the harbours, a factor of 1.75 to 1.84.</a:t>
            </a:r>
            <a:endParaRPr lang="en-US" sz="1100" dirty="0"/>
          </a:p>
        </p:txBody>
      </p:sp>
      <p:sp>
        <p:nvSpPr>
          <p:cNvPr id="17" name="Shape 15"/>
          <p:cNvSpPr/>
          <p:nvPr/>
        </p:nvSpPr>
        <p:spPr>
          <a:xfrm>
            <a:off x="8101584" y="2487168"/>
            <a:ext cx="3520440" cy="2286000"/>
          </a:xfrm>
          <a:prstGeom prst="roundRect">
            <a:avLst>
              <a:gd name="adj" fmla="val 2400"/>
            </a:avLst>
          </a:prstGeom>
          <a:solidFill>
            <a:srgbClr val="EEF3F6"/>
          </a:solidFill>
          <a:ln/>
        </p:spPr>
      </p:sp>
      <p:sp>
        <p:nvSpPr>
          <p:cNvPr id="18" name="Shape 16"/>
          <p:cNvSpPr/>
          <p:nvPr/>
        </p:nvSpPr>
        <p:spPr>
          <a:xfrm>
            <a:off x="8357616" y="2212848"/>
            <a:ext cx="402336" cy="402336"/>
          </a:xfrm>
          <a:prstGeom prst="ellipse">
            <a:avLst/>
          </a:prstGeom>
          <a:solidFill>
            <a:srgbClr val="065A82"/>
          </a:solidFill>
          <a:ln/>
        </p:spPr>
      </p:sp>
      <p:sp>
        <p:nvSpPr>
          <p:cNvPr id="19" name="Text 17"/>
          <p:cNvSpPr txBox="1"/>
          <p:nvPr/>
        </p:nvSpPr>
        <p:spPr>
          <a:xfrm>
            <a:off x="8357616" y="221284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0" name="Text 18"/>
          <p:cNvSpPr txBox="1"/>
          <p:nvPr/>
        </p:nvSpPr>
        <p:spPr>
          <a:xfrm>
            <a:off x="8357616" y="2788920"/>
            <a:ext cx="3017520" cy="329184"/>
          </a:xfrm>
          <a:prstGeom prst="rect">
            <a:avLst/>
          </a:prstGeom>
          <a:noFill/>
          <a:ln/>
        </p:spPr>
        <p:txBody>
          <a:bodyPr wrap="square" lIns="0" tIns="0" rIns="0" bIns="0" rtlCol="0" anchor="ctr"/>
          <a:lstStyle/>
          <a:p>
            <a:pPr indent="0" marL="0">
              <a:buNone/>
            </a:pPr>
            <a:r>
              <a:rPr lang="en-US" sz="1550" b="1" dirty="0">
                <a:solidFill>
                  <a:srgbClr val="1A1A1A"/>
                </a:solidFill>
                <a:latin typeface="Cambria" pitchFamily="34" charset="0"/>
                <a:ea typeface="Cambria" pitchFamily="34" charset="-122"/>
                <a:cs typeface="Cambria" pitchFamily="34" charset="-120"/>
              </a:rPr>
              <a:t>Basin resonance</a:t>
            </a:r>
            <a:endParaRPr lang="en-US" sz="1550" dirty="0"/>
          </a:p>
        </p:txBody>
      </p:sp>
      <p:sp>
        <p:nvSpPr>
          <p:cNvPr id="21" name="Text 19"/>
          <p:cNvSpPr txBox="1"/>
          <p:nvPr/>
        </p:nvSpPr>
        <p:spPr>
          <a:xfrm>
            <a:off x="8357616" y="3145536"/>
            <a:ext cx="3017520" cy="749808"/>
          </a:xfrm>
          <a:prstGeom prst="rect">
            <a:avLst/>
          </a:prstGeom>
          <a:noFill/>
          <a:ln/>
        </p:spPr>
        <p:txBody>
          <a:bodyPr wrap="square" lIns="0" tIns="0" rIns="0" bIns="0" rtlCol="0" anchor="ctr"/>
          <a:lstStyle/>
          <a:p>
            <a:pPr indent="0" marL="0">
              <a:lnSpc>
                <a:spcPts val="1600"/>
              </a:lnSpc>
              <a:buNone/>
            </a:pPr>
            <a:r>
              <a:rPr lang="en-US" sz="1200" dirty="0">
                <a:solidFill>
                  <a:srgbClr val="1A1A1A"/>
                </a:solidFill>
                <a:latin typeface="Calibri" pitchFamily="34" charset="0"/>
                <a:ea typeface="Calibri" pitchFamily="34" charset="-122"/>
                <a:cs typeface="Calibri" pitchFamily="34" charset="-120"/>
              </a:rPr>
              <a:t>The geometry of the basin amplifies the wave arriving at its mouth.</a:t>
            </a:r>
            <a:endParaRPr lang="en-US" sz="1200" dirty="0"/>
          </a:p>
        </p:txBody>
      </p:sp>
      <p:sp>
        <p:nvSpPr>
          <p:cNvPr id="22" name="Text 20"/>
          <p:cNvSpPr txBox="1"/>
          <p:nvPr/>
        </p:nvSpPr>
        <p:spPr>
          <a:xfrm>
            <a:off x="8357616" y="3950208"/>
            <a:ext cx="3017520" cy="731520"/>
          </a:xfrm>
          <a:prstGeom prst="rect">
            <a:avLst/>
          </a:prstGeom>
          <a:noFill/>
          <a:ln/>
        </p:spPr>
        <p:txBody>
          <a:bodyPr wrap="square" lIns="0" tIns="0" rIns="0" bIns="0" rtlCol="0" anchor="ctr"/>
          <a:lstStyle/>
          <a:p>
            <a:pPr indent="0" marL="0">
              <a:lnSpc>
                <a:spcPts val="1500"/>
              </a:lnSpc>
              <a:buNone/>
            </a:pPr>
            <a:r>
              <a:rPr lang="en-US" sz="1100" b="1" dirty="0">
                <a:solidFill>
                  <a:srgbClr val="1C7293"/>
                </a:solidFill>
                <a:latin typeface="Calibri" pitchFamily="34" charset="0"/>
                <a:ea typeface="Calibri" pitchFamily="34" charset="-122"/>
                <a:cs typeface="Calibri" pitchFamily="34" charset="-120"/>
              </a:rPr>
              <a:t>Quarter-wave and Helmholtz estimates agree at 12 to 18 minutes.</a:t>
            </a:r>
            <a:endParaRPr lang="en-US" sz="1100" dirty="0"/>
          </a:p>
        </p:txBody>
      </p:sp>
      <p:sp>
        <p:nvSpPr>
          <p:cNvPr id="23" name="Text 21"/>
          <p:cNvSpPr txBox="1"/>
          <p:nvPr/>
        </p:nvSpPr>
        <p:spPr>
          <a:xfrm>
            <a:off x="566928" y="6053328"/>
            <a:ext cx="11055096" cy="310896"/>
          </a:xfrm>
          <a:prstGeom prst="rect">
            <a:avLst/>
          </a:prstGeom>
          <a:noFill/>
          <a:ln/>
        </p:spPr>
        <p:txBody>
          <a:bodyPr wrap="square" lIns="0" tIns="0" rIns="0" bIns="0" rtlCol="0" anchor="ctr"/>
          <a:lstStyle/>
          <a:p>
            <a:pPr indent="0" marL="0">
              <a:buNone/>
            </a:pPr>
            <a:r>
              <a:rPr lang="en-US" sz="1050" i="1" dirty="0">
                <a:solidFill>
                  <a:srgbClr val="5F6368"/>
                </a:solidFill>
                <a:latin typeface="Calibri" pitchFamily="34" charset="0"/>
                <a:ea typeface="Calibri" pitchFamily="34" charset="-122"/>
                <a:cs typeface="Calibri" pitchFamily="34" charset="-120"/>
              </a:rPr>
              <a:t>At Ciutadella, Menorca, the three compound to an order of magnitude. No equivalent decomposition has been published for Malta.</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indent="0" marL="0">
              <a:buNone/>
            </a:pPr>
            <a:r>
              <a:rPr lang="en-US" sz="1200" b="1" spc="200" kern="0" dirty="0">
                <a:solidFill>
                  <a:srgbClr val="EB6834"/>
                </a:solidFill>
                <a:latin typeface="Calibri" pitchFamily="34" charset="0"/>
                <a:ea typeface="Calibri" pitchFamily="34" charset="-122"/>
                <a:cs typeface="Calibri" pitchFamily="34" charset="-120"/>
              </a:rPr>
              <a:t>RESONANT PERIODS</a:t>
            </a:r>
            <a:endParaRPr lang="en-US" sz="1200" dirty="0"/>
          </a:p>
        </p:txBody>
      </p:sp>
      <p:sp>
        <p:nvSpPr>
          <p:cNvPr id="3" name="Text 1"/>
          <p:cNvSpPr txBox="1"/>
          <p:nvPr/>
        </p:nvSpPr>
        <p:spPr>
          <a:xfrm>
            <a:off x="566928" y="749808"/>
            <a:ext cx="10424160" cy="658368"/>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The harbours do not resonate in the observed band</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indent="0" marL="0">
              <a:buNone/>
            </a:pPr>
            <a:r>
              <a:rPr lang="en-US" sz="1400" dirty="0">
                <a:solidFill>
                  <a:srgbClr val="5F6368"/>
                </a:solidFill>
                <a:latin typeface="Calibri" pitchFamily="34" charset="0"/>
                <a:ea typeface="Calibri" pitchFamily="34" charset="-122"/>
                <a:cs typeface="Calibri" pitchFamily="34" charset="-120"/>
              </a:rPr>
              <a:t>Quarter-wave periods, T = 4L∕√(gh), against the 0.2 to 2 cph band reported by Drago.</a:t>
            </a:r>
            <a:endParaRPr lang="en-US" sz="1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66928" y="2286000"/>
          <a:ext cx="7772400" cy="914400"/>
        </p:xfrm>
        <a:graphic>
          <a:graphicData uri="http://schemas.openxmlformats.org/drawingml/2006/table">
            <a:tbl>
              <a:tblPr/>
              <a:tblGrid>
                <a:gridCol w="2743200"/>
                <a:gridCol w="868680"/>
                <a:gridCol w="777240"/>
                <a:gridCol w="960120"/>
                <a:gridCol w="1051560"/>
                <a:gridCol w="1371600"/>
              </a:tblGrid>
              <a:tr h="342900">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Element</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L</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h</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Period</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Frequency</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algn="l"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r>
              <a:tr h="342900">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Plateau to Sicily, quarter wave</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90 km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150 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156 min</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0.38 cph</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algn="l" indent="0" marL="0">
                        <a:buNone/>
                      </a:pPr>
                      <a:r>
                        <a:rPr lang="en-US" sz="1200" b="1" dirty="0">
                          <a:solidFill>
                            <a:srgbClr val="EB6834"/>
                          </a:solidFill>
                          <a:latin typeface="Calibri" pitchFamily="34" charset="0"/>
                          <a:ea typeface="Calibri" pitchFamily="34" charset="-122"/>
                          <a:cs typeface="Calibri" pitchFamily="34" charset="-120"/>
                        </a:rPr>
                        <a:t>within</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r>
              <a:tr h="342900">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Plateau to Sicily, half wave</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90 km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150 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78 min</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0.77 cph</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algn="l" indent="0" marL="0">
                        <a:buNone/>
                      </a:pPr>
                      <a:r>
                        <a:rPr lang="en-US" sz="1200" b="1" dirty="0">
                          <a:solidFill>
                            <a:srgbClr val="EB6834"/>
                          </a:solidFill>
                          <a:latin typeface="Calibri" pitchFamily="34" charset="0"/>
                          <a:ea typeface="Calibri" pitchFamily="34" charset="-122"/>
                          <a:cs typeface="Calibri" pitchFamily="34" charset="-120"/>
                        </a:rPr>
                        <a:t>within</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r>
              <a:tr h="342900">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Near plateau</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25 km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120 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49 min</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1.24 cph</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algn="l" indent="0" marL="0">
                        <a:buNone/>
                      </a:pPr>
                      <a:r>
                        <a:rPr lang="en-US" sz="1200" b="1" dirty="0">
                          <a:solidFill>
                            <a:srgbClr val="EB6834"/>
                          </a:solidFill>
                          <a:latin typeface="Calibri" pitchFamily="34" charset="0"/>
                          <a:ea typeface="Calibri" pitchFamily="34" charset="-122"/>
                          <a:cs typeface="Calibri" pitchFamily="34" charset="-120"/>
                        </a:rPr>
                        <a:t>within</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r>
              <a:tr h="342900">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Grand Harbour</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3.2 km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16 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17 min</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3.49 cph</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5F6368"/>
                          </a:solidFill>
                          <a:latin typeface="Calibri" pitchFamily="34" charset="0"/>
                          <a:ea typeface="Calibri" pitchFamily="34" charset="-122"/>
                          <a:cs typeface="Calibri" pitchFamily="34" charset="-120"/>
                        </a:rPr>
                        <a:t>outside</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r>
              <a:tr h="342900">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Marsamxett</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3.2 km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13 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18 min</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3.26 cph</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5F6368"/>
                          </a:solidFill>
                          <a:latin typeface="Calibri" pitchFamily="34" charset="0"/>
                          <a:ea typeface="Calibri" pitchFamily="34" charset="-122"/>
                          <a:cs typeface="Calibri" pitchFamily="34" charset="-120"/>
                        </a:rPr>
                        <a:t>outside</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r>
              <a:tr h="342900">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A 1 km inlet</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1.0 km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12 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6 min</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9.76 cph</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5F6368"/>
                          </a:solidFill>
                          <a:latin typeface="Calibri" pitchFamily="34" charset="0"/>
                          <a:ea typeface="Calibri" pitchFamily="34" charset="-122"/>
                          <a:cs typeface="Calibri" pitchFamily="34" charset="-120"/>
                        </a:rPr>
                        <a:t>outside</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r>
            </a:tbl>
          </a:graphicData>
        </a:graphic>
      </p:graphicFrame>
      <p:sp>
        <p:nvSpPr>
          <p:cNvPr id="6" name="Shape 3"/>
          <p:cNvSpPr/>
          <p:nvPr/>
        </p:nvSpPr>
        <p:spPr>
          <a:xfrm>
            <a:off x="8641080" y="2286000"/>
            <a:ext cx="2980944" cy="2432304"/>
          </a:xfrm>
          <a:prstGeom prst="roundRect">
            <a:avLst>
              <a:gd name="adj" fmla="val 2256"/>
            </a:avLst>
          </a:prstGeom>
          <a:solidFill>
            <a:srgbClr val="21295C"/>
          </a:solidFill>
          <a:ln/>
        </p:spPr>
      </p:sp>
      <p:sp>
        <p:nvSpPr>
          <p:cNvPr id="7" name="Text 4"/>
          <p:cNvSpPr txBox="1"/>
          <p:nvPr/>
        </p:nvSpPr>
        <p:spPr>
          <a:xfrm>
            <a:off x="8915400" y="2514600"/>
            <a:ext cx="2468880" cy="292608"/>
          </a:xfrm>
          <a:prstGeom prst="rect">
            <a:avLst/>
          </a:prstGeom>
          <a:noFill/>
          <a:ln/>
        </p:spPr>
        <p:txBody>
          <a:bodyPr wrap="square" lIns="0" tIns="0" rIns="0" bIns="0" rtlCol="0" anchor="ctr"/>
          <a:lstStyle/>
          <a:p>
            <a:pPr indent="0" marL="0">
              <a:buNone/>
            </a:pPr>
            <a:r>
              <a:rPr lang="en-US" sz="1400" b="1" dirty="0">
                <a:solidFill>
                  <a:srgbClr val="EB6834"/>
                </a:solidFill>
                <a:latin typeface="Cambria" pitchFamily="34" charset="0"/>
                <a:ea typeface="Cambria" pitchFamily="34" charset="-122"/>
                <a:cs typeface="Cambria" pitchFamily="34" charset="-120"/>
              </a:rPr>
              <a:t>The consequence</a:t>
            </a:r>
            <a:endParaRPr lang="en-US" sz="1400" dirty="0"/>
          </a:p>
        </p:txBody>
      </p:sp>
      <p:sp>
        <p:nvSpPr>
          <p:cNvPr id="8" name="Text 5"/>
          <p:cNvSpPr txBox="1"/>
          <p:nvPr/>
        </p:nvSpPr>
        <p:spPr>
          <a:xfrm>
            <a:off x="8915400" y="2880360"/>
            <a:ext cx="2468880" cy="1737360"/>
          </a:xfrm>
          <a:prstGeom prst="rect">
            <a:avLst/>
          </a:prstGeom>
          <a:noFill/>
          <a:ln/>
        </p:spPr>
        <p:txBody>
          <a:bodyPr wrap="square" lIns="0" tIns="0" rIns="0" bIns="0" rtlCol="0" anchor="ctr"/>
          <a:lstStyle/>
          <a:p>
            <a:pPr indent="0" marL="0">
              <a:lnSpc>
                <a:spcPts val="1500"/>
              </a:lnSpc>
              <a:buNone/>
            </a:pPr>
            <a:r>
              <a:rPr lang="en-US" sz="1150" dirty="0">
                <a:solidFill>
                  <a:srgbClr val="CADCFC"/>
                </a:solidFill>
                <a:latin typeface="Calibri" pitchFamily="34" charset="0"/>
                <a:ea typeface="Calibri" pitchFamily="34" charset="-122"/>
                <a:cs typeface="Calibri" pitchFamily="34" charset="-120"/>
              </a:rPr>
              <a:t>The harbours respond to a shelf-scale oscillation rather than generating one.
</a:t>
            </a:r>
            <a:endParaRPr lang="en-US" sz="1150" dirty="0"/>
          </a:p>
          <a:p>
            <a:pPr indent="0" marL="0">
              <a:lnSpc>
                <a:spcPts val="1500"/>
              </a:lnSpc>
              <a:buNone/>
            </a:pPr>
            <a:r>
              <a:rPr lang="en-US" sz="1150" dirty="0">
                <a:solidFill>
                  <a:srgbClr val="CADCFC"/>
                </a:solidFill>
                <a:latin typeface="Calibri" pitchFamily="34" charset="0"/>
                <a:ea typeface="Calibri" pitchFamily="34" charset="-122"/>
                <a:cs typeface="Calibri" pitchFamily="34" charset="-120"/>
              </a:rPr>
              <a:t>A domain confined to the harbours holds no resonator in the band, and the available boundary product carries no energy there.
</a:t>
            </a:r>
            <a:endParaRPr lang="en-US" sz="1150" dirty="0"/>
          </a:p>
          <a:p>
            <a:pPr indent="0" marL="0">
              <a:lnSpc>
                <a:spcPts val="1500"/>
              </a:lnSpc>
              <a:buNone/>
            </a:pPr>
            <a:r>
              <a:rPr lang="en-US" sz="1150" b="1" dirty="0">
                <a:solidFill>
                  <a:srgbClr val="FFFFFF"/>
                </a:solidFill>
                <a:latin typeface="Calibri" pitchFamily="34" charset="0"/>
                <a:ea typeface="Calibri" pitchFamily="34" charset="-122"/>
                <a:cs typeface="Calibri" pitchFamily="34" charset="-120"/>
              </a:rPr>
              <a:t>The domain is therefore required to contain the plateau.</a:t>
            </a:r>
            <a:endParaRPr lang="en-US" sz="1150" dirty="0"/>
          </a:p>
        </p:txBody>
      </p:sp>
      <p:sp>
        <p:nvSpPr>
          <p:cNvPr id="9" name="Text 6"/>
          <p:cNvSpPr txBox="1"/>
          <p:nvPr/>
        </p:nvSpPr>
        <p:spPr>
          <a:xfrm>
            <a:off x="566928" y="6053328"/>
            <a:ext cx="11055096" cy="310896"/>
          </a:xfrm>
          <a:prstGeom prst="rect">
            <a:avLst/>
          </a:prstGeom>
          <a:noFill/>
          <a:ln/>
        </p:spPr>
        <p:txBody>
          <a:bodyPr wrap="square" lIns="0" tIns="0" rIns="0" bIns="0" rtlCol="0" anchor="ctr"/>
          <a:lstStyle/>
          <a:p>
            <a:pPr indent="0" marL="0">
              <a:buNone/>
            </a:pPr>
            <a:r>
              <a:rPr lang="en-US" sz="1050" i="1" dirty="0">
                <a:solidFill>
                  <a:srgbClr val="5F6368"/>
                </a:solidFill>
                <a:latin typeface="Calibri" pitchFamily="34" charset="0"/>
                <a:ea typeface="Calibri" pitchFamily="34" charset="-122"/>
                <a:cs typeface="Calibri" pitchFamily="34" charset="-120"/>
              </a:rPr>
              <a:t>A Helmholtz idealisation returns 12 to 18 minutes likewise. The 1910 breakwater partly closes the entrance, which lengthens the period, so the figure awaits the mesh.</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indent="0" marL="0">
              <a:buNone/>
            </a:pPr>
            <a:r>
              <a:rPr lang="en-US" sz="1200" b="1" spc="200" kern="0" dirty="0">
                <a:solidFill>
                  <a:srgbClr val="EB6834"/>
                </a:solidFill>
                <a:latin typeface="Calibri" pitchFamily="34" charset="0"/>
                <a:ea typeface="Calibri" pitchFamily="34" charset="-122"/>
                <a:cs typeface="Calibri" pitchFamily="34" charset="-120"/>
              </a:rPr>
              <a:t>MODEL CONCEPT, EXTENT</a:t>
            </a:r>
            <a:endParaRPr lang="en-US" sz="1200" dirty="0"/>
          </a:p>
        </p:txBody>
      </p:sp>
      <p:sp>
        <p:nvSpPr>
          <p:cNvPr id="3" name="Text 1"/>
          <p:cNvSpPr txBox="1"/>
          <p:nvPr/>
        </p:nvSpPr>
        <p:spPr>
          <a:xfrm>
            <a:off x="566928" y="749808"/>
            <a:ext cx="10424160" cy="658368"/>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Extent over the plateau, and its cost</a:t>
            </a:r>
            <a:endParaRPr lang="en-US" sz="3200" dirty="0"/>
          </a:p>
        </p:txBody>
      </p:sp>
      <p:pic>
        <p:nvPicPr>
          <p:cNvPr id="4" name="Image 0" descr="C:\Users\Unipa\Documents\MaltaDT\figures\domain_design.png">    </p:cNvPr>
          <p:cNvPicPr>
            <a:picLocks noChangeAspect="1"/>
          </p:cNvPicPr>
          <p:nvPr/>
        </p:nvPicPr>
        <p:blipFill>
          <a:blip r:embed="rId1"/>
          <a:stretch>
            <a:fillRect/>
          </a:stretch>
        </p:blipFill>
        <p:spPr>
          <a:xfrm>
            <a:off x="566928" y="1572768"/>
            <a:ext cx="11055096" cy="4956048"/>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indent="0" marL="0">
              <a:buNone/>
            </a:pPr>
            <a:r>
              <a:rPr lang="en-US" sz="1200" b="1" spc="200" kern="0" dirty="0">
                <a:solidFill>
                  <a:srgbClr val="EB6834"/>
                </a:solidFill>
                <a:latin typeface="Calibri" pitchFamily="34" charset="0"/>
                <a:ea typeface="Calibri" pitchFamily="34" charset="-122"/>
                <a:cs typeface="Calibri" pitchFamily="34" charset="-120"/>
              </a:rPr>
              <a:t>MODEL CONCEPT, DISCRETISATION</a:t>
            </a:r>
            <a:endParaRPr lang="en-US" sz="1200" dirty="0"/>
          </a:p>
        </p:txBody>
      </p:sp>
      <p:sp>
        <p:nvSpPr>
          <p:cNvPr id="3" name="Text 1"/>
          <p:cNvSpPr txBox="1"/>
          <p:nvPr/>
        </p:nvSpPr>
        <p:spPr>
          <a:xfrm>
            <a:off x="566928" y="749808"/>
            <a:ext cx="10424160" cy="658368"/>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The geometry sets the resolution</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indent="0" marL="0">
              <a:buNone/>
            </a:pPr>
            <a:r>
              <a:rPr lang="en-US" sz="1400" dirty="0">
                <a:solidFill>
                  <a:srgbClr val="5F6368"/>
                </a:solidFill>
                <a:latin typeface="Calibri" pitchFamily="34" charset="0"/>
                <a:ea typeface="Calibri" pitchFamily="34" charset="-122"/>
                <a:cs typeface="Calibri" pitchFamily="34" charset="-120"/>
              </a:rPr>
              <a:t>A 17-minute wave in 16 m of water is 12.8 km long. The planform of the inlets is what must be resolved.</a:t>
            </a:r>
            <a:endParaRPr lang="en-US" sz="1400" dirty="0"/>
          </a:p>
        </p:txBody>
      </p:sp>
      <p:sp>
        <p:nvSpPr>
          <p:cNvPr id="5" name="Text 3"/>
          <p:cNvSpPr txBox="1"/>
          <p:nvPr/>
        </p:nvSpPr>
        <p:spPr>
          <a:xfrm>
            <a:off x="566928" y="2103120"/>
            <a:ext cx="5029200" cy="292608"/>
          </a:xfrm>
          <a:prstGeom prst="rect">
            <a:avLst/>
          </a:prstGeom>
          <a:noFill/>
          <a:ln/>
        </p:spPr>
        <p:txBody>
          <a:bodyPr wrap="square" lIns="0" tIns="0" rIns="0" bIns="0" rtlCol="0" anchor="ctr"/>
          <a:lstStyle/>
          <a:p>
            <a:pPr indent="0" marL="0">
              <a:buNone/>
            </a:pPr>
            <a:r>
              <a:rPr lang="en-US" sz="1400" b="1" dirty="0">
                <a:solidFill>
                  <a:srgbClr val="065A82"/>
                </a:solidFill>
                <a:latin typeface="Cambria" pitchFamily="34" charset="0"/>
                <a:ea typeface="Cambria" pitchFamily="34" charset="-122"/>
                <a:cs typeface="Cambria" pitchFamily="34" charset="-120"/>
              </a:rPr>
              <a:t>Measured channel width</a:t>
            </a:r>
            <a:endParaRPr lang="en-US" sz="1400" dirty="0"/>
          </a:p>
        </p:txBody>
      </p:sp>
      <p:sp>
        <p:nvSpPr>
          <p:cNvPr id="6" name="Text 4"/>
          <p:cNvSpPr txBox="1"/>
          <p:nvPr/>
        </p:nvSpPr>
        <p:spPr>
          <a:xfrm>
            <a:off x="566928" y="2450592"/>
            <a:ext cx="4937760" cy="868680"/>
          </a:xfrm>
          <a:prstGeom prst="rect">
            <a:avLst/>
          </a:prstGeom>
          <a:noFill/>
          <a:ln/>
        </p:spPr>
        <p:txBody>
          <a:bodyPr wrap="square" lIns="0" tIns="0" rIns="0" bIns="0" rtlCol="0" anchor="ctr"/>
          <a:lstStyle/>
          <a:p>
            <a:pPr indent="0" marL="0">
              <a:lnSpc>
                <a:spcPts val="1700"/>
              </a:lnSpc>
              <a:spcAft>
                <a:spcPts val="800"/>
              </a:spcAft>
              <a:buNone/>
            </a:pPr>
            <a:r>
              <a:rPr lang="en-US" sz="1250" dirty="0">
                <a:solidFill>
                  <a:srgbClr val="1A1A1A"/>
                </a:solidFill>
                <a:latin typeface="Calibri" pitchFamily="34" charset="0"/>
                <a:ea typeface="Calibri" pitchFamily="34" charset="-122"/>
                <a:cs typeface="Calibri" pitchFamily="34" charset="-120"/>
              </a:rPr>
              <a:t>Half the channel length of Marsamxett is narrower than 135 m, and a third narrower than 50 m.
</a:t>
            </a:r>
            <a:endParaRPr lang="en-US" sz="1250" dirty="0"/>
          </a:p>
          <a:p>
            <a:pPr indent="0" marL="0">
              <a:lnSpc>
                <a:spcPts val="1700"/>
              </a:lnSpc>
              <a:buNone/>
            </a:pPr>
            <a:r>
              <a:rPr lang="en-US" sz="1250" dirty="0">
                <a:solidFill>
                  <a:srgbClr val="1A1A1A"/>
                </a:solidFill>
                <a:latin typeface="Calibri" pitchFamily="34" charset="0"/>
                <a:ea typeface="Calibri" pitchFamily="34" charset="-122"/>
                <a:cs typeface="Calibri" pitchFamily="34" charset="-120"/>
              </a:rPr>
              <a:t>Four to five cells carry the conveyance of a channel, eight to ten resolve the flow across it.</a:t>
            </a:r>
            <a:endParaRPr lang="en-US" sz="12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3456432"/>
          <a:ext cx="4937760" cy="914400"/>
        </p:xfrm>
        <a:graphic>
          <a:graphicData uri="http://schemas.openxmlformats.org/drawingml/2006/table">
            <a:tbl>
              <a:tblPr/>
              <a:tblGrid>
                <a:gridCol w="3291840"/>
                <a:gridCol w="1645920"/>
              </a:tblGrid>
              <a:tr h="342900">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Zone</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Target</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r>
              <a:tr h="342900">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Inlets and entrances</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1A1A1A"/>
                          </a:solidFill>
                          <a:latin typeface="Calibri" pitchFamily="34" charset="0"/>
                          <a:ea typeface="Calibri" pitchFamily="34" charset="-122"/>
                          <a:cs typeface="Calibri" pitchFamily="34" charset="-120"/>
                        </a:rPr>
                        <a:t>15 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r>
              <a:tr h="342900">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Harbour basins</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algn="r" indent="0" marL="0">
                        <a:buNone/>
                      </a:pPr>
                      <a:r>
                        <a:rPr lang="en-US" sz="1200" b="1" dirty="0">
                          <a:solidFill>
                            <a:srgbClr val="1A1A1A"/>
                          </a:solidFill>
                          <a:latin typeface="Calibri" pitchFamily="34" charset="0"/>
                          <a:ea typeface="Calibri" pitchFamily="34" charset="-122"/>
                          <a:cs typeface="Calibri" pitchFamily="34" charset="-120"/>
                        </a:rPr>
                        <a:t>30 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r>
              <a:tr h="342900">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Nearshore, within 2 km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1A1A1A"/>
                          </a:solidFill>
                          <a:latin typeface="Calibri" pitchFamily="34" charset="0"/>
                          <a:ea typeface="Calibri" pitchFamily="34" charset="-122"/>
                          <a:cs typeface="Calibri" pitchFamily="34" charset="-120"/>
                        </a:rPr>
                        <a:t>100 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r>
              <a:tr h="342900">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Coastal, 2 to 15 km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algn="r" indent="0" marL="0">
                        <a:buNone/>
                      </a:pPr>
                      <a:r>
                        <a:rPr lang="en-US" sz="1200" b="1" dirty="0">
                          <a:solidFill>
                            <a:srgbClr val="1A1A1A"/>
                          </a:solidFill>
                          <a:latin typeface="Calibri" pitchFamily="34" charset="0"/>
                          <a:ea typeface="Calibri" pitchFamily="34" charset="-122"/>
                          <a:cs typeface="Calibri" pitchFamily="34" charset="-120"/>
                        </a:rPr>
                        <a:t>300 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r>
              <a:tr h="342900">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Open plateau</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1A1A1A"/>
                          </a:solidFill>
                          <a:latin typeface="Calibri" pitchFamily="34" charset="0"/>
                          <a:ea typeface="Calibri" pitchFamily="34" charset="-122"/>
                          <a:cs typeface="Calibri" pitchFamily="34" charset="-120"/>
                        </a:rPr>
                        <a:t>1500 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r>
            </a:tbl>
          </a:graphicData>
        </a:graphic>
      </p:graphicFrame>
      <p:sp>
        <p:nvSpPr>
          <p:cNvPr id="8" name="Shape 5"/>
          <p:cNvSpPr/>
          <p:nvPr/>
        </p:nvSpPr>
        <p:spPr>
          <a:xfrm>
            <a:off x="5989320" y="2103120"/>
            <a:ext cx="5632704" cy="1481328"/>
          </a:xfrm>
          <a:prstGeom prst="roundRect">
            <a:avLst>
              <a:gd name="adj" fmla="val 3704"/>
            </a:avLst>
          </a:prstGeom>
          <a:solidFill>
            <a:srgbClr val="EEF3F6"/>
          </a:solidFill>
          <a:ln/>
        </p:spPr>
      </p:sp>
      <p:sp>
        <p:nvSpPr>
          <p:cNvPr id="9" name="Text 6"/>
          <p:cNvSpPr txBox="1"/>
          <p:nvPr/>
        </p:nvSpPr>
        <p:spPr>
          <a:xfrm>
            <a:off x="6263640" y="2286000"/>
            <a:ext cx="5120640" cy="274320"/>
          </a:xfrm>
          <a:prstGeom prst="rect">
            <a:avLst/>
          </a:prstGeom>
          <a:noFill/>
          <a:ln/>
        </p:spPr>
        <p:txBody>
          <a:bodyPr wrap="square" lIns="0" tIns="0" rIns="0" bIns="0" rtlCol="0" anchor="ctr"/>
          <a:lstStyle/>
          <a:p>
            <a:pPr indent="0" marL="0">
              <a:buNone/>
            </a:pPr>
            <a:r>
              <a:rPr lang="en-US" sz="1400" b="1" dirty="0">
                <a:solidFill>
                  <a:srgbClr val="065A82"/>
                </a:solidFill>
                <a:latin typeface="Cambria" pitchFamily="34" charset="0"/>
                <a:ea typeface="Cambria" pitchFamily="34" charset="-122"/>
                <a:cs typeface="Cambria" pitchFamily="34" charset="-120"/>
              </a:rPr>
              <a:t>Mesh and time step</a:t>
            </a:r>
            <a:endParaRPr lang="en-US" sz="1400" dirty="0"/>
          </a:p>
        </p:txBody>
      </p:sp>
      <p:sp>
        <p:nvSpPr>
          <p:cNvPr id="10" name="Text 7"/>
          <p:cNvSpPr txBox="1"/>
          <p:nvPr/>
        </p:nvSpPr>
        <p:spPr>
          <a:xfrm>
            <a:off x="6263640" y="2615184"/>
            <a:ext cx="5120640" cy="868680"/>
          </a:xfrm>
          <a:prstGeom prst="rect">
            <a:avLst/>
          </a:prstGeom>
          <a:noFill/>
          <a:ln/>
        </p:spPr>
        <p:txBody>
          <a:bodyPr wrap="square" lIns="0" tIns="0" rIns="0" bIns="0" rtlCol="0" anchor="ctr"/>
          <a:lstStyle/>
          <a:p>
            <a:pPr indent="0" marL="0">
              <a:lnSpc>
                <a:spcPts val="1600"/>
              </a:lnSpc>
              <a:buNone/>
            </a:pPr>
            <a:r>
              <a:rPr lang="en-US" sz="1200" dirty="0">
                <a:solidFill>
                  <a:srgbClr val="1A1A1A"/>
                </a:solidFill>
                <a:latin typeface="Calibri" pitchFamily="34" charset="0"/>
                <a:ea typeface="Calibri" pitchFamily="34" charset="-122"/>
                <a:cs typeface="Calibri" pitchFamily="34" charset="-120"/>
              </a:rPr>
              <a:t>Approximately 28,500 cells. A time step of 6 to 12 s at Courant 5 to 10 in the finest cells, which samples a 17-minute wave about a hundred times per cycle. The 10 m of the source data is the floor; below 15 m a mesh interpolates rather than resolves.</a:t>
            </a:r>
            <a:endParaRPr lang="en-US" sz="1200" dirty="0"/>
          </a:p>
        </p:txBody>
      </p:sp>
      <p:sp>
        <p:nvSpPr>
          <p:cNvPr id="11" name="Shape 8"/>
          <p:cNvSpPr/>
          <p:nvPr/>
        </p:nvSpPr>
        <p:spPr>
          <a:xfrm>
            <a:off x="5989320" y="3730752"/>
            <a:ext cx="5632704" cy="1874520"/>
          </a:xfrm>
          <a:prstGeom prst="roundRect">
            <a:avLst>
              <a:gd name="adj" fmla="val 2927"/>
            </a:avLst>
          </a:prstGeom>
          <a:solidFill>
            <a:srgbClr val="21295C"/>
          </a:solidFill>
          <a:ln/>
        </p:spPr>
      </p:sp>
      <p:sp>
        <p:nvSpPr>
          <p:cNvPr id="12" name="Text 9"/>
          <p:cNvSpPr txBox="1"/>
          <p:nvPr/>
        </p:nvSpPr>
        <p:spPr>
          <a:xfrm>
            <a:off x="6263640" y="3913632"/>
            <a:ext cx="5120640" cy="274320"/>
          </a:xfrm>
          <a:prstGeom prst="rect">
            <a:avLst/>
          </a:prstGeom>
          <a:noFill/>
          <a:ln/>
        </p:spPr>
        <p:txBody>
          <a:bodyPr wrap="square" lIns="0" tIns="0" rIns="0" bIns="0" rtlCol="0" anchor="ctr"/>
          <a:lstStyle/>
          <a:p>
            <a:pPr indent="0" marL="0">
              <a:buNone/>
            </a:pPr>
            <a:r>
              <a:rPr lang="en-US" sz="1400" b="1" dirty="0">
                <a:solidFill>
                  <a:srgbClr val="EB6834"/>
                </a:solidFill>
                <a:latin typeface="Cambria" pitchFamily="34" charset="0"/>
                <a:ea typeface="Cambria" pitchFamily="34" charset="-122"/>
                <a:cs typeface="Cambria" pitchFamily="34" charset="-120"/>
              </a:rPr>
              <a:t>Vertical, 12 to 15 sigma layers</a:t>
            </a:r>
            <a:endParaRPr lang="en-US" sz="1400" dirty="0"/>
          </a:p>
        </p:txBody>
      </p:sp>
      <p:sp>
        <p:nvSpPr>
          <p:cNvPr id="13" name="Text 10"/>
          <p:cNvSpPr txBox="1"/>
          <p:nvPr/>
        </p:nvSpPr>
        <p:spPr>
          <a:xfrm>
            <a:off x="6263640" y="4242816"/>
            <a:ext cx="5120640" cy="1188720"/>
          </a:xfrm>
          <a:prstGeom prst="rect">
            <a:avLst/>
          </a:prstGeom>
          <a:noFill/>
          <a:ln/>
        </p:spPr>
        <p:txBody>
          <a:bodyPr wrap="square" lIns="0" tIns="0" rIns="0" bIns="0" rtlCol="0" anchor="ctr"/>
          <a:lstStyle/>
          <a:p>
            <a:pPr indent="0" marL="0">
              <a:lnSpc>
                <a:spcPts val="1600"/>
              </a:lnSpc>
              <a:buNone/>
            </a:pPr>
            <a:r>
              <a:rPr lang="en-US" sz="1200" dirty="0">
                <a:solidFill>
                  <a:srgbClr val="CADCFC"/>
                </a:solidFill>
                <a:latin typeface="Calibri" pitchFamily="34" charset="0"/>
                <a:ea typeface="Calibri" pitchFamily="34" charset="-122"/>
                <a:cs typeface="Calibri" pitchFamily="34" charset="-120"/>
              </a:rPr>
              <a:t>The count is set by residence time, not by the seiche, which is barotropic. Fifteen layers give roughly one metre at the bed in the basins.
</a:t>
            </a:r>
            <a:endParaRPr lang="en-US" sz="1200" dirty="0"/>
          </a:p>
          <a:p>
            <a:pPr indent="0" marL="0">
              <a:lnSpc>
                <a:spcPts val="1600"/>
              </a:lnSpc>
              <a:buNone/>
            </a:pPr>
            <a:r>
              <a:rPr lang="en-US" sz="1200" dirty="0">
                <a:solidFill>
                  <a:srgbClr val="CADCFC"/>
                </a:solidFill>
                <a:latin typeface="Calibri" pitchFamily="34" charset="0"/>
                <a:ea typeface="Calibri" pitchFamily="34" charset="-122"/>
                <a:cs typeface="Calibri" pitchFamily="34" charset="-120"/>
              </a:rPr>
              <a:t>Sigma is defensible only because the domain stops short of the escarpment, where the plateau gradient is one part in a thousand.</a:t>
            </a:r>
            <a:endParaRPr lang="en-US" sz="1200" dirty="0"/>
          </a:p>
        </p:txBody>
      </p:sp>
      <p:sp>
        <p:nvSpPr>
          <p:cNvPr id="14" name="Text 11"/>
          <p:cNvSpPr txBox="1"/>
          <p:nvPr/>
        </p:nvSpPr>
        <p:spPr>
          <a:xfrm>
            <a:off x="566928" y="6053328"/>
            <a:ext cx="11055096" cy="310896"/>
          </a:xfrm>
          <a:prstGeom prst="rect">
            <a:avLst/>
          </a:prstGeom>
          <a:noFill/>
          <a:ln/>
        </p:spPr>
        <p:txBody>
          <a:bodyPr wrap="square" lIns="0" tIns="0" rIns="0" bIns="0" rtlCol="0" anchor="ctr"/>
          <a:lstStyle/>
          <a:p>
            <a:pPr indent="0" marL="0">
              <a:buNone/>
            </a:pPr>
            <a:r>
              <a:rPr lang="en-US" sz="1050" i="1" dirty="0">
                <a:solidFill>
                  <a:srgbClr val="5F6368"/>
                </a:solidFill>
                <a:latin typeface="Calibri" pitchFamily="34" charset="0"/>
                <a:ea typeface="Calibri" pitchFamily="34" charset="-122"/>
                <a:cs typeface="Calibri" pitchFamily="34" charset="-120"/>
              </a:rPr>
              <a:t>On the wave side, two nested SWAN grids at 1200 and 250 m. The finer agrees with the group's own downscaling at 1∕500°, arrived at independently.</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indent="0" marL="0">
              <a:buNone/>
            </a:pPr>
            <a:r>
              <a:rPr lang="en-US" sz="1200" b="1" spc="200" kern="0" dirty="0">
                <a:solidFill>
                  <a:srgbClr val="EB6834"/>
                </a:solidFill>
                <a:latin typeface="Calibri" pitchFamily="34" charset="0"/>
                <a:ea typeface="Calibri" pitchFamily="34" charset="-122"/>
                <a:cs typeface="Calibri" pitchFamily="34" charset="-120"/>
              </a:rPr>
              <a:t>PRIOR WORK AND SETTING</a:t>
            </a:r>
            <a:endParaRPr lang="en-US" sz="1200" dirty="0"/>
          </a:p>
        </p:txBody>
      </p:sp>
      <p:sp>
        <p:nvSpPr>
          <p:cNvPr id="3" name="Text 1"/>
          <p:cNvSpPr txBox="1"/>
          <p:nvPr/>
        </p:nvSpPr>
        <p:spPr>
          <a:xfrm>
            <a:off x="566928" y="749808"/>
            <a:ext cx="10424160" cy="658368"/>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What exists, and what it leaves untreated</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indent="0" marL="0">
              <a:buNone/>
            </a:pPr>
            <a:r>
              <a:rPr lang="en-US" sz="1400" dirty="0">
                <a:solidFill>
                  <a:srgbClr val="5F6368"/>
                </a:solidFill>
                <a:latin typeface="Calibri" pitchFamily="34" charset="0"/>
                <a:ea typeface="Calibri" pitchFamily="34" charset="-122"/>
                <a:cs typeface="Calibri" pitchFamily="34" charset="-120"/>
              </a:rPr>
              <a:t>The Grand Harbour has been modelled before, and the host group operates a forecasting system over the same waters.</a:t>
            </a:r>
            <a:endParaRPr lang="en-US" sz="1400" dirty="0"/>
          </a:p>
        </p:txBody>
      </p:sp>
      <p:sp>
        <p:nvSpPr>
          <p:cNvPr id="5" name="Text 3"/>
          <p:cNvSpPr txBox="1"/>
          <p:nvPr/>
        </p:nvSpPr>
        <p:spPr>
          <a:xfrm>
            <a:off x="566928" y="2103120"/>
            <a:ext cx="5394960" cy="292608"/>
          </a:xfrm>
          <a:prstGeom prst="rect">
            <a:avLst/>
          </a:prstGeom>
          <a:noFill/>
          <a:ln/>
        </p:spPr>
        <p:txBody>
          <a:bodyPr wrap="square" lIns="0" tIns="0" rIns="0" bIns="0" rtlCol="0" anchor="ctr"/>
          <a:lstStyle/>
          <a:p>
            <a:pPr indent="0" marL="0">
              <a:buNone/>
            </a:pPr>
            <a:r>
              <a:rPr lang="en-US" sz="1400" b="1" dirty="0">
                <a:solidFill>
                  <a:srgbClr val="065A82"/>
                </a:solidFill>
                <a:latin typeface="Cambria" pitchFamily="34" charset="0"/>
                <a:ea typeface="Cambria" pitchFamily="34" charset="-122"/>
                <a:cs typeface="Cambria" pitchFamily="34" charset="-120"/>
              </a:rPr>
              <a:t>The two studies that bear on the site</a:t>
            </a:r>
            <a:endParaRPr lang="en-US" sz="1400" dirty="0"/>
          </a:p>
        </p:txBody>
      </p:sp>
      <p:sp>
        <p:nvSpPr>
          <p:cNvPr id="6" name="Text 4"/>
          <p:cNvSpPr txBox="1"/>
          <p:nvPr/>
        </p:nvSpPr>
        <p:spPr>
          <a:xfrm>
            <a:off x="566928" y="2468880"/>
            <a:ext cx="5394960" cy="2651760"/>
          </a:xfrm>
          <a:prstGeom prst="rect">
            <a:avLst/>
          </a:prstGeom>
          <a:noFill/>
          <a:ln/>
        </p:spPr>
        <p:txBody>
          <a:bodyPr wrap="square" lIns="0" tIns="0" rIns="0" bIns="0" rtlCol="0" anchor="ctr"/>
          <a:lstStyle/>
          <a:p>
            <a:pPr indent="0" marL="0">
              <a:lnSpc>
                <a:spcPts val="1650"/>
              </a:lnSpc>
              <a:buNone/>
            </a:pPr>
            <a:r>
              <a:rPr lang="en-US" sz="1200" b="1" dirty="0">
                <a:solidFill>
                  <a:srgbClr val="1A1A1A"/>
                </a:solidFill>
                <a:latin typeface="Calibri" pitchFamily="34" charset="0"/>
                <a:ea typeface="Calibri" pitchFamily="34" charset="-122"/>
                <a:cs typeface="Calibri" pitchFamily="34" charset="-120"/>
              </a:rPr>
              <a:t>Mazas and Farrugia, ARTELIA and Infrastructure Malta. </a:t>
            </a:r>
            <a:pPr indent="0" marL="0">
              <a:lnSpc>
                <a:spcPts val="1650"/>
              </a:lnSpc>
              <a:spcAft>
                <a:spcPts val="1000"/>
              </a:spcAft>
              <a:buNone/>
            </a:pPr>
            <a:r>
              <a:rPr lang="en-US" sz="1200" dirty="0">
                <a:solidFill>
                  <a:srgbClr val="1A1A1A"/>
                </a:solidFill>
                <a:latin typeface="Calibri" pitchFamily="34" charset="0"/>
                <a:ea typeface="Calibri" pitchFamily="34" charset="-122"/>
                <a:cs typeface="Calibri" pitchFamily="34" charset="-120"/>
              </a:rPr>
              <a:t>The Grand Harbour modelled for wind-wave agitation in PHAROS, against a directional climate hindcast from 1992 to 2019. Damage in the port documented for the storms of February 2019 and February 2023.
</a:t>
            </a:r>
            <a:endParaRPr lang="en-US" sz="1200" dirty="0"/>
          </a:p>
          <a:p>
            <a:pPr indent="0" marL="0">
              <a:lnSpc>
                <a:spcPts val="1650"/>
              </a:lnSpc>
              <a:buNone/>
            </a:pPr>
            <a:r>
              <a:rPr lang="en-US" sz="1200" b="1" dirty="0">
                <a:solidFill>
                  <a:srgbClr val="1A1A1A"/>
                </a:solidFill>
                <a:latin typeface="Calibri" pitchFamily="34" charset="0"/>
                <a:ea typeface="Calibri" pitchFamily="34" charset="-122"/>
                <a:cs typeface="Calibri" pitchFamily="34" charset="-120"/>
              </a:rPr>
              <a:t>Drago, 2018, the design report of the host group. </a:t>
            </a:r>
            <a:pPr indent="0" marL="0">
              <a:lnSpc>
                <a:spcPts val="1650"/>
              </a:lnSpc>
              <a:buNone/>
            </a:pPr>
            <a:r>
              <a:rPr lang="en-US" sz="1200" dirty="0">
                <a:solidFill>
                  <a:srgbClr val="1A1A1A"/>
                </a:solidFill>
                <a:latin typeface="Calibri" pitchFamily="34" charset="0"/>
                <a:ea typeface="Calibri" pitchFamily="34" charset="-122"/>
                <a:cs typeface="Calibri" pitchFamily="34" charset="-120"/>
              </a:rPr>
              <a:t>A relocatable model setup is requested for ad hoc local domains, and harbour flushing at the five principal harbours appears among the process-model targets, with the Deltares suite among the families to review.</a:t>
            </a:r>
            <a:endParaRPr lang="en-US" sz="1200" dirty="0"/>
          </a:p>
        </p:txBody>
      </p:sp>
      <p:sp>
        <p:nvSpPr>
          <p:cNvPr id="7" name="Shape 5"/>
          <p:cNvSpPr/>
          <p:nvPr/>
        </p:nvSpPr>
        <p:spPr>
          <a:xfrm>
            <a:off x="6355080" y="2103120"/>
            <a:ext cx="5266944" cy="3035808"/>
          </a:xfrm>
          <a:prstGeom prst="roundRect">
            <a:avLst>
              <a:gd name="adj" fmla="val 1807"/>
            </a:avLst>
          </a:prstGeom>
          <a:solidFill>
            <a:srgbClr val="21295C"/>
          </a:solidFill>
          <a:ln/>
        </p:spPr>
      </p:sp>
      <p:sp>
        <p:nvSpPr>
          <p:cNvPr id="8" name="Text 6"/>
          <p:cNvSpPr txBox="1"/>
          <p:nvPr/>
        </p:nvSpPr>
        <p:spPr>
          <a:xfrm>
            <a:off x="6629400" y="2304288"/>
            <a:ext cx="4754880" cy="274320"/>
          </a:xfrm>
          <a:prstGeom prst="rect">
            <a:avLst/>
          </a:prstGeom>
          <a:noFill/>
          <a:ln/>
        </p:spPr>
        <p:txBody>
          <a:bodyPr wrap="square" lIns="0" tIns="0" rIns="0" bIns="0" rtlCol="0" anchor="ctr"/>
          <a:lstStyle/>
          <a:p>
            <a:pPr indent="0" marL="0">
              <a:buNone/>
            </a:pPr>
            <a:r>
              <a:rPr lang="en-US" sz="1400" b="1" dirty="0">
                <a:solidFill>
                  <a:srgbClr val="EB6834"/>
                </a:solidFill>
                <a:latin typeface="Cambria" pitchFamily="34" charset="0"/>
                <a:ea typeface="Cambria" pitchFamily="34" charset="-122"/>
                <a:cs typeface="Cambria" pitchFamily="34" charset="-120"/>
              </a:rPr>
              <a:t>Operated by the host group</a:t>
            </a:r>
            <a:endParaRPr lang="en-US" sz="1400" dirty="0"/>
          </a:p>
        </p:txBody>
      </p:sp>
      <p:sp>
        <p:nvSpPr>
          <p:cNvPr id="9" name="Text 7"/>
          <p:cNvSpPr txBox="1"/>
          <p:nvPr/>
        </p:nvSpPr>
        <p:spPr>
          <a:xfrm>
            <a:off x="6629400" y="2651760"/>
            <a:ext cx="4754880" cy="2331720"/>
          </a:xfrm>
          <a:prstGeom prst="rect">
            <a:avLst/>
          </a:prstGeom>
          <a:noFill/>
          <a:ln/>
        </p:spPr>
        <p:txBody>
          <a:bodyPr wrap="square" lIns="0" tIns="0" rIns="0" bIns="0" rtlCol="0" anchor="ctr"/>
          <a:lstStyle/>
          <a:p>
            <a:pPr marL="342900" indent="-342900">
              <a:lnSpc>
                <a:spcPts val="1500"/>
              </a:lnSpc>
              <a:spcAft>
                <a:spcPts val="800"/>
              </a:spcAft>
              <a:buSzPct val="100000"/>
              <a:buChar char="•"/>
            </a:pPr>
            <a:r>
              <a:rPr lang="en-US" sz="1150" dirty="0">
                <a:solidFill>
                  <a:srgbClr val="CADCFC"/>
                </a:solidFill>
                <a:latin typeface="Calibri" pitchFamily="34" charset="0"/>
                <a:ea typeface="Calibri" pitchFamily="34" charset="-122"/>
                <a:cs typeface="Calibri" pitchFamily="34" charset="-120"/>
              </a:rPr>
              <a:t>ROSARIO, Princeton Ocean Model, 1∕64° and 1∕96°, nested into CMEMS.</a:t>
            </a:r>
            <a:endParaRPr lang="en-US" sz="1150" dirty="0"/>
          </a:p>
          <a:p>
            <a:pPr marL="342900" indent="-342900">
              <a:lnSpc>
                <a:spcPts val="1500"/>
              </a:lnSpc>
              <a:spcAft>
                <a:spcPts val="800"/>
              </a:spcAft>
              <a:buSzPct val="100000"/>
              <a:buChar char="•"/>
            </a:pPr>
            <a:r>
              <a:rPr lang="en-US" sz="1150" dirty="0">
                <a:solidFill>
                  <a:srgbClr val="CADCFC"/>
                </a:solidFill>
                <a:latin typeface="Calibri" pitchFamily="34" charset="0"/>
                <a:ea typeface="Calibri" pitchFamily="34" charset="-122"/>
                <a:cs typeface="Calibri" pitchFamily="34" charset="-120"/>
              </a:rPr>
              <a:t>SWAN downscaled to the embayments at 1∕500°, about 200 m.</a:t>
            </a:r>
            <a:endParaRPr lang="en-US" sz="1150" dirty="0"/>
          </a:p>
          <a:p>
            <a:pPr marL="342900" indent="-342900">
              <a:lnSpc>
                <a:spcPts val="1500"/>
              </a:lnSpc>
              <a:spcAft>
                <a:spcPts val="800"/>
              </a:spcAft>
              <a:buSzPct val="100000"/>
              <a:buChar char="•"/>
            </a:pPr>
            <a:r>
              <a:rPr lang="en-US" sz="1150" dirty="0">
                <a:solidFill>
                  <a:srgbClr val="CADCFC"/>
                </a:solidFill>
                <a:latin typeface="Calibri" pitchFamily="34" charset="0"/>
                <a:ea typeface="Calibri" pitchFamily="34" charset="-122"/>
                <a:cs typeface="Calibri" pitchFamily="34" charset="-120"/>
              </a:rPr>
              <a:t>ROSARIO-SHYFEM, unstructured, three-dimensional, operational to a four-day forecast, from a few kilometres to 50 m at the coast, with Lagrangian particle tracking.</a:t>
            </a:r>
            <a:endParaRPr lang="en-US" sz="1150" dirty="0"/>
          </a:p>
          <a:p>
            <a:pPr marL="342900" indent="-342900">
              <a:lnSpc>
                <a:spcPts val="1500"/>
              </a:lnSpc>
              <a:buSzPct val="100000"/>
              <a:buChar char="•"/>
            </a:pPr>
            <a:r>
              <a:rPr lang="en-US" sz="1150" dirty="0">
                <a:solidFill>
                  <a:srgbClr val="CADCFC"/>
                </a:solidFill>
                <a:latin typeface="Calibri" pitchFamily="34" charset="0"/>
                <a:ea typeface="Calibri" pitchFamily="34" charset="-122"/>
                <a:cs typeface="Calibri" pitchFamily="34" charset="-120"/>
              </a:rPr>
              <a:t>Boundary conditions derived from CMEMS, which is what this project does also.</a:t>
            </a:r>
            <a:endParaRPr lang="en-US" sz="1150" dirty="0"/>
          </a:p>
        </p:txBody>
      </p:sp>
      <p:sp>
        <p:nvSpPr>
          <p:cNvPr id="10" name="Shape 8"/>
          <p:cNvSpPr/>
          <p:nvPr/>
        </p:nvSpPr>
        <p:spPr>
          <a:xfrm>
            <a:off x="566928" y="5321808"/>
            <a:ext cx="11055096" cy="841248"/>
          </a:xfrm>
          <a:prstGeom prst="roundRect">
            <a:avLst>
              <a:gd name="adj" fmla="val 6522"/>
            </a:avLst>
          </a:prstGeom>
          <a:solidFill>
            <a:srgbClr val="EEF3F6"/>
          </a:solidFill>
          <a:ln/>
        </p:spPr>
      </p:sp>
      <p:sp>
        <p:nvSpPr>
          <p:cNvPr id="11" name="Text 9"/>
          <p:cNvSpPr txBox="1"/>
          <p:nvPr/>
        </p:nvSpPr>
        <p:spPr>
          <a:xfrm>
            <a:off x="886968" y="5477256"/>
            <a:ext cx="10424160" cy="566928"/>
          </a:xfrm>
          <a:prstGeom prst="rect">
            <a:avLst/>
          </a:prstGeom>
          <a:noFill/>
          <a:ln/>
        </p:spPr>
        <p:txBody>
          <a:bodyPr wrap="square" lIns="0" tIns="0" rIns="0" bIns="0" rtlCol="0" anchor="ctr"/>
          <a:lstStyle/>
          <a:p>
            <a:pPr indent="0" marL="0">
              <a:lnSpc>
                <a:spcPts val="1600"/>
              </a:lnSpc>
              <a:buNone/>
            </a:pPr>
            <a:r>
              <a:rPr lang="en-US" sz="1200" b="1" dirty="0">
                <a:solidFill>
                  <a:srgbClr val="1A1A1A"/>
                </a:solidFill>
                <a:latin typeface="Calibri" pitchFamily="34" charset="0"/>
                <a:ea typeface="Calibri" pitchFamily="34" charset="-122"/>
                <a:cs typeface="Calibri" pitchFamily="34" charset="-120"/>
              </a:rPr>
              <a:t>The present work is an independent exercise for the research period. </a:t>
            </a:r>
            <a:pPr indent="0" marL="0">
              <a:lnSpc>
                <a:spcPts val="1600"/>
              </a:lnSpc>
              <a:buNone/>
            </a:pPr>
            <a:r>
              <a:rPr lang="en-US" sz="1200" dirty="0">
                <a:solidFill>
                  <a:srgbClr val="1A1A1A"/>
                </a:solidFill>
                <a:latin typeface="Calibri" pitchFamily="34" charset="0"/>
                <a:ea typeface="Calibri" pitchFamily="34" charset="-122"/>
                <a:cs typeface="Calibri" pitchFamily="34" charset="-120"/>
              </a:rPr>
              <a:t>It differs in the resolution inside the basins, 15 to 30 m against 50 m, in the coupling to a spectral wave model, and in the frequency band it addresses.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indent="0" marL="0">
              <a:buNone/>
            </a:pPr>
            <a:r>
              <a:rPr lang="en-US" sz="1200" b="1" spc="200" kern="0" dirty="0">
                <a:solidFill>
                  <a:srgbClr val="EB6834"/>
                </a:solidFill>
                <a:latin typeface="Calibri" pitchFamily="34" charset="0"/>
                <a:ea typeface="Calibri" pitchFamily="34" charset="-122"/>
                <a:cs typeface="Calibri" pitchFamily="34" charset="-120"/>
              </a:rPr>
              <a:t>RESEARCH QUESTION</a:t>
            </a:r>
            <a:endParaRPr lang="en-US" sz="1200" dirty="0"/>
          </a:p>
        </p:txBody>
      </p:sp>
      <p:sp>
        <p:nvSpPr>
          <p:cNvPr id="3" name="Text 1"/>
          <p:cNvSpPr txBox="1"/>
          <p:nvPr/>
        </p:nvSpPr>
        <p:spPr>
          <a:xfrm>
            <a:off x="566928" y="749808"/>
            <a:ext cx="10424160" cy="658368"/>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A proposed question, for the group to judge</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indent="0" marL="0">
              <a:buNone/>
            </a:pPr>
            <a:r>
              <a:rPr lang="en-US" sz="1400" dirty="0">
                <a:solidFill>
                  <a:srgbClr val="5F6368"/>
                </a:solidFill>
                <a:latin typeface="Calibri" pitchFamily="34" charset="0"/>
                <a:ea typeface="Calibri" pitchFamily="34" charset="-122"/>
                <a:cs typeface="Calibri" pitchFamily="34" charset="-120"/>
              </a:rPr>
              <a:t>Drafted this week and put to the group before it is committed to.</a:t>
            </a:r>
            <a:endParaRPr lang="en-US" sz="1400" dirty="0"/>
          </a:p>
        </p:txBody>
      </p:sp>
      <p:sp>
        <p:nvSpPr>
          <p:cNvPr id="5" name="Shape 3"/>
          <p:cNvSpPr/>
          <p:nvPr/>
        </p:nvSpPr>
        <p:spPr>
          <a:xfrm>
            <a:off x="566928" y="2139696"/>
            <a:ext cx="11055096" cy="1298448"/>
          </a:xfrm>
          <a:prstGeom prst="roundRect">
            <a:avLst>
              <a:gd name="adj" fmla="val 4225"/>
            </a:avLst>
          </a:prstGeom>
          <a:solidFill>
            <a:srgbClr val="EEF3F6"/>
          </a:solidFill>
          <a:ln/>
        </p:spPr>
      </p:sp>
      <p:sp>
        <p:nvSpPr>
          <p:cNvPr id="6" name="Text 4"/>
          <p:cNvSpPr txBox="1"/>
          <p:nvPr/>
        </p:nvSpPr>
        <p:spPr>
          <a:xfrm>
            <a:off x="886968" y="2350008"/>
            <a:ext cx="10424160" cy="914400"/>
          </a:xfrm>
          <a:prstGeom prst="rect">
            <a:avLst/>
          </a:prstGeom>
          <a:noFill/>
          <a:ln/>
        </p:spPr>
        <p:txBody>
          <a:bodyPr wrap="square" lIns="0" tIns="0" rIns="0" bIns="0" rtlCol="0" anchor="ctr"/>
          <a:lstStyle/>
          <a:p>
            <a:pPr indent="0" marL="0">
              <a:lnSpc>
                <a:spcPts val="2100"/>
              </a:lnSpc>
              <a:buNone/>
            </a:pPr>
            <a:r>
              <a:rPr lang="en-US" sz="1500" i="1" dirty="0">
                <a:solidFill>
                  <a:srgbClr val="1A1A1A"/>
                </a:solidFill>
                <a:latin typeface="Cambria" pitchFamily="34" charset="0"/>
                <a:ea typeface="Cambria" pitchFamily="34" charset="-122"/>
                <a:cs typeface="Cambria" pitchFamily="34" charset="-120"/>
              </a:rPr>
              <a:t>Of the amplification between the open sea and the heads of the Valletta harbours, how is it partitioned between Proudman resonance over the plateau, shoaling on the approach, and resonance of the basins themselves, and which atmospheric disturbance speeds and directions maximise that chain?</a:t>
            </a:r>
            <a:endParaRPr lang="en-US" sz="1500" dirty="0"/>
          </a:p>
        </p:txBody>
      </p:sp>
      <p:sp>
        <p:nvSpPr>
          <p:cNvPr id="7" name="Text 5"/>
          <p:cNvSpPr txBox="1"/>
          <p:nvPr/>
        </p:nvSpPr>
        <p:spPr>
          <a:xfrm>
            <a:off x="566928" y="3721608"/>
            <a:ext cx="5212080" cy="292608"/>
          </a:xfrm>
          <a:prstGeom prst="rect">
            <a:avLst/>
          </a:prstGeom>
          <a:noFill/>
          <a:ln/>
        </p:spPr>
        <p:txBody>
          <a:bodyPr wrap="square" lIns="0" tIns="0" rIns="0" bIns="0" rtlCol="0" anchor="ctr"/>
          <a:lstStyle/>
          <a:p>
            <a:pPr indent="0" marL="0">
              <a:buNone/>
            </a:pPr>
            <a:r>
              <a:rPr lang="en-US" sz="1400" b="1" dirty="0">
                <a:solidFill>
                  <a:srgbClr val="065A82"/>
                </a:solidFill>
                <a:latin typeface="Cambria" pitchFamily="34" charset="0"/>
                <a:ea typeface="Cambria" pitchFamily="34" charset="-122"/>
                <a:cs typeface="Cambria" pitchFamily="34" charset="-120"/>
              </a:rPr>
              <a:t>Basis for the formulation</a:t>
            </a:r>
            <a:endParaRPr lang="en-US" sz="1400" dirty="0"/>
          </a:p>
        </p:txBody>
      </p:sp>
      <p:sp>
        <p:nvSpPr>
          <p:cNvPr id="8" name="Text 6"/>
          <p:cNvSpPr txBox="1"/>
          <p:nvPr/>
        </p:nvSpPr>
        <p:spPr>
          <a:xfrm>
            <a:off x="566928" y="4069080"/>
            <a:ext cx="5212080" cy="1737360"/>
          </a:xfrm>
          <a:prstGeom prst="rect">
            <a:avLst/>
          </a:prstGeom>
          <a:noFill/>
          <a:ln/>
        </p:spPr>
        <p:txBody>
          <a:bodyPr wrap="square" lIns="0" tIns="0" rIns="0" bIns="0" rtlCol="0" anchor="ctr"/>
          <a:lstStyle/>
          <a:p>
            <a:pPr marL="342900" indent="-342900">
              <a:lnSpc>
                <a:spcPts val="1600"/>
              </a:lnSpc>
              <a:spcAft>
                <a:spcPts val="700"/>
              </a:spcAft>
              <a:buSzPct val="100000"/>
              <a:buChar char="•"/>
            </a:pPr>
            <a:r>
              <a:rPr lang="en-US" sz="1200" dirty="0">
                <a:solidFill>
                  <a:srgbClr val="1A1A1A"/>
                </a:solidFill>
                <a:latin typeface="Calibri" pitchFamily="34" charset="0"/>
                <a:ea typeface="Calibri" pitchFamily="34" charset="-122"/>
                <a:cs typeface="Calibri" pitchFamily="34" charset="-120"/>
              </a:rPr>
              <a:t>It is framed so that answering it requires a model. No arrangement of gauges separates the three stages of amplification from one another.</a:t>
            </a:r>
            <a:endParaRPr lang="en-US" sz="1200" dirty="0"/>
          </a:p>
          <a:p>
            <a:pPr marL="342900" indent="-342900">
              <a:lnSpc>
                <a:spcPts val="1600"/>
              </a:lnSpc>
              <a:spcAft>
                <a:spcPts val="700"/>
              </a:spcAft>
              <a:buSzPct val="100000"/>
              <a:buChar char="•"/>
            </a:pPr>
            <a:r>
              <a:rPr lang="en-US" sz="1200" dirty="0">
                <a:solidFill>
                  <a:srgbClr val="1A1A1A"/>
                </a:solidFill>
                <a:latin typeface="Calibri" pitchFamily="34" charset="0"/>
                <a:ea typeface="Calibri" pitchFamily="34" charset="-122"/>
                <a:cs typeface="Calibri" pitchFamily="34" charset="-120"/>
              </a:rPr>
              <a:t>It is framed so that it does not repeat the prior work, which treats the response of a basin to a wave already present at its boundary.</a:t>
            </a:r>
            <a:endParaRPr lang="en-US" sz="1200" dirty="0"/>
          </a:p>
          <a:p>
            <a:pPr marL="342900" indent="-342900">
              <a:lnSpc>
                <a:spcPts val="1600"/>
              </a:lnSpc>
              <a:buSzPct val="100000"/>
              <a:buChar char="•"/>
            </a:pPr>
            <a:r>
              <a:rPr lang="en-US" sz="1200" dirty="0">
                <a:solidFill>
                  <a:srgbClr val="1A1A1A"/>
                </a:solidFill>
                <a:latin typeface="Calibri" pitchFamily="34" charset="0"/>
                <a:ea typeface="Calibri" pitchFamily="34" charset="-122"/>
                <a:cs typeface="Calibri" pitchFamily="34" charset="-120"/>
              </a:rPr>
              <a:t>Should the group judge the standing of that prior work differently, the formulation changes with it.</a:t>
            </a:r>
            <a:endParaRPr lang="en-US" sz="1200" dirty="0"/>
          </a:p>
        </p:txBody>
      </p:sp>
      <p:sp>
        <p:nvSpPr>
          <p:cNvPr id="9" name="Text 7"/>
          <p:cNvSpPr txBox="1"/>
          <p:nvPr/>
        </p:nvSpPr>
        <p:spPr>
          <a:xfrm>
            <a:off x="6355080" y="3721608"/>
            <a:ext cx="5212080" cy="292608"/>
          </a:xfrm>
          <a:prstGeom prst="rect">
            <a:avLst/>
          </a:prstGeom>
          <a:noFill/>
          <a:ln/>
        </p:spPr>
        <p:txBody>
          <a:bodyPr wrap="square" lIns="0" tIns="0" rIns="0" bIns="0" rtlCol="0" anchor="ctr"/>
          <a:lstStyle/>
          <a:p>
            <a:pPr indent="0" marL="0">
              <a:buNone/>
            </a:pPr>
            <a:r>
              <a:rPr lang="en-US" sz="1400" b="1" dirty="0">
                <a:solidFill>
                  <a:srgbClr val="EB6834"/>
                </a:solidFill>
                <a:latin typeface="Cambria" pitchFamily="34" charset="0"/>
                <a:ea typeface="Cambria" pitchFamily="34" charset="-122"/>
                <a:cs typeface="Cambria" pitchFamily="34" charset="-120"/>
              </a:rPr>
              <a:t>What the prior work already covers</a:t>
            </a:r>
            <a:endParaRPr lang="en-US" sz="1400" dirty="0"/>
          </a:p>
        </p:txBody>
      </p:sp>
      <p:sp>
        <p:nvSpPr>
          <p:cNvPr id="10" name="Text 8"/>
          <p:cNvSpPr txBox="1"/>
          <p:nvPr/>
        </p:nvSpPr>
        <p:spPr>
          <a:xfrm>
            <a:off x="6355080" y="4069080"/>
            <a:ext cx="5266944" cy="1737360"/>
          </a:xfrm>
          <a:prstGeom prst="rect">
            <a:avLst/>
          </a:prstGeom>
          <a:noFill/>
          <a:ln/>
        </p:spPr>
        <p:txBody>
          <a:bodyPr wrap="square" lIns="0" tIns="0" rIns="0" bIns="0" rtlCol="0" anchor="ctr"/>
          <a:lstStyle/>
          <a:p>
            <a:pPr marL="342900" indent="-342900">
              <a:lnSpc>
                <a:spcPts val="1600"/>
              </a:lnSpc>
              <a:spcAft>
                <a:spcPts val="700"/>
              </a:spcAft>
              <a:buSzPct val="100000"/>
              <a:buChar char="•"/>
            </a:pPr>
            <a:r>
              <a:rPr lang="en-US" sz="1200" dirty="0">
                <a:solidFill>
                  <a:srgbClr val="1A1A1A"/>
                </a:solidFill>
                <a:latin typeface="Calibri" pitchFamily="34" charset="0"/>
                <a:ea typeface="Calibri" pitchFamily="34" charset="-122"/>
                <a:cs typeface="Calibri" pitchFamily="34" charset="-120"/>
              </a:rPr>
              <a:t>Maltese coastal seiches were modelled in 2007, in a two-dimensional depth-averaged POM, for Mellieħa and St Paul's Bay, forced by a prescribed offshore long wave.</a:t>
            </a:r>
            <a:endParaRPr lang="en-US" sz="1200" dirty="0"/>
          </a:p>
          <a:p>
            <a:pPr marL="342900" indent="-342900">
              <a:lnSpc>
                <a:spcPts val="1600"/>
              </a:lnSpc>
              <a:spcAft>
                <a:spcPts val="700"/>
              </a:spcAft>
              <a:buSzPct val="100000"/>
              <a:buChar char="•"/>
            </a:pPr>
            <a:r>
              <a:rPr lang="en-US" sz="1200" dirty="0">
                <a:solidFill>
                  <a:srgbClr val="1A1A1A"/>
                </a:solidFill>
                <a:latin typeface="Calibri" pitchFamily="34" charset="0"/>
                <a:ea typeface="Calibri" pitchFamily="34" charset="-122"/>
                <a:cs typeface="Calibri" pitchFamily="34" charset="-120"/>
              </a:rPr>
              <a:t>The Grand Harbour itself was modelled by ARTELIA in PHAROS, for wind-wave agitation, against a directional climate hindcast from 1992 to 2019.</a:t>
            </a:r>
            <a:endParaRPr lang="en-US" sz="1200" dirty="0"/>
          </a:p>
          <a:p>
            <a:pPr marL="342900" indent="-342900">
              <a:lnSpc>
                <a:spcPts val="1600"/>
              </a:lnSpc>
              <a:buSzPct val="100000"/>
              <a:buChar char="•"/>
            </a:pPr>
            <a:r>
              <a:rPr lang="en-US" sz="1200" dirty="0">
                <a:solidFill>
                  <a:srgbClr val="1A1A1A"/>
                </a:solidFill>
                <a:latin typeface="Calibri" pitchFamily="34" charset="0"/>
                <a:ea typeface="Calibri" pitchFamily="34" charset="-122"/>
                <a:cs typeface="Calibri" pitchFamily="34" charset="-120"/>
              </a:rPr>
              <a:t>What neither treats is the generation of the long wave, the circulation of the harbour, or its renewal.</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indent="0" marL="0">
              <a:buNone/>
            </a:pPr>
            <a:r>
              <a:rPr lang="en-US" sz="1200" b="1" spc="200" kern="0" dirty="0">
                <a:solidFill>
                  <a:srgbClr val="EB6834"/>
                </a:solidFill>
                <a:latin typeface="Calibri" pitchFamily="34" charset="0"/>
                <a:ea typeface="Calibri" pitchFamily="34" charset="-122"/>
                <a:cs typeface="Calibri" pitchFamily="34" charset="-120"/>
              </a:rPr>
              <a:t>A SECOND QUESTION</a:t>
            </a:r>
            <a:endParaRPr lang="en-US" sz="1200" dirty="0"/>
          </a:p>
        </p:txBody>
      </p:sp>
      <p:sp>
        <p:nvSpPr>
          <p:cNvPr id="3" name="Text 1"/>
          <p:cNvSpPr txBox="1"/>
          <p:nvPr/>
        </p:nvSpPr>
        <p:spPr>
          <a:xfrm>
            <a:off x="566928" y="749808"/>
            <a:ext cx="10424160" cy="658368"/>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The basin is sensitive to the geometry of its mouth</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indent="0" marL="0">
              <a:buNone/>
            </a:pPr>
            <a:r>
              <a:rPr lang="en-US" sz="1400" dirty="0">
                <a:solidFill>
                  <a:srgbClr val="5F6368"/>
                </a:solidFill>
                <a:latin typeface="Calibri" pitchFamily="34" charset="0"/>
                <a:ea typeface="Calibri" pitchFamily="34" charset="-122"/>
                <a:cs typeface="Calibri" pitchFamily="34" charset="-120"/>
              </a:rPr>
              <a:t>An academic sensitivity on the class of basin, put to the group for judgement. No particular design is represented.</a:t>
            </a:r>
            <a:endParaRPr lang="en-US" sz="1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 y="2286000"/>
          <a:ext cx="6492240" cy="914400"/>
        </p:xfrm>
        <a:graphic>
          <a:graphicData uri="http://schemas.openxmlformats.org/drawingml/2006/table">
            <a:tbl>
              <a:tblPr/>
              <a:tblGrid>
                <a:gridCol w="2834640"/>
                <a:gridCol w="2011680"/>
                <a:gridCol w="1645920"/>
              </a:tblGrid>
              <a:tr h="365760">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Restriction of the mouth section</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Pumping period</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Grand Harbour</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r>
              <a:tr h="365760">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none</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reference</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12.4 to 17.5 min</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25 per cent</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+15.5 %</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14.3 to 20.2 min</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r>
              <a:tr h="365760">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50 per cent</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+41.4 %</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17.5 to 24.7 min</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66 per cent</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+71.5 %</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21.2 to 30.0 min</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r>
            </a:tbl>
          </a:graphicData>
        </a:graphic>
      </p:graphicFrame>
      <p:sp>
        <p:nvSpPr>
          <p:cNvPr id="6" name="Text 3"/>
          <p:cNvSpPr txBox="1"/>
          <p:nvPr/>
        </p:nvSpPr>
        <p:spPr>
          <a:xfrm>
            <a:off x="566928" y="4224528"/>
            <a:ext cx="6492240" cy="731520"/>
          </a:xfrm>
          <a:prstGeom prst="rect">
            <a:avLst/>
          </a:prstGeom>
          <a:noFill/>
          <a:ln/>
        </p:spPr>
        <p:txBody>
          <a:bodyPr wrap="square" lIns="0" tIns="0" rIns="0" bIns="0" rtlCol="0" anchor="ctr"/>
          <a:lstStyle/>
          <a:p>
            <a:pPr indent="0" marL="0">
              <a:lnSpc>
                <a:spcPts val="1550"/>
              </a:lnSpc>
              <a:buNone/>
            </a:pPr>
            <a:r>
              <a:rPr lang="en-US" sz="1150" dirty="0">
                <a:solidFill>
                  <a:srgbClr val="5F6368"/>
                </a:solidFill>
                <a:latin typeface="Calibri" pitchFamily="34" charset="0"/>
                <a:ea typeface="Calibri" pitchFamily="34" charset="-122"/>
                <a:cs typeface="Calibri" pitchFamily="34" charset="-120"/>
              </a:rPr>
              <a:t>The period scales as the inverse square root of the open cross-section, so the shift is independent of basin area and of the length of the channel. Exchange scales with the section directly, and responds more strongly still.</a:t>
            </a:r>
            <a:endParaRPr lang="en-US" sz="1150" dirty="0"/>
          </a:p>
        </p:txBody>
      </p:sp>
      <p:sp>
        <p:nvSpPr>
          <p:cNvPr id="7" name="Shape 4"/>
          <p:cNvSpPr/>
          <p:nvPr/>
        </p:nvSpPr>
        <p:spPr>
          <a:xfrm>
            <a:off x="7360920" y="2286000"/>
            <a:ext cx="4261104" cy="1572768"/>
          </a:xfrm>
          <a:prstGeom prst="roundRect">
            <a:avLst>
              <a:gd name="adj" fmla="val 3488"/>
            </a:avLst>
          </a:prstGeom>
          <a:solidFill>
            <a:srgbClr val="EEF3F6"/>
          </a:solidFill>
          <a:ln/>
        </p:spPr>
      </p:sp>
      <p:sp>
        <p:nvSpPr>
          <p:cNvPr id="8" name="Text 5"/>
          <p:cNvSpPr txBox="1"/>
          <p:nvPr/>
        </p:nvSpPr>
        <p:spPr>
          <a:xfrm>
            <a:off x="7635240" y="2450592"/>
            <a:ext cx="3749040" cy="274320"/>
          </a:xfrm>
          <a:prstGeom prst="rect">
            <a:avLst/>
          </a:prstGeom>
          <a:noFill/>
          <a:ln/>
        </p:spPr>
        <p:txBody>
          <a:bodyPr wrap="square" lIns="0" tIns="0" rIns="0" bIns="0" rtlCol="0" anchor="ctr"/>
          <a:lstStyle/>
          <a:p>
            <a:pPr indent="0" marL="0">
              <a:buNone/>
            </a:pPr>
            <a:r>
              <a:rPr lang="en-US" sz="1350" b="1" dirty="0">
                <a:solidFill>
                  <a:srgbClr val="065A82"/>
                </a:solidFill>
                <a:latin typeface="Cambria" pitchFamily="34" charset="0"/>
                <a:ea typeface="Cambria" pitchFamily="34" charset="-122"/>
                <a:cs typeface="Cambria" pitchFamily="34" charset="-120"/>
              </a:rPr>
              <a:t>The magnitude in context</a:t>
            </a:r>
            <a:endParaRPr lang="en-US" sz="1350" dirty="0"/>
          </a:p>
        </p:txBody>
      </p:sp>
      <p:sp>
        <p:nvSpPr>
          <p:cNvPr id="9" name="Text 6"/>
          <p:cNvSpPr txBox="1"/>
          <p:nvPr/>
        </p:nvSpPr>
        <p:spPr>
          <a:xfrm>
            <a:off x="7635240" y="2779776"/>
            <a:ext cx="3749040" cy="960120"/>
          </a:xfrm>
          <a:prstGeom prst="rect">
            <a:avLst/>
          </a:prstGeom>
          <a:noFill/>
          <a:ln/>
        </p:spPr>
        <p:txBody>
          <a:bodyPr wrap="square" lIns="0" tIns="0" rIns="0" bIns="0" rtlCol="0" anchor="ctr"/>
          <a:lstStyle/>
          <a:p>
            <a:pPr indent="0" marL="0">
              <a:lnSpc>
                <a:spcPts val="1550"/>
              </a:lnSpc>
              <a:buNone/>
            </a:pPr>
            <a:r>
              <a:rPr lang="en-US" sz="1150" dirty="0">
                <a:solidFill>
                  <a:srgbClr val="1A1A1A"/>
                </a:solidFill>
                <a:latin typeface="Calibri" pitchFamily="34" charset="0"/>
                <a:ea typeface="Calibri" pitchFamily="34" charset="-122"/>
                <a:cs typeface="Calibri" pitchFamily="34" charset="-120"/>
              </a:rPr>
              <a:t>A metre of sea level rise displaces these modes by one to four per cent. A restriction of a quarter displaces them four times as far. The geometry of the mouth is the dominant control.</a:t>
            </a:r>
            <a:endParaRPr lang="en-US" sz="1150" dirty="0"/>
          </a:p>
        </p:txBody>
      </p:sp>
      <p:sp>
        <p:nvSpPr>
          <p:cNvPr id="10" name="Shape 7"/>
          <p:cNvSpPr/>
          <p:nvPr/>
        </p:nvSpPr>
        <p:spPr>
          <a:xfrm>
            <a:off x="7360920" y="4005072"/>
            <a:ext cx="4261104" cy="1572768"/>
          </a:xfrm>
          <a:prstGeom prst="roundRect">
            <a:avLst>
              <a:gd name="adj" fmla="val 3488"/>
            </a:avLst>
          </a:prstGeom>
          <a:solidFill>
            <a:srgbClr val="21295C"/>
          </a:solidFill>
          <a:ln/>
        </p:spPr>
      </p:sp>
      <p:sp>
        <p:nvSpPr>
          <p:cNvPr id="11" name="Text 8"/>
          <p:cNvSpPr txBox="1"/>
          <p:nvPr/>
        </p:nvSpPr>
        <p:spPr>
          <a:xfrm>
            <a:off x="7635240" y="4169664"/>
            <a:ext cx="3749040" cy="274320"/>
          </a:xfrm>
          <a:prstGeom prst="rect">
            <a:avLst/>
          </a:prstGeom>
          <a:noFill/>
          <a:ln/>
        </p:spPr>
        <p:txBody>
          <a:bodyPr wrap="square" lIns="0" tIns="0" rIns="0" bIns="0" rtlCol="0" anchor="ctr"/>
          <a:lstStyle/>
          <a:p>
            <a:pPr indent="0" marL="0">
              <a:buNone/>
            </a:pPr>
            <a:r>
              <a:rPr lang="en-US" sz="1350" b="1" dirty="0">
                <a:solidFill>
                  <a:srgbClr val="EB6834"/>
                </a:solidFill>
                <a:latin typeface="Cambria" pitchFamily="34" charset="0"/>
                <a:ea typeface="Cambria" pitchFamily="34" charset="-122"/>
                <a:cs typeface="Cambria" pitchFamily="34" charset="-120"/>
              </a:rPr>
              <a:t>The limit of the result</a:t>
            </a:r>
            <a:endParaRPr lang="en-US" sz="1350" dirty="0"/>
          </a:p>
        </p:txBody>
      </p:sp>
      <p:sp>
        <p:nvSpPr>
          <p:cNvPr id="12" name="Text 9"/>
          <p:cNvSpPr txBox="1"/>
          <p:nvPr/>
        </p:nvSpPr>
        <p:spPr>
          <a:xfrm>
            <a:off x="7635240" y="4498848"/>
            <a:ext cx="3749040" cy="960120"/>
          </a:xfrm>
          <a:prstGeom prst="rect">
            <a:avLst/>
          </a:prstGeom>
          <a:noFill/>
          <a:ln/>
        </p:spPr>
        <p:txBody>
          <a:bodyPr wrap="square" lIns="0" tIns="0" rIns="0" bIns="0" rtlCol="0" anchor="ctr"/>
          <a:lstStyle/>
          <a:p>
            <a:pPr indent="0" marL="0">
              <a:lnSpc>
                <a:spcPts val="1550"/>
              </a:lnSpc>
              <a:buNone/>
            </a:pPr>
            <a:r>
              <a:rPr lang="en-US" sz="1150" dirty="0">
                <a:solidFill>
                  <a:srgbClr val="CADCFC"/>
                </a:solidFill>
                <a:latin typeface="Calibri" pitchFamily="34" charset="0"/>
                <a:ea typeface="Calibri" pitchFamily="34" charset="-122"/>
                <a:cs typeface="Calibri" pitchFamily="34" charset="-120"/>
              </a:rPr>
              <a:t>Reaching the observed band would require the mouth to lose two thirds of its section. The conclusion that the harbours respond rather than resonate stands.</a:t>
            </a:r>
            <a:endParaRPr lang="en-US" sz="1150" dirty="0"/>
          </a:p>
        </p:txBody>
      </p:sp>
      <p:sp>
        <p:nvSpPr>
          <p:cNvPr id="13" name="Text 10"/>
          <p:cNvSpPr txBox="1"/>
          <p:nvPr/>
        </p:nvSpPr>
        <p:spPr>
          <a:xfrm>
            <a:off x="566928" y="6053328"/>
            <a:ext cx="11055096" cy="310896"/>
          </a:xfrm>
          <a:prstGeom prst="rect">
            <a:avLst/>
          </a:prstGeom>
          <a:noFill/>
          <a:ln/>
        </p:spPr>
        <p:txBody>
          <a:bodyPr wrap="square" lIns="0" tIns="0" rIns="0" bIns="0" rtlCol="0" anchor="ctr"/>
          <a:lstStyle/>
          <a:p>
            <a:pPr indent="0" marL="0">
              <a:buNone/>
            </a:pPr>
            <a:r>
              <a:rPr lang="en-US" sz="1050" i="1" dirty="0">
                <a:solidFill>
                  <a:srgbClr val="5F6368"/>
                </a:solidFill>
                <a:latin typeface="Calibri" pitchFamily="34" charset="0"/>
                <a:ea typeface="Calibri" pitchFamily="34" charset="-122"/>
                <a:cs typeface="Calibri" pitchFamily="34" charset="-120"/>
              </a:rPr>
              <a:t>The cost is a second evaluation of the same sweep, with no new forcing, no new validation and no new configuration.</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indent="0" marL="0">
              <a:buNone/>
            </a:pPr>
            <a:r>
              <a:rPr lang="en-US" sz="1200" b="1" spc="200" kern="0" dirty="0">
                <a:solidFill>
                  <a:srgbClr val="EB6834"/>
                </a:solidFill>
                <a:latin typeface="Calibri" pitchFamily="34" charset="0"/>
                <a:ea typeface="Calibri" pitchFamily="34" charset="-122"/>
                <a:cs typeface="Calibri" pitchFamily="34" charset="-120"/>
              </a:rPr>
              <a:t>EXPERIMENTAL DESIGN</a:t>
            </a:r>
            <a:endParaRPr lang="en-US" sz="1200" dirty="0"/>
          </a:p>
        </p:txBody>
      </p:sp>
      <p:sp>
        <p:nvSpPr>
          <p:cNvPr id="3" name="Text 1"/>
          <p:cNvSpPr txBox="1"/>
          <p:nvPr/>
        </p:nvSpPr>
        <p:spPr>
          <a:xfrm>
            <a:off x="566928" y="749808"/>
            <a:ext cx="10424160" cy="658368"/>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A parametric sweep in place of a hindcast</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indent="0" marL="0">
              <a:buNone/>
            </a:pPr>
            <a:r>
              <a:rPr lang="en-US" sz="1400" dirty="0">
                <a:solidFill>
                  <a:srgbClr val="5F6368"/>
                </a:solidFill>
                <a:latin typeface="Calibri" pitchFamily="34" charset="0"/>
                <a:ea typeface="Calibri" pitchFamily="34" charset="-122"/>
                <a:cs typeface="Calibri" pitchFamily="34" charset="-120"/>
              </a:rPr>
              <a:t>ERA5 does not resolve the atmospheric gravity waves that trigger the phenomenon, which has constituted the largest standing risk in the project.</a:t>
            </a:r>
            <a:endParaRPr lang="en-US" sz="1400" dirty="0"/>
          </a:p>
        </p:txBody>
      </p:sp>
      <p:sp>
        <p:nvSpPr>
          <p:cNvPr id="5" name="Shape 3"/>
          <p:cNvSpPr/>
          <p:nvPr/>
        </p:nvSpPr>
        <p:spPr>
          <a:xfrm>
            <a:off x="566928" y="2331720"/>
            <a:ext cx="402336" cy="402336"/>
          </a:xfrm>
          <a:prstGeom prst="ellipse">
            <a:avLst/>
          </a:prstGeom>
          <a:solidFill>
            <a:srgbClr val="065A82"/>
          </a:solidFill>
          <a:ln/>
        </p:spPr>
      </p:sp>
      <p:sp>
        <p:nvSpPr>
          <p:cNvPr id="6" name="Text 4"/>
          <p:cNvSpPr txBox="1"/>
          <p:nvPr/>
        </p:nvSpPr>
        <p:spPr>
          <a:xfrm>
            <a:off x="566928" y="233172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txBox="1"/>
          <p:nvPr/>
        </p:nvSpPr>
        <p:spPr>
          <a:xfrm>
            <a:off x="1188720" y="2313432"/>
            <a:ext cx="3383280" cy="292608"/>
          </a:xfrm>
          <a:prstGeom prst="rect">
            <a:avLst/>
          </a:prstGeom>
          <a:noFill/>
          <a:ln/>
        </p:spPr>
        <p:txBody>
          <a:bodyPr wrap="square" lIns="0" tIns="0" rIns="0" bIns="0" rtlCol="0" anchor="ctr"/>
          <a:lstStyle/>
          <a:p>
            <a:pPr indent="0" marL="0">
              <a:buNone/>
            </a:pPr>
            <a:r>
              <a:rPr lang="en-US" sz="1450" b="1" dirty="0">
                <a:solidFill>
                  <a:srgbClr val="1A1A1A"/>
                </a:solidFill>
                <a:latin typeface="Cambria" pitchFamily="34" charset="0"/>
                <a:ea typeface="Cambria" pitchFamily="34" charset="-122"/>
                <a:cs typeface="Cambria" pitchFamily="34" charset="-120"/>
              </a:rPr>
              <a:t>Sweep</a:t>
            </a:r>
            <a:endParaRPr lang="en-US" sz="1450" dirty="0"/>
          </a:p>
        </p:txBody>
      </p:sp>
      <p:sp>
        <p:nvSpPr>
          <p:cNvPr id="8" name="Text 6"/>
          <p:cNvSpPr txBox="1"/>
          <p:nvPr/>
        </p:nvSpPr>
        <p:spPr>
          <a:xfrm>
            <a:off x="1188720" y="2624328"/>
            <a:ext cx="6035040" cy="658368"/>
          </a:xfrm>
          <a:prstGeom prst="rect">
            <a:avLst/>
          </a:prstGeom>
          <a:noFill/>
          <a:ln/>
        </p:spPr>
        <p:txBody>
          <a:bodyPr wrap="square" lIns="0" tIns="0" rIns="0" bIns="0" rtlCol="0" anchor="ctr"/>
          <a:lstStyle/>
          <a:p>
            <a:pPr indent="0" marL="0">
              <a:lnSpc>
                <a:spcPts val="1700"/>
              </a:lnSpc>
              <a:buNone/>
            </a:pPr>
            <a:r>
              <a:rPr lang="en-US" sz="1250" dirty="0">
                <a:solidFill>
                  <a:srgbClr val="5F6368"/>
                </a:solidFill>
                <a:latin typeface="Calibri" pitchFamily="34" charset="0"/>
                <a:ea typeface="Calibri" pitchFamily="34" charset="-122"/>
                <a:cs typeface="Calibri" pitchFamily="34" charset="-120"/>
              </a:rPr>
              <a:t>Impose a moving pressure disturbance and vary its speed, direction, width and duration.</a:t>
            </a:r>
            <a:endParaRPr lang="en-US" sz="1250" dirty="0"/>
          </a:p>
        </p:txBody>
      </p:sp>
      <p:sp>
        <p:nvSpPr>
          <p:cNvPr id="9" name="Shape 7"/>
          <p:cNvSpPr/>
          <p:nvPr/>
        </p:nvSpPr>
        <p:spPr>
          <a:xfrm>
            <a:off x="566928" y="3502152"/>
            <a:ext cx="402336" cy="402336"/>
          </a:xfrm>
          <a:prstGeom prst="ellipse">
            <a:avLst/>
          </a:prstGeom>
          <a:solidFill>
            <a:srgbClr val="065A82"/>
          </a:solidFill>
          <a:ln/>
        </p:spPr>
      </p:sp>
      <p:sp>
        <p:nvSpPr>
          <p:cNvPr id="10" name="Text 8"/>
          <p:cNvSpPr txBox="1"/>
          <p:nvPr/>
        </p:nvSpPr>
        <p:spPr>
          <a:xfrm>
            <a:off x="566928" y="3502152"/>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1" name="Text 9"/>
          <p:cNvSpPr txBox="1"/>
          <p:nvPr/>
        </p:nvSpPr>
        <p:spPr>
          <a:xfrm>
            <a:off x="1188720" y="3483864"/>
            <a:ext cx="3383280" cy="292608"/>
          </a:xfrm>
          <a:prstGeom prst="rect">
            <a:avLst/>
          </a:prstGeom>
          <a:noFill/>
          <a:ln/>
        </p:spPr>
        <p:txBody>
          <a:bodyPr wrap="square" lIns="0" tIns="0" rIns="0" bIns="0" rtlCol="0" anchor="ctr"/>
          <a:lstStyle/>
          <a:p>
            <a:pPr indent="0" marL="0">
              <a:buNone/>
            </a:pPr>
            <a:r>
              <a:rPr lang="en-US" sz="1450" b="1" dirty="0">
                <a:solidFill>
                  <a:srgbClr val="1A1A1A"/>
                </a:solidFill>
                <a:latin typeface="Cambria" pitchFamily="34" charset="0"/>
                <a:ea typeface="Cambria" pitchFamily="34" charset="-122"/>
                <a:cs typeface="Cambria" pitchFamily="34" charset="-120"/>
              </a:rPr>
              <a:t>Response surface</a:t>
            </a:r>
            <a:endParaRPr lang="en-US" sz="1450" dirty="0"/>
          </a:p>
        </p:txBody>
      </p:sp>
      <p:sp>
        <p:nvSpPr>
          <p:cNvPr id="12" name="Text 10"/>
          <p:cNvSpPr txBox="1"/>
          <p:nvPr/>
        </p:nvSpPr>
        <p:spPr>
          <a:xfrm>
            <a:off x="1188720" y="3794760"/>
            <a:ext cx="6035040" cy="658368"/>
          </a:xfrm>
          <a:prstGeom prst="rect">
            <a:avLst/>
          </a:prstGeom>
          <a:noFill/>
          <a:ln/>
        </p:spPr>
        <p:txBody>
          <a:bodyPr wrap="square" lIns="0" tIns="0" rIns="0" bIns="0" rtlCol="0" anchor="ctr"/>
          <a:lstStyle/>
          <a:p>
            <a:pPr indent="0" marL="0">
              <a:lnSpc>
                <a:spcPts val="1700"/>
              </a:lnSpc>
              <a:buNone/>
            </a:pPr>
            <a:r>
              <a:rPr lang="en-US" sz="1250" dirty="0">
                <a:solidFill>
                  <a:srgbClr val="5F6368"/>
                </a:solidFill>
                <a:latin typeface="Calibri" pitchFamily="34" charset="0"/>
                <a:ea typeface="Calibri" pitchFamily="34" charset="-122"/>
                <a:cs typeface="Calibri" pitchFamily="34" charset="-120"/>
              </a:rPr>
              <a:t>The output is a transfer function of the geometry, independent of any particular storm.</a:t>
            </a:r>
            <a:endParaRPr lang="en-US" sz="1250" dirty="0"/>
          </a:p>
        </p:txBody>
      </p:sp>
      <p:sp>
        <p:nvSpPr>
          <p:cNvPr id="13" name="Shape 11"/>
          <p:cNvSpPr/>
          <p:nvPr/>
        </p:nvSpPr>
        <p:spPr>
          <a:xfrm>
            <a:off x="566928" y="4672584"/>
            <a:ext cx="402336" cy="402336"/>
          </a:xfrm>
          <a:prstGeom prst="ellipse">
            <a:avLst/>
          </a:prstGeom>
          <a:solidFill>
            <a:srgbClr val="EB6834"/>
          </a:solidFill>
          <a:ln/>
        </p:spPr>
      </p:sp>
      <p:sp>
        <p:nvSpPr>
          <p:cNvPr id="14" name="Text 12"/>
          <p:cNvSpPr txBox="1"/>
          <p:nvPr/>
        </p:nvSpPr>
        <p:spPr>
          <a:xfrm>
            <a:off x="566928" y="4672584"/>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5" name="Text 13"/>
          <p:cNvSpPr txBox="1"/>
          <p:nvPr/>
        </p:nvSpPr>
        <p:spPr>
          <a:xfrm>
            <a:off x="1188720" y="4654296"/>
            <a:ext cx="3383280" cy="292608"/>
          </a:xfrm>
          <a:prstGeom prst="rect">
            <a:avLst/>
          </a:prstGeom>
          <a:noFill/>
          <a:ln/>
        </p:spPr>
        <p:txBody>
          <a:bodyPr wrap="square" lIns="0" tIns="0" rIns="0" bIns="0" rtlCol="0" anchor="ctr"/>
          <a:lstStyle/>
          <a:p>
            <a:pPr indent="0" marL="0">
              <a:buNone/>
            </a:pPr>
            <a:r>
              <a:rPr lang="en-US" sz="1450" b="1" dirty="0">
                <a:solidFill>
                  <a:srgbClr val="1A1A1A"/>
                </a:solidFill>
                <a:latin typeface="Cambria" pitchFamily="34" charset="0"/>
                <a:ea typeface="Cambria" pitchFamily="34" charset="-122"/>
                <a:cs typeface="Cambria" pitchFamily="34" charset="-120"/>
              </a:rPr>
              <a:t>Inversion of the observations</a:t>
            </a:r>
            <a:endParaRPr lang="en-US" sz="1450" dirty="0"/>
          </a:p>
        </p:txBody>
      </p:sp>
      <p:sp>
        <p:nvSpPr>
          <p:cNvPr id="16" name="Text 14"/>
          <p:cNvSpPr txBox="1"/>
          <p:nvPr/>
        </p:nvSpPr>
        <p:spPr>
          <a:xfrm>
            <a:off x="1188720" y="4965192"/>
            <a:ext cx="6035040" cy="658368"/>
          </a:xfrm>
          <a:prstGeom prst="rect">
            <a:avLst/>
          </a:prstGeom>
          <a:noFill/>
          <a:ln/>
        </p:spPr>
        <p:txBody>
          <a:bodyPr wrap="square" lIns="0" tIns="0" rIns="0" bIns="0" rtlCol="0" anchor="ctr"/>
          <a:lstStyle/>
          <a:p>
            <a:pPr indent="0" marL="0">
              <a:lnSpc>
                <a:spcPts val="1700"/>
              </a:lnSpc>
              <a:buNone/>
            </a:pPr>
            <a:r>
              <a:rPr lang="en-US" sz="1250" dirty="0">
                <a:solidFill>
                  <a:srgbClr val="5F6368"/>
                </a:solidFill>
                <a:latin typeface="Calibri" pitchFamily="34" charset="0"/>
                <a:ea typeface="Calibri" pitchFamily="34" charset="-122"/>
                <a:cs typeface="Calibri" pitchFamily="34" charset="-120"/>
              </a:rPr>
              <a:t>The observations cease to be the forcing and become the test, addressing whether recorded events occur under the conditions identified as resonant.</a:t>
            </a:r>
            <a:endParaRPr lang="en-US" sz="1250" dirty="0"/>
          </a:p>
        </p:txBody>
      </p:sp>
      <p:sp>
        <p:nvSpPr>
          <p:cNvPr id="17" name="Shape 15"/>
          <p:cNvSpPr/>
          <p:nvPr/>
        </p:nvSpPr>
        <p:spPr>
          <a:xfrm>
            <a:off x="7680960" y="2286000"/>
            <a:ext cx="3941064" cy="3108960"/>
          </a:xfrm>
          <a:prstGeom prst="roundRect">
            <a:avLst>
              <a:gd name="adj" fmla="val 1765"/>
            </a:avLst>
          </a:prstGeom>
          <a:solidFill>
            <a:srgbClr val="21295C"/>
          </a:solidFill>
          <a:ln/>
        </p:spPr>
      </p:sp>
      <p:sp>
        <p:nvSpPr>
          <p:cNvPr id="18" name="Text 16"/>
          <p:cNvSpPr txBox="1"/>
          <p:nvPr/>
        </p:nvSpPr>
        <p:spPr>
          <a:xfrm>
            <a:off x="7955280" y="2487168"/>
            <a:ext cx="3429000" cy="548640"/>
          </a:xfrm>
          <a:prstGeom prst="rect">
            <a:avLst/>
          </a:prstGeom>
          <a:noFill/>
          <a:ln/>
        </p:spPr>
        <p:txBody>
          <a:bodyPr wrap="square" lIns="0" tIns="0" rIns="0" bIns="0" rtlCol="0" anchor="ctr"/>
          <a:lstStyle/>
          <a:p>
            <a:pPr indent="0" marL="0">
              <a:buNone/>
            </a:pPr>
            <a:r>
              <a:rPr lang="en-US" sz="1400" b="1" dirty="0">
                <a:solidFill>
                  <a:srgbClr val="EB6834"/>
                </a:solidFill>
                <a:latin typeface="Cambria" pitchFamily="34" charset="0"/>
                <a:ea typeface="Cambria" pitchFamily="34" charset="-122"/>
                <a:cs typeface="Cambria" pitchFamily="34" charset="-120"/>
              </a:rPr>
              <a:t>Bearing beyond the present study</a:t>
            </a:r>
            <a:endParaRPr lang="en-US" sz="1400" dirty="0"/>
          </a:p>
        </p:txBody>
      </p:sp>
      <p:sp>
        <p:nvSpPr>
          <p:cNvPr id="19" name="Text 17"/>
          <p:cNvSpPr txBox="1"/>
          <p:nvPr/>
        </p:nvSpPr>
        <p:spPr>
          <a:xfrm>
            <a:off x="7955280" y="3063240"/>
            <a:ext cx="3429000" cy="2103120"/>
          </a:xfrm>
          <a:prstGeom prst="rect">
            <a:avLst/>
          </a:prstGeom>
          <a:noFill/>
          <a:ln/>
        </p:spPr>
        <p:txBody>
          <a:bodyPr wrap="square" lIns="0" tIns="0" rIns="0" bIns="0" rtlCol="0" anchor="ctr"/>
          <a:lstStyle/>
          <a:p>
            <a:pPr indent="0" marL="0">
              <a:lnSpc>
                <a:spcPts val="1550"/>
              </a:lnSpc>
              <a:buNone/>
            </a:pPr>
            <a:r>
              <a:rPr lang="en-US" sz="1150" dirty="0">
                <a:solidFill>
                  <a:srgbClr val="CADCFC"/>
                </a:solidFill>
                <a:latin typeface="Calibri" pitchFamily="34" charset="0"/>
                <a:ea typeface="Calibri" pitchFamily="34" charset="-122"/>
                <a:cs typeface="Calibri" pitchFamily="34" charset="-120"/>
              </a:rPr>
              <a:t>A response surface is a property of the geometry, whereas climate change acts on the distribution of the forcing.
</a:t>
            </a:r>
            <a:endParaRPr lang="en-US" sz="1150" dirty="0"/>
          </a:p>
          <a:p>
            <a:pPr indent="0" marL="0">
              <a:lnSpc>
                <a:spcPts val="1550"/>
              </a:lnSpc>
              <a:buNone/>
            </a:pPr>
            <a:r>
              <a:rPr lang="en-US" sz="1150" dirty="0">
                <a:solidFill>
                  <a:srgbClr val="CADCFC"/>
                </a:solidFill>
                <a:latin typeface="Calibri" pitchFamily="34" charset="0"/>
                <a:ea typeface="Calibri" pitchFamily="34" charset="-122"/>
                <a:cs typeface="Calibri" pitchFamily="34" charset="-120"/>
              </a:rPr>
              <a:t>The two separate, so the surface is computed once and any later study with synoptic projections may convolve them without repeating the hydrodynamics.
</a:t>
            </a:r>
            <a:endParaRPr lang="en-US" sz="1150" dirty="0"/>
          </a:p>
          <a:p>
            <a:pPr indent="0" marL="0">
              <a:lnSpc>
                <a:spcPts val="1550"/>
              </a:lnSpc>
              <a:buNone/>
            </a:pPr>
            <a:r>
              <a:rPr lang="en-US" sz="1150" b="1" dirty="0">
                <a:solidFill>
                  <a:srgbClr val="FFFFFF"/>
                </a:solidFill>
                <a:latin typeface="Calibri" pitchFamily="34" charset="0"/>
                <a:ea typeface="Calibri" pitchFamily="34" charset="-122"/>
                <a:cs typeface="Calibri" pitchFamily="34" charset="-120"/>
              </a:rPr>
              <a:t>No climate scenario need be run through the model.</a:t>
            </a:r>
            <a:endParaRPr lang="en-US" sz="1150" dirty="0"/>
          </a:p>
        </p:txBody>
      </p:sp>
      <p:sp>
        <p:nvSpPr>
          <p:cNvPr id="20" name="Text 18"/>
          <p:cNvSpPr txBox="1"/>
          <p:nvPr/>
        </p:nvSpPr>
        <p:spPr>
          <a:xfrm>
            <a:off x="566928" y="6053328"/>
            <a:ext cx="11055096" cy="310896"/>
          </a:xfrm>
          <a:prstGeom prst="rect">
            <a:avLst/>
          </a:prstGeom>
          <a:noFill/>
          <a:ln/>
        </p:spPr>
        <p:txBody>
          <a:bodyPr wrap="square" lIns="0" tIns="0" rIns="0" bIns="0" rtlCol="0" anchor="ctr"/>
          <a:lstStyle/>
          <a:p>
            <a:pPr indent="0" marL="0">
              <a:buNone/>
            </a:pPr>
            <a:r>
              <a:rPr lang="en-US" sz="1050" i="1" dirty="0">
                <a:solidFill>
                  <a:srgbClr val="5F6368"/>
                </a:solidFill>
                <a:latin typeface="Calibri" pitchFamily="34" charset="0"/>
                <a:ea typeface="Calibri" pitchFamily="34" charset="-122"/>
                <a:cs typeface="Calibri" pitchFamily="34" charset="-120"/>
              </a:rPr>
              <a:t>The milgħuba floods Msida, at the head of Msida Creek inside Marsamxett, together with Marsaskala, Xemxija, Marsaxlokk and Sliema.</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indent="0" marL="0">
              <a:buNone/>
            </a:pPr>
            <a:r>
              <a:rPr lang="en-US" sz="1200" b="1" spc="200" kern="0" dirty="0">
                <a:solidFill>
                  <a:srgbClr val="EB6834"/>
                </a:solidFill>
                <a:latin typeface="Calibri" pitchFamily="34" charset="0"/>
                <a:ea typeface="Calibri" pitchFamily="34" charset="-122"/>
                <a:cs typeface="Calibri" pitchFamily="34" charset="-120"/>
              </a:rPr>
              <a:t>OUTSTANDING QUESTIONS</a:t>
            </a:r>
            <a:endParaRPr lang="en-US" sz="1200" dirty="0"/>
          </a:p>
        </p:txBody>
      </p:sp>
      <p:sp>
        <p:nvSpPr>
          <p:cNvPr id="3" name="Text 1"/>
          <p:cNvSpPr txBox="1"/>
          <p:nvPr/>
        </p:nvSpPr>
        <p:spPr>
          <a:xfrm>
            <a:off x="566928" y="749808"/>
            <a:ext cx="10424160" cy="658368"/>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Six questions and their bearing on the study</a:t>
            </a:r>
            <a:endParaRPr lang="en-US" sz="3200" dirty="0"/>
          </a:p>
        </p:txBody>
      </p:sp>
      <p:sp>
        <p:nvSpPr>
          <p:cNvPr id="4" name="Shape 2"/>
          <p:cNvSpPr/>
          <p:nvPr/>
        </p:nvSpPr>
        <p:spPr>
          <a:xfrm>
            <a:off x="566928" y="1874520"/>
            <a:ext cx="402336" cy="402336"/>
          </a:xfrm>
          <a:prstGeom prst="ellipse">
            <a:avLst/>
          </a:prstGeom>
          <a:solidFill>
            <a:srgbClr val="065A82"/>
          </a:solidFill>
          <a:ln/>
        </p:spPr>
      </p:sp>
      <p:sp>
        <p:nvSpPr>
          <p:cNvPr id="5" name="Text 3"/>
          <p:cNvSpPr txBox="1"/>
          <p:nvPr/>
        </p:nvSpPr>
        <p:spPr>
          <a:xfrm>
            <a:off x="566928" y="187452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133856" y="1847088"/>
            <a:ext cx="4828032" cy="475488"/>
          </a:xfrm>
          <a:prstGeom prst="rect">
            <a:avLst/>
          </a:prstGeom>
          <a:noFill/>
          <a:ln/>
        </p:spPr>
        <p:txBody>
          <a:bodyPr wrap="square" lIns="0" tIns="0" rIns="0" bIns="0" rtlCol="0" anchor="ctr"/>
          <a:lstStyle/>
          <a:p>
            <a:pPr indent="0" marL="0">
              <a:lnSpc>
                <a:spcPts val="1600"/>
              </a:lnSpc>
              <a:buNone/>
            </a:pPr>
            <a:r>
              <a:rPr lang="en-US" sz="1280" b="1" dirty="0">
                <a:solidFill>
                  <a:srgbClr val="1A1A1A"/>
                </a:solidFill>
                <a:latin typeface="Calibri" pitchFamily="34" charset="0"/>
                <a:ea typeface="Calibri" pitchFamily="34" charset="-122"/>
                <a:cs typeface="Calibri" pitchFamily="34" charset="-120"/>
              </a:rPr>
              <a:t>Is the sensitivity exercise on the harbour mouth one the group would consider appropriate?</a:t>
            </a:r>
            <a:endParaRPr lang="en-US" sz="1280" dirty="0"/>
          </a:p>
        </p:txBody>
      </p:sp>
      <p:sp>
        <p:nvSpPr>
          <p:cNvPr id="7" name="Text 5"/>
          <p:cNvSpPr txBox="1"/>
          <p:nvPr/>
        </p:nvSpPr>
        <p:spPr>
          <a:xfrm>
            <a:off x="1133856" y="2331720"/>
            <a:ext cx="4828032" cy="896112"/>
          </a:xfrm>
          <a:prstGeom prst="rect">
            <a:avLst/>
          </a:prstGeom>
          <a:noFill/>
          <a:ln/>
        </p:spPr>
        <p:txBody>
          <a:bodyPr wrap="square" lIns="0" tIns="0" rIns="0" bIns="0" rtlCol="0" anchor="ctr"/>
          <a:lstStyle/>
          <a:p>
            <a:pPr indent="0" marL="0">
              <a:lnSpc>
                <a:spcPts val="1450"/>
              </a:lnSpc>
              <a:buNone/>
            </a:pPr>
            <a:r>
              <a:rPr lang="en-US" sz="1100" dirty="0">
                <a:solidFill>
                  <a:srgbClr val="5F6368"/>
                </a:solidFill>
                <a:latin typeface="Calibri" pitchFamily="34" charset="0"/>
                <a:ea typeface="Calibri" pitchFamily="34" charset="-122"/>
                <a:cs typeface="Calibri" pitchFamily="34" charset="-120"/>
              </a:rPr>
              <a:t>It is framed as a response curve over the class of basin, and it carries no assessment of the project now in consultation. The question is whether that framing is acceptable, not whether the physics holds.</a:t>
            </a:r>
            <a:endParaRPr lang="en-US" sz="1100" dirty="0"/>
          </a:p>
        </p:txBody>
      </p:sp>
      <p:sp>
        <p:nvSpPr>
          <p:cNvPr id="8" name="Shape 6"/>
          <p:cNvSpPr/>
          <p:nvPr/>
        </p:nvSpPr>
        <p:spPr>
          <a:xfrm>
            <a:off x="6126480" y="1874520"/>
            <a:ext cx="402336" cy="402336"/>
          </a:xfrm>
          <a:prstGeom prst="ellipse">
            <a:avLst/>
          </a:prstGeom>
          <a:solidFill>
            <a:srgbClr val="1C7293"/>
          </a:solidFill>
          <a:ln/>
        </p:spPr>
      </p:sp>
      <p:sp>
        <p:nvSpPr>
          <p:cNvPr id="9" name="Text 7"/>
          <p:cNvSpPr txBox="1"/>
          <p:nvPr/>
        </p:nvSpPr>
        <p:spPr>
          <a:xfrm>
            <a:off x="6126480" y="187452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0" name="Text 8"/>
          <p:cNvSpPr txBox="1"/>
          <p:nvPr/>
        </p:nvSpPr>
        <p:spPr>
          <a:xfrm>
            <a:off x="6693408" y="1847088"/>
            <a:ext cx="4828032" cy="475488"/>
          </a:xfrm>
          <a:prstGeom prst="rect">
            <a:avLst/>
          </a:prstGeom>
          <a:noFill/>
          <a:ln/>
        </p:spPr>
        <p:txBody>
          <a:bodyPr wrap="square" lIns="0" tIns="0" rIns="0" bIns="0" rtlCol="0" anchor="ctr"/>
          <a:lstStyle/>
          <a:p>
            <a:pPr indent="0" marL="0">
              <a:lnSpc>
                <a:spcPts val="1600"/>
              </a:lnSpc>
              <a:buNone/>
            </a:pPr>
            <a:r>
              <a:rPr lang="en-US" sz="1280" b="1" dirty="0">
                <a:solidFill>
                  <a:srgbClr val="1A1A1A"/>
                </a:solidFill>
                <a:latin typeface="Calibri" pitchFamily="34" charset="0"/>
                <a:ea typeface="Calibri" pitchFamily="34" charset="-122"/>
                <a:cs typeface="Calibri" pitchFamily="34" charset="-120"/>
              </a:rPr>
              <a:t>Is there a sea level record inside the Grand Harbour, and at what sampling interval?</a:t>
            </a:r>
            <a:endParaRPr lang="en-US" sz="1280" dirty="0"/>
          </a:p>
        </p:txBody>
      </p:sp>
      <p:sp>
        <p:nvSpPr>
          <p:cNvPr id="11" name="Text 9"/>
          <p:cNvSpPr txBox="1"/>
          <p:nvPr/>
        </p:nvSpPr>
        <p:spPr>
          <a:xfrm>
            <a:off x="6693408" y="2331720"/>
            <a:ext cx="4828032" cy="896112"/>
          </a:xfrm>
          <a:prstGeom prst="rect">
            <a:avLst/>
          </a:prstGeom>
          <a:noFill/>
          <a:ln/>
        </p:spPr>
        <p:txBody>
          <a:bodyPr wrap="square" lIns="0" tIns="0" rIns="0" bIns="0" rtlCol="0" anchor="ctr"/>
          <a:lstStyle/>
          <a:p>
            <a:pPr indent="0" marL="0">
              <a:lnSpc>
                <a:spcPts val="1450"/>
              </a:lnSpc>
              <a:buNone/>
            </a:pPr>
            <a:r>
              <a:rPr lang="en-US" sz="1100" dirty="0">
                <a:solidFill>
                  <a:srgbClr val="5F6368"/>
                </a:solidFill>
                <a:latin typeface="Calibri" pitchFamily="34" charset="0"/>
                <a:ea typeface="Calibri" pitchFamily="34" charset="-122"/>
                <a:cs typeface="Calibri" pitchFamily="34" charset="-120"/>
              </a:rPr>
              <a:t>A spectrum would establish whether the basins carry energy near 17 minutes. The 0.2 to 2 cph band is observed at Mellieħa, on another coast, so the present analysis can only infer the Valletta response.</a:t>
            </a:r>
            <a:endParaRPr lang="en-US" sz="1100" dirty="0"/>
          </a:p>
        </p:txBody>
      </p:sp>
      <p:sp>
        <p:nvSpPr>
          <p:cNvPr id="12" name="Shape 10"/>
          <p:cNvSpPr/>
          <p:nvPr/>
        </p:nvSpPr>
        <p:spPr>
          <a:xfrm>
            <a:off x="566928" y="3355848"/>
            <a:ext cx="402336" cy="402336"/>
          </a:xfrm>
          <a:prstGeom prst="ellipse">
            <a:avLst/>
          </a:prstGeom>
          <a:solidFill>
            <a:srgbClr val="065A82"/>
          </a:solidFill>
          <a:ln/>
        </p:spPr>
      </p:sp>
      <p:sp>
        <p:nvSpPr>
          <p:cNvPr id="13" name="Text 11"/>
          <p:cNvSpPr txBox="1"/>
          <p:nvPr/>
        </p:nvSpPr>
        <p:spPr>
          <a:xfrm>
            <a:off x="566928" y="335584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4" name="Text 12"/>
          <p:cNvSpPr txBox="1"/>
          <p:nvPr/>
        </p:nvSpPr>
        <p:spPr>
          <a:xfrm>
            <a:off x="1133856" y="3328416"/>
            <a:ext cx="4828032" cy="475488"/>
          </a:xfrm>
          <a:prstGeom prst="rect">
            <a:avLst/>
          </a:prstGeom>
          <a:noFill/>
          <a:ln/>
        </p:spPr>
        <p:txBody>
          <a:bodyPr wrap="square" lIns="0" tIns="0" rIns="0" bIns="0" rtlCol="0" anchor="ctr"/>
          <a:lstStyle/>
          <a:p>
            <a:pPr indent="0" marL="0">
              <a:lnSpc>
                <a:spcPts val="1600"/>
              </a:lnSpc>
              <a:buNone/>
            </a:pPr>
            <a:r>
              <a:rPr lang="en-US" sz="1280" b="1" dirty="0">
                <a:solidFill>
                  <a:srgbClr val="1A1A1A"/>
                </a:solidFill>
                <a:latin typeface="Calibri" pitchFamily="34" charset="0"/>
                <a:ea typeface="Calibri" pitchFamily="34" charset="-122"/>
                <a:cs typeface="Calibri" pitchFamily="34" charset="-120"/>
              </a:rPr>
              <a:t>Has the generation of the wave been modelled, or only its effect on a basin?</a:t>
            </a:r>
            <a:endParaRPr lang="en-US" sz="1280" dirty="0"/>
          </a:p>
        </p:txBody>
      </p:sp>
      <p:sp>
        <p:nvSpPr>
          <p:cNvPr id="15" name="Text 13"/>
          <p:cNvSpPr txBox="1"/>
          <p:nvPr/>
        </p:nvSpPr>
        <p:spPr>
          <a:xfrm>
            <a:off x="1133856" y="3813048"/>
            <a:ext cx="4828032" cy="896112"/>
          </a:xfrm>
          <a:prstGeom prst="rect">
            <a:avLst/>
          </a:prstGeom>
          <a:noFill/>
          <a:ln/>
        </p:spPr>
        <p:txBody>
          <a:bodyPr wrap="square" lIns="0" tIns="0" rIns="0" bIns="0" rtlCol="0" anchor="ctr"/>
          <a:lstStyle/>
          <a:p>
            <a:pPr indent="0" marL="0">
              <a:lnSpc>
                <a:spcPts val="1450"/>
              </a:lnSpc>
              <a:buNone/>
            </a:pPr>
            <a:r>
              <a:rPr lang="en-US" sz="1100" dirty="0">
                <a:solidFill>
                  <a:srgbClr val="5F6368"/>
                </a:solidFill>
                <a:latin typeface="Calibri" pitchFamily="34" charset="0"/>
                <a:ea typeface="Calibri" pitchFamily="34" charset="-122"/>
                <a:cs typeface="Calibri" pitchFamily="34" charset="-120"/>
              </a:rPr>
              <a:t>The 2007 study imposes the long wave at the offshore boundary and computes the response. Modelling how the atmosphere produces that wave over the shelf is what this study proposes. Whether it is genuinely untouched is known only from a literature search.</a:t>
            </a:r>
            <a:endParaRPr lang="en-US" sz="1100" dirty="0"/>
          </a:p>
        </p:txBody>
      </p:sp>
      <p:sp>
        <p:nvSpPr>
          <p:cNvPr id="16" name="Shape 14"/>
          <p:cNvSpPr/>
          <p:nvPr/>
        </p:nvSpPr>
        <p:spPr>
          <a:xfrm>
            <a:off x="6126480" y="3355848"/>
            <a:ext cx="402336" cy="402336"/>
          </a:xfrm>
          <a:prstGeom prst="ellipse">
            <a:avLst/>
          </a:prstGeom>
          <a:solidFill>
            <a:srgbClr val="1C7293"/>
          </a:solidFill>
          <a:ln/>
        </p:spPr>
      </p:sp>
      <p:sp>
        <p:nvSpPr>
          <p:cNvPr id="17" name="Text 15"/>
          <p:cNvSpPr txBox="1"/>
          <p:nvPr/>
        </p:nvSpPr>
        <p:spPr>
          <a:xfrm>
            <a:off x="6126480" y="335584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8" name="Text 16"/>
          <p:cNvSpPr txBox="1"/>
          <p:nvPr/>
        </p:nvSpPr>
        <p:spPr>
          <a:xfrm>
            <a:off x="6693408" y="3328416"/>
            <a:ext cx="4828032" cy="475488"/>
          </a:xfrm>
          <a:prstGeom prst="rect">
            <a:avLst/>
          </a:prstGeom>
          <a:noFill/>
          <a:ln/>
        </p:spPr>
        <p:txBody>
          <a:bodyPr wrap="square" lIns="0" tIns="0" rIns="0" bIns="0" rtlCol="0" anchor="ctr"/>
          <a:lstStyle/>
          <a:p>
            <a:pPr indent="0" marL="0">
              <a:lnSpc>
                <a:spcPts val="1600"/>
              </a:lnSpc>
              <a:buNone/>
            </a:pPr>
            <a:r>
              <a:rPr lang="en-US" sz="1280" b="1" dirty="0">
                <a:solidFill>
                  <a:srgbClr val="1A1A1A"/>
                </a:solidFill>
                <a:latin typeface="Calibri" pitchFamily="34" charset="0"/>
                <a:ea typeface="Calibri" pitchFamily="34" charset="-122"/>
                <a:cs typeface="Calibri" pitchFamily="34" charset="-120"/>
              </a:rPr>
              <a:t>What is the sampling interval of the PORTO sea level stations?</a:t>
            </a:r>
            <a:endParaRPr lang="en-US" sz="1280" dirty="0"/>
          </a:p>
        </p:txBody>
      </p:sp>
      <p:sp>
        <p:nvSpPr>
          <p:cNvPr id="19" name="Text 17"/>
          <p:cNvSpPr txBox="1"/>
          <p:nvPr/>
        </p:nvSpPr>
        <p:spPr>
          <a:xfrm>
            <a:off x="6693408" y="3813048"/>
            <a:ext cx="4828032" cy="896112"/>
          </a:xfrm>
          <a:prstGeom prst="rect">
            <a:avLst/>
          </a:prstGeom>
          <a:noFill/>
          <a:ln/>
        </p:spPr>
        <p:txBody>
          <a:bodyPr wrap="square" lIns="0" tIns="0" rIns="0" bIns="0" rtlCol="0" anchor="ctr"/>
          <a:lstStyle/>
          <a:p>
            <a:pPr indent="0" marL="0">
              <a:lnSpc>
                <a:spcPts val="1450"/>
              </a:lnSpc>
              <a:buNone/>
            </a:pPr>
            <a:r>
              <a:rPr lang="en-US" sz="1100" dirty="0">
                <a:solidFill>
                  <a:srgbClr val="5F6368"/>
                </a:solidFill>
                <a:latin typeface="Calibri" pitchFamily="34" charset="0"/>
                <a:ea typeface="Calibri" pitchFamily="34" charset="-122"/>
                <a:cs typeface="Calibri" pitchFamily="34" charset="-120"/>
              </a:rPr>
              <a:t>The seiche band is 0.2 to 2 cph. At an interval coarser than one minute the model has no observational target within its own frequency range.</a:t>
            </a:r>
            <a:endParaRPr lang="en-US" sz="1100" dirty="0"/>
          </a:p>
        </p:txBody>
      </p:sp>
      <p:sp>
        <p:nvSpPr>
          <p:cNvPr id="20" name="Shape 18"/>
          <p:cNvSpPr/>
          <p:nvPr/>
        </p:nvSpPr>
        <p:spPr>
          <a:xfrm>
            <a:off x="566928" y="4837176"/>
            <a:ext cx="402336" cy="402336"/>
          </a:xfrm>
          <a:prstGeom prst="ellipse">
            <a:avLst/>
          </a:prstGeom>
          <a:solidFill>
            <a:srgbClr val="065A82"/>
          </a:solidFill>
          <a:ln/>
        </p:spPr>
      </p:sp>
      <p:sp>
        <p:nvSpPr>
          <p:cNvPr id="21" name="Text 19"/>
          <p:cNvSpPr txBox="1"/>
          <p:nvPr/>
        </p:nvSpPr>
        <p:spPr>
          <a:xfrm>
            <a:off x="566928" y="4837176"/>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22" name="Text 20"/>
          <p:cNvSpPr txBox="1"/>
          <p:nvPr/>
        </p:nvSpPr>
        <p:spPr>
          <a:xfrm>
            <a:off x="1133856" y="4809744"/>
            <a:ext cx="4828032" cy="475488"/>
          </a:xfrm>
          <a:prstGeom prst="rect">
            <a:avLst/>
          </a:prstGeom>
          <a:noFill/>
          <a:ln/>
        </p:spPr>
        <p:txBody>
          <a:bodyPr wrap="square" lIns="0" tIns="0" rIns="0" bIns="0" rtlCol="0" anchor="ctr"/>
          <a:lstStyle/>
          <a:p>
            <a:pPr indent="0" marL="0">
              <a:lnSpc>
                <a:spcPts val="1600"/>
              </a:lnSpc>
              <a:buNone/>
            </a:pPr>
            <a:r>
              <a:rPr lang="en-US" sz="1280" b="1" dirty="0">
                <a:solidFill>
                  <a:srgbClr val="1A1A1A"/>
                </a:solidFill>
                <a:latin typeface="Calibri" pitchFamily="34" charset="0"/>
                <a:ea typeface="Calibri" pitchFamily="34" charset="-122"/>
                <a:cs typeface="Calibri" pitchFamily="34" charset="-120"/>
              </a:rPr>
              <a:t>Is there any wave record beyond the BLUE buoy?</a:t>
            </a:r>
            <a:endParaRPr lang="en-US" sz="1280" dirty="0"/>
          </a:p>
        </p:txBody>
      </p:sp>
      <p:sp>
        <p:nvSpPr>
          <p:cNvPr id="23" name="Text 21"/>
          <p:cNvSpPr txBox="1"/>
          <p:nvPr/>
        </p:nvSpPr>
        <p:spPr>
          <a:xfrm>
            <a:off x="1133856" y="5294376"/>
            <a:ext cx="4828032" cy="896112"/>
          </a:xfrm>
          <a:prstGeom prst="rect">
            <a:avLst/>
          </a:prstGeom>
          <a:noFill/>
          <a:ln/>
        </p:spPr>
        <p:txBody>
          <a:bodyPr wrap="square" lIns="0" tIns="0" rIns="0" bIns="0" rtlCol="0" anchor="ctr"/>
          <a:lstStyle/>
          <a:p>
            <a:pPr indent="0" marL="0">
              <a:lnSpc>
                <a:spcPts val="1450"/>
              </a:lnSpc>
              <a:buNone/>
            </a:pPr>
            <a:r>
              <a:rPr lang="en-US" sz="1100" dirty="0">
                <a:solidFill>
                  <a:srgbClr val="5F6368"/>
                </a:solidFill>
                <a:latin typeface="Calibri" pitchFamily="34" charset="0"/>
                <a:ea typeface="Calibri" pitchFamily="34" charset="-122"/>
                <a:cs typeface="Calibri" pitchFamily="34" charset="-120"/>
              </a:rPr>
              <a:t>Wave validation presently rests on a single point 3.7 km offshore. The radar reports a derived product whose own accuracy was assessed against models, so it serves as a cross-check rather than a reference.</a:t>
            </a:r>
            <a:endParaRPr lang="en-US" sz="1100" dirty="0"/>
          </a:p>
        </p:txBody>
      </p:sp>
      <p:sp>
        <p:nvSpPr>
          <p:cNvPr id="24" name="Shape 22"/>
          <p:cNvSpPr/>
          <p:nvPr/>
        </p:nvSpPr>
        <p:spPr>
          <a:xfrm>
            <a:off x="6126480" y="4837176"/>
            <a:ext cx="402336" cy="402336"/>
          </a:xfrm>
          <a:prstGeom prst="ellipse">
            <a:avLst/>
          </a:prstGeom>
          <a:solidFill>
            <a:srgbClr val="1C7293"/>
          </a:solidFill>
          <a:ln/>
        </p:spPr>
      </p:sp>
      <p:sp>
        <p:nvSpPr>
          <p:cNvPr id="25" name="Text 23"/>
          <p:cNvSpPr txBox="1"/>
          <p:nvPr/>
        </p:nvSpPr>
        <p:spPr>
          <a:xfrm>
            <a:off x="6126480" y="4837176"/>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6" name="Text 24"/>
          <p:cNvSpPr txBox="1"/>
          <p:nvPr/>
        </p:nvSpPr>
        <p:spPr>
          <a:xfrm>
            <a:off x="6693408" y="4809744"/>
            <a:ext cx="4828032" cy="475488"/>
          </a:xfrm>
          <a:prstGeom prst="rect">
            <a:avLst/>
          </a:prstGeom>
          <a:noFill/>
          <a:ln/>
        </p:spPr>
        <p:txBody>
          <a:bodyPr wrap="square" lIns="0" tIns="0" rIns="0" bIns="0" rtlCol="0" anchor="ctr"/>
          <a:lstStyle/>
          <a:p>
            <a:pPr indent="0" marL="0">
              <a:lnSpc>
                <a:spcPts val="1600"/>
              </a:lnSpc>
              <a:buNone/>
            </a:pPr>
            <a:r>
              <a:rPr lang="en-US" sz="1280" b="1" dirty="0">
                <a:solidFill>
                  <a:srgbClr val="1A1A1A"/>
                </a:solidFill>
                <a:latin typeface="Calibri" pitchFamily="34" charset="0"/>
                <a:ea typeface="Calibri" pitchFamily="34" charset="-122"/>
                <a:cs typeface="Calibri" pitchFamily="34" charset="-120"/>
              </a:rPr>
              <a:t>What is the levelling datum behind the bathymetry, and how does its zero relate to the tide gauges?</a:t>
            </a:r>
            <a:endParaRPr lang="en-US" sz="1280" dirty="0"/>
          </a:p>
        </p:txBody>
      </p:sp>
      <p:sp>
        <p:nvSpPr>
          <p:cNvPr id="27" name="Text 25"/>
          <p:cNvSpPr txBox="1"/>
          <p:nvPr/>
        </p:nvSpPr>
        <p:spPr>
          <a:xfrm>
            <a:off x="6693408" y="5294376"/>
            <a:ext cx="4828032" cy="896112"/>
          </a:xfrm>
          <a:prstGeom prst="rect">
            <a:avLst/>
          </a:prstGeom>
          <a:noFill/>
          <a:ln/>
        </p:spPr>
        <p:txBody>
          <a:bodyPr wrap="square" lIns="0" tIns="0" rIns="0" bIns="0" rtlCol="0" anchor="ctr"/>
          <a:lstStyle/>
          <a:p>
            <a:pPr indent="0" marL="0">
              <a:lnSpc>
                <a:spcPts val="1450"/>
              </a:lnSpc>
              <a:buNone/>
            </a:pPr>
            <a:r>
              <a:rPr lang="en-US" sz="1100" dirty="0">
                <a:solidFill>
                  <a:srgbClr val="5F6368"/>
                </a:solidFill>
                <a:latin typeface="Calibri" pitchFamily="34" charset="0"/>
                <a:ea typeface="Calibri" pitchFamily="34" charset="-122"/>
                <a:cs typeface="Calibri" pitchFamily="34" charset="-120"/>
              </a:rPr>
              <a:t>The files declare ellipsoidal heights while the data are orthometric. What remains to be established is the offset against the gauges used for validation.</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21295C"/>
        </a:solidFill>
      </p:bgPr>
    </p:bg>
    <p:spTree>
      <p:nvGrpSpPr>
        <p:cNvPr id="1" name=""/>
        <p:cNvGrpSpPr/>
        <p:nvPr/>
      </p:nvGrpSpPr>
      <p:grpSpPr>
        <a:xfrm>
          <a:off x="0" y="0"/>
          <a:ext cx="0" cy="0"/>
          <a:chOff x="0" y="0"/>
          <a:chExt cx="0" cy="0"/>
        </a:xfrm>
      </p:grpSpPr>
      <p:sp>
        <p:nvSpPr>
          <p:cNvPr id="2" name="Shape 0"/>
          <p:cNvSpPr/>
          <p:nvPr/>
        </p:nvSpPr>
        <p:spPr>
          <a:xfrm>
            <a:off x="-1737360" y="3840480"/>
            <a:ext cx="4754880" cy="4754880"/>
          </a:xfrm>
          <a:prstGeom prst="ellipse">
            <a:avLst/>
          </a:prstGeom>
          <a:solidFill>
            <a:srgbClr val="065A82">
              <a:alpha val="40000"/>
            </a:srgbClr>
          </a:solidFill>
          <a:ln/>
        </p:spPr>
      </p:sp>
      <p:sp>
        <p:nvSpPr>
          <p:cNvPr id="3" name="Text 1"/>
          <p:cNvSpPr txBox="1"/>
          <p:nvPr/>
        </p:nvSpPr>
        <p:spPr>
          <a:xfrm>
            <a:off x="566928" y="640080"/>
            <a:ext cx="8229600" cy="274320"/>
          </a:xfrm>
          <a:prstGeom prst="rect">
            <a:avLst/>
          </a:prstGeom>
          <a:noFill/>
          <a:ln/>
        </p:spPr>
        <p:txBody>
          <a:bodyPr wrap="square" lIns="0" tIns="0" rIns="0" bIns="0" rtlCol="0" anchor="ctr"/>
          <a:lstStyle/>
          <a:p>
            <a:pPr indent="0" marL="0">
              <a:buNone/>
            </a:pPr>
            <a:r>
              <a:rPr lang="en-US" sz="1200" b="1" spc="200" kern="0" dirty="0">
                <a:solidFill>
                  <a:srgbClr val="EB6834"/>
                </a:solidFill>
                <a:latin typeface="Calibri" pitchFamily="34" charset="0"/>
                <a:ea typeface="Calibri" pitchFamily="34" charset="-122"/>
                <a:cs typeface="Calibri" pitchFamily="34" charset="-120"/>
              </a:rPr>
              <a:t>IMMEDIATE SEQUENCE</a:t>
            </a:r>
            <a:endParaRPr lang="en-US" sz="1200" dirty="0"/>
          </a:p>
        </p:txBody>
      </p:sp>
      <p:sp>
        <p:nvSpPr>
          <p:cNvPr id="4" name="Text 2"/>
          <p:cNvSpPr txBox="1"/>
          <p:nvPr/>
        </p:nvSpPr>
        <p:spPr>
          <a:xfrm>
            <a:off x="566928" y="960120"/>
            <a:ext cx="9144000"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Before the mesh is built</a:t>
            </a:r>
            <a:endParaRPr lang="en-US" sz="3000" dirty="0"/>
          </a:p>
        </p:txBody>
      </p:sp>
      <p:sp>
        <p:nvSpPr>
          <p:cNvPr id="5" name="Shape 3"/>
          <p:cNvSpPr/>
          <p:nvPr/>
        </p:nvSpPr>
        <p:spPr>
          <a:xfrm>
            <a:off x="612648" y="2057400"/>
            <a:ext cx="155448" cy="155448"/>
          </a:xfrm>
          <a:prstGeom prst="ellipse">
            <a:avLst/>
          </a:prstGeom>
          <a:solidFill>
            <a:srgbClr val="CADCFC"/>
          </a:solidFill>
          <a:ln/>
        </p:spPr>
      </p:sp>
      <p:sp>
        <p:nvSpPr>
          <p:cNvPr id="6" name="Text 4"/>
          <p:cNvSpPr txBox="1"/>
          <p:nvPr/>
        </p:nvSpPr>
        <p:spPr>
          <a:xfrm>
            <a:off x="978408" y="1965960"/>
            <a:ext cx="2331720" cy="30175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Late September</a:t>
            </a:r>
            <a:endParaRPr lang="en-US" sz="1300" dirty="0"/>
          </a:p>
        </p:txBody>
      </p:sp>
      <p:sp>
        <p:nvSpPr>
          <p:cNvPr id="7" name="Text 5"/>
          <p:cNvSpPr txBox="1"/>
          <p:nvPr/>
        </p:nvSpPr>
        <p:spPr>
          <a:xfrm>
            <a:off x="3401568" y="1965960"/>
            <a:ext cx="3291840" cy="658368"/>
          </a:xfrm>
          <a:prstGeom prst="rect">
            <a:avLst/>
          </a:prstGeom>
          <a:noFill/>
          <a:ln/>
        </p:spPr>
        <p:txBody>
          <a:bodyPr wrap="square" lIns="0" tIns="0" rIns="0" bIns="0" rtlCol="0" anchor="ctr"/>
          <a:lstStyle/>
          <a:p>
            <a:pPr indent="0" marL="0">
              <a:lnSpc>
                <a:spcPts val="1500"/>
              </a:lnSpc>
              <a:buNone/>
            </a:pPr>
            <a:r>
              <a:rPr lang="en-US" sz="1200" dirty="0">
                <a:solidFill>
                  <a:srgbClr val="9FB3D1"/>
                </a:solidFill>
                <a:latin typeface="Calibri" pitchFamily="34" charset="0"/>
                <a:ea typeface="Calibri" pitchFamily="34" charset="-122"/>
                <a:cs typeface="Calibri" pitchFamily="34" charset="-120"/>
              </a:rPr>
              <a:t>Seiche climatology from the Portomaso and PORTO archives. No model is required.</a:t>
            </a:r>
            <a:endParaRPr lang="en-US" sz="1200" dirty="0"/>
          </a:p>
        </p:txBody>
      </p:sp>
      <p:sp>
        <p:nvSpPr>
          <p:cNvPr id="8" name="Shape 6"/>
          <p:cNvSpPr/>
          <p:nvPr/>
        </p:nvSpPr>
        <p:spPr>
          <a:xfrm>
            <a:off x="612648" y="2898648"/>
            <a:ext cx="155448" cy="155448"/>
          </a:xfrm>
          <a:prstGeom prst="ellipse">
            <a:avLst/>
          </a:prstGeom>
          <a:solidFill>
            <a:srgbClr val="EB6834"/>
          </a:solidFill>
          <a:ln/>
        </p:spPr>
      </p:sp>
      <p:sp>
        <p:nvSpPr>
          <p:cNvPr id="9" name="Text 7"/>
          <p:cNvSpPr txBox="1"/>
          <p:nvPr/>
        </p:nvSpPr>
        <p:spPr>
          <a:xfrm>
            <a:off x="978408" y="2807208"/>
            <a:ext cx="2331720" cy="301752"/>
          </a:xfrm>
          <a:prstGeom prst="rect">
            <a:avLst/>
          </a:prstGeom>
          <a:noFill/>
          <a:ln/>
        </p:spPr>
        <p:txBody>
          <a:bodyPr wrap="square" lIns="0" tIns="0" rIns="0" bIns="0" rtlCol="0" anchor="ctr"/>
          <a:lstStyle/>
          <a:p>
            <a:pPr indent="0" marL="0">
              <a:buNone/>
            </a:pPr>
            <a:r>
              <a:rPr lang="en-US" sz="1300" b="1" dirty="0">
                <a:solidFill>
                  <a:srgbClr val="EB6834"/>
                </a:solidFill>
                <a:latin typeface="Calibri" pitchFamily="34" charset="0"/>
                <a:ea typeface="Calibri" pitchFamily="34" charset="-122"/>
                <a:cs typeface="Calibri" pitchFamily="34" charset="-120"/>
              </a:rPr>
              <a:t>19 October</a:t>
            </a:r>
            <a:endParaRPr lang="en-US" sz="1300" dirty="0"/>
          </a:p>
        </p:txBody>
      </p:sp>
      <p:sp>
        <p:nvSpPr>
          <p:cNvPr id="10" name="Text 8"/>
          <p:cNvSpPr txBox="1"/>
          <p:nvPr/>
        </p:nvSpPr>
        <p:spPr>
          <a:xfrm>
            <a:off x="3401568" y="2807208"/>
            <a:ext cx="3291840" cy="658368"/>
          </a:xfrm>
          <a:prstGeom prst="rect">
            <a:avLst/>
          </a:prstGeom>
          <a:noFill/>
          <a:ln/>
        </p:spPr>
        <p:txBody>
          <a:bodyPr wrap="square" lIns="0" tIns="0" rIns="0" bIns="0" rtlCol="0" anchor="ctr"/>
          <a:lstStyle/>
          <a:p>
            <a:pPr indent="0" marL="0">
              <a:lnSpc>
                <a:spcPts val="1500"/>
              </a:lnSpc>
              <a:buNone/>
            </a:pPr>
            <a:r>
              <a:rPr lang="en-US" sz="1200" dirty="0">
                <a:solidFill>
                  <a:srgbClr val="9FB3D1"/>
                </a:solidFill>
                <a:latin typeface="Calibri" pitchFamily="34" charset="0"/>
                <a:ea typeface="Calibri" pitchFamily="34" charset="-122"/>
                <a:cs typeface="Calibri" pitchFamily="34" charset="-120"/>
              </a:rPr>
              <a:t>Delft3D User Days abstract.</a:t>
            </a:r>
            <a:endParaRPr lang="en-US" sz="1200" dirty="0"/>
          </a:p>
        </p:txBody>
      </p:sp>
      <p:sp>
        <p:nvSpPr>
          <p:cNvPr id="11" name="Shape 9"/>
          <p:cNvSpPr/>
          <p:nvPr/>
        </p:nvSpPr>
        <p:spPr>
          <a:xfrm>
            <a:off x="612648" y="3739896"/>
            <a:ext cx="155448" cy="155448"/>
          </a:xfrm>
          <a:prstGeom prst="ellipse">
            <a:avLst/>
          </a:prstGeom>
          <a:solidFill>
            <a:srgbClr val="CADCFC"/>
          </a:solidFill>
          <a:ln/>
        </p:spPr>
      </p:sp>
      <p:sp>
        <p:nvSpPr>
          <p:cNvPr id="12" name="Text 10"/>
          <p:cNvSpPr txBox="1"/>
          <p:nvPr/>
        </p:nvSpPr>
        <p:spPr>
          <a:xfrm>
            <a:off x="978408" y="3648456"/>
            <a:ext cx="2331720" cy="30175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Early October</a:t>
            </a:r>
            <a:endParaRPr lang="en-US" sz="1300" dirty="0"/>
          </a:p>
        </p:txBody>
      </p:sp>
      <p:sp>
        <p:nvSpPr>
          <p:cNvPr id="13" name="Text 11"/>
          <p:cNvSpPr txBox="1"/>
          <p:nvPr/>
        </p:nvSpPr>
        <p:spPr>
          <a:xfrm>
            <a:off x="3401568" y="3648456"/>
            <a:ext cx="3291840" cy="658368"/>
          </a:xfrm>
          <a:prstGeom prst="rect">
            <a:avLst/>
          </a:prstGeom>
          <a:noFill/>
          <a:ln/>
        </p:spPr>
        <p:txBody>
          <a:bodyPr wrap="square" lIns="0" tIns="0" rIns="0" bIns="0" rtlCol="0" anchor="ctr"/>
          <a:lstStyle/>
          <a:p>
            <a:pPr indent="0" marL="0">
              <a:lnSpc>
                <a:spcPts val="1500"/>
              </a:lnSpc>
              <a:buNone/>
            </a:pPr>
            <a:r>
              <a:rPr lang="en-US" sz="1200" dirty="0">
                <a:solidFill>
                  <a:srgbClr val="9FB3D1"/>
                </a:solidFill>
                <a:latin typeface="Calibri" pitchFamily="34" charset="0"/>
                <a:ea typeface="Calibri" pitchFamily="34" charset="-122"/>
                <a:cs typeface="Calibri" pitchFamily="34" charset="-120"/>
              </a:rPr>
              <a:t>Merged bathymetry over the domain, gaps intersected with the coastline.</a:t>
            </a:r>
            <a:endParaRPr lang="en-US" sz="1200" dirty="0"/>
          </a:p>
        </p:txBody>
      </p:sp>
      <p:sp>
        <p:nvSpPr>
          <p:cNvPr id="14" name="Shape 12"/>
          <p:cNvSpPr/>
          <p:nvPr/>
        </p:nvSpPr>
        <p:spPr>
          <a:xfrm>
            <a:off x="612648" y="4581144"/>
            <a:ext cx="155448" cy="155448"/>
          </a:xfrm>
          <a:prstGeom prst="ellipse">
            <a:avLst/>
          </a:prstGeom>
          <a:solidFill>
            <a:srgbClr val="CADCFC"/>
          </a:solidFill>
          <a:ln/>
        </p:spPr>
      </p:sp>
      <p:sp>
        <p:nvSpPr>
          <p:cNvPr id="15" name="Text 13"/>
          <p:cNvSpPr txBox="1"/>
          <p:nvPr/>
        </p:nvSpPr>
        <p:spPr>
          <a:xfrm>
            <a:off x="978408" y="4489704"/>
            <a:ext cx="2331720" cy="30175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2 to 4 November</a:t>
            </a:r>
            <a:endParaRPr lang="en-US" sz="1300" dirty="0"/>
          </a:p>
        </p:txBody>
      </p:sp>
      <p:sp>
        <p:nvSpPr>
          <p:cNvPr id="16" name="Text 14"/>
          <p:cNvSpPr txBox="1"/>
          <p:nvPr/>
        </p:nvSpPr>
        <p:spPr>
          <a:xfrm>
            <a:off x="3401568" y="4489704"/>
            <a:ext cx="3291840" cy="658368"/>
          </a:xfrm>
          <a:prstGeom prst="rect">
            <a:avLst/>
          </a:prstGeom>
          <a:noFill/>
          <a:ln/>
        </p:spPr>
        <p:txBody>
          <a:bodyPr wrap="square" lIns="0" tIns="0" rIns="0" bIns="0" rtlCol="0" anchor="ctr"/>
          <a:lstStyle/>
          <a:p>
            <a:pPr indent="0" marL="0">
              <a:lnSpc>
                <a:spcPts val="1500"/>
              </a:lnSpc>
              <a:buNone/>
            </a:pPr>
            <a:r>
              <a:rPr lang="en-US" sz="1200" dirty="0">
                <a:solidFill>
                  <a:srgbClr val="9FB3D1"/>
                </a:solidFill>
                <a:latin typeface="Calibri" pitchFamily="34" charset="0"/>
                <a:ea typeface="Calibri" pitchFamily="34" charset="-122"/>
                <a:cs typeface="Calibri" pitchFamily="34" charset="-120"/>
              </a:rPr>
              <a:t>Delft3D User Days at Deltares, with the four configuration questions.</a:t>
            </a:r>
            <a:endParaRPr lang="en-US" sz="1200" dirty="0"/>
          </a:p>
        </p:txBody>
      </p:sp>
      <p:sp>
        <p:nvSpPr>
          <p:cNvPr id="17" name="Shape 15"/>
          <p:cNvSpPr/>
          <p:nvPr/>
        </p:nvSpPr>
        <p:spPr>
          <a:xfrm>
            <a:off x="612648" y="5422392"/>
            <a:ext cx="155448" cy="155448"/>
          </a:xfrm>
          <a:prstGeom prst="ellipse">
            <a:avLst/>
          </a:prstGeom>
          <a:solidFill>
            <a:srgbClr val="CADCFC"/>
          </a:solidFill>
          <a:ln/>
        </p:spPr>
      </p:sp>
      <p:sp>
        <p:nvSpPr>
          <p:cNvPr id="18" name="Text 16"/>
          <p:cNvSpPr txBox="1"/>
          <p:nvPr/>
        </p:nvSpPr>
        <p:spPr>
          <a:xfrm>
            <a:off x="978408" y="5330952"/>
            <a:ext cx="2331720" cy="30175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Late October to November</a:t>
            </a:r>
            <a:endParaRPr lang="en-US" sz="1300" dirty="0"/>
          </a:p>
        </p:txBody>
      </p:sp>
      <p:sp>
        <p:nvSpPr>
          <p:cNvPr id="19" name="Text 17"/>
          <p:cNvSpPr txBox="1"/>
          <p:nvPr/>
        </p:nvSpPr>
        <p:spPr>
          <a:xfrm>
            <a:off x="3401568" y="5330952"/>
            <a:ext cx="3291840" cy="658368"/>
          </a:xfrm>
          <a:prstGeom prst="rect">
            <a:avLst/>
          </a:prstGeom>
          <a:noFill/>
          <a:ln/>
        </p:spPr>
        <p:txBody>
          <a:bodyPr wrap="square" lIns="0" tIns="0" rIns="0" bIns="0" rtlCol="0" anchor="ctr"/>
          <a:lstStyle/>
          <a:p>
            <a:pPr indent="0" marL="0">
              <a:lnSpc>
                <a:spcPts val="1500"/>
              </a:lnSpc>
              <a:buNone/>
            </a:pPr>
            <a:r>
              <a:rPr lang="en-US" sz="1200" dirty="0">
                <a:solidFill>
                  <a:srgbClr val="9FB3D1"/>
                </a:solidFill>
                <a:latin typeface="Calibri" pitchFamily="34" charset="0"/>
                <a:ea typeface="Calibri" pitchFamily="34" charset="-122"/>
                <a:cs typeface="Calibri" pitchFamily="34" charset="-120"/>
              </a:rPr>
              <a:t>Mesh, Riemann boundary verified by synthetic pulse, first runs.</a:t>
            </a:r>
            <a:endParaRPr lang="en-US" sz="1200" dirty="0"/>
          </a:p>
        </p:txBody>
      </p:sp>
      <p:sp>
        <p:nvSpPr>
          <p:cNvPr id="20" name="Shape 18"/>
          <p:cNvSpPr/>
          <p:nvPr/>
        </p:nvSpPr>
        <p:spPr>
          <a:xfrm>
            <a:off x="6858000" y="1965960"/>
            <a:ext cx="4764024" cy="3108960"/>
          </a:xfrm>
          <a:prstGeom prst="roundRect">
            <a:avLst>
              <a:gd name="adj" fmla="val 1765"/>
            </a:avLst>
          </a:prstGeom>
          <a:solidFill>
            <a:srgbClr val="065A82">
              <a:alpha val="70000"/>
            </a:srgbClr>
          </a:solidFill>
          <a:ln/>
        </p:spPr>
      </p:sp>
      <p:sp>
        <p:nvSpPr>
          <p:cNvPr id="21" name="Text 19"/>
          <p:cNvSpPr txBox="1"/>
          <p:nvPr/>
        </p:nvSpPr>
        <p:spPr>
          <a:xfrm>
            <a:off x="7132320" y="2176272"/>
            <a:ext cx="4206240" cy="274320"/>
          </a:xfrm>
          <a:prstGeom prst="rect">
            <a:avLst/>
          </a:prstGeom>
          <a:noFill/>
          <a:ln/>
        </p:spPr>
        <p:txBody>
          <a:bodyPr wrap="square" lIns="0" tIns="0" rIns="0" bIns="0" rtlCol="0" anchor="ctr"/>
          <a:lstStyle/>
          <a:p>
            <a:pPr indent="0" marL="0">
              <a:buNone/>
            </a:pPr>
            <a:r>
              <a:rPr lang="en-US" sz="1400" b="1" dirty="0">
                <a:solidFill>
                  <a:srgbClr val="EB6834"/>
                </a:solidFill>
                <a:latin typeface="Cambria" pitchFamily="34" charset="0"/>
                <a:ea typeface="Cambria" pitchFamily="34" charset="-122"/>
                <a:cs typeface="Cambria" pitchFamily="34" charset="-120"/>
              </a:rPr>
              <a:t>Beyond the period</a:t>
            </a:r>
            <a:endParaRPr lang="en-US" sz="1400" dirty="0"/>
          </a:p>
        </p:txBody>
      </p:sp>
      <p:sp>
        <p:nvSpPr>
          <p:cNvPr id="22" name="Text 20"/>
          <p:cNvSpPr txBox="1"/>
          <p:nvPr/>
        </p:nvSpPr>
        <p:spPr>
          <a:xfrm>
            <a:off x="7132320" y="2542032"/>
            <a:ext cx="4206240" cy="2286000"/>
          </a:xfrm>
          <a:prstGeom prst="rect">
            <a:avLst/>
          </a:prstGeom>
          <a:noFill/>
          <a:ln/>
        </p:spPr>
        <p:txBody>
          <a:bodyPr wrap="square" lIns="0" tIns="0" rIns="0" bIns="0" rtlCol="0" anchor="ctr"/>
          <a:lstStyle/>
          <a:p>
            <a:pPr indent="0" marL="0">
              <a:lnSpc>
                <a:spcPts val="1550"/>
              </a:lnSpc>
              <a:spcAft>
                <a:spcPts val="900"/>
              </a:spcAft>
              <a:buNone/>
            </a:pPr>
            <a:r>
              <a:rPr lang="en-US" sz="1150" dirty="0">
                <a:solidFill>
                  <a:srgbClr val="DCE7F5"/>
                </a:solidFill>
                <a:latin typeface="Calibri" pitchFamily="34" charset="0"/>
                <a:ea typeface="Calibri" pitchFamily="34" charset="-122"/>
                <a:cs typeface="Calibri" pitchFamily="34" charset="-120"/>
              </a:rPr>
              <a:t>The Stagnone twin runs containerised on the EDITO Datalab and publishes to its object storage.
</a:t>
            </a:r>
            <a:endParaRPr lang="en-US" sz="1150" dirty="0"/>
          </a:p>
          <a:p>
            <a:pPr indent="0" marL="0">
              <a:lnSpc>
                <a:spcPts val="1550"/>
              </a:lnSpc>
              <a:spcAft>
                <a:spcPts val="900"/>
              </a:spcAft>
              <a:buNone/>
            </a:pPr>
            <a:r>
              <a:rPr lang="en-US" sz="1150" dirty="0">
                <a:solidFill>
                  <a:srgbClr val="DCE7F5"/>
                </a:solidFill>
                <a:latin typeface="Calibri" pitchFamily="34" charset="0"/>
                <a:ea typeface="Calibri" pitchFamily="34" charset="-122"/>
                <a:cs typeface="Calibri" pitchFamily="34" charset="-120"/>
              </a:rPr>
              <a:t>A Valletta configuration would take the same route, so the deliverable is a running pilot rather than a set of figures.
</a:t>
            </a:r>
            <a:endParaRPr lang="en-US" sz="1150" dirty="0"/>
          </a:p>
          <a:p>
            <a:pPr indent="0" marL="0">
              <a:lnSpc>
                <a:spcPts val="1550"/>
              </a:lnSpc>
              <a:buNone/>
            </a:pPr>
            <a:r>
              <a:rPr lang="en-US" sz="1150" b="1" dirty="0">
                <a:solidFill>
                  <a:srgbClr val="FFFFFF"/>
                </a:solidFill>
                <a:latin typeface="Calibri" pitchFamily="34" charset="0"/>
                <a:ea typeface="Calibri" pitchFamily="34" charset="-122"/>
                <a:cs typeface="Calibri" pitchFamily="34" charset="-120"/>
              </a:rPr>
              <a:t>That is the relocatable setup the design report asks for.</a:t>
            </a:r>
            <a:endParaRPr lang="en-US" sz="1150" dirty="0"/>
          </a:p>
        </p:txBody>
      </p:sp>
      <p:sp>
        <p:nvSpPr>
          <p:cNvPr id="23" name="Text 21"/>
          <p:cNvSpPr txBox="1"/>
          <p:nvPr/>
        </p:nvSpPr>
        <p:spPr>
          <a:xfrm>
            <a:off x="566928" y="6199632"/>
            <a:ext cx="5852160" cy="274320"/>
          </a:xfrm>
          <a:prstGeom prst="rect">
            <a:avLst/>
          </a:prstGeom>
          <a:noFill/>
          <a:ln/>
        </p:spPr>
        <p:txBody>
          <a:bodyPr wrap="square" lIns="0" tIns="0" rIns="0" bIns="0" rtlCol="0" anchor="ctr"/>
          <a:lstStyle/>
          <a:p>
            <a:pPr indent="0" marL="0">
              <a:buNone/>
            </a:pPr>
            <a:r>
              <a:rPr lang="en-US" sz="1100" i="1" dirty="0">
                <a:solidFill>
                  <a:srgbClr val="7F93B3"/>
                </a:solidFill>
                <a:latin typeface="Calibri" pitchFamily="34" charset="0"/>
                <a:ea typeface="Calibri" pitchFamily="34" charset="-122"/>
                <a:cs typeface="Calibri" pitchFamily="34" charset="-120"/>
              </a:rPr>
              <a:t>Documents, figures and the reproducible analysis are in the project repository.</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Valletta harbour system: model concept</dc:title>
  <dc:subject>PptxGenJS Presentation</dc:subject>
  <dc:creator>Cicero Martins Jr</dc:creator>
  <cp:lastModifiedBy>Cicero Martins Jr</cp:lastModifiedBy>
  <cp:revision>1</cp:revision>
  <dcterms:created xsi:type="dcterms:W3CDTF">2026-09-25T15:17:16Z</dcterms:created>
  <dcterms:modified xsi:type="dcterms:W3CDTF">2026-09-25T15:17:16Z</dcterms:modified>
</cp:coreProperties>
</file>