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covers the intended model and the matters to be settled before its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The thesis contribution is framework reusability, and Valletta constitutes the harder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 m data came from the group's own contribution to EMODnet. The public product gives the inlets one to three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three-stage chain organises the study and determines the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follows from this table. Whether the group's harbour records carry energy near 17 minutes is the first outstanding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B, roughly 86 by 66 km, east to 15 degrees, short of the escarpment. Stopping there is also what keeps sigma layers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question for Deltares concerns whether sigma holds from 15 m to 150 m, or whether a z-sigma hybrid is indicated.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applied companion is a map of exposure by inlet and quay. The fallback, with independent value, is harbour renewal under the Water Framework Directive.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sweep of six speeds by eight directions amounts to forty-eight runs, barotropic and uncoupled, and therefore inexpensive.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items determine what the study can be. The remainder is resolvable by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B3 loses four working days to Delft and holds fifteen rather than nineteen.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503920" y="-1280160"/>
            <a:ext cx="5120640" cy="5120640"/>
          </a:xfrm>
          <a:prstGeom prst="ellipse">
            <a:avLst/>
          </a:prstGeom>
          <a:solidFill>
            <a:srgbClr val="065A82">
              <a:alpha val="45000"/>
            </a:srgbClr>
          </a:solidFill>
          <a:ln/>
        </p:spPr>
      </p:sp>
      <p:sp>
        <p:nvSpPr>
          <p:cNvPr id="3" name="Shape 1"/>
          <p:cNvSpPr/>
          <p:nvPr/>
        </p:nvSpPr>
        <p:spPr>
          <a:xfrm>
            <a:off x="10058400" y="3108960"/>
            <a:ext cx="2377440" cy="2377440"/>
          </a:xfrm>
          <a:prstGeom prst="ellipse">
            <a:avLst/>
          </a:prstGeom>
          <a:solidFill>
            <a:srgbClr val="EB6834">
              <a:alpha val="30000"/>
            </a:srgbClr>
          </a:solidFill>
          <a:ln/>
        </p:spPr>
      </p:sp>
      <p:sp>
        <p:nvSpPr>
          <p:cNvPr id="4" name="Text 2"/>
          <p:cNvSpPr txBox="1"/>
          <p:nvPr/>
        </p:nvSpPr>
        <p:spPr>
          <a:xfrm>
            <a:off x="566928" y="1371600"/>
            <a:ext cx="7680960" cy="274320"/>
          </a:xfrm>
          <a:prstGeom prst="rect">
            <a:avLst/>
          </a:prstGeom>
          <a:noFill/>
          <a:ln/>
        </p:spPr>
        <p:txBody>
          <a:bodyPr wrap="square" lIns="0" tIns="0" rIns="0" bIns="0" rtlCol="0" anchor="ctr"/>
          <a:lstStyle/>
          <a:p>
            <a:pPr indent="0" marL="0">
              <a:buNone/>
            </a:pPr>
            <a:r>
              <a:rPr lang="en-US" sz="1200" b="1" spc="200" kern="0" dirty="0">
                <a:solidFill>
                  <a:srgbClr val="EB6834"/>
                </a:solidFill>
                <a:latin typeface="Calibri" pitchFamily="34" charset="0"/>
                <a:ea typeface="Calibri" pitchFamily="34" charset="-122"/>
                <a:cs typeface="Calibri" pitchFamily="34" charset="-120"/>
              </a:rPr>
              <a:t>WETWISE · WP3 · Maltese pilot</a:t>
            </a:r>
            <a:endParaRPr lang="en-US" sz="1200" dirty="0"/>
          </a:p>
        </p:txBody>
      </p:sp>
      <p:sp>
        <p:nvSpPr>
          <p:cNvPr id="5" name="Text 3"/>
          <p:cNvSpPr txBox="1"/>
          <p:nvPr/>
        </p:nvSpPr>
        <p:spPr>
          <a:xfrm>
            <a:off x="566928" y="1783080"/>
            <a:ext cx="786384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Valletta harbour system</a:t>
            </a:r>
            <a:endParaRPr lang="en-US" sz="4000" dirty="0"/>
          </a:p>
        </p:txBody>
      </p:sp>
      <p:sp>
        <p:nvSpPr>
          <p:cNvPr id="6" name="Text 4"/>
          <p:cNvSpPr txBox="1"/>
          <p:nvPr/>
        </p:nvSpPr>
        <p:spPr>
          <a:xfrm>
            <a:off x="566928" y="2697480"/>
            <a:ext cx="7863840" cy="45720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Model concept, and the questions to settle</a:t>
            </a:r>
            <a:endParaRPr lang="en-US" sz="1900" dirty="0"/>
          </a:p>
        </p:txBody>
      </p:sp>
      <p:sp>
        <p:nvSpPr>
          <p:cNvPr id="7" name="Text 5"/>
          <p:cNvSpPr txBox="1"/>
          <p:nvPr/>
        </p:nvSpPr>
        <p:spPr>
          <a:xfrm>
            <a:off x="566928" y="3977640"/>
            <a:ext cx="78638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Cicero Martins Jr</a:t>
            </a:r>
            <a:pPr indent="0" marL="0">
              <a:buNone/>
            </a:pPr>
            <a:r>
              <a:rPr lang="en-US" sz="1300" dirty="0">
                <a:solidFill>
                  <a:srgbClr val="9FB3D1"/>
                </a:solidFill>
                <a:latin typeface="Calibri" pitchFamily="34" charset="0"/>
                <a:ea typeface="Calibri" pitchFamily="34" charset="-122"/>
                <a:cs typeface="Calibri" pitchFamily="34" charset="-120"/>
              </a:rPr>
              <a:t>   Università degli Studi di Palermo</a:t>
            </a:r>
            <a:endParaRPr lang="en-US" sz="1300" dirty="0"/>
          </a:p>
        </p:txBody>
      </p:sp>
      <p:sp>
        <p:nvSpPr>
          <p:cNvPr id="8" name="Text 6"/>
          <p:cNvSpPr txBox="1"/>
          <p:nvPr/>
        </p:nvSpPr>
        <p:spPr>
          <a:xfrm>
            <a:off x="566928" y="4279392"/>
            <a:ext cx="7863840" cy="274320"/>
          </a:xfrm>
          <a:prstGeom prst="rect">
            <a:avLst/>
          </a:prstGeom>
          <a:noFill/>
          <a:ln/>
        </p:spPr>
        <p:txBody>
          <a:bodyPr wrap="square" lIns="0" tIns="0" rIns="0" bIns="0" rtlCol="0" anchor="ctr"/>
          <a:lstStyle/>
          <a:p>
            <a:pPr indent="0" marL="0">
              <a:buNone/>
            </a:pPr>
            <a:r>
              <a:rPr lang="en-US" sz="1200" dirty="0">
                <a:solidFill>
                  <a:srgbClr val="9FB3D1"/>
                </a:solidFill>
                <a:latin typeface="Calibri" pitchFamily="34" charset="0"/>
                <a:ea typeface="Calibri" pitchFamily="34" charset="-122"/>
                <a:cs typeface="Calibri" pitchFamily="34" charset="-120"/>
              </a:rPr>
              <a:t>Research period at the Oceanography Malta Research Group, University of Malta</a:t>
            </a:r>
            <a:endParaRPr lang="en-US" sz="1200" dirty="0"/>
          </a:p>
        </p:txBody>
      </p:sp>
      <p:sp>
        <p:nvSpPr>
          <p:cNvPr id="9" name="Text 7"/>
          <p:cNvSpPr txBox="1"/>
          <p:nvPr/>
        </p:nvSpPr>
        <p:spPr>
          <a:xfrm>
            <a:off x="566928" y="4590288"/>
            <a:ext cx="7863840" cy="274320"/>
          </a:xfrm>
          <a:prstGeom prst="rect">
            <a:avLst/>
          </a:prstGeom>
          <a:noFill/>
          <a:ln/>
        </p:spPr>
        <p:txBody>
          <a:bodyPr wrap="square" lIns="0" tIns="0" rIns="0" bIns="0" rtlCol="0" anchor="ctr"/>
          <a:lstStyle/>
          <a:p>
            <a:pPr indent="0" marL="0">
              <a:buNone/>
            </a:pPr>
            <a:r>
              <a:rPr lang="en-US" sz="1200" dirty="0">
                <a:solidFill>
                  <a:srgbClr val="9FB3D1"/>
                </a:solidFill>
                <a:latin typeface="Calibri" pitchFamily="34" charset="0"/>
                <a:ea typeface="Calibri" pitchFamily="34" charset="-122"/>
                <a:cs typeface="Calibri" pitchFamily="34" charset="-120"/>
              </a:rPr>
              <a:t>25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indent="0" marL="0">
              <a:buNone/>
            </a:pPr>
            <a:r>
              <a:rPr lang="en-US" sz="1200" b="1" spc="200" kern="0" dirty="0">
                <a:solidFill>
                  <a:srgbClr val="EB6834"/>
                </a:solidFill>
                <a:latin typeface="Calibri" pitchFamily="34" charset="0"/>
                <a:ea typeface="Calibri" pitchFamily="34" charset="-122"/>
                <a:cs typeface="Calibri" pitchFamily="34" charset="-120"/>
              </a:rPr>
              <a:t>ORIGIN</a:t>
            </a:r>
            <a:endParaRPr lang="en-US" sz="1200" dirty="0"/>
          </a:p>
        </p:txBody>
      </p:sp>
      <p:sp>
        <p:nvSpPr>
          <p:cNvPr id="3" name="Text 1"/>
          <p:cNvSpPr txBox="1"/>
          <p:nvPr/>
        </p:nvSpPr>
        <p:spPr>
          <a:xfrm>
            <a:off x="566928" y="749808"/>
            <a:ext cx="10424160" cy="658368"/>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A framework, carried across archetype</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indent="0" marL="0">
              <a:buNone/>
            </a:pPr>
            <a:r>
              <a:rPr lang="en-US" sz="1400" dirty="0">
                <a:solidFill>
                  <a:srgbClr val="5F6368"/>
                </a:solidFill>
                <a:latin typeface="Calibri" pitchFamily="34" charset="0"/>
                <a:ea typeface="Calibri" pitchFamily="34" charset="-122"/>
                <a:cs typeface="Calibri" pitchFamily="34" charset="-120"/>
              </a:rPr>
              <a:t>The solver and the assembly are unchanged. The physics is not.</a:t>
            </a:r>
            <a:endParaRPr lang="en-US" sz="1400" dirty="0"/>
          </a:p>
        </p:txBody>
      </p:sp>
      <p:sp>
        <p:nvSpPr>
          <p:cNvPr id="5" name="Text 3"/>
          <p:cNvSpPr txBox="1"/>
          <p:nvPr/>
        </p:nvSpPr>
        <p:spPr>
          <a:xfrm>
            <a:off x="566928" y="2057400"/>
            <a:ext cx="5212080" cy="2743200"/>
          </a:xfrm>
          <a:prstGeom prst="rect">
            <a:avLst/>
          </a:prstGeom>
          <a:noFill/>
          <a:ln/>
        </p:spPr>
        <p:txBody>
          <a:bodyPr wrap="square" lIns="0" tIns="0" rIns="0" bIns="0" rtlCol="0" anchor="ctr"/>
          <a:lstStyle/>
          <a:p>
            <a:pPr indent="0" marL="0">
              <a:lnSpc>
                <a:spcPts val="2200"/>
              </a:lnSpc>
              <a:spcAft>
                <a:spcPts val="1000"/>
              </a:spcAft>
              <a:buNone/>
            </a:pPr>
            <a:r>
              <a:rPr lang="en-US" sz="1450" dirty="0">
                <a:solidFill>
                  <a:srgbClr val="1A1A1A"/>
                </a:solidFill>
                <a:latin typeface="Calibri" pitchFamily="34" charset="0"/>
                <a:ea typeface="Calibri" pitchFamily="34" charset="-122"/>
                <a:cs typeface="Calibri" pitchFamily="34" charset="-120"/>
              </a:rPr>
              <a:t>The framework comes from the Stagnone di Marsala digital twin, where a coupled Delft3D FM and SWAN model was built for a shallow vegetated lagoon.</a:t>
            </a:r>
            <a:endParaRPr lang="en-US" sz="1450" dirty="0"/>
          </a:p>
          <a:p>
            <a:pPr indent="0" marL="0">
              <a:lnSpc>
                <a:spcPts val="2200"/>
              </a:lnSpc>
              <a:spcAft>
                <a:spcPts val="1000"/>
              </a:spcAft>
              <a:buNone/>
            </a:pPr>
            <a:r>
              <a:rPr lang="en-US" sz="1450" dirty="0">
                <a:solidFill>
                  <a:srgbClr val="1A1A1A"/>
                </a:solidFill>
                <a:latin typeface="Calibri" pitchFamily="34" charset="0"/>
                <a:ea typeface="Calibri" pitchFamily="34" charset="-122"/>
                <a:cs typeface="Calibri" pitchFamily="34" charset="-120"/>
              </a:rPr>
              <a:t>Carrying it to a second lagoon would test little. A reviewer could anticipate the outcome. Carrying it to a deep engineered harbour tests whether the pipeline is reusable or was fitted to one site.</a:t>
            </a:r>
            <a:endParaRPr lang="en-US" sz="1450" dirty="0"/>
          </a:p>
          <a:p>
            <a:pPr indent="0" marL="0">
              <a:lnSpc>
                <a:spcPts val="2200"/>
              </a:lnSpc>
              <a:buNone/>
            </a:pPr>
            <a:r>
              <a:rPr lang="en-US" sz="1450" dirty="0">
                <a:solidFill>
                  <a:srgbClr val="1A1A1A"/>
                </a:solidFill>
                <a:latin typeface="Calibri" pitchFamily="34" charset="0"/>
                <a:ea typeface="Calibri" pitchFamily="34" charset="-122"/>
                <a:cs typeface="Calibri" pitchFamily="34" charset="-120"/>
              </a:rPr>
              <a:t>What transfers is the assembly. What does not transfer is itself a result, and it is recorded rather than hidden.</a:t>
            </a:r>
            <a:endParaRPr lang="en-US" sz="14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263640" y="2057400"/>
          <a:ext cx="5358384" cy="914400"/>
        </p:xfrm>
        <a:graphic>
          <a:graphicData uri="http://schemas.openxmlformats.org/drawingml/2006/table">
            <a:tbl>
              <a:tblPr/>
              <a:tblGrid>
                <a:gridCol w="1700784"/>
                <a:gridCol w="1828800"/>
                <a:gridCol w="1828800"/>
              </a:tblGrid>
              <a:tr h="420624">
                <a:tc>
                  <a:txBody>
                    <a:bodyPr/>
                    <a:lstStyle/>
                    <a:p>
                      <a:pPr indent="0" marL="0">
                        <a:buNone/>
                      </a:pPr>
                      <a:endParaRPr lang="en-US" sz="1250" dirty="0">
                        <a:latin typeface="Calibri" charset="0"/>
                        <a:ea typeface="Calibri" charset="0"/>
                        <a:cs typeface="Calibri" charset="0"/>
                      </a:endParaRPr>
                    </a:p>
                  </a:txBody>
                  <a:tcPr marL="91440" marR="91440" marT="45720" marB="45720"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065A82"/>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Stagnone</a:t>
                      </a:r>
                      <a:endParaRPr lang="en-US" sz="1250" dirty="0">
                        <a:latin typeface="Calibri" charset="0"/>
                        <a:ea typeface="Calibri" charset="0"/>
                        <a:cs typeface="Calibri" charset="0"/>
                      </a:endParaRPr>
                    </a:p>
                  </a:txBody>
                  <a:tcPr marL="91440" marR="91440" marT="45720" marB="45720"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065A82"/>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Valletta</a:t>
                      </a:r>
                      <a:endParaRPr lang="en-US" sz="1250" dirty="0">
                        <a:latin typeface="Calibri" charset="0"/>
                        <a:ea typeface="Calibri" charset="0"/>
                        <a:cs typeface="Calibri" charset="0"/>
                      </a:endParaRPr>
                    </a:p>
                  </a:txBody>
                  <a:tcPr marL="91440" marR="91440" marT="45720" marB="45720"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065A82"/>
                    </a:solidFill>
                  </a:tcPr>
                </a:tc>
              </a:tr>
              <a:tr h="420624">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Depth</a:t>
                      </a:r>
                      <a:endParaRPr lang="en-US" sz="1250" dirty="0">
                        <a:latin typeface="Calibri" charset="0"/>
                        <a:ea typeface="Calibri" charset="0"/>
                        <a:cs typeface="Calibri" charset="0"/>
                      </a:endParaRPr>
                    </a:p>
                  </a:txBody>
                  <a:tcPr marL="91440" marR="91440" marT="45720" marB="45720"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sub-metre</a:t>
                      </a:r>
                      <a:endParaRPr lang="en-US" sz="1250" dirty="0">
                        <a:latin typeface="Calibri" charset="0"/>
                        <a:ea typeface="Calibri" charset="0"/>
                        <a:cs typeface="Calibri" charset="0"/>
                      </a:endParaRPr>
                    </a:p>
                  </a:txBody>
                  <a:tcPr marL="91440" marR="91440" marT="45720" marB="45720"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12 to 20 m</a:t>
                      </a:r>
                      <a:endParaRPr lang="en-US" sz="1250" dirty="0">
                        <a:latin typeface="Calibri" charset="0"/>
                        <a:ea typeface="Calibri" charset="0"/>
                        <a:cs typeface="Calibri" charset="0"/>
                      </a:endParaRPr>
                    </a:p>
                  </a:txBody>
                  <a:tcPr marL="91440" marR="91440" marT="45720" marB="45720"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Bed</a:t>
                      </a:r>
                      <a:endParaRPr lang="en-US" sz="1250" dirty="0">
                        <a:latin typeface="Calibri" charset="0"/>
                        <a:ea typeface="Calibri" charset="0"/>
                        <a:cs typeface="Calibri" charset="0"/>
                      </a:endParaRPr>
                    </a:p>
                  </a:txBody>
                  <a:tcPr marL="91440" marR="91440" marT="45720" marB="45720"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EEF3F6"/>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seagrass canopy</a:t>
                      </a:r>
                      <a:endParaRPr lang="en-US" sz="1250" dirty="0">
                        <a:latin typeface="Calibri" charset="0"/>
                        <a:ea typeface="Calibri" charset="0"/>
                        <a:cs typeface="Calibri" charset="0"/>
                      </a:endParaRPr>
                    </a:p>
                  </a:txBody>
                  <a:tcPr marL="91440" marR="91440" marT="45720" marB="45720"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EEF3F6"/>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engineered, quay walls</a:t>
                      </a:r>
                      <a:endParaRPr lang="en-US" sz="1250" dirty="0">
                        <a:latin typeface="Calibri" charset="0"/>
                        <a:ea typeface="Calibri" charset="0"/>
                        <a:cs typeface="Calibri" charset="0"/>
                      </a:endParaRPr>
                    </a:p>
                  </a:txBody>
                  <a:tcPr marL="91440" marR="91440" marT="45720" marB="45720"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EEF3F6"/>
                    </a:solidFill>
                  </a:tcPr>
                </a:tc>
              </a:tr>
              <a:tr h="420624">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Boundary signal</a:t>
                      </a:r>
                      <a:endParaRPr lang="en-US" sz="1250" dirty="0">
                        <a:latin typeface="Calibri" charset="0"/>
                        <a:ea typeface="Calibri" charset="0"/>
                        <a:cs typeface="Calibri" charset="0"/>
                      </a:endParaRPr>
                    </a:p>
                  </a:txBody>
                  <a:tcPr marL="91440" marR="91440" marT="45720" marB="45720"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tide</a:t>
                      </a:r>
                      <a:endParaRPr lang="en-US" sz="1250" dirty="0">
                        <a:latin typeface="Calibri" charset="0"/>
                        <a:ea typeface="Calibri" charset="0"/>
                        <a:cs typeface="Calibri" charset="0"/>
                      </a:endParaRPr>
                    </a:p>
                  </a:txBody>
                  <a:tcPr marL="91440" marR="91440" marT="45720" marB="45720"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long wave, atmospheric</a:t>
                      </a:r>
                      <a:endParaRPr lang="en-US" sz="1250" dirty="0">
                        <a:latin typeface="Calibri" charset="0"/>
                        <a:ea typeface="Calibri" charset="0"/>
                        <a:cs typeface="Calibri" charset="0"/>
                      </a:endParaRPr>
                    </a:p>
                  </a:txBody>
                  <a:tcPr marL="91440" marR="91440" marT="45720" marB="45720"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Circulation driver</a:t>
                      </a:r>
                      <a:endParaRPr lang="en-US" sz="1250" dirty="0">
                        <a:latin typeface="Calibri" charset="0"/>
                        <a:ea typeface="Calibri" charset="0"/>
                        <a:cs typeface="Calibri" charset="0"/>
                      </a:endParaRPr>
                    </a:p>
                  </a:txBody>
                  <a:tcPr marL="91440" marR="91440" marT="45720" marB="45720"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EEF3F6"/>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wind</a:t>
                      </a:r>
                      <a:endParaRPr lang="en-US" sz="1250" dirty="0">
                        <a:latin typeface="Calibri" charset="0"/>
                        <a:ea typeface="Calibri" charset="0"/>
                        <a:cs typeface="Calibri" charset="0"/>
                      </a:endParaRPr>
                    </a:p>
                  </a:txBody>
                  <a:tcPr marL="91440" marR="91440" marT="45720" marB="45720"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EEF3F6"/>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the same long wave</a:t>
                      </a:r>
                      <a:endParaRPr lang="en-US" sz="1250" dirty="0">
                        <a:latin typeface="Calibri" charset="0"/>
                        <a:ea typeface="Calibri" charset="0"/>
                        <a:cs typeface="Calibri" charset="0"/>
                      </a:endParaRPr>
                    </a:p>
                  </a:txBody>
                  <a:tcPr marL="91440" marR="91440" marT="45720" marB="45720"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EEF3F6"/>
                    </a:solidFill>
                  </a:tcPr>
                </a:tc>
              </a:tr>
            </a:tbl>
          </a:graphicData>
        </a:graphic>
      </p:graphicFrame>
      <p:sp>
        <p:nvSpPr>
          <p:cNvPr id="7" name="Text 4"/>
          <p:cNvSpPr txBox="1"/>
          <p:nvPr/>
        </p:nvSpPr>
        <p:spPr>
          <a:xfrm>
            <a:off x="566928" y="6053328"/>
            <a:ext cx="11055096" cy="310896"/>
          </a:xfrm>
          <a:prstGeom prst="rect">
            <a:avLst/>
          </a:prstGeom>
          <a:noFill/>
          <a:ln/>
        </p:spPr>
        <p:txBody>
          <a:bodyPr wrap="square" lIns="0" tIns="0" rIns="0" bIns="0" rtlCol="0" anchor="ctr"/>
          <a:lstStyle/>
          <a:p>
            <a:pPr indent="0" marL="0">
              <a:buNone/>
            </a:pPr>
            <a:r>
              <a:rPr lang="en-US" sz="1050" i="1" dirty="0">
                <a:solidFill>
                  <a:srgbClr val="5F6368"/>
                </a:solidFill>
                <a:latin typeface="Calibri" pitchFamily="34" charset="0"/>
                <a:ea typeface="Calibri" pitchFamily="34" charset="-122"/>
                <a:cs typeface="Calibri" pitchFamily="34" charset="-120"/>
              </a:rPr>
              <a:t>The transfer effort is logged stage by stage as transferred, re-parameterised, or not applicable. That log is the methodological result.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indent="0" marL="0">
              <a:buNone/>
            </a:pPr>
            <a:r>
              <a:rPr lang="en-US" sz="1200" b="1" spc="200" kern="0" dirty="0">
                <a:solidFill>
                  <a:srgbClr val="EB6834"/>
                </a:solidFill>
                <a:latin typeface="Calibri" pitchFamily="34" charset="0"/>
                <a:ea typeface="Calibri" pitchFamily="34" charset="-122"/>
                <a:cs typeface="Calibri" pitchFamily="34" charset="-120"/>
              </a:rPr>
              <a:t>AVAILABLE DATA</a:t>
            </a:r>
            <a:endParaRPr lang="en-US" sz="1200" dirty="0"/>
          </a:p>
        </p:txBody>
      </p:sp>
      <p:sp>
        <p:nvSpPr>
          <p:cNvPr id="3" name="Text 1"/>
          <p:cNvSpPr txBox="1"/>
          <p:nvPr/>
        </p:nvSpPr>
        <p:spPr>
          <a:xfrm>
            <a:off x="566928" y="749808"/>
            <a:ext cx="10424160" cy="658368"/>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Bathymetry and coastline, co-registered</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indent="0" marL="0">
              <a:buNone/>
            </a:pPr>
            <a:r>
              <a:rPr lang="en-US" sz="1400" dirty="0">
                <a:solidFill>
                  <a:srgbClr val="5F6368"/>
                </a:solidFill>
                <a:latin typeface="Calibri" pitchFamily="34" charset="0"/>
                <a:ea typeface="Calibri" pitchFamily="34" charset="-122"/>
                <a:cs typeface="Calibri" pitchFamily="34" charset="-120"/>
              </a:rPr>
              <a:t>Supplied by the host group on 22 and 23 September.</a:t>
            </a:r>
            <a:endParaRPr lang="en-US" sz="1400" dirty="0"/>
          </a:p>
        </p:txBody>
      </p:sp>
      <p:sp>
        <p:nvSpPr>
          <p:cNvPr id="5" name="Text 3"/>
          <p:cNvSpPr txBox="1"/>
          <p:nvPr/>
        </p:nvSpPr>
        <p:spPr>
          <a:xfrm>
            <a:off x="566928" y="2057400"/>
            <a:ext cx="2286000" cy="475488"/>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10 m</a:t>
            </a:r>
            <a:endParaRPr lang="en-US" sz="2700" dirty="0"/>
          </a:p>
        </p:txBody>
      </p:sp>
      <p:sp>
        <p:nvSpPr>
          <p:cNvPr id="6" name="Text 4"/>
          <p:cNvSpPr txBox="1"/>
          <p:nvPr/>
        </p:nvSpPr>
        <p:spPr>
          <a:xfrm>
            <a:off x="566928" y="2532888"/>
            <a:ext cx="3108960" cy="54864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merged LiDAR and sonar,</a:t>
            </a:r>
            <a:endParaRPr lang="en-US" sz="1200" dirty="0"/>
          </a:p>
          <a:p>
            <a:pPr indent="0" marL="0">
              <a:buNone/>
            </a:pPr>
            <a:r>
              <a:rPr lang="en-US" sz="1200" dirty="0">
                <a:solidFill>
                  <a:srgbClr val="5F6368"/>
                </a:solidFill>
                <a:latin typeface="Calibri" pitchFamily="34" charset="0"/>
                <a:ea typeface="Calibri" pitchFamily="34" charset="-122"/>
                <a:cs typeface="Calibri" pitchFamily="34" charset="-120"/>
              </a:rPr>
              <a:t>CDI 4036_MEPA</a:t>
            </a:r>
            <a:endParaRPr lang="en-US" sz="1200" dirty="0"/>
          </a:p>
        </p:txBody>
      </p:sp>
      <p:sp>
        <p:nvSpPr>
          <p:cNvPr id="7" name="Text 5"/>
          <p:cNvSpPr txBox="1"/>
          <p:nvPr/>
        </p:nvSpPr>
        <p:spPr>
          <a:xfrm>
            <a:off x="566928" y="3227832"/>
            <a:ext cx="2286000" cy="475488"/>
          </a:xfrm>
          <a:prstGeom prst="rect">
            <a:avLst/>
          </a:prstGeom>
          <a:noFill/>
          <a:ln/>
        </p:spPr>
        <p:txBody>
          <a:bodyPr wrap="square" lIns="0" tIns="0" rIns="0" bIns="0" rtlCol="0" anchor="ctr"/>
          <a:lstStyle/>
          <a:p>
            <a:pPr indent="0" marL="0">
              <a:buNone/>
            </a:pPr>
            <a:r>
              <a:rPr lang="en-US" sz="2700" b="1" dirty="0">
                <a:solidFill>
                  <a:srgbClr val="EB6834"/>
                </a:solidFill>
                <a:latin typeface="Cambria" pitchFamily="34" charset="0"/>
                <a:ea typeface="Cambria" pitchFamily="34" charset="-122"/>
                <a:cs typeface="Cambria" pitchFamily="34" charset="-120"/>
              </a:rPr>
              <a:t>174 to 256×</a:t>
            </a:r>
            <a:endParaRPr lang="en-US" sz="2700" dirty="0"/>
          </a:p>
        </p:txBody>
      </p:sp>
      <p:sp>
        <p:nvSpPr>
          <p:cNvPr id="8" name="Text 6"/>
          <p:cNvSpPr txBox="1"/>
          <p:nvPr/>
        </p:nvSpPr>
        <p:spPr>
          <a:xfrm>
            <a:off x="566928" y="3703320"/>
            <a:ext cx="3108960" cy="54864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more resolved water cells</a:t>
            </a:r>
            <a:endParaRPr lang="en-US" sz="1200" dirty="0"/>
          </a:p>
          <a:p>
            <a:pPr indent="0" marL="0">
              <a:buNone/>
            </a:pPr>
            <a:r>
              <a:rPr lang="en-US" sz="1200" dirty="0">
                <a:solidFill>
                  <a:srgbClr val="5F6368"/>
                </a:solidFill>
                <a:latin typeface="Calibri" pitchFamily="34" charset="0"/>
                <a:ea typeface="Calibri" pitchFamily="34" charset="-122"/>
                <a:cs typeface="Calibri" pitchFamily="34" charset="-120"/>
              </a:rPr>
              <a:t>than the public product</a:t>
            </a:r>
            <a:endParaRPr lang="en-US" sz="1200" dirty="0"/>
          </a:p>
        </p:txBody>
      </p:sp>
      <p:sp>
        <p:nvSpPr>
          <p:cNvPr id="9" name="Text 7"/>
          <p:cNvSpPr txBox="1"/>
          <p:nvPr/>
        </p:nvSpPr>
        <p:spPr>
          <a:xfrm>
            <a:off x="566928" y="4398264"/>
            <a:ext cx="2286000" cy="475488"/>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99.5 %</a:t>
            </a:r>
            <a:endParaRPr lang="en-US" sz="2700" dirty="0"/>
          </a:p>
        </p:txBody>
      </p:sp>
      <p:sp>
        <p:nvSpPr>
          <p:cNvPr id="10" name="Text 8"/>
          <p:cNvSpPr txBox="1"/>
          <p:nvPr/>
        </p:nvSpPr>
        <p:spPr>
          <a:xfrm>
            <a:off x="566928" y="4873752"/>
            <a:ext cx="3108960" cy="54864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land and water agreement</a:t>
            </a:r>
            <a:endParaRPr lang="en-US" sz="1200" dirty="0"/>
          </a:p>
          <a:p>
            <a:pPr indent="0" marL="0">
              <a:buNone/>
            </a:pPr>
            <a:r>
              <a:rPr lang="en-US" sz="1200" dirty="0">
                <a:solidFill>
                  <a:srgbClr val="5F6368"/>
                </a:solidFill>
                <a:latin typeface="Calibri" pitchFamily="34" charset="0"/>
                <a:ea typeface="Calibri" pitchFamily="34" charset="-122"/>
                <a:cs typeface="Calibri" pitchFamily="34" charset="-120"/>
              </a:rPr>
              <a:t>with the coastline</a:t>
            </a:r>
            <a:endParaRPr lang="en-US" sz="1200" dirty="0"/>
          </a:p>
        </p:txBody>
      </p:sp>
      <p:pic>
        <p:nvPicPr>
          <p:cNvPr id="11" name="Image 0" descr="C:\Users\Unipa\Documents\MaltaDT\figures\bathymetry_overview.png">    </p:cNvPr>
          <p:cNvPicPr>
            <a:picLocks noChangeAspect="1"/>
          </p:cNvPicPr>
          <p:nvPr/>
        </p:nvPicPr>
        <p:blipFill>
          <a:blip r:embed="rId1"/>
          <a:stretch>
            <a:fillRect/>
          </a:stretch>
        </p:blipFill>
        <p:spPr>
          <a:xfrm>
            <a:off x="4160520" y="1783080"/>
            <a:ext cx="4754880" cy="4059936"/>
          </a:xfrm>
          <a:prstGeom prst="rect">
            <a:avLst/>
          </a:prstGeom>
        </p:spPr>
      </p:pic>
      <p:sp>
        <p:nvSpPr>
          <p:cNvPr id="12" name="Text 9"/>
          <p:cNvSpPr txBox="1"/>
          <p:nvPr/>
        </p:nvSpPr>
        <p:spPr>
          <a:xfrm>
            <a:off x="9189720" y="2377440"/>
            <a:ext cx="2468880" cy="2011680"/>
          </a:xfrm>
          <a:prstGeom prst="rect">
            <a:avLst/>
          </a:prstGeom>
          <a:noFill/>
          <a:ln/>
        </p:spPr>
        <p:txBody>
          <a:bodyPr wrap="square" lIns="0" tIns="0" rIns="0" bIns="0" rtlCol="0" anchor="ctr"/>
          <a:lstStyle/>
          <a:p>
            <a:pPr indent="0" marL="0">
              <a:lnSpc>
                <a:spcPts val="1600"/>
              </a:lnSpc>
              <a:buNone/>
            </a:pPr>
            <a:r>
              <a:rPr lang="en-US" sz="1150" b="1" dirty="0">
                <a:solidFill>
                  <a:srgbClr val="1A1A1A"/>
                </a:solidFill>
                <a:latin typeface="Calibri" pitchFamily="34" charset="0"/>
                <a:ea typeface="Calibri" pitchFamily="34" charset="-122"/>
                <a:cs typeface="Calibri" pitchFamily="34" charset="-120"/>
              </a:rPr>
              <a:t>Two coordinate hazards
</a:t>
            </a:r>
            <a:endParaRPr lang="en-US" sz="1150" dirty="0"/>
          </a:p>
          <a:p>
            <a:pPr indent="0" marL="0">
              <a:lnSpc>
                <a:spcPts val="1600"/>
              </a:lnSpc>
              <a:buNone/>
            </a:pPr>
            <a:r>
              <a:rPr lang="en-US" sz="1150" dirty="0">
                <a:solidFill>
                  <a:srgbClr val="5F6368"/>
                </a:solidFill>
                <a:latin typeface="Calibri" pitchFamily="34" charset="0"/>
                <a:ea typeface="Calibri" pitchFamily="34" charset="-122"/>
                <a:cs typeface="Calibri" pitchFamily="34" charset="-120"/>
              </a:rPr>
              <a:t>The grids carry no datum. Interpreted as WGS84 they are displaced by 197 m, without error.
</a:t>
            </a:r>
            <a:endParaRPr lang="en-US" sz="1150" dirty="0"/>
          </a:p>
          <a:p>
            <a:pPr indent="0" marL="0">
              <a:lnSpc>
                <a:spcPts val="1600"/>
              </a:lnSpc>
              <a:buNone/>
            </a:pPr>
            <a:r>
              <a:rPr lang="en-US" sz="1150" dirty="0">
                <a:solidFill>
                  <a:srgbClr val="5F6368"/>
                </a:solidFill>
                <a:latin typeface="Calibri" pitchFamily="34" charset="0"/>
                <a:ea typeface="Calibri" pitchFamily="34" charset="-122"/>
                <a:cs typeface="Calibri" pitchFamily="34" charset="-120"/>
              </a:rPr>
              <a:t>Bathymetry is ED50, the coastline is WGS84. Neither overlays the other untransformed.</a:t>
            </a:r>
            <a:endParaRPr lang="en-US" sz="1150" dirty="0"/>
          </a:p>
        </p:txBody>
      </p:sp>
      <p:sp>
        <p:nvSpPr>
          <p:cNvPr id="13" name="Text 10"/>
          <p:cNvSpPr txBox="1"/>
          <p:nvPr/>
        </p:nvSpPr>
        <p:spPr>
          <a:xfrm>
            <a:off x="566928" y="6053328"/>
            <a:ext cx="11055096" cy="310896"/>
          </a:xfrm>
          <a:prstGeom prst="rect">
            <a:avLst/>
          </a:prstGeom>
          <a:noFill/>
          <a:ln/>
        </p:spPr>
        <p:txBody>
          <a:bodyPr wrap="square" lIns="0" tIns="0" rIns="0" bIns="0" rtlCol="0" anchor="ctr"/>
          <a:lstStyle/>
          <a:p>
            <a:pPr indent="0" marL="0">
              <a:buNone/>
            </a:pPr>
            <a:r>
              <a:rPr lang="en-US" sz="1050" i="1" dirty="0">
                <a:solidFill>
                  <a:srgbClr val="5F6368"/>
                </a:solidFill>
                <a:latin typeface="Calibri" pitchFamily="34" charset="0"/>
                <a:ea typeface="Calibri" pitchFamily="34" charset="-122"/>
                <a:cs typeface="Calibri" pitchFamily="34" charset="-120"/>
              </a:rPr>
              <a:t>Grand Harbour 1.64 km², mean depth 15.9 m. Marsamxett 1.32 km², mean depth 13.3 m.</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indent="0" marL="0">
              <a:buNone/>
            </a:pPr>
            <a:r>
              <a:rPr lang="en-US" sz="1200" b="1" spc="200" kern="0" dirty="0">
                <a:solidFill>
                  <a:srgbClr val="EB6834"/>
                </a:solidFill>
                <a:latin typeface="Calibri" pitchFamily="34" charset="0"/>
                <a:ea typeface="Calibri" pitchFamily="34" charset="-122"/>
                <a:cs typeface="Calibri" pitchFamily="34" charset="-120"/>
              </a:rPr>
              <a:t>THE PHENOMENON</a:t>
            </a:r>
            <a:endParaRPr lang="en-US" sz="1200" dirty="0"/>
          </a:p>
        </p:txBody>
      </p:sp>
      <p:sp>
        <p:nvSpPr>
          <p:cNvPr id="3" name="Text 1"/>
          <p:cNvSpPr txBox="1"/>
          <p:nvPr/>
        </p:nvSpPr>
        <p:spPr>
          <a:xfrm>
            <a:off x="566928" y="749808"/>
            <a:ext cx="10424160" cy="658368"/>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The milgħuba is a meteotsunami</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indent="0" marL="0">
              <a:buNone/>
            </a:pPr>
            <a:r>
              <a:rPr lang="en-US" sz="1400" dirty="0">
                <a:solidFill>
                  <a:srgbClr val="5F6368"/>
                </a:solidFill>
                <a:latin typeface="Calibri" pitchFamily="34" charset="0"/>
                <a:ea typeface="Calibri" pitchFamily="34" charset="-122"/>
                <a:cs typeface="Calibri" pitchFamily="34" charset="-120"/>
              </a:rPr>
              <a:t>Rissaga in the Balearics, marrobbio on the Sicilian shelf. Not basin sloshing in general.</a:t>
            </a:r>
            <a:endParaRPr lang="en-US" sz="1400" dirty="0"/>
          </a:p>
        </p:txBody>
      </p:sp>
      <p:sp>
        <p:nvSpPr>
          <p:cNvPr id="5" name="Shape 3"/>
          <p:cNvSpPr/>
          <p:nvPr/>
        </p:nvSpPr>
        <p:spPr>
          <a:xfrm>
            <a:off x="566928" y="2487168"/>
            <a:ext cx="3520440" cy="2286000"/>
          </a:xfrm>
          <a:prstGeom prst="roundRect">
            <a:avLst>
              <a:gd name="adj" fmla="val 2400"/>
            </a:avLst>
          </a:prstGeom>
          <a:solidFill>
            <a:srgbClr val="EEF3F6"/>
          </a:solidFill>
          <a:ln/>
        </p:spPr>
      </p:sp>
      <p:sp>
        <p:nvSpPr>
          <p:cNvPr id="6" name="Shape 4"/>
          <p:cNvSpPr/>
          <p:nvPr/>
        </p:nvSpPr>
        <p:spPr>
          <a:xfrm>
            <a:off x="822960" y="2212848"/>
            <a:ext cx="402336" cy="402336"/>
          </a:xfrm>
          <a:prstGeom prst="ellipse">
            <a:avLst/>
          </a:prstGeom>
          <a:solidFill>
            <a:srgbClr val="EB6834"/>
          </a:solidFill>
          <a:ln/>
        </p:spPr>
      </p:sp>
      <p:sp>
        <p:nvSpPr>
          <p:cNvPr id="7" name="Text 5"/>
          <p:cNvSpPr txBox="1"/>
          <p:nvPr/>
        </p:nvSpPr>
        <p:spPr>
          <a:xfrm>
            <a:off x="822960" y="22128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822960" y="2788920"/>
            <a:ext cx="3017520" cy="329184"/>
          </a:xfrm>
          <a:prstGeom prst="rect">
            <a:avLst/>
          </a:prstGeom>
          <a:noFill/>
          <a:ln/>
        </p:spPr>
        <p:txBody>
          <a:bodyPr wrap="square" lIns="0" tIns="0" rIns="0" bIns="0" rtlCol="0" anchor="ctr"/>
          <a:lstStyle/>
          <a:p>
            <a:pPr indent="0" marL="0">
              <a:buNone/>
            </a:pPr>
            <a:r>
              <a:rPr lang="en-US" sz="1550" b="1" dirty="0">
                <a:solidFill>
                  <a:srgbClr val="1A1A1A"/>
                </a:solidFill>
                <a:latin typeface="Cambria" pitchFamily="34" charset="0"/>
                <a:ea typeface="Cambria" pitchFamily="34" charset="-122"/>
                <a:cs typeface="Cambria" pitchFamily="34" charset="-120"/>
              </a:rPr>
              <a:t>Proudman resonance</a:t>
            </a:r>
            <a:endParaRPr lang="en-US" sz="1550" dirty="0"/>
          </a:p>
        </p:txBody>
      </p:sp>
      <p:sp>
        <p:nvSpPr>
          <p:cNvPr id="9" name="Text 7"/>
          <p:cNvSpPr txBox="1"/>
          <p:nvPr/>
        </p:nvSpPr>
        <p:spPr>
          <a:xfrm>
            <a:off x="822960" y="3145536"/>
            <a:ext cx="3017520" cy="749808"/>
          </a:xfrm>
          <a:prstGeom prst="rect">
            <a:avLst/>
          </a:prstGeom>
          <a:noFill/>
          <a:ln/>
        </p:spPr>
        <p:txBody>
          <a:bodyPr wrap="square" lIns="0" tIns="0" rIns="0" bIns="0" rtlCol="0" anchor="ctr"/>
          <a:lstStyle/>
          <a:p>
            <a:pPr indent="0" marL="0">
              <a:lnSpc>
                <a:spcPts val="1600"/>
              </a:lnSpc>
              <a:buNone/>
            </a:pPr>
            <a:r>
              <a:rPr lang="en-US" sz="1200" dirty="0">
                <a:solidFill>
                  <a:srgbClr val="1A1A1A"/>
                </a:solidFill>
                <a:latin typeface="Calibri" pitchFamily="34" charset="0"/>
                <a:ea typeface="Calibri" pitchFamily="34" charset="-122"/>
                <a:cs typeface="Calibri" pitchFamily="34" charset="-120"/>
              </a:rPr>
              <a:t>An atmospheric disturbance travelling at √(gh) pumps the sea beneath it.</a:t>
            </a:r>
            <a:endParaRPr lang="en-US" sz="1200" dirty="0"/>
          </a:p>
        </p:txBody>
      </p:sp>
      <p:sp>
        <p:nvSpPr>
          <p:cNvPr id="10" name="Text 8"/>
          <p:cNvSpPr txBox="1"/>
          <p:nvPr/>
        </p:nvSpPr>
        <p:spPr>
          <a:xfrm>
            <a:off x="822960" y="3950208"/>
            <a:ext cx="3017520" cy="731520"/>
          </a:xfrm>
          <a:prstGeom prst="rect">
            <a:avLst/>
          </a:prstGeom>
          <a:noFill/>
          <a:ln/>
        </p:spPr>
        <p:txBody>
          <a:bodyPr wrap="square" lIns="0" tIns="0" rIns="0" bIns="0" rtlCol="0" anchor="ctr"/>
          <a:lstStyle/>
          <a:p>
            <a:pPr indent="0" marL="0">
              <a:lnSpc>
                <a:spcPts val="1500"/>
              </a:lnSpc>
              <a:buNone/>
            </a:pPr>
            <a:r>
              <a:rPr lang="en-US" sz="1100" b="1" dirty="0">
                <a:solidFill>
                  <a:srgbClr val="1C7293"/>
                </a:solidFill>
                <a:latin typeface="Calibri" pitchFamily="34" charset="0"/>
                <a:ea typeface="Calibri" pitchFamily="34" charset="-122"/>
                <a:cs typeface="Calibri" pitchFamily="34" charset="-120"/>
              </a:rPr>
              <a:t>The Malta Plateau, 99 to 190 m, is resonant with disturbances of 94 to 155 km h⁻¹.</a:t>
            </a:r>
            <a:endParaRPr lang="en-US" sz="1100" dirty="0"/>
          </a:p>
        </p:txBody>
      </p:sp>
      <p:sp>
        <p:nvSpPr>
          <p:cNvPr id="11" name="Shape 9"/>
          <p:cNvSpPr/>
          <p:nvPr/>
        </p:nvSpPr>
        <p:spPr>
          <a:xfrm>
            <a:off x="4334256" y="2487168"/>
            <a:ext cx="3520440" cy="2286000"/>
          </a:xfrm>
          <a:prstGeom prst="roundRect">
            <a:avLst>
              <a:gd name="adj" fmla="val 2400"/>
            </a:avLst>
          </a:prstGeom>
          <a:solidFill>
            <a:srgbClr val="EEF3F6"/>
          </a:solidFill>
          <a:ln/>
        </p:spPr>
      </p:sp>
      <p:sp>
        <p:nvSpPr>
          <p:cNvPr id="12" name="Shape 10"/>
          <p:cNvSpPr/>
          <p:nvPr/>
        </p:nvSpPr>
        <p:spPr>
          <a:xfrm>
            <a:off x="4590288" y="2212848"/>
            <a:ext cx="402336" cy="402336"/>
          </a:xfrm>
          <a:prstGeom prst="ellipse">
            <a:avLst/>
          </a:prstGeom>
          <a:solidFill>
            <a:srgbClr val="065A82"/>
          </a:solidFill>
          <a:ln/>
        </p:spPr>
      </p:sp>
      <p:sp>
        <p:nvSpPr>
          <p:cNvPr id="13" name="Text 11"/>
          <p:cNvSpPr txBox="1"/>
          <p:nvPr/>
        </p:nvSpPr>
        <p:spPr>
          <a:xfrm>
            <a:off x="4590288" y="22128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590288" y="2788920"/>
            <a:ext cx="3017520" cy="329184"/>
          </a:xfrm>
          <a:prstGeom prst="rect">
            <a:avLst/>
          </a:prstGeom>
          <a:noFill/>
          <a:ln/>
        </p:spPr>
        <p:txBody>
          <a:bodyPr wrap="square" lIns="0" tIns="0" rIns="0" bIns="0" rtlCol="0" anchor="ctr"/>
          <a:lstStyle/>
          <a:p>
            <a:pPr indent="0" marL="0">
              <a:buNone/>
            </a:pPr>
            <a:r>
              <a:rPr lang="en-US" sz="1550" b="1" dirty="0">
                <a:solidFill>
                  <a:srgbClr val="1A1A1A"/>
                </a:solidFill>
                <a:latin typeface="Cambria" pitchFamily="34" charset="0"/>
                <a:ea typeface="Cambria" pitchFamily="34" charset="-122"/>
                <a:cs typeface="Cambria" pitchFamily="34" charset="-120"/>
              </a:rPr>
              <a:t>Shoaling</a:t>
            </a:r>
            <a:endParaRPr lang="en-US" sz="1550" dirty="0"/>
          </a:p>
        </p:txBody>
      </p:sp>
      <p:sp>
        <p:nvSpPr>
          <p:cNvPr id="15" name="Text 13"/>
          <p:cNvSpPr txBox="1"/>
          <p:nvPr/>
        </p:nvSpPr>
        <p:spPr>
          <a:xfrm>
            <a:off x="4590288" y="3145536"/>
            <a:ext cx="3017520" cy="749808"/>
          </a:xfrm>
          <a:prstGeom prst="rect">
            <a:avLst/>
          </a:prstGeom>
          <a:noFill/>
          <a:ln/>
        </p:spPr>
        <p:txBody>
          <a:bodyPr wrap="square" lIns="0" tIns="0" rIns="0" bIns="0" rtlCol="0" anchor="ctr"/>
          <a:lstStyle/>
          <a:p>
            <a:pPr indent="0" marL="0">
              <a:lnSpc>
                <a:spcPts val="1600"/>
              </a:lnSpc>
              <a:buNone/>
            </a:pPr>
            <a:r>
              <a:rPr lang="en-US" sz="1200" dirty="0">
                <a:solidFill>
                  <a:srgbClr val="1A1A1A"/>
                </a:solidFill>
                <a:latin typeface="Calibri" pitchFamily="34" charset="0"/>
                <a:ea typeface="Calibri" pitchFamily="34" charset="-122"/>
                <a:cs typeface="Calibri" pitchFamily="34" charset="-120"/>
              </a:rPr>
              <a:t>Green's law amplifies the wave as it climbs the approach.</a:t>
            </a:r>
            <a:endParaRPr lang="en-US" sz="1200" dirty="0"/>
          </a:p>
        </p:txBody>
      </p:sp>
      <p:sp>
        <p:nvSpPr>
          <p:cNvPr id="16" name="Text 14"/>
          <p:cNvSpPr txBox="1"/>
          <p:nvPr/>
        </p:nvSpPr>
        <p:spPr>
          <a:xfrm>
            <a:off x="4590288" y="3950208"/>
            <a:ext cx="3017520" cy="731520"/>
          </a:xfrm>
          <a:prstGeom prst="rect">
            <a:avLst/>
          </a:prstGeom>
          <a:noFill/>
          <a:ln/>
        </p:spPr>
        <p:txBody>
          <a:bodyPr wrap="square" lIns="0" tIns="0" rIns="0" bIns="0" rtlCol="0" anchor="ctr"/>
          <a:lstStyle/>
          <a:p>
            <a:pPr indent="0" marL="0">
              <a:lnSpc>
                <a:spcPts val="1500"/>
              </a:lnSpc>
              <a:buNone/>
            </a:pPr>
            <a:r>
              <a:rPr lang="en-US" sz="1100" b="1" dirty="0">
                <a:solidFill>
                  <a:srgbClr val="1C7293"/>
                </a:solidFill>
                <a:latin typeface="Calibri" pitchFamily="34" charset="0"/>
                <a:ea typeface="Calibri" pitchFamily="34" charset="-122"/>
                <a:cs typeface="Calibri" pitchFamily="34" charset="-120"/>
              </a:rPr>
              <a:t>From the plateau into the harbours, a factor of 1.75 to 1.84.</a:t>
            </a:r>
            <a:endParaRPr lang="en-US" sz="1100" dirty="0"/>
          </a:p>
        </p:txBody>
      </p:sp>
      <p:sp>
        <p:nvSpPr>
          <p:cNvPr id="17" name="Shape 15"/>
          <p:cNvSpPr/>
          <p:nvPr/>
        </p:nvSpPr>
        <p:spPr>
          <a:xfrm>
            <a:off x="8101584" y="2487168"/>
            <a:ext cx="3520440" cy="2286000"/>
          </a:xfrm>
          <a:prstGeom prst="roundRect">
            <a:avLst>
              <a:gd name="adj" fmla="val 2400"/>
            </a:avLst>
          </a:prstGeom>
          <a:solidFill>
            <a:srgbClr val="EEF3F6"/>
          </a:solidFill>
          <a:ln/>
        </p:spPr>
      </p:sp>
      <p:sp>
        <p:nvSpPr>
          <p:cNvPr id="18" name="Shape 16"/>
          <p:cNvSpPr/>
          <p:nvPr/>
        </p:nvSpPr>
        <p:spPr>
          <a:xfrm>
            <a:off x="8357616" y="2212848"/>
            <a:ext cx="402336" cy="402336"/>
          </a:xfrm>
          <a:prstGeom prst="ellipse">
            <a:avLst/>
          </a:prstGeom>
          <a:solidFill>
            <a:srgbClr val="065A82"/>
          </a:solidFill>
          <a:ln/>
        </p:spPr>
      </p:sp>
      <p:sp>
        <p:nvSpPr>
          <p:cNvPr id="19" name="Text 17"/>
          <p:cNvSpPr txBox="1"/>
          <p:nvPr/>
        </p:nvSpPr>
        <p:spPr>
          <a:xfrm>
            <a:off x="8357616" y="22128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txBox="1"/>
          <p:nvPr/>
        </p:nvSpPr>
        <p:spPr>
          <a:xfrm>
            <a:off x="8357616" y="2788920"/>
            <a:ext cx="3017520" cy="329184"/>
          </a:xfrm>
          <a:prstGeom prst="rect">
            <a:avLst/>
          </a:prstGeom>
          <a:noFill/>
          <a:ln/>
        </p:spPr>
        <p:txBody>
          <a:bodyPr wrap="square" lIns="0" tIns="0" rIns="0" bIns="0" rtlCol="0" anchor="ctr"/>
          <a:lstStyle/>
          <a:p>
            <a:pPr indent="0" marL="0">
              <a:buNone/>
            </a:pPr>
            <a:r>
              <a:rPr lang="en-US" sz="1550" b="1" dirty="0">
                <a:solidFill>
                  <a:srgbClr val="1A1A1A"/>
                </a:solidFill>
                <a:latin typeface="Cambria" pitchFamily="34" charset="0"/>
                <a:ea typeface="Cambria" pitchFamily="34" charset="-122"/>
                <a:cs typeface="Cambria" pitchFamily="34" charset="-120"/>
              </a:rPr>
              <a:t>Basin resonance</a:t>
            </a:r>
            <a:endParaRPr lang="en-US" sz="1550" dirty="0"/>
          </a:p>
        </p:txBody>
      </p:sp>
      <p:sp>
        <p:nvSpPr>
          <p:cNvPr id="21" name="Text 19"/>
          <p:cNvSpPr txBox="1"/>
          <p:nvPr/>
        </p:nvSpPr>
        <p:spPr>
          <a:xfrm>
            <a:off x="8357616" y="3145536"/>
            <a:ext cx="3017520" cy="749808"/>
          </a:xfrm>
          <a:prstGeom prst="rect">
            <a:avLst/>
          </a:prstGeom>
          <a:noFill/>
          <a:ln/>
        </p:spPr>
        <p:txBody>
          <a:bodyPr wrap="square" lIns="0" tIns="0" rIns="0" bIns="0" rtlCol="0" anchor="ctr"/>
          <a:lstStyle/>
          <a:p>
            <a:pPr indent="0" marL="0">
              <a:lnSpc>
                <a:spcPts val="1600"/>
              </a:lnSpc>
              <a:buNone/>
            </a:pPr>
            <a:r>
              <a:rPr lang="en-US" sz="1200" dirty="0">
                <a:solidFill>
                  <a:srgbClr val="1A1A1A"/>
                </a:solidFill>
                <a:latin typeface="Calibri" pitchFamily="34" charset="0"/>
                <a:ea typeface="Calibri" pitchFamily="34" charset="-122"/>
                <a:cs typeface="Calibri" pitchFamily="34" charset="-120"/>
              </a:rPr>
              <a:t>The harbour geometry amplifies what arrives at its mouth.</a:t>
            </a:r>
            <a:endParaRPr lang="en-US" sz="1200" dirty="0"/>
          </a:p>
        </p:txBody>
      </p:sp>
      <p:sp>
        <p:nvSpPr>
          <p:cNvPr id="22" name="Text 20"/>
          <p:cNvSpPr txBox="1"/>
          <p:nvPr/>
        </p:nvSpPr>
        <p:spPr>
          <a:xfrm>
            <a:off x="8357616" y="3950208"/>
            <a:ext cx="3017520" cy="731520"/>
          </a:xfrm>
          <a:prstGeom prst="rect">
            <a:avLst/>
          </a:prstGeom>
          <a:noFill/>
          <a:ln/>
        </p:spPr>
        <p:txBody>
          <a:bodyPr wrap="square" lIns="0" tIns="0" rIns="0" bIns="0" rtlCol="0" anchor="ctr"/>
          <a:lstStyle/>
          <a:p>
            <a:pPr indent="0" marL="0">
              <a:lnSpc>
                <a:spcPts val="1500"/>
              </a:lnSpc>
              <a:buNone/>
            </a:pPr>
            <a:r>
              <a:rPr lang="en-US" sz="1100" b="1" dirty="0">
                <a:solidFill>
                  <a:srgbClr val="1C7293"/>
                </a:solidFill>
                <a:latin typeface="Calibri" pitchFamily="34" charset="0"/>
                <a:ea typeface="Calibri" pitchFamily="34" charset="-122"/>
                <a:cs typeface="Calibri" pitchFamily="34" charset="-120"/>
              </a:rPr>
              <a:t>Quarter-wave and Helmholtz estimates agree at 12 to 18 minutes.</a:t>
            </a:r>
            <a:endParaRPr lang="en-US" sz="1100" dirty="0"/>
          </a:p>
        </p:txBody>
      </p:sp>
      <p:sp>
        <p:nvSpPr>
          <p:cNvPr id="23" name="Text 21"/>
          <p:cNvSpPr txBox="1"/>
          <p:nvPr/>
        </p:nvSpPr>
        <p:spPr>
          <a:xfrm>
            <a:off x="566928" y="6053328"/>
            <a:ext cx="11055096" cy="310896"/>
          </a:xfrm>
          <a:prstGeom prst="rect">
            <a:avLst/>
          </a:prstGeom>
          <a:noFill/>
          <a:ln/>
        </p:spPr>
        <p:txBody>
          <a:bodyPr wrap="square" lIns="0" tIns="0" rIns="0" bIns="0" rtlCol="0" anchor="ctr"/>
          <a:lstStyle/>
          <a:p>
            <a:pPr indent="0" marL="0">
              <a:buNone/>
            </a:pPr>
            <a:r>
              <a:rPr lang="en-US" sz="1050" i="1" dirty="0">
                <a:solidFill>
                  <a:srgbClr val="5F6368"/>
                </a:solidFill>
                <a:latin typeface="Calibri" pitchFamily="34" charset="0"/>
                <a:ea typeface="Calibri" pitchFamily="34" charset="-122"/>
                <a:cs typeface="Calibri" pitchFamily="34" charset="-120"/>
              </a:rPr>
              <a:t>At Ciutadella, Menorca, the three compound to an order of magnitude. No equivalent decomposition has been published for Malta.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indent="0" marL="0">
              <a:buNone/>
            </a:pPr>
            <a:r>
              <a:rPr lang="en-US" sz="1200" b="1" spc="200" kern="0" dirty="0">
                <a:solidFill>
                  <a:srgbClr val="EB6834"/>
                </a:solidFill>
                <a:latin typeface="Calibri" pitchFamily="34" charset="0"/>
                <a:ea typeface="Calibri" pitchFamily="34" charset="-122"/>
                <a:cs typeface="Calibri" pitchFamily="34" charset="-120"/>
              </a:rPr>
              <a:t>RESONANT PERIODS</a:t>
            </a:r>
            <a:endParaRPr lang="en-US" sz="1200" dirty="0"/>
          </a:p>
        </p:txBody>
      </p:sp>
      <p:sp>
        <p:nvSpPr>
          <p:cNvPr id="3" name="Text 1"/>
          <p:cNvSpPr txBox="1"/>
          <p:nvPr/>
        </p:nvSpPr>
        <p:spPr>
          <a:xfrm>
            <a:off x="566928" y="749808"/>
            <a:ext cx="10424160" cy="658368"/>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The harbours do not resonate in the observed band</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indent="0" marL="0">
              <a:buNone/>
            </a:pPr>
            <a:r>
              <a:rPr lang="en-US" sz="1400" dirty="0">
                <a:solidFill>
                  <a:srgbClr val="5F6368"/>
                </a:solidFill>
                <a:latin typeface="Calibri" pitchFamily="34" charset="0"/>
                <a:ea typeface="Calibri" pitchFamily="34" charset="-122"/>
                <a:cs typeface="Calibri" pitchFamily="34" charset="-120"/>
              </a:rPr>
              <a:t>Quarter-wave periods, T = 4L∕√(gh), against the 0.2 to 2 cph band reported by Drago.</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7772400" cy="914400"/>
        </p:xfrm>
        <a:graphic>
          <a:graphicData uri="http://schemas.openxmlformats.org/drawingml/2006/table">
            <a:tbl>
              <a:tblPr/>
              <a:tblGrid>
                <a:gridCol w="2743200"/>
                <a:gridCol w="868680"/>
                <a:gridCol w="777240"/>
                <a:gridCol w="960120"/>
                <a:gridCol w="1051560"/>
                <a:gridCol w="1371600"/>
              </a:tblGrid>
              <a:tr h="3429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Element</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L</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h</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Period</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Frequency</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algn="l"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r>
              <a:tr h="342900">
                <a:tc>
                  <a:txBody>
                    <a:bodyPr/>
                    <a:lstStyle/>
                    <a:p>
                      <a:pPr algn="l" indent="0" marL="0">
                        <a:buNone/>
                      </a:pPr>
                      <a:r>
                        <a:rPr lang="en-US" sz="1200" b="1" dirty="0">
                          <a:solidFill>
                            <a:srgbClr val="1A1A1A"/>
                          </a:solidFill>
                          <a:latin typeface="Calibri" pitchFamily="34" charset="0"/>
                          <a:ea typeface="Calibri" pitchFamily="34" charset="-122"/>
                          <a:cs typeface="Calibri" pitchFamily="34" charset="-120"/>
                        </a:rPr>
                        <a:t>Plateau to Sicily, quarter wave</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90 km</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150 m</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156 min</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0.38 cph</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algn="l" indent="0" marL="0">
                        <a:buNone/>
                      </a:pPr>
                      <a:r>
                        <a:rPr lang="en-US" sz="1200" b="1" dirty="0">
                          <a:solidFill>
                            <a:srgbClr val="EB6834"/>
                          </a:solidFill>
                          <a:latin typeface="Calibri" pitchFamily="34" charset="0"/>
                          <a:ea typeface="Calibri" pitchFamily="34" charset="-122"/>
                          <a:cs typeface="Calibri" pitchFamily="34" charset="-120"/>
                        </a:rPr>
                        <a:t>within</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r>
              <a:tr h="342900">
                <a:tc>
                  <a:txBody>
                    <a:bodyPr/>
                    <a:lstStyle/>
                    <a:p>
                      <a:pPr algn="l" indent="0" marL="0">
                        <a:buNone/>
                      </a:pPr>
                      <a:r>
                        <a:rPr lang="en-US" sz="1200" b="1" dirty="0">
                          <a:solidFill>
                            <a:srgbClr val="1A1A1A"/>
                          </a:solidFill>
                          <a:latin typeface="Calibri" pitchFamily="34" charset="0"/>
                          <a:ea typeface="Calibri" pitchFamily="34" charset="-122"/>
                          <a:cs typeface="Calibri" pitchFamily="34" charset="-120"/>
                        </a:rPr>
                        <a:t>Plateau to Sicily, half wave</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90 km</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150 m</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78 min</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0.77 cph</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algn="l" indent="0" marL="0">
                        <a:buNone/>
                      </a:pPr>
                      <a:r>
                        <a:rPr lang="en-US" sz="1200" b="1" dirty="0">
                          <a:solidFill>
                            <a:srgbClr val="EB6834"/>
                          </a:solidFill>
                          <a:latin typeface="Calibri" pitchFamily="34" charset="0"/>
                          <a:ea typeface="Calibri" pitchFamily="34" charset="-122"/>
                          <a:cs typeface="Calibri" pitchFamily="34" charset="-120"/>
                        </a:rPr>
                        <a:t>within</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r>
              <a:tr h="342900">
                <a:tc>
                  <a:txBody>
                    <a:bodyPr/>
                    <a:lstStyle/>
                    <a:p>
                      <a:pPr algn="l" indent="0" marL="0">
                        <a:buNone/>
                      </a:pPr>
                      <a:r>
                        <a:rPr lang="en-US" sz="1200" b="1" dirty="0">
                          <a:solidFill>
                            <a:srgbClr val="1A1A1A"/>
                          </a:solidFill>
                          <a:latin typeface="Calibri" pitchFamily="34" charset="0"/>
                          <a:ea typeface="Calibri" pitchFamily="34" charset="-122"/>
                          <a:cs typeface="Calibri" pitchFamily="34" charset="-120"/>
                        </a:rPr>
                        <a:t>Near plateau</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25 km</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120 m</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49 min</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1.24 cph</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algn="l" indent="0" marL="0">
                        <a:buNone/>
                      </a:pPr>
                      <a:r>
                        <a:rPr lang="en-US" sz="1200" b="1" dirty="0">
                          <a:solidFill>
                            <a:srgbClr val="EB6834"/>
                          </a:solidFill>
                          <a:latin typeface="Calibri" pitchFamily="34" charset="0"/>
                          <a:ea typeface="Calibri" pitchFamily="34" charset="-122"/>
                          <a:cs typeface="Calibri" pitchFamily="34" charset="-120"/>
                        </a:rPr>
                        <a:t>within</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r>
              <a:tr h="342900">
                <a:tc>
                  <a:txBody>
                    <a:bodyPr/>
                    <a:lstStyle/>
                    <a:p>
                      <a:pPr algn="l" indent="0" marL="0">
                        <a:buNone/>
                      </a:pPr>
                      <a:r>
                        <a:rPr lang="en-US" sz="1200" b="1" dirty="0">
                          <a:solidFill>
                            <a:srgbClr val="1A1A1A"/>
                          </a:solidFill>
                          <a:latin typeface="Calibri" pitchFamily="34" charset="0"/>
                          <a:ea typeface="Calibri" pitchFamily="34" charset="-122"/>
                          <a:cs typeface="Calibri" pitchFamily="34" charset="-120"/>
                        </a:rPr>
                        <a:t>Grand Harbour</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3.2 km</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16 m</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17 min</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3.49 cph</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5F6368"/>
                          </a:solidFill>
                          <a:latin typeface="Calibri" pitchFamily="34" charset="0"/>
                          <a:ea typeface="Calibri" pitchFamily="34" charset="-122"/>
                          <a:cs typeface="Calibri" pitchFamily="34" charset="-120"/>
                        </a:rPr>
                        <a:t>outside</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r>
              <a:tr h="342900">
                <a:tc>
                  <a:txBody>
                    <a:bodyPr/>
                    <a:lstStyle/>
                    <a:p>
                      <a:pPr algn="l" indent="0" marL="0">
                        <a:buNone/>
                      </a:pPr>
                      <a:r>
                        <a:rPr lang="en-US" sz="1200" b="1" dirty="0">
                          <a:solidFill>
                            <a:srgbClr val="1A1A1A"/>
                          </a:solidFill>
                          <a:latin typeface="Calibri" pitchFamily="34" charset="0"/>
                          <a:ea typeface="Calibri" pitchFamily="34" charset="-122"/>
                          <a:cs typeface="Calibri" pitchFamily="34" charset="-120"/>
                        </a:rPr>
                        <a:t>Marsamxett</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3.2 km</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13 m</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18 min</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3.26 cph</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5F6368"/>
                          </a:solidFill>
                          <a:latin typeface="Calibri" pitchFamily="34" charset="0"/>
                          <a:ea typeface="Calibri" pitchFamily="34" charset="-122"/>
                          <a:cs typeface="Calibri" pitchFamily="34" charset="-120"/>
                        </a:rPr>
                        <a:t>outside</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r>
              <a:tr h="342900">
                <a:tc>
                  <a:txBody>
                    <a:bodyPr/>
                    <a:lstStyle/>
                    <a:p>
                      <a:pPr algn="l" indent="0" marL="0">
                        <a:buNone/>
                      </a:pPr>
                      <a:r>
                        <a:rPr lang="en-US" sz="1200" b="1" dirty="0">
                          <a:solidFill>
                            <a:srgbClr val="1A1A1A"/>
                          </a:solidFill>
                          <a:latin typeface="Calibri" pitchFamily="34" charset="0"/>
                          <a:ea typeface="Calibri" pitchFamily="34" charset="-122"/>
                          <a:cs typeface="Calibri" pitchFamily="34" charset="-120"/>
                        </a:rPr>
                        <a:t>A 1 km inlet</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1.0 km</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12 m</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6 min</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Calibri" pitchFamily="34" charset="0"/>
                          <a:ea typeface="Calibri" pitchFamily="34" charset="-122"/>
                          <a:cs typeface="Calibri" pitchFamily="34" charset="-120"/>
                        </a:rPr>
                        <a:t>9.76 cph</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5F6368"/>
                          </a:solidFill>
                          <a:latin typeface="Calibri" pitchFamily="34" charset="0"/>
                          <a:ea typeface="Calibri" pitchFamily="34" charset="-122"/>
                          <a:cs typeface="Calibri" pitchFamily="34" charset="-120"/>
                        </a:rPr>
                        <a:t>outside</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r>
            </a:tbl>
          </a:graphicData>
        </a:graphic>
      </p:graphicFrame>
      <p:sp>
        <p:nvSpPr>
          <p:cNvPr id="6" name="Shape 3"/>
          <p:cNvSpPr/>
          <p:nvPr/>
        </p:nvSpPr>
        <p:spPr>
          <a:xfrm>
            <a:off x="8641080" y="2286000"/>
            <a:ext cx="2980944" cy="2432304"/>
          </a:xfrm>
          <a:prstGeom prst="roundRect">
            <a:avLst>
              <a:gd name="adj" fmla="val 2256"/>
            </a:avLst>
          </a:prstGeom>
          <a:solidFill>
            <a:srgbClr val="21295C"/>
          </a:solidFill>
          <a:ln/>
        </p:spPr>
      </p:sp>
      <p:sp>
        <p:nvSpPr>
          <p:cNvPr id="7" name="Text 4"/>
          <p:cNvSpPr txBox="1"/>
          <p:nvPr/>
        </p:nvSpPr>
        <p:spPr>
          <a:xfrm>
            <a:off x="8915400" y="2514600"/>
            <a:ext cx="2468880" cy="292608"/>
          </a:xfrm>
          <a:prstGeom prst="rect">
            <a:avLst/>
          </a:prstGeom>
          <a:noFill/>
          <a:ln/>
        </p:spPr>
        <p:txBody>
          <a:bodyPr wrap="square" lIns="0" tIns="0" rIns="0" bIns="0" rtlCol="0" anchor="ctr"/>
          <a:lstStyle/>
          <a:p>
            <a:pPr indent="0" marL="0">
              <a:buNone/>
            </a:pPr>
            <a:r>
              <a:rPr lang="en-US" sz="1400" b="1" dirty="0">
                <a:solidFill>
                  <a:srgbClr val="EB6834"/>
                </a:solidFill>
                <a:latin typeface="Cambria" pitchFamily="34" charset="0"/>
                <a:ea typeface="Cambria" pitchFamily="34" charset="-122"/>
                <a:cs typeface="Cambria" pitchFamily="34" charset="-120"/>
              </a:rPr>
              <a:t>The consequence</a:t>
            </a:r>
            <a:endParaRPr lang="en-US" sz="1400" dirty="0"/>
          </a:p>
        </p:txBody>
      </p:sp>
      <p:sp>
        <p:nvSpPr>
          <p:cNvPr id="8" name="Text 5"/>
          <p:cNvSpPr txBox="1"/>
          <p:nvPr/>
        </p:nvSpPr>
        <p:spPr>
          <a:xfrm>
            <a:off x="8915400" y="2880360"/>
            <a:ext cx="2468880" cy="1737360"/>
          </a:xfrm>
          <a:prstGeom prst="rect">
            <a:avLst/>
          </a:prstGeom>
          <a:noFill/>
          <a:ln/>
        </p:spPr>
        <p:txBody>
          <a:bodyPr wrap="square" lIns="0" tIns="0" rIns="0" bIns="0" rtlCol="0" anchor="ctr"/>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The harbours respond to a shelf-scale oscillation rather than generating one.
</a:t>
            </a:r>
            <a:endParaRPr lang="en-US" sz="1150" dirty="0"/>
          </a:p>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A domain confined to the harbours holds no resonator in the band, and the available boundary product carries no energy there.
</a:t>
            </a:r>
            <a:endParaRPr lang="en-US" sz="1150" dirty="0"/>
          </a:p>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The domain must contain the plateau.</a:t>
            </a:r>
            <a:endParaRPr lang="en-US" sz="1150" dirty="0"/>
          </a:p>
        </p:txBody>
      </p:sp>
      <p:sp>
        <p:nvSpPr>
          <p:cNvPr id="9" name="Text 6"/>
          <p:cNvSpPr txBox="1"/>
          <p:nvPr/>
        </p:nvSpPr>
        <p:spPr>
          <a:xfrm>
            <a:off x="566928" y="6053328"/>
            <a:ext cx="11055096" cy="310896"/>
          </a:xfrm>
          <a:prstGeom prst="rect">
            <a:avLst/>
          </a:prstGeom>
          <a:noFill/>
          <a:ln/>
        </p:spPr>
        <p:txBody>
          <a:bodyPr wrap="square" lIns="0" tIns="0" rIns="0" bIns="0" rtlCol="0" anchor="ctr"/>
          <a:lstStyle/>
          <a:p>
            <a:pPr indent="0" marL="0">
              <a:buNone/>
            </a:pPr>
            <a:r>
              <a:rPr lang="en-US" sz="1050" i="1" dirty="0">
                <a:solidFill>
                  <a:srgbClr val="5F6368"/>
                </a:solidFill>
                <a:latin typeface="Calibri" pitchFamily="34" charset="0"/>
                <a:ea typeface="Calibri" pitchFamily="34" charset="-122"/>
                <a:cs typeface="Calibri" pitchFamily="34" charset="-120"/>
              </a:rPr>
              <a:t>Tested against its two plausible failures. A Helmholtz idealisation returns 12 to 18 minutes also, and the harbours amplify by less than a tenth across most of the band.</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indent="0" marL="0">
              <a:buNone/>
            </a:pPr>
            <a:r>
              <a:rPr lang="en-US" sz="1200" b="1" spc="200" kern="0" dirty="0">
                <a:solidFill>
                  <a:srgbClr val="EB6834"/>
                </a:solidFill>
                <a:latin typeface="Calibri" pitchFamily="34" charset="0"/>
                <a:ea typeface="Calibri" pitchFamily="34" charset="-122"/>
                <a:cs typeface="Calibri" pitchFamily="34" charset="-120"/>
              </a:rPr>
              <a:t>MODEL CONCEPT, EXTENT</a:t>
            </a:r>
            <a:endParaRPr lang="en-US" sz="1200" dirty="0"/>
          </a:p>
        </p:txBody>
      </p:sp>
      <p:sp>
        <p:nvSpPr>
          <p:cNvPr id="3" name="Text 1"/>
          <p:cNvSpPr txBox="1"/>
          <p:nvPr/>
        </p:nvSpPr>
        <p:spPr>
          <a:xfrm>
            <a:off x="566928" y="749808"/>
            <a:ext cx="10424160" cy="658368"/>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Extent over the plateau, and its cost</a:t>
            </a:r>
            <a:endParaRPr lang="en-US" sz="3200" dirty="0"/>
          </a:p>
        </p:txBody>
      </p:sp>
      <p:pic>
        <p:nvPicPr>
          <p:cNvPr id="4" name="Image 0" descr="C:\Users\Unipa\Documents\MaltaDT\figures\domain_design.png">    </p:cNvPr>
          <p:cNvPicPr>
            <a:picLocks noChangeAspect="1"/>
          </p:cNvPicPr>
          <p:nvPr/>
        </p:nvPicPr>
        <p:blipFill>
          <a:blip r:embed="rId1"/>
          <a:stretch>
            <a:fillRect/>
          </a:stretch>
        </p:blipFill>
        <p:spPr>
          <a:xfrm>
            <a:off x="566928" y="1572768"/>
            <a:ext cx="11055096" cy="495604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indent="0" marL="0">
              <a:buNone/>
            </a:pPr>
            <a:r>
              <a:rPr lang="en-US" sz="1200" b="1" spc="200" kern="0" dirty="0">
                <a:solidFill>
                  <a:srgbClr val="EB6834"/>
                </a:solidFill>
                <a:latin typeface="Calibri" pitchFamily="34" charset="0"/>
                <a:ea typeface="Calibri" pitchFamily="34" charset="-122"/>
                <a:cs typeface="Calibri" pitchFamily="34" charset="-120"/>
              </a:rPr>
              <a:t>MODEL CONCEPT, DISCRETISATION</a:t>
            </a:r>
            <a:endParaRPr lang="en-US" sz="1200" dirty="0"/>
          </a:p>
        </p:txBody>
      </p:sp>
      <p:sp>
        <p:nvSpPr>
          <p:cNvPr id="3" name="Text 1"/>
          <p:cNvSpPr txBox="1"/>
          <p:nvPr/>
        </p:nvSpPr>
        <p:spPr>
          <a:xfrm>
            <a:off x="566928" y="749808"/>
            <a:ext cx="10424160" cy="658368"/>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The geometry sets the resolution</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indent="0" marL="0">
              <a:buNone/>
            </a:pPr>
            <a:r>
              <a:rPr lang="en-US" sz="1400" dirty="0">
                <a:solidFill>
                  <a:srgbClr val="5F6368"/>
                </a:solidFill>
                <a:latin typeface="Calibri" pitchFamily="34" charset="0"/>
                <a:ea typeface="Calibri" pitchFamily="34" charset="-122"/>
                <a:cs typeface="Calibri" pitchFamily="34" charset="-120"/>
              </a:rPr>
              <a:t>A 17-minute wave in 16 m of water is 12.8 km long. The planform of the inlets is what must be resolved.</a:t>
            </a:r>
            <a:endParaRPr lang="en-US" sz="1400" dirty="0"/>
          </a:p>
        </p:txBody>
      </p:sp>
      <p:sp>
        <p:nvSpPr>
          <p:cNvPr id="5" name="Text 3"/>
          <p:cNvSpPr txBox="1"/>
          <p:nvPr/>
        </p:nvSpPr>
        <p:spPr>
          <a:xfrm>
            <a:off x="566928" y="2103120"/>
            <a:ext cx="5029200" cy="292608"/>
          </a:xfrm>
          <a:prstGeom prst="rect">
            <a:avLst/>
          </a:prstGeom>
          <a:noFill/>
          <a:ln/>
        </p:spPr>
        <p:txBody>
          <a:bodyPr wrap="square" lIns="0" tIns="0" rIns="0" bIns="0" rtlCol="0" anchor="ctr"/>
          <a:lstStyle/>
          <a:p>
            <a:pPr indent="0" marL="0">
              <a:buNone/>
            </a:pPr>
            <a:r>
              <a:rPr lang="en-US" sz="1400" b="1" dirty="0">
                <a:solidFill>
                  <a:srgbClr val="065A82"/>
                </a:solidFill>
                <a:latin typeface="Cambria" pitchFamily="34" charset="0"/>
                <a:ea typeface="Cambria" pitchFamily="34" charset="-122"/>
                <a:cs typeface="Cambria" pitchFamily="34" charset="-120"/>
              </a:rPr>
              <a:t>Measured channel width</a:t>
            </a:r>
            <a:endParaRPr lang="en-US" sz="1400" dirty="0"/>
          </a:p>
        </p:txBody>
      </p:sp>
      <p:sp>
        <p:nvSpPr>
          <p:cNvPr id="6" name="Text 4"/>
          <p:cNvSpPr txBox="1"/>
          <p:nvPr/>
        </p:nvSpPr>
        <p:spPr>
          <a:xfrm>
            <a:off x="566928" y="2450592"/>
            <a:ext cx="4937760" cy="868680"/>
          </a:xfrm>
          <a:prstGeom prst="rect">
            <a:avLst/>
          </a:prstGeom>
          <a:noFill/>
          <a:ln/>
        </p:spPr>
        <p:txBody>
          <a:bodyPr wrap="square" lIns="0" tIns="0" rIns="0" bIns="0" rtlCol="0" anchor="ctr"/>
          <a:lstStyle/>
          <a:p>
            <a:pPr indent="0" marL="0">
              <a:lnSpc>
                <a:spcPts val="1700"/>
              </a:lnSpc>
              <a:spcAft>
                <a:spcPts val="800"/>
              </a:spcAft>
              <a:buNone/>
            </a:pPr>
            <a:r>
              <a:rPr lang="en-US" sz="1250" dirty="0">
                <a:solidFill>
                  <a:srgbClr val="1A1A1A"/>
                </a:solidFill>
                <a:latin typeface="Calibri" pitchFamily="34" charset="0"/>
                <a:ea typeface="Calibri" pitchFamily="34" charset="-122"/>
                <a:cs typeface="Calibri" pitchFamily="34" charset="-120"/>
              </a:rPr>
              <a:t>Half the channel length of Marsamxett is narrower than 135 m, and a third narrower than 50 m.
</a:t>
            </a:r>
            <a:endParaRPr lang="en-US" sz="1250" dirty="0"/>
          </a:p>
          <a:p>
            <a:pPr indent="0" marL="0">
              <a:lnSpc>
                <a:spcPts val="1700"/>
              </a:lnSpc>
              <a:buNone/>
            </a:pPr>
            <a:r>
              <a:rPr lang="en-US" sz="1250" dirty="0">
                <a:solidFill>
                  <a:srgbClr val="1A1A1A"/>
                </a:solidFill>
                <a:latin typeface="Calibri" pitchFamily="34" charset="0"/>
                <a:ea typeface="Calibri" pitchFamily="34" charset="-122"/>
                <a:cs typeface="Calibri" pitchFamily="34" charset="-120"/>
              </a:rPr>
              <a:t>Four to five cells carry the conveyance of a channel, eight to ten resolve the flow across it.</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3456432"/>
          <a:ext cx="4937760" cy="914400"/>
        </p:xfrm>
        <a:graphic>
          <a:graphicData uri="http://schemas.openxmlformats.org/drawingml/2006/table">
            <a:tbl>
              <a:tblPr/>
              <a:tblGrid>
                <a:gridCol w="3291840"/>
                <a:gridCol w="1645920"/>
              </a:tblGrid>
              <a:tr h="3429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Zone</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r>
              <a:tr h="34290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Inlets and entrances</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A1A"/>
                          </a:solidFill>
                          <a:latin typeface="Calibri" pitchFamily="34" charset="0"/>
                          <a:ea typeface="Calibri" pitchFamily="34" charset="-122"/>
                          <a:cs typeface="Calibri" pitchFamily="34" charset="-120"/>
                        </a:rPr>
                        <a:t>15 m</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r>
              <a:tr h="34290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Harbour basins</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algn="r" indent="0" marL="0">
                        <a:buNone/>
                      </a:pPr>
                      <a:r>
                        <a:rPr lang="en-US" sz="1200" b="1" dirty="0">
                          <a:solidFill>
                            <a:srgbClr val="1A1A1A"/>
                          </a:solidFill>
                          <a:latin typeface="Calibri" pitchFamily="34" charset="0"/>
                          <a:ea typeface="Calibri" pitchFamily="34" charset="-122"/>
                          <a:cs typeface="Calibri" pitchFamily="34" charset="-120"/>
                        </a:rPr>
                        <a:t>30 m</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r>
              <a:tr h="34290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Nearshore, within 2 km</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A1A"/>
                          </a:solidFill>
                          <a:latin typeface="Calibri" pitchFamily="34" charset="0"/>
                          <a:ea typeface="Calibri" pitchFamily="34" charset="-122"/>
                          <a:cs typeface="Calibri" pitchFamily="34" charset="-120"/>
                        </a:rPr>
                        <a:t>100 m</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r>
              <a:tr h="34290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Coastal, 2 to 15 km</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algn="r" indent="0" marL="0">
                        <a:buNone/>
                      </a:pPr>
                      <a:r>
                        <a:rPr lang="en-US" sz="1200" b="1" dirty="0">
                          <a:solidFill>
                            <a:srgbClr val="1A1A1A"/>
                          </a:solidFill>
                          <a:latin typeface="Calibri" pitchFamily="34" charset="0"/>
                          <a:ea typeface="Calibri" pitchFamily="34" charset="-122"/>
                          <a:cs typeface="Calibri" pitchFamily="34" charset="-120"/>
                        </a:rPr>
                        <a:t>300 m</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r>
              <a:tr h="34290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Open plateau</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A1A1A"/>
                          </a:solidFill>
                          <a:latin typeface="Calibri" pitchFamily="34" charset="0"/>
                          <a:ea typeface="Calibri" pitchFamily="34" charset="-122"/>
                          <a:cs typeface="Calibri" pitchFamily="34" charset="-120"/>
                        </a:rPr>
                        <a:t>1500 m</a:t>
                      </a:r>
                      <a:endParaRPr lang="en-US" sz="1200" dirty="0">
                        <a:latin typeface="Calibri" charset="0"/>
                        <a:ea typeface="Calibri" charset="0"/>
                        <a:cs typeface="Calibri" charset="0"/>
                      </a:endParaRPr>
                    </a:p>
                  </a:txBody>
                  <a:tcPr marL="91440" marR="91440" marT="45720" marB="45720"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r>
            </a:tbl>
          </a:graphicData>
        </a:graphic>
      </p:graphicFrame>
      <p:sp>
        <p:nvSpPr>
          <p:cNvPr id="8" name="Shape 5"/>
          <p:cNvSpPr/>
          <p:nvPr/>
        </p:nvSpPr>
        <p:spPr>
          <a:xfrm>
            <a:off x="5989320" y="2103120"/>
            <a:ext cx="5632704" cy="1481328"/>
          </a:xfrm>
          <a:prstGeom prst="roundRect">
            <a:avLst>
              <a:gd name="adj" fmla="val 3704"/>
            </a:avLst>
          </a:prstGeom>
          <a:solidFill>
            <a:srgbClr val="EEF3F6"/>
          </a:solidFill>
          <a:ln/>
        </p:spPr>
      </p:sp>
      <p:sp>
        <p:nvSpPr>
          <p:cNvPr id="9" name="Text 6"/>
          <p:cNvSpPr txBox="1"/>
          <p:nvPr/>
        </p:nvSpPr>
        <p:spPr>
          <a:xfrm>
            <a:off x="6263640" y="2286000"/>
            <a:ext cx="5120640" cy="274320"/>
          </a:xfrm>
          <a:prstGeom prst="rect">
            <a:avLst/>
          </a:prstGeom>
          <a:noFill/>
          <a:ln/>
        </p:spPr>
        <p:txBody>
          <a:bodyPr wrap="square" lIns="0" tIns="0" rIns="0" bIns="0" rtlCol="0" anchor="ctr"/>
          <a:lstStyle/>
          <a:p>
            <a:pPr indent="0" marL="0">
              <a:buNone/>
            </a:pPr>
            <a:r>
              <a:rPr lang="en-US" sz="1400" b="1" dirty="0">
                <a:solidFill>
                  <a:srgbClr val="065A82"/>
                </a:solidFill>
                <a:latin typeface="Cambria" pitchFamily="34" charset="0"/>
                <a:ea typeface="Cambria" pitchFamily="34" charset="-122"/>
                <a:cs typeface="Cambria" pitchFamily="34" charset="-120"/>
              </a:rPr>
              <a:t>Mesh and time step</a:t>
            </a:r>
            <a:endParaRPr lang="en-US" sz="1400" dirty="0"/>
          </a:p>
        </p:txBody>
      </p:sp>
      <p:sp>
        <p:nvSpPr>
          <p:cNvPr id="10" name="Text 7"/>
          <p:cNvSpPr txBox="1"/>
          <p:nvPr/>
        </p:nvSpPr>
        <p:spPr>
          <a:xfrm>
            <a:off x="6263640" y="2615184"/>
            <a:ext cx="5120640" cy="868680"/>
          </a:xfrm>
          <a:prstGeom prst="rect">
            <a:avLst/>
          </a:prstGeom>
          <a:noFill/>
          <a:ln/>
        </p:spPr>
        <p:txBody>
          <a:bodyPr wrap="square" lIns="0" tIns="0" rIns="0" bIns="0" rtlCol="0" anchor="ctr"/>
          <a:lstStyle/>
          <a:p>
            <a:pPr indent="0" marL="0">
              <a:lnSpc>
                <a:spcPts val="1600"/>
              </a:lnSpc>
              <a:buNone/>
            </a:pPr>
            <a:r>
              <a:rPr lang="en-US" sz="1200" dirty="0">
                <a:solidFill>
                  <a:srgbClr val="1A1A1A"/>
                </a:solidFill>
                <a:latin typeface="Calibri" pitchFamily="34" charset="0"/>
                <a:ea typeface="Calibri" pitchFamily="34" charset="-122"/>
                <a:cs typeface="Calibri" pitchFamily="34" charset="-120"/>
              </a:rPr>
              <a:t>Approximately 28,500 cells. A time step of 6 to 12 s at Courant 5 to 10 in the finest cells, which samples a 17-minute wave about a hundred times per cycle. The 10 m of the source data is the floor; below 15 m a mesh interpolates rather than resolves.</a:t>
            </a:r>
            <a:endParaRPr lang="en-US" sz="1200" dirty="0"/>
          </a:p>
        </p:txBody>
      </p:sp>
      <p:sp>
        <p:nvSpPr>
          <p:cNvPr id="11" name="Shape 8"/>
          <p:cNvSpPr/>
          <p:nvPr/>
        </p:nvSpPr>
        <p:spPr>
          <a:xfrm>
            <a:off x="5989320" y="3730752"/>
            <a:ext cx="5632704" cy="1874520"/>
          </a:xfrm>
          <a:prstGeom prst="roundRect">
            <a:avLst>
              <a:gd name="adj" fmla="val 2927"/>
            </a:avLst>
          </a:prstGeom>
          <a:solidFill>
            <a:srgbClr val="21295C"/>
          </a:solidFill>
          <a:ln/>
        </p:spPr>
      </p:sp>
      <p:sp>
        <p:nvSpPr>
          <p:cNvPr id="12" name="Text 9"/>
          <p:cNvSpPr txBox="1"/>
          <p:nvPr/>
        </p:nvSpPr>
        <p:spPr>
          <a:xfrm>
            <a:off x="6263640" y="3913632"/>
            <a:ext cx="5120640" cy="274320"/>
          </a:xfrm>
          <a:prstGeom prst="rect">
            <a:avLst/>
          </a:prstGeom>
          <a:noFill/>
          <a:ln/>
        </p:spPr>
        <p:txBody>
          <a:bodyPr wrap="square" lIns="0" tIns="0" rIns="0" bIns="0" rtlCol="0" anchor="ctr"/>
          <a:lstStyle/>
          <a:p>
            <a:pPr indent="0" marL="0">
              <a:buNone/>
            </a:pPr>
            <a:r>
              <a:rPr lang="en-US" sz="1400" b="1" dirty="0">
                <a:solidFill>
                  <a:srgbClr val="EB6834"/>
                </a:solidFill>
                <a:latin typeface="Cambria" pitchFamily="34" charset="0"/>
                <a:ea typeface="Cambria" pitchFamily="34" charset="-122"/>
                <a:cs typeface="Cambria" pitchFamily="34" charset="-120"/>
              </a:rPr>
              <a:t>Vertical, 12 to 15 sigma layers</a:t>
            </a:r>
            <a:endParaRPr lang="en-US" sz="1400" dirty="0"/>
          </a:p>
        </p:txBody>
      </p:sp>
      <p:sp>
        <p:nvSpPr>
          <p:cNvPr id="13" name="Text 10"/>
          <p:cNvSpPr txBox="1"/>
          <p:nvPr/>
        </p:nvSpPr>
        <p:spPr>
          <a:xfrm>
            <a:off x="6263640" y="4242816"/>
            <a:ext cx="5120640" cy="1188720"/>
          </a:xfrm>
          <a:prstGeom prst="rect">
            <a:avLst/>
          </a:prstGeom>
          <a:noFill/>
          <a:ln/>
        </p:spPr>
        <p:txBody>
          <a:bodyPr wrap="square" lIns="0" tIns="0" rIns="0" bIns="0" rtlCol="0" anchor="ctr"/>
          <a:lstStyle/>
          <a:p>
            <a:pPr indent="0" marL="0">
              <a:lnSpc>
                <a:spcPts val="1600"/>
              </a:lnSpc>
              <a:buNone/>
            </a:pPr>
            <a:r>
              <a:rPr lang="en-US" sz="1200" dirty="0">
                <a:solidFill>
                  <a:srgbClr val="CADCFC"/>
                </a:solidFill>
                <a:latin typeface="Calibri" pitchFamily="34" charset="0"/>
                <a:ea typeface="Calibri" pitchFamily="34" charset="-122"/>
                <a:cs typeface="Calibri" pitchFamily="34" charset="-120"/>
              </a:rPr>
              <a:t>The count is set by residence time, not by the seiche, which is barotropic. Fifteen layers give roughly one metre at the bed in the basins.
</a:t>
            </a:r>
            <a:endParaRPr lang="en-US" sz="1200" dirty="0"/>
          </a:p>
          <a:p>
            <a:pPr indent="0" marL="0">
              <a:lnSpc>
                <a:spcPts val="1600"/>
              </a:lnSpc>
              <a:buNone/>
            </a:pPr>
            <a:r>
              <a:rPr lang="en-US" sz="1200" dirty="0">
                <a:solidFill>
                  <a:srgbClr val="CADCFC"/>
                </a:solidFill>
                <a:latin typeface="Calibri" pitchFamily="34" charset="0"/>
                <a:ea typeface="Calibri" pitchFamily="34" charset="-122"/>
                <a:cs typeface="Calibri" pitchFamily="34" charset="-120"/>
              </a:rPr>
              <a:t>Sigma is defensible only because the domain stops short of the escarpment, where the plateau gradient is one part in a thousand.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indent="0" marL="0">
              <a:buNone/>
            </a:pPr>
            <a:r>
              <a:rPr lang="en-US" sz="1200" b="1" spc="200" kern="0" dirty="0">
                <a:solidFill>
                  <a:srgbClr val="EB6834"/>
                </a:solidFill>
                <a:latin typeface="Calibri" pitchFamily="34" charset="0"/>
                <a:ea typeface="Calibri" pitchFamily="34" charset="-122"/>
                <a:cs typeface="Calibri" pitchFamily="34" charset="-120"/>
              </a:rPr>
              <a:t>RESEARCH QUESTION</a:t>
            </a:r>
            <a:endParaRPr lang="en-US" sz="1200" dirty="0"/>
          </a:p>
        </p:txBody>
      </p:sp>
      <p:sp>
        <p:nvSpPr>
          <p:cNvPr id="3" name="Text 1"/>
          <p:cNvSpPr txBox="1"/>
          <p:nvPr/>
        </p:nvSpPr>
        <p:spPr>
          <a:xfrm>
            <a:off x="566928" y="749808"/>
            <a:ext cx="10424160" cy="658368"/>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Attribution of amplification</a:t>
            </a:r>
            <a:endParaRPr lang="en-US" sz="3200" dirty="0"/>
          </a:p>
        </p:txBody>
      </p:sp>
      <p:sp>
        <p:nvSpPr>
          <p:cNvPr id="4" name="Shape 2"/>
          <p:cNvSpPr/>
          <p:nvPr/>
        </p:nvSpPr>
        <p:spPr>
          <a:xfrm>
            <a:off x="566928" y="1874520"/>
            <a:ext cx="11055096" cy="1298448"/>
          </a:xfrm>
          <a:prstGeom prst="roundRect">
            <a:avLst>
              <a:gd name="adj" fmla="val 4225"/>
            </a:avLst>
          </a:prstGeom>
          <a:solidFill>
            <a:srgbClr val="EEF3F6"/>
          </a:solidFill>
          <a:ln/>
        </p:spPr>
      </p:sp>
      <p:sp>
        <p:nvSpPr>
          <p:cNvPr id="5" name="Text 3"/>
          <p:cNvSpPr txBox="1"/>
          <p:nvPr/>
        </p:nvSpPr>
        <p:spPr>
          <a:xfrm>
            <a:off x="886968" y="2084832"/>
            <a:ext cx="10424160" cy="914400"/>
          </a:xfrm>
          <a:prstGeom prst="rect">
            <a:avLst/>
          </a:prstGeom>
          <a:noFill/>
          <a:ln/>
        </p:spPr>
        <p:txBody>
          <a:bodyPr wrap="square" lIns="0" tIns="0" rIns="0" bIns="0" rtlCol="0" anchor="ctr"/>
          <a:lstStyle/>
          <a:p>
            <a:pPr indent="0" marL="0">
              <a:lnSpc>
                <a:spcPts val="2100"/>
              </a:lnSpc>
              <a:buNone/>
            </a:pPr>
            <a:r>
              <a:rPr lang="en-US" sz="1500" i="1" dirty="0">
                <a:solidFill>
                  <a:srgbClr val="1A1A1A"/>
                </a:solidFill>
                <a:latin typeface="Cambria" pitchFamily="34" charset="0"/>
                <a:ea typeface="Cambria" pitchFamily="34" charset="-122"/>
                <a:cs typeface="Cambria" pitchFamily="34" charset="-120"/>
              </a:rPr>
              <a:t>Of the amplification between the open sea and the heads of the Valletta harbours, how is it partitioned between Proudman resonance over the plateau, shoaling on the approach, and resonance of the basins themselves, and which atmospheric disturbance speeds and directions maximise that chain?</a:t>
            </a:r>
            <a:endParaRPr lang="en-US" sz="1500" dirty="0"/>
          </a:p>
        </p:txBody>
      </p:sp>
      <p:sp>
        <p:nvSpPr>
          <p:cNvPr id="6" name="Text 4"/>
          <p:cNvSpPr txBox="1"/>
          <p:nvPr/>
        </p:nvSpPr>
        <p:spPr>
          <a:xfrm>
            <a:off x="566928" y="3456432"/>
            <a:ext cx="5212080" cy="292608"/>
          </a:xfrm>
          <a:prstGeom prst="rect">
            <a:avLst/>
          </a:prstGeom>
          <a:noFill/>
          <a:ln/>
        </p:spPr>
        <p:txBody>
          <a:bodyPr wrap="square" lIns="0" tIns="0" rIns="0" bIns="0" rtlCol="0" anchor="ctr"/>
          <a:lstStyle/>
          <a:p>
            <a:pPr indent="0" marL="0">
              <a:buNone/>
            </a:pPr>
            <a:r>
              <a:rPr lang="en-US" sz="1400" b="1" dirty="0">
                <a:solidFill>
                  <a:srgbClr val="065A82"/>
                </a:solidFill>
                <a:latin typeface="Cambria" pitchFamily="34" charset="0"/>
                <a:ea typeface="Cambria" pitchFamily="34" charset="-122"/>
                <a:cs typeface="Cambria" pitchFamily="34" charset="-120"/>
              </a:rPr>
              <a:t>The formulation it replaces</a:t>
            </a:r>
            <a:endParaRPr lang="en-US" sz="1400" dirty="0"/>
          </a:p>
        </p:txBody>
      </p:sp>
      <p:sp>
        <p:nvSpPr>
          <p:cNvPr id="7" name="Text 5"/>
          <p:cNvSpPr txBox="1"/>
          <p:nvPr/>
        </p:nvSpPr>
        <p:spPr>
          <a:xfrm>
            <a:off x="566928" y="3803904"/>
            <a:ext cx="5212080" cy="1737360"/>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200" dirty="0">
                <a:solidFill>
                  <a:srgbClr val="1A1A1A"/>
                </a:solidFill>
                <a:latin typeface="Calibri" pitchFamily="34" charset="0"/>
                <a:ea typeface="Calibri" pitchFamily="34" charset="-122"/>
                <a:cs typeface="Calibri" pitchFamily="34" charset="-120"/>
              </a:rPr>
              <a:t>Whether the model reproduces the observed signal is binary and asymmetric. Affirmed, it confirms what is expected of a mature solver. Denied, it is blamed on the configuration.</a:t>
            </a:r>
            <a:endParaRPr lang="en-US" sz="1200" dirty="0"/>
          </a:p>
          <a:p>
            <a:pPr marL="342900" indent="-342900">
              <a:lnSpc>
                <a:spcPts val="1600"/>
              </a:lnSpc>
              <a:spcAft>
                <a:spcPts val="700"/>
              </a:spcAft>
              <a:buSzPct val="100000"/>
              <a:buChar char="•"/>
            </a:pPr>
            <a:r>
              <a:rPr lang="en-US" sz="1200" dirty="0">
                <a:solidFill>
                  <a:srgbClr val="1A1A1A"/>
                </a:solidFill>
                <a:latin typeface="Calibri" pitchFamily="34" charset="0"/>
                <a:ea typeface="Calibri" pitchFamily="34" charset="-122"/>
                <a:cs typeface="Calibri" pitchFamily="34" charset="-120"/>
              </a:rPr>
              <a:t>It interrogates the instrument rather than the system, and has no constituency beyond modellers.</a:t>
            </a:r>
            <a:endParaRPr lang="en-US" sz="1200" dirty="0"/>
          </a:p>
          <a:p>
            <a:pPr marL="342900" indent="-342900">
              <a:lnSpc>
                <a:spcPts val="1600"/>
              </a:lnSpc>
              <a:buSzPct val="100000"/>
              <a:buChar char="•"/>
            </a:pPr>
            <a:r>
              <a:rPr lang="en-US" sz="1200" dirty="0">
                <a:solidFill>
                  <a:srgbClr val="1A1A1A"/>
                </a:solidFill>
                <a:latin typeface="Calibri" pitchFamily="34" charset="0"/>
                <a:ea typeface="Calibri" pitchFamily="34" charset="-122"/>
                <a:cs typeface="Calibri" pitchFamily="34" charset="-120"/>
              </a:rPr>
              <a:t>It is relocated to the methods.</a:t>
            </a:r>
            <a:endParaRPr lang="en-US" sz="1200" dirty="0"/>
          </a:p>
        </p:txBody>
      </p:sp>
      <p:sp>
        <p:nvSpPr>
          <p:cNvPr id="8" name="Text 6"/>
          <p:cNvSpPr txBox="1"/>
          <p:nvPr/>
        </p:nvSpPr>
        <p:spPr>
          <a:xfrm>
            <a:off x="6355080" y="3456432"/>
            <a:ext cx="5212080" cy="292608"/>
          </a:xfrm>
          <a:prstGeom prst="rect">
            <a:avLst/>
          </a:prstGeom>
          <a:noFill/>
          <a:ln/>
        </p:spPr>
        <p:txBody>
          <a:bodyPr wrap="square" lIns="0" tIns="0" rIns="0" bIns="0" rtlCol="0" anchor="ctr"/>
          <a:lstStyle/>
          <a:p>
            <a:pPr indent="0" marL="0">
              <a:buNone/>
            </a:pPr>
            <a:r>
              <a:rPr lang="en-US" sz="1400" b="1" dirty="0">
                <a:solidFill>
                  <a:srgbClr val="EB6834"/>
                </a:solidFill>
                <a:latin typeface="Cambria" pitchFamily="34" charset="0"/>
                <a:ea typeface="Cambria" pitchFamily="34" charset="-122"/>
                <a:cs typeface="Cambria" pitchFamily="34" charset="-120"/>
              </a:rPr>
              <a:t>Prior work to be cleared</a:t>
            </a:r>
            <a:endParaRPr lang="en-US" sz="1400" dirty="0"/>
          </a:p>
        </p:txBody>
      </p:sp>
      <p:sp>
        <p:nvSpPr>
          <p:cNvPr id="9" name="Text 7"/>
          <p:cNvSpPr txBox="1"/>
          <p:nvPr/>
        </p:nvSpPr>
        <p:spPr>
          <a:xfrm>
            <a:off x="6355080" y="3803904"/>
            <a:ext cx="5266944" cy="1737360"/>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200" dirty="0">
                <a:solidFill>
                  <a:srgbClr val="1A1A1A"/>
                </a:solidFill>
                <a:latin typeface="Calibri" pitchFamily="34" charset="0"/>
                <a:ea typeface="Calibri" pitchFamily="34" charset="-122"/>
                <a:cs typeface="Calibri" pitchFamily="34" charset="-120"/>
              </a:rPr>
              <a:t>Maltese coastal seiches were modelled in 2007, in a two-dimensional depth-averaged POM, for Mellieħa and St Paul's Bay, forced by a prescribed offshore long wave.</a:t>
            </a:r>
            <a:endParaRPr lang="en-US" sz="1200" dirty="0"/>
          </a:p>
          <a:p>
            <a:pPr marL="342900" indent="-342900">
              <a:lnSpc>
                <a:spcPts val="1600"/>
              </a:lnSpc>
              <a:spcAft>
                <a:spcPts val="700"/>
              </a:spcAft>
              <a:buSzPct val="100000"/>
              <a:buChar char="•"/>
            </a:pPr>
            <a:r>
              <a:rPr lang="en-US" sz="1200" dirty="0">
                <a:solidFill>
                  <a:srgbClr val="1A1A1A"/>
                </a:solidFill>
                <a:latin typeface="Calibri" pitchFamily="34" charset="0"/>
                <a:ea typeface="Calibri" pitchFamily="34" charset="-122"/>
                <a:cs typeface="Calibri" pitchFamily="34" charset="-120"/>
              </a:rPr>
              <a:t>Repeating that at Valletta in three dimensions would be incremental.</a:t>
            </a:r>
            <a:endParaRPr lang="en-US" sz="1200" dirty="0"/>
          </a:p>
          <a:p>
            <a:pPr marL="342900" indent="-342900">
              <a:lnSpc>
                <a:spcPts val="1600"/>
              </a:lnSpc>
              <a:buSzPct val="100000"/>
              <a:buChar char="•"/>
            </a:pPr>
            <a:r>
              <a:rPr lang="en-US" sz="1200" dirty="0">
                <a:solidFill>
                  <a:srgbClr val="1A1A1A"/>
                </a:solidFill>
                <a:latin typeface="Calibri" pitchFamily="34" charset="0"/>
                <a:ea typeface="Calibri" pitchFamily="34" charset="-122"/>
                <a:cs typeface="Calibri" pitchFamily="34" charset="-120"/>
              </a:rPr>
              <a:t>The generation side is untouched, because the prior work imposes the wave rather than producing it, and it therefore remains unaddressed.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indent="0" marL="0">
              <a:buNone/>
            </a:pPr>
            <a:r>
              <a:rPr lang="en-US" sz="1200" b="1" spc="200" kern="0" dirty="0">
                <a:solidFill>
                  <a:srgbClr val="EB6834"/>
                </a:solidFill>
                <a:latin typeface="Calibri" pitchFamily="34" charset="0"/>
                <a:ea typeface="Calibri" pitchFamily="34" charset="-122"/>
                <a:cs typeface="Calibri" pitchFamily="34" charset="-120"/>
              </a:rPr>
              <a:t>EXPERIMENTAL DESIGN</a:t>
            </a:r>
            <a:endParaRPr lang="en-US" sz="1200" dirty="0"/>
          </a:p>
        </p:txBody>
      </p:sp>
      <p:sp>
        <p:nvSpPr>
          <p:cNvPr id="3" name="Text 1"/>
          <p:cNvSpPr txBox="1"/>
          <p:nvPr/>
        </p:nvSpPr>
        <p:spPr>
          <a:xfrm>
            <a:off x="566928" y="749808"/>
            <a:ext cx="10424160" cy="658368"/>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A parametric sweep in place of a hindcast</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indent="0" marL="0">
              <a:buNone/>
            </a:pPr>
            <a:r>
              <a:rPr lang="en-US" sz="1400" dirty="0">
                <a:solidFill>
                  <a:srgbClr val="5F6368"/>
                </a:solidFill>
                <a:latin typeface="Calibri" pitchFamily="34" charset="0"/>
                <a:ea typeface="Calibri" pitchFamily="34" charset="-122"/>
                <a:cs typeface="Calibri" pitchFamily="34" charset="-120"/>
              </a:rPr>
              <a:t>ERA5 does not resolve the atmospheric gravity waves that trigger the phenomenon. That has been the largest standing risk.</a:t>
            </a:r>
            <a:endParaRPr lang="en-US" sz="1400" dirty="0"/>
          </a:p>
        </p:txBody>
      </p:sp>
      <p:sp>
        <p:nvSpPr>
          <p:cNvPr id="5" name="Shape 3"/>
          <p:cNvSpPr/>
          <p:nvPr/>
        </p:nvSpPr>
        <p:spPr>
          <a:xfrm>
            <a:off x="566928" y="2331720"/>
            <a:ext cx="402336" cy="402336"/>
          </a:xfrm>
          <a:prstGeom prst="ellipse">
            <a:avLst/>
          </a:prstGeom>
          <a:solidFill>
            <a:srgbClr val="065A82"/>
          </a:solidFill>
          <a:ln/>
        </p:spPr>
      </p:sp>
      <p:sp>
        <p:nvSpPr>
          <p:cNvPr id="6" name="Text 4"/>
          <p:cNvSpPr txBox="1"/>
          <p:nvPr/>
        </p:nvSpPr>
        <p:spPr>
          <a:xfrm>
            <a:off x="566928" y="23317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188720" y="2313432"/>
            <a:ext cx="2377440" cy="292608"/>
          </a:xfrm>
          <a:prstGeom prst="rect">
            <a:avLst/>
          </a:prstGeom>
          <a:noFill/>
          <a:ln/>
        </p:spPr>
        <p:txBody>
          <a:bodyPr wrap="square" lIns="0" tIns="0" rIns="0" bIns="0" rtlCol="0" anchor="ctr"/>
          <a:lstStyle/>
          <a:p>
            <a:pPr indent="0" marL="0">
              <a:buNone/>
            </a:pPr>
            <a:r>
              <a:rPr lang="en-US" sz="1450" b="1" dirty="0">
                <a:solidFill>
                  <a:srgbClr val="1A1A1A"/>
                </a:solidFill>
                <a:latin typeface="Cambria" pitchFamily="34" charset="0"/>
                <a:ea typeface="Cambria" pitchFamily="34" charset="-122"/>
                <a:cs typeface="Cambria" pitchFamily="34" charset="-120"/>
              </a:rPr>
              <a:t>Sweep</a:t>
            </a:r>
            <a:endParaRPr lang="en-US" sz="1450" dirty="0"/>
          </a:p>
        </p:txBody>
      </p:sp>
      <p:sp>
        <p:nvSpPr>
          <p:cNvPr id="8" name="Text 6"/>
          <p:cNvSpPr txBox="1"/>
          <p:nvPr/>
        </p:nvSpPr>
        <p:spPr>
          <a:xfrm>
            <a:off x="1188720" y="2624328"/>
            <a:ext cx="6035040" cy="658368"/>
          </a:xfrm>
          <a:prstGeom prst="rect">
            <a:avLst/>
          </a:prstGeom>
          <a:noFill/>
          <a:ln/>
        </p:spPr>
        <p:txBody>
          <a:bodyPr wrap="square" lIns="0" tIns="0" rIns="0" bIns="0" rtlCol="0" anchor="ctr"/>
          <a:lstStyle/>
          <a:p>
            <a:pPr indent="0" marL="0">
              <a:lnSpc>
                <a:spcPts val="1700"/>
              </a:lnSpc>
              <a:buNone/>
            </a:pPr>
            <a:r>
              <a:rPr lang="en-US" sz="1250" dirty="0">
                <a:solidFill>
                  <a:srgbClr val="5F6368"/>
                </a:solidFill>
                <a:latin typeface="Calibri" pitchFamily="34" charset="0"/>
                <a:ea typeface="Calibri" pitchFamily="34" charset="-122"/>
                <a:cs typeface="Calibri" pitchFamily="34" charset="-120"/>
              </a:rPr>
              <a:t>Impose a moving pressure disturbance and vary its speed, direction, width and duration.</a:t>
            </a:r>
            <a:endParaRPr lang="en-US" sz="1250" dirty="0"/>
          </a:p>
        </p:txBody>
      </p:sp>
      <p:sp>
        <p:nvSpPr>
          <p:cNvPr id="9" name="Shape 7"/>
          <p:cNvSpPr/>
          <p:nvPr/>
        </p:nvSpPr>
        <p:spPr>
          <a:xfrm>
            <a:off x="566928" y="3502152"/>
            <a:ext cx="402336" cy="402336"/>
          </a:xfrm>
          <a:prstGeom prst="ellipse">
            <a:avLst/>
          </a:prstGeom>
          <a:solidFill>
            <a:srgbClr val="065A82"/>
          </a:solidFill>
          <a:ln/>
        </p:spPr>
      </p:sp>
      <p:sp>
        <p:nvSpPr>
          <p:cNvPr id="10" name="Text 8"/>
          <p:cNvSpPr txBox="1"/>
          <p:nvPr/>
        </p:nvSpPr>
        <p:spPr>
          <a:xfrm>
            <a:off x="566928" y="350215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188720" y="3483864"/>
            <a:ext cx="2377440" cy="292608"/>
          </a:xfrm>
          <a:prstGeom prst="rect">
            <a:avLst/>
          </a:prstGeom>
          <a:noFill/>
          <a:ln/>
        </p:spPr>
        <p:txBody>
          <a:bodyPr wrap="square" lIns="0" tIns="0" rIns="0" bIns="0" rtlCol="0" anchor="ctr"/>
          <a:lstStyle/>
          <a:p>
            <a:pPr indent="0" marL="0">
              <a:buNone/>
            </a:pPr>
            <a:r>
              <a:rPr lang="en-US" sz="1450" b="1" dirty="0">
                <a:solidFill>
                  <a:srgbClr val="1A1A1A"/>
                </a:solidFill>
                <a:latin typeface="Cambria" pitchFamily="34" charset="0"/>
                <a:ea typeface="Cambria" pitchFamily="34" charset="-122"/>
                <a:cs typeface="Cambria" pitchFamily="34" charset="-120"/>
              </a:rPr>
              <a:t>Response surface</a:t>
            </a:r>
            <a:endParaRPr lang="en-US" sz="1450" dirty="0"/>
          </a:p>
        </p:txBody>
      </p:sp>
      <p:sp>
        <p:nvSpPr>
          <p:cNvPr id="12" name="Text 10"/>
          <p:cNvSpPr txBox="1"/>
          <p:nvPr/>
        </p:nvSpPr>
        <p:spPr>
          <a:xfrm>
            <a:off x="1188720" y="3794760"/>
            <a:ext cx="6035040" cy="658368"/>
          </a:xfrm>
          <a:prstGeom prst="rect">
            <a:avLst/>
          </a:prstGeom>
          <a:noFill/>
          <a:ln/>
        </p:spPr>
        <p:txBody>
          <a:bodyPr wrap="square" lIns="0" tIns="0" rIns="0" bIns="0" rtlCol="0" anchor="ctr"/>
          <a:lstStyle/>
          <a:p>
            <a:pPr indent="0" marL="0">
              <a:lnSpc>
                <a:spcPts val="1700"/>
              </a:lnSpc>
              <a:buNone/>
            </a:pPr>
            <a:r>
              <a:rPr lang="en-US" sz="1250" dirty="0">
                <a:solidFill>
                  <a:srgbClr val="5F6368"/>
                </a:solidFill>
                <a:latin typeface="Calibri" pitchFamily="34" charset="0"/>
                <a:ea typeface="Calibri" pitchFamily="34" charset="-122"/>
                <a:cs typeface="Calibri" pitchFamily="34" charset="-120"/>
              </a:rPr>
              <a:t>The output is a transfer function of the geometry, independent of any particular storm.</a:t>
            </a:r>
            <a:endParaRPr lang="en-US" sz="1250" dirty="0"/>
          </a:p>
        </p:txBody>
      </p:sp>
      <p:sp>
        <p:nvSpPr>
          <p:cNvPr id="13" name="Shape 11"/>
          <p:cNvSpPr/>
          <p:nvPr/>
        </p:nvSpPr>
        <p:spPr>
          <a:xfrm>
            <a:off x="566928" y="4672584"/>
            <a:ext cx="402336" cy="402336"/>
          </a:xfrm>
          <a:prstGeom prst="ellipse">
            <a:avLst/>
          </a:prstGeom>
          <a:solidFill>
            <a:srgbClr val="EB6834"/>
          </a:solidFill>
          <a:ln/>
        </p:spPr>
      </p:sp>
      <p:sp>
        <p:nvSpPr>
          <p:cNvPr id="14" name="Text 12"/>
          <p:cNvSpPr txBox="1"/>
          <p:nvPr/>
        </p:nvSpPr>
        <p:spPr>
          <a:xfrm>
            <a:off x="566928" y="467258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188720" y="4654296"/>
            <a:ext cx="2377440" cy="292608"/>
          </a:xfrm>
          <a:prstGeom prst="rect">
            <a:avLst/>
          </a:prstGeom>
          <a:noFill/>
          <a:ln/>
        </p:spPr>
        <p:txBody>
          <a:bodyPr wrap="square" lIns="0" tIns="0" rIns="0" bIns="0" rtlCol="0" anchor="ctr"/>
          <a:lstStyle/>
          <a:p>
            <a:pPr indent="0" marL="0">
              <a:buNone/>
            </a:pPr>
            <a:r>
              <a:rPr lang="en-US" sz="1450" b="1" dirty="0">
                <a:solidFill>
                  <a:srgbClr val="1A1A1A"/>
                </a:solidFill>
                <a:latin typeface="Cambria" pitchFamily="34" charset="0"/>
                <a:ea typeface="Cambria" pitchFamily="34" charset="-122"/>
                <a:cs typeface="Cambria" pitchFamily="34" charset="-120"/>
              </a:rPr>
              <a:t>Observations invert</a:t>
            </a:r>
            <a:endParaRPr lang="en-US" sz="1450" dirty="0"/>
          </a:p>
        </p:txBody>
      </p:sp>
      <p:sp>
        <p:nvSpPr>
          <p:cNvPr id="16" name="Text 14"/>
          <p:cNvSpPr txBox="1"/>
          <p:nvPr/>
        </p:nvSpPr>
        <p:spPr>
          <a:xfrm>
            <a:off x="1188720" y="4965192"/>
            <a:ext cx="6035040" cy="658368"/>
          </a:xfrm>
          <a:prstGeom prst="rect">
            <a:avLst/>
          </a:prstGeom>
          <a:noFill/>
          <a:ln/>
        </p:spPr>
        <p:txBody>
          <a:bodyPr wrap="square" lIns="0" tIns="0" rIns="0" bIns="0" rtlCol="0" anchor="ctr"/>
          <a:lstStyle/>
          <a:p>
            <a:pPr indent="0" marL="0">
              <a:lnSpc>
                <a:spcPts val="1700"/>
              </a:lnSpc>
              <a:buNone/>
            </a:pPr>
            <a:r>
              <a:rPr lang="en-US" sz="1250" dirty="0">
                <a:solidFill>
                  <a:srgbClr val="5F6368"/>
                </a:solidFill>
                <a:latin typeface="Calibri" pitchFamily="34" charset="0"/>
                <a:ea typeface="Calibri" pitchFamily="34" charset="-122"/>
                <a:cs typeface="Calibri" pitchFamily="34" charset="-120"/>
              </a:rPr>
              <a:t>They cease to be the forcing and become the test: do recorded events occur under the conditions identified as resonant?</a:t>
            </a:r>
            <a:endParaRPr lang="en-US" sz="1250" dirty="0"/>
          </a:p>
        </p:txBody>
      </p:sp>
      <p:sp>
        <p:nvSpPr>
          <p:cNvPr id="17" name="Shape 15"/>
          <p:cNvSpPr/>
          <p:nvPr/>
        </p:nvSpPr>
        <p:spPr>
          <a:xfrm>
            <a:off x="7680960" y="2286000"/>
            <a:ext cx="3941064" cy="3108960"/>
          </a:xfrm>
          <a:prstGeom prst="roundRect">
            <a:avLst>
              <a:gd name="adj" fmla="val 1765"/>
            </a:avLst>
          </a:prstGeom>
          <a:solidFill>
            <a:srgbClr val="21295C"/>
          </a:solidFill>
          <a:ln/>
        </p:spPr>
      </p:sp>
      <p:sp>
        <p:nvSpPr>
          <p:cNvPr id="18" name="Text 16"/>
          <p:cNvSpPr txBox="1"/>
          <p:nvPr/>
        </p:nvSpPr>
        <p:spPr>
          <a:xfrm>
            <a:off x="7955280" y="2487168"/>
            <a:ext cx="3429000" cy="548640"/>
          </a:xfrm>
          <a:prstGeom prst="rect">
            <a:avLst/>
          </a:prstGeom>
          <a:noFill/>
          <a:ln/>
        </p:spPr>
        <p:txBody>
          <a:bodyPr wrap="square" lIns="0" tIns="0" rIns="0" bIns="0" rtlCol="0" anchor="ctr"/>
          <a:lstStyle/>
          <a:p>
            <a:pPr indent="0" marL="0">
              <a:buNone/>
            </a:pPr>
            <a:r>
              <a:rPr lang="en-US" sz="1400" b="1" dirty="0">
                <a:solidFill>
                  <a:srgbClr val="EB6834"/>
                </a:solidFill>
                <a:latin typeface="Cambria" pitchFamily="34" charset="0"/>
                <a:ea typeface="Cambria" pitchFamily="34" charset="-122"/>
                <a:cs typeface="Cambria" pitchFamily="34" charset="-120"/>
              </a:rPr>
              <a:t>Bearing beyond the present study</a:t>
            </a:r>
            <a:endParaRPr lang="en-US" sz="1400" dirty="0"/>
          </a:p>
        </p:txBody>
      </p:sp>
      <p:sp>
        <p:nvSpPr>
          <p:cNvPr id="19" name="Text 17"/>
          <p:cNvSpPr txBox="1"/>
          <p:nvPr/>
        </p:nvSpPr>
        <p:spPr>
          <a:xfrm>
            <a:off x="7955280" y="3063240"/>
            <a:ext cx="3429000" cy="2103120"/>
          </a:xfrm>
          <a:prstGeom prst="rect">
            <a:avLst/>
          </a:prstGeom>
          <a:noFill/>
          <a:ln/>
        </p:spPr>
        <p:txBody>
          <a:bodyPr wrap="square" lIns="0" tIns="0" rIns="0" bIns="0" rtlCol="0" anchor="ctr"/>
          <a:lstStyle/>
          <a:p>
            <a:pPr indent="0" marL="0">
              <a:lnSpc>
                <a:spcPts val="1550"/>
              </a:lnSpc>
              <a:buNone/>
            </a:pPr>
            <a:r>
              <a:rPr lang="en-US" sz="1150" dirty="0">
                <a:solidFill>
                  <a:srgbClr val="CADCFC"/>
                </a:solidFill>
                <a:latin typeface="Calibri" pitchFamily="34" charset="0"/>
                <a:ea typeface="Calibri" pitchFamily="34" charset="-122"/>
                <a:cs typeface="Calibri" pitchFamily="34" charset="-120"/>
              </a:rPr>
              <a:t>A response surface is a property of the geometry. Climate change acts on the distribution of the forcing.
</a:t>
            </a:r>
            <a:endParaRPr lang="en-US" sz="1150" dirty="0"/>
          </a:p>
          <a:p>
            <a:pPr indent="0" marL="0">
              <a:lnSpc>
                <a:spcPts val="1550"/>
              </a:lnSpc>
              <a:buNone/>
            </a:pPr>
            <a:r>
              <a:rPr lang="en-US" sz="1150" dirty="0">
                <a:solidFill>
                  <a:srgbClr val="CADCFC"/>
                </a:solidFill>
                <a:latin typeface="Calibri" pitchFamily="34" charset="0"/>
                <a:ea typeface="Calibri" pitchFamily="34" charset="-122"/>
                <a:cs typeface="Calibri" pitchFamily="34" charset="-120"/>
              </a:rPr>
              <a:t>The two separate, so the surface is computed once and any later study with synoptic projections may convolve them without repeating the hydrodynamics.
</a:t>
            </a:r>
            <a:endParaRPr lang="en-US" sz="1150" dirty="0"/>
          </a:p>
          <a:p>
            <a:pPr indent="0" marL="0">
              <a:lnSpc>
                <a:spcPts val="1550"/>
              </a:lnSpc>
              <a:buNone/>
            </a:pPr>
            <a:r>
              <a:rPr lang="en-US" sz="1150" b="1" dirty="0">
                <a:solidFill>
                  <a:srgbClr val="FFFFFF"/>
                </a:solidFill>
                <a:latin typeface="Calibri" pitchFamily="34" charset="0"/>
                <a:ea typeface="Calibri" pitchFamily="34" charset="-122"/>
                <a:cs typeface="Calibri" pitchFamily="34" charset="-120"/>
              </a:rPr>
              <a:t>No climate scenario need be run through the model.</a:t>
            </a:r>
            <a:endParaRPr lang="en-US" sz="1150" dirty="0"/>
          </a:p>
        </p:txBody>
      </p:sp>
      <p:sp>
        <p:nvSpPr>
          <p:cNvPr id="20" name="Text 18"/>
          <p:cNvSpPr txBox="1"/>
          <p:nvPr/>
        </p:nvSpPr>
        <p:spPr>
          <a:xfrm>
            <a:off x="566928" y="6053328"/>
            <a:ext cx="11055096" cy="310896"/>
          </a:xfrm>
          <a:prstGeom prst="rect">
            <a:avLst/>
          </a:prstGeom>
          <a:noFill/>
          <a:ln/>
        </p:spPr>
        <p:txBody>
          <a:bodyPr wrap="square" lIns="0" tIns="0" rIns="0" bIns="0" rtlCol="0" anchor="ctr"/>
          <a:lstStyle/>
          <a:p>
            <a:pPr indent="0" marL="0">
              <a:buNone/>
            </a:pPr>
            <a:r>
              <a:rPr lang="en-US" sz="1050" i="1" dirty="0">
                <a:solidFill>
                  <a:srgbClr val="5F6368"/>
                </a:solidFill>
                <a:latin typeface="Calibri" pitchFamily="34" charset="0"/>
                <a:ea typeface="Calibri" pitchFamily="34" charset="-122"/>
                <a:cs typeface="Calibri" pitchFamily="34" charset="-120"/>
              </a:rPr>
              <a:t>The milgħuba floods Msida, at the head of Msida Creek inside Marsamxett, together with Marsaskala, Xemxija, Marsaxlokk and Sliema.</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indent="0" marL="0">
              <a:buNone/>
            </a:pPr>
            <a:r>
              <a:rPr lang="en-US" sz="1200" b="1" spc="200" kern="0" dirty="0">
                <a:solidFill>
                  <a:srgbClr val="EB6834"/>
                </a:solidFill>
                <a:latin typeface="Calibri" pitchFamily="34" charset="0"/>
                <a:ea typeface="Calibri" pitchFamily="34" charset="-122"/>
                <a:cs typeface="Calibri" pitchFamily="34" charset="-120"/>
              </a:rPr>
              <a:t>OUTSTANDING QUESTIONS</a:t>
            </a:r>
            <a:endParaRPr lang="en-US" sz="1200" dirty="0"/>
          </a:p>
        </p:txBody>
      </p:sp>
      <p:sp>
        <p:nvSpPr>
          <p:cNvPr id="3" name="Text 1"/>
          <p:cNvSpPr txBox="1"/>
          <p:nvPr/>
        </p:nvSpPr>
        <p:spPr>
          <a:xfrm>
            <a:off x="566928" y="749808"/>
            <a:ext cx="10424160" cy="658368"/>
          </a:xfrm>
          <a:prstGeom prst="rect">
            <a:avLst/>
          </a:prstGeom>
          <a:noFill/>
          <a:ln/>
        </p:spPr>
        <p:txBody>
          <a:bodyPr wrap="square" lIns="0" tIns="0" rIns="0" bIns="0"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Six questions and their bearing on the study</a:t>
            </a:r>
            <a:endParaRPr lang="en-US" sz="3200" dirty="0"/>
          </a:p>
        </p:txBody>
      </p:sp>
      <p:sp>
        <p:nvSpPr>
          <p:cNvPr id="4" name="Shape 2"/>
          <p:cNvSpPr/>
          <p:nvPr/>
        </p:nvSpPr>
        <p:spPr>
          <a:xfrm>
            <a:off x="566928" y="1874520"/>
            <a:ext cx="402336" cy="402336"/>
          </a:xfrm>
          <a:prstGeom prst="ellipse">
            <a:avLst/>
          </a:prstGeom>
          <a:solidFill>
            <a:srgbClr val="065A82"/>
          </a:solidFill>
          <a:ln/>
        </p:spPr>
      </p:sp>
      <p:sp>
        <p:nvSpPr>
          <p:cNvPr id="5" name="Text 3"/>
          <p:cNvSpPr txBox="1"/>
          <p:nvPr/>
        </p:nvSpPr>
        <p:spPr>
          <a:xfrm>
            <a:off x="566928" y="18745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133856" y="1847088"/>
            <a:ext cx="4828032" cy="475488"/>
          </a:xfrm>
          <a:prstGeom prst="rect">
            <a:avLst/>
          </a:prstGeom>
          <a:noFill/>
          <a:ln/>
        </p:spPr>
        <p:txBody>
          <a:bodyPr wrap="square" lIns="0" tIns="0" rIns="0" bIns="0" rtlCol="0" anchor="ctr"/>
          <a:lstStyle/>
          <a:p>
            <a:pPr indent="0" marL="0">
              <a:lnSpc>
                <a:spcPts val="1600"/>
              </a:lnSpc>
              <a:buNone/>
            </a:pPr>
            <a:r>
              <a:rPr lang="en-US" sz="1280" b="1" dirty="0">
                <a:solidFill>
                  <a:srgbClr val="1A1A1A"/>
                </a:solidFill>
                <a:latin typeface="Calibri" pitchFamily="34" charset="0"/>
                <a:ea typeface="Calibri" pitchFamily="34" charset="-122"/>
                <a:cs typeface="Calibri" pitchFamily="34" charset="-120"/>
              </a:rPr>
              <a:t>Is there a sea level record inside the Grand Harbour, and at what sampling interval?</a:t>
            </a:r>
            <a:endParaRPr lang="en-US" sz="1280" dirty="0"/>
          </a:p>
        </p:txBody>
      </p:sp>
      <p:sp>
        <p:nvSpPr>
          <p:cNvPr id="7" name="Text 5"/>
          <p:cNvSpPr txBox="1"/>
          <p:nvPr/>
        </p:nvSpPr>
        <p:spPr>
          <a:xfrm>
            <a:off x="1133856" y="2331720"/>
            <a:ext cx="4828032" cy="896112"/>
          </a:xfrm>
          <a:prstGeom prst="rect">
            <a:avLst/>
          </a:prstGeom>
          <a:noFill/>
          <a:ln/>
        </p:spPr>
        <p:txBody>
          <a:bodyPr wrap="square" lIns="0" tIns="0" rIns="0" bIns="0" rtlCol="0" anchor="ctr"/>
          <a:lstStyle/>
          <a:p>
            <a:pPr indent="0" marL="0">
              <a:lnSpc>
                <a:spcPts val="1450"/>
              </a:lnSpc>
              <a:buNone/>
            </a:pPr>
            <a:r>
              <a:rPr lang="en-US" sz="1100" dirty="0">
                <a:solidFill>
                  <a:srgbClr val="5F6368"/>
                </a:solidFill>
                <a:latin typeface="Calibri" pitchFamily="34" charset="0"/>
                <a:ea typeface="Calibri" pitchFamily="34" charset="-122"/>
                <a:cs typeface="Calibri" pitchFamily="34" charset="-120"/>
              </a:rPr>
              <a:t>A spectrum would settle whether the basins carry energy near 17 minutes. The 0.2 to 2 cph band is observed at Mellieħa, on another coast, and the present analysis can only infer.</a:t>
            </a:r>
            <a:endParaRPr lang="en-US" sz="1100" dirty="0"/>
          </a:p>
        </p:txBody>
      </p:sp>
      <p:sp>
        <p:nvSpPr>
          <p:cNvPr id="8" name="Shape 6"/>
          <p:cNvSpPr/>
          <p:nvPr/>
        </p:nvSpPr>
        <p:spPr>
          <a:xfrm>
            <a:off x="6126480" y="1874520"/>
            <a:ext cx="402336" cy="402336"/>
          </a:xfrm>
          <a:prstGeom prst="ellipse">
            <a:avLst/>
          </a:prstGeom>
          <a:solidFill>
            <a:srgbClr val="1C7293"/>
          </a:solidFill>
          <a:ln/>
        </p:spPr>
      </p:sp>
      <p:sp>
        <p:nvSpPr>
          <p:cNvPr id="9" name="Text 7"/>
          <p:cNvSpPr txBox="1"/>
          <p:nvPr/>
        </p:nvSpPr>
        <p:spPr>
          <a:xfrm>
            <a:off x="6126480" y="18745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6693408" y="1847088"/>
            <a:ext cx="4828032" cy="475488"/>
          </a:xfrm>
          <a:prstGeom prst="rect">
            <a:avLst/>
          </a:prstGeom>
          <a:noFill/>
          <a:ln/>
        </p:spPr>
        <p:txBody>
          <a:bodyPr wrap="square" lIns="0" tIns="0" rIns="0" bIns="0" rtlCol="0" anchor="ctr"/>
          <a:lstStyle/>
          <a:p>
            <a:pPr indent="0" marL="0">
              <a:lnSpc>
                <a:spcPts val="1600"/>
              </a:lnSpc>
              <a:buNone/>
            </a:pPr>
            <a:r>
              <a:rPr lang="en-US" sz="1280" b="1" dirty="0">
                <a:solidFill>
                  <a:srgbClr val="1A1A1A"/>
                </a:solidFill>
                <a:latin typeface="Calibri" pitchFamily="34" charset="0"/>
                <a:ea typeface="Calibri" pitchFamily="34" charset="-122"/>
                <a:cs typeface="Calibri" pitchFamily="34" charset="-120"/>
              </a:rPr>
              <a:t>What is the full extent of prior work on the milgħuba, published or not?</a:t>
            </a:r>
            <a:endParaRPr lang="en-US" sz="1280" dirty="0"/>
          </a:p>
        </p:txBody>
      </p:sp>
      <p:sp>
        <p:nvSpPr>
          <p:cNvPr id="11" name="Text 9"/>
          <p:cNvSpPr txBox="1"/>
          <p:nvPr/>
        </p:nvSpPr>
        <p:spPr>
          <a:xfrm>
            <a:off x="6693408" y="2331720"/>
            <a:ext cx="4828032" cy="896112"/>
          </a:xfrm>
          <a:prstGeom prst="rect">
            <a:avLst/>
          </a:prstGeom>
          <a:noFill/>
          <a:ln/>
        </p:spPr>
        <p:txBody>
          <a:bodyPr wrap="square" lIns="0" tIns="0" rIns="0" bIns="0" rtlCol="0" anchor="ctr"/>
          <a:lstStyle/>
          <a:p>
            <a:pPr indent="0" marL="0">
              <a:lnSpc>
                <a:spcPts val="1450"/>
              </a:lnSpc>
              <a:buNone/>
            </a:pPr>
            <a:r>
              <a:rPr lang="en-US" sz="1100" dirty="0">
                <a:solidFill>
                  <a:srgbClr val="5F6368"/>
                </a:solidFill>
                <a:latin typeface="Calibri" pitchFamily="34" charset="0"/>
                <a:ea typeface="Calibri" pitchFamily="34" charset="-122"/>
                <a:cs typeface="Calibri" pitchFamily="34" charset="-120"/>
              </a:rPr>
              <a:t>The contribution rests on the generation side being open. That claim comes from a literature search, not from the authors, who are in this room.</a:t>
            </a:r>
            <a:endParaRPr lang="en-US" sz="1100" dirty="0"/>
          </a:p>
        </p:txBody>
      </p:sp>
      <p:sp>
        <p:nvSpPr>
          <p:cNvPr id="12" name="Shape 10"/>
          <p:cNvSpPr/>
          <p:nvPr/>
        </p:nvSpPr>
        <p:spPr>
          <a:xfrm>
            <a:off x="566928" y="3355848"/>
            <a:ext cx="402336" cy="402336"/>
          </a:xfrm>
          <a:prstGeom prst="ellipse">
            <a:avLst/>
          </a:prstGeom>
          <a:solidFill>
            <a:srgbClr val="065A82"/>
          </a:solidFill>
          <a:ln/>
        </p:spPr>
      </p:sp>
      <p:sp>
        <p:nvSpPr>
          <p:cNvPr id="13" name="Text 11"/>
          <p:cNvSpPr txBox="1"/>
          <p:nvPr/>
        </p:nvSpPr>
        <p:spPr>
          <a:xfrm>
            <a:off x="566928" y="33558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133856" y="3328416"/>
            <a:ext cx="4828032" cy="475488"/>
          </a:xfrm>
          <a:prstGeom prst="rect">
            <a:avLst/>
          </a:prstGeom>
          <a:noFill/>
          <a:ln/>
        </p:spPr>
        <p:txBody>
          <a:bodyPr wrap="square" lIns="0" tIns="0" rIns="0" bIns="0" rtlCol="0" anchor="ctr"/>
          <a:lstStyle/>
          <a:p>
            <a:pPr indent="0" marL="0">
              <a:lnSpc>
                <a:spcPts val="1600"/>
              </a:lnSpc>
              <a:buNone/>
            </a:pPr>
            <a:r>
              <a:rPr lang="en-US" sz="1280" b="1" dirty="0">
                <a:solidFill>
                  <a:srgbClr val="1A1A1A"/>
                </a:solidFill>
                <a:latin typeface="Calibri" pitchFamily="34" charset="0"/>
                <a:ea typeface="Calibri" pitchFamily="34" charset="-122"/>
                <a:cs typeface="Calibri" pitchFamily="34" charset="-120"/>
              </a:rPr>
              <a:t>What is the sampling interval of the PORTO sea level stations?</a:t>
            </a:r>
            <a:endParaRPr lang="en-US" sz="1280" dirty="0"/>
          </a:p>
        </p:txBody>
      </p:sp>
      <p:sp>
        <p:nvSpPr>
          <p:cNvPr id="15" name="Text 13"/>
          <p:cNvSpPr txBox="1"/>
          <p:nvPr/>
        </p:nvSpPr>
        <p:spPr>
          <a:xfrm>
            <a:off x="1133856" y="3813048"/>
            <a:ext cx="4828032" cy="896112"/>
          </a:xfrm>
          <a:prstGeom prst="rect">
            <a:avLst/>
          </a:prstGeom>
          <a:noFill/>
          <a:ln/>
        </p:spPr>
        <p:txBody>
          <a:bodyPr wrap="square" lIns="0" tIns="0" rIns="0" bIns="0" rtlCol="0" anchor="ctr"/>
          <a:lstStyle/>
          <a:p>
            <a:pPr indent="0" marL="0">
              <a:lnSpc>
                <a:spcPts val="1450"/>
              </a:lnSpc>
              <a:buNone/>
            </a:pPr>
            <a:r>
              <a:rPr lang="en-US" sz="1100" dirty="0">
                <a:solidFill>
                  <a:srgbClr val="5F6368"/>
                </a:solidFill>
                <a:latin typeface="Calibri" pitchFamily="34" charset="0"/>
                <a:ea typeface="Calibri" pitchFamily="34" charset="-122"/>
                <a:cs typeface="Calibri" pitchFamily="34" charset="-120"/>
              </a:rPr>
              <a:t>The seiche band is 0.2 to 2 cph. Coarser than one minute and the model loses its observational target in its own frequency range.</a:t>
            </a:r>
            <a:endParaRPr lang="en-US" sz="1100" dirty="0"/>
          </a:p>
        </p:txBody>
      </p:sp>
      <p:sp>
        <p:nvSpPr>
          <p:cNvPr id="16" name="Shape 14"/>
          <p:cNvSpPr/>
          <p:nvPr/>
        </p:nvSpPr>
        <p:spPr>
          <a:xfrm>
            <a:off x="6126480" y="3355848"/>
            <a:ext cx="402336" cy="402336"/>
          </a:xfrm>
          <a:prstGeom prst="ellipse">
            <a:avLst/>
          </a:prstGeom>
          <a:solidFill>
            <a:srgbClr val="1C7293"/>
          </a:solidFill>
          <a:ln/>
        </p:spPr>
      </p:sp>
      <p:sp>
        <p:nvSpPr>
          <p:cNvPr id="17" name="Text 15"/>
          <p:cNvSpPr txBox="1"/>
          <p:nvPr/>
        </p:nvSpPr>
        <p:spPr>
          <a:xfrm>
            <a:off x="6126480" y="33558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6693408" y="3328416"/>
            <a:ext cx="4828032" cy="475488"/>
          </a:xfrm>
          <a:prstGeom prst="rect">
            <a:avLst/>
          </a:prstGeom>
          <a:noFill/>
          <a:ln/>
        </p:spPr>
        <p:txBody>
          <a:bodyPr wrap="square" lIns="0" tIns="0" rIns="0" bIns="0" rtlCol="0" anchor="ctr"/>
          <a:lstStyle/>
          <a:p>
            <a:pPr indent="0" marL="0">
              <a:lnSpc>
                <a:spcPts val="1600"/>
              </a:lnSpc>
              <a:buNone/>
            </a:pPr>
            <a:r>
              <a:rPr lang="en-US" sz="1280" b="1" dirty="0">
                <a:solidFill>
                  <a:srgbClr val="1A1A1A"/>
                </a:solidFill>
                <a:latin typeface="Calibri" pitchFamily="34" charset="0"/>
                <a:ea typeface="Calibri" pitchFamily="34" charset="-122"/>
                <a:cs typeface="Calibri" pitchFamily="34" charset="-120"/>
              </a:rPr>
              <a:t>Is there documented damage or disruption inside the commercial port?</a:t>
            </a:r>
            <a:endParaRPr lang="en-US" sz="1280" dirty="0"/>
          </a:p>
        </p:txBody>
      </p:sp>
      <p:sp>
        <p:nvSpPr>
          <p:cNvPr id="19" name="Text 17"/>
          <p:cNvSpPr txBox="1"/>
          <p:nvPr/>
        </p:nvSpPr>
        <p:spPr>
          <a:xfrm>
            <a:off x="6693408" y="3813048"/>
            <a:ext cx="4828032" cy="896112"/>
          </a:xfrm>
          <a:prstGeom prst="rect">
            <a:avLst/>
          </a:prstGeom>
          <a:noFill/>
          <a:ln/>
        </p:spPr>
        <p:txBody>
          <a:bodyPr wrap="square" lIns="0" tIns="0" rIns="0" bIns="0" rtlCol="0" anchor="ctr"/>
          <a:lstStyle/>
          <a:p>
            <a:pPr indent="0" marL="0">
              <a:lnSpc>
                <a:spcPts val="1450"/>
              </a:lnSpc>
              <a:buNone/>
            </a:pPr>
            <a:r>
              <a:rPr lang="en-US" sz="1100" dirty="0">
                <a:solidFill>
                  <a:srgbClr val="5F6368"/>
                </a:solidFill>
                <a:latin typeface="Calibri" pitchFamily="34" charset="0"/>
                <a:ea typeface="Calibri" pitchFamily="34" charset="-122"/>
                <a:cs typeface="Calibri" pitchFamily="34" charset="-120"/>
              </a:rPr>
              <a:t>Flooding is documented at Msida and elsewhere. Mooring failure or interrupted operations would be held by Transport Malta and the terminals.</a:t>
            </a:r>
            <a:endParaRPr lang="en-US" sz="1100" dirty="0"/>
          </a:p>
        </p:txBody>
      </p:sp>
      <p:sp>
        <p:nvSpPr>
          <p:cNvPr id="20" name="Shape 18"/>
          <p:cNvSpPr/>
          <p:nvPr/>
        </p:nvSpPr>
        <p:spPr>
          <a:xfrm>
            <a:off x="566928" y="4837176"/>
            <a:ext cx="402336" cy="402336"/>
          </a:xfrm>
          <a:prstGeom prst="ellipse">
            <a:avLst/>
          </a:prstGeom>
          <a:solidFill>
            <a:srgbClr val="065A82"/>
          </a:solidFill>
          <a:ln/>
        </p:spPr>
      </p:sp>
      <p:sp>
        <p:nvSpPr>
          <p:cNvPr id="21" name="Text 19"/>
          <p:cNvSpPr txBox="1"/>
          <p:nvPr/>
        </p:nvSpPr>
        <p:spPr>
          <a:xfrm>
            <a:off x="566928" y="483717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1133856" y="4809744"/>
            <a:ext cx="4828032" cy="475488"/>
          </a:xfrm>
          <a:prstGeom prst="rect">
            <a:avLst/>
          </a:prstGeom>
          <a:noFill/>
          <a:ln/>
        </p:spPr>
        <p:txBody>
          <a:bodyPr wrap="square" lIns="0" tIns="0" rIns="0" bIns="0" rtlCol="0" anchor="ctr"/>
          <a:lstStyle/>
          <a:p>
            <a:pPr indent="0" marL="0">
              <a:lnSpc>
                <a:spcPts val="1600"/>
              </a:lnSpc>
              <a:buNone/>
            </a:pPr>
            <a:r>
              <a:rPr lang="en-US" sz="1280" b="1" dirty="0">
                <a:solidFill>
                  <a:srgbClr val="1A1A1A"/>
                </a:solidFill>
                <a:latin typeface="Calibri" pitchFamily="34" charset="0"/>
                <a:ea typeface="Calibri" pitchFamily="34" charset="-122"/>
                <a:cs typeface="Calibri" pitchFamily="34" charset="-120"/>
              </a:rPr>
              <a:t>What is the levelling datum behind the bathymetry, and how does its zero relate to the tide gauges?</a:t>
            </a:r>
            <a:endParaRPr lang="en-US" sz="1280" dirty="0"/>
          </a:p>
        </p:txBody>
      </p:sp>
      <p:sp>
        <p:nvSpPr>
          <p:cNvPr id="23" name="Text 21"/>
          <p:cNvSpPr txBox="1"/>
          <p:nvPr/>
        </p:nvSpPr>
        <p:spPr>
          <a:xfrm>
            <a:off x="1133856" y="5294376"/>
            <a:ext cx="4828032" cy="896112"/>
          </a:xfrm>
          <a:prstGeom prst="rect">
            <a:avLst/>
          </a:prstGeom>
          <a:noFill/>
          <a:ln/>
        </p:spPr>
        <p:txBody>
          <a:bodyPr wrap="square" lIns="0" tIns="0" rIns="0" bIns="0" rtlCol="0" anchor="ctr"/>
          <a:lstStyle/>
          <a:p>
            <a:pPr indent="0" marL="0">
              <a:lnSpc>
                <a:spcPts val="1450"/>
              </a:lnSpc>
              <a:buNone/>
            </a:pPr>
            <a:r>
              <a:rPr lang="en-US" sz="1100" dirty="0">
                <a:solidFill>
                  <a:srgbClr val="5F6368"/>
                </a:solidFill>
                <a:latin typeface="Calibri" pitchFamily="34" charset="0"/>
                <a:ea typeface="Calibri" pitchFamily="34" charset="-122"/>
                <a:cs typeface="Calibri" pitchFamily="34" charset="-120"/>
              </a:rPr>
              <a:t>The files declare ellipsoidal heights and the data are orthometric. What remains is the offset against the gauges used for validation.</a:t>
            </a:r>
            <a:endParaRPr lang="en-US" sz="1100" dirty="0"/>
          </a:p>
        </p:txBody>
      </p:sp>
      <p:sp>
        <p:nvSpPr>
          <p:cNvPr id="24" name="Shape 22"/>
          <p:cNvSpPr/>
          <p:nvPr/>
        </p:nvSpPr>
        <p:spPr>
          <a:xfrm>
            <a:off x="6126480" y="4837176"/>
            <a:ext cx="402336" cy="402336"/>
          </a:xfrm>
          <a:prstGeom prst="ellipse">
            <a:avLst/>
          </a:prstGeom>
          <a:solidFill>
            <a:srgbClr val="1C7293"/>
          </a:solidFill>
          <a:ln/>
        </p:spPr>
      </p:sp>
      <p:sp>
        <p:nvSpPr>
          <p:cNvPr id="25" name="Text 23"/>
          <p:cNvSpPr txBox="1"/>
          <p:nvPr/>
        </p:nvSpPr>
        <p:spPr>
          <a:xfrm>
            <a:off x="6126480" y="483717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693408" y="4809744"/>
            <a:ext cx="4828032" cy="475488"/>
          </a:xfrm>
          <a:prstGeom prst="rect">
            <a:avLst/>
          </a:prstGeom>
          <a:noFill/>
          <a:ln/>
        </p:spPr>
        <p:txBody>
          <a:bodyPr wrap="square" lIns="0" tIns="0" rIns="0" bIns="0" rtlCol="0" anchor="ctr"/>
          <a:lstStyle/>
          <a:p>
            <a:pPr indent="0" marL="0">
              <a:lnSpc>
                <a:spcPts val="1600"/>
              </a:lnSpc>
              <a:buNone/>
            </a:pPr>
            <a:r>
              <a:rPr lang="en-US" sz="1280" b="1" dirty="0">
                <a:solidFill>
                  <a:srgbClr val="1A1A1A"/>
                </a:solidFill>
                <a:latin typeface="Calibri" pitchFamily="34" charset="0"/>
                <a:ea typeface="Calibri" pitchFamily="34" charset="-122"/>
                <a:cs typeface="Calibri" pitchFamily="34" charset="-120"/>
              </a:rPr>
              <a:t>Would the group regard the attribution question as a contribution, or as their own intention?</a:t>
            </a:r>
            <a:endParaRPr lang="en-US" sz="1280" dirty="0"/>
          </a:p>
        </p:txBody>
      </p:sp>
      <p:sp>
        <p:nvSpPr>
          <p:cNvPr id="27" name="Text 25"/>
          <p:cNvSpPr txBox="1"/>
          <p:nvPr/>
        </p:nvSpPr>
        <p:spPr>
          <a:xfrm>
            <a:off x="6693408" y="5294376"/>
            <a:ext cx="4828032" cy="896112"/>
          </a:xfrm>
          <a:prstGeom prst="rect">
            <a:avLst/>
          </a:prstGeom>
          <a:noFill/>
          <a:ln/>
        </p:spPr>
        <p:txBody>
          <a:bodyPr wrap="square" lIns="0" tIns="0" rIns="0" bIns="0" rtlCol="0" anchor="ctr"/>
          <a:lstStyle/>
          <a:p>
            <a:pPr indent="0" marL="0">
              <a:lnSpc>
                <a:spcPts val="1450"/>
              </a:lnSpc>
              <a:buNone/>
            </a:pPr>
            <a:r>
              <a:rPr lang="en-US" sz="1100" dirty="0">
                <a:solidFill>
                  <a:srgbClr val="5F6368"/>
                </a:solidFill>
                <a:latin typeface="Calibri" pitchFamily="34" charset="0"/>
                <a:ea typeface="Calibri" pitchFamily="34" charset="-122"/>
                <a:cs typeface="Calibri" pitchFamily="34" charset="-120"/>
              </a:rPr>
              <a:t>Establishing this early avoids a duplication of intent.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737360" y="3840480"/>
            <a:ext cx="4754880" cy="4754880"/>
          </a:xfrm>
          <a:prstGeom prst="ellipse">
            <a:avLst/>
          </a:prstGeom>
          <a:solidFill>
            <a:srgbClr val="065A82">
              <a:alpha val="40000"/>
            </a:srgbClr>
          </a:solidFill>
          <a:ln/>
        </p:spPr>
      </p:sp>
      <p:sp>
        <p:nvSpPr>
          <p:cNvPr id="3" name="Text 1"/>
          <p:cNvSpPr txBox="1"/>
          <p:nvPr/>
        </p:nvSpPr>
        <p:spPr>
          <a:xfrm>
            <a:off x="566928" y="640080"/>
            <a:ext cx="8229600" cy="274320"/>
          </a:xfrm>
          <a:prstGeom prst="rect">
            <a:avLst/>
          </a:prstGeom>
          <a:noFill/>
          <a:ln/>
        </p:spPr>
        <p:txBody>
          <a:bodyPr wrap="square" lIns="0" tIns="0" rIns="0" bIns="0" rtlCol="0" anchor="ctr"/>
          <a:lstStyle/>
          <a:p>
            <a:pPr indent="0" marL="0">
              <a:buNone/>
            </a:pPr>
            <a:r>
              <a:rPr lang="en-US" sz="1200" b="1" spc="200" kern="0" dirty="0">
                <a:solidFill>
                  <a:srgbClr val="EB6834"/>
                </a:solidFill>
                <a:latin typeface="Calibri" pitchFamily="34" charset="0"/>
                <a:ea typeface="Calibri" pitchFamily="34" charset="-122"/>
                <a:cs typeface="Calibri" pitchFamily="34" charset="-120"/>
              </a:rPr>
              <a:t>IMMEDIATE SEQUENCE</a:t>
            </a:r>
            <a:endParaRPr lang="en-US" sz="1200" dirty="0"/>
          </a:p>
        </p:txBody>
      </p:sp>
      <p:sp>
        <p:nvSpPr>
          <p:cNvPr id="4" name="Text 2"/>
          <p:cNvSpPr txBox="1"/>
          <p:nvPr/>
        </p:nvSpPr>
        <p:spPr>
          <a:xfrm>
            <a:off x="566928" y="960120"/>
            <a:ext cx="91440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Before the mesh is built</a:t>
            </a:r>
            <a:endParaRPr lang="en-US" sz="3000" dirty="0"/>
          </a:p>
        </p:txBody>
      </p:sp>
      <p:sp>
        <p:nvSpPr>
          <p:cNvPr id="5" name="Shape 3"/>
          <p:cNvSpPr/>
          <p:nvPr/>
        </p:nvSpPr>
        <p:spPr>
          <a:xfrm>
            <a:off x="612648" y="2057400"/>
            <a:ext cx="155448" cy="155448"/>
          </a:xfrm>
          <a:prstGeom prst="ellipse">
            <a:avLst/>
          </a:prstGeom>
          <a:solidFill>
            <a:srgbClr val="CADCFC"/>
          </a:solidFill>
          <a:ln/>
        </p:spPr>
      </p:sp>
      <p:sp>
        <p:nvSpPr>
          <p:cNvPr id="6" name="Text 4"/>
          <p:cNvSpPr txBox="1"/>
          <p:nvPr/>
        </p:nvSpPr>
        <p:spPr>
          <a:xfrm>
            <a:off x="978408" y="1965960"/>
            <a:ext cx="2651760" cy="30175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Late September</a:t>
            </a:r>
            <a:endParaRPr lang="en-US" sz="1300" dirty="0"/>
          </a:p>
        </p:txBody>
      </p:sp>
      <p:sp>
        <p:nvSpPr>
          <p:cNvPr id="7" name="Text 5"/>
          <p:cNvSpPr txBox="1"/>
          <p:nvPr/>
        </p:nvSpPr>
        <p:spPr>
          <a:xfrm>
            <a:off x="3721608" y="1965960"/>
            <a:ext cx="7863840" cy="512064"/>
          </a:xfrm>
          <a:prstGeom prst="rect">
            <a:avLst/>
          </a:prstGeom>
          <a:noFill/>
          <a:ln/>
        </p:spPr>
        <p:txBody>
          <a:bodyPr wrap="square" lIns="0" tIns="0" rIns="0" bIns="0" rtlCol="0" anchor="ctr"/>
          <a:lstStyle/>
          <a:p>
            <a:pPr indent="0" marL="0">
              <a:lnSpc>
                <a:spcPts val="1600"/>
              </a:lnSpc>
              <a:buNone/>
            </a:pPr>
            <a:r>
              <a:rPr lang="en-US" sz="1250" dirty="0">
                <a:solidFill>
                  <a:srgbClr val="9FB3D1"/>
                </a:solidFill>
                <a:latin typeface="Calibri" pitchFamily="34" charset="0"/>
                <a:ea typeface="Calibri" pitchFamily="34" charset="-122"/>
                <a:cs typeface="Calibri" pitchFamily="34" charset="-120"/>
              </a:rPr>
              <a:t>Seiche climatology from the Portomaso and PORTO archives. No model is required.</a:t>
            </a:r>
            <a:endParaRPr lang="en-US" sz="1250" dirty="0"/>
          </a:p>
        </p:txBody>
      </p:sp>
      <p:sp>
        <p:nvSpPr>
          <p:cNvPr id="8" name="Shape 6"/>
          <p:cNvSpPr/>
          <p:nvPr/>
        </p:nvSpPr>
        <p:spPr>
          <a:xfrm>
            <a:off x="612648" y="2843784"/>
            <a:ext cx="155448" cy="155448"/>
          </a:xfrm>
          <a:prstGeom prst="ellipse">
            <a:avLst/>
          </a:prstGeom>
          <a:solidFill>
            <a:srgbClr val="EB6834"/>
          </a:solidFill>
          <a:ln/>
        </p:spPr>
      </p:sp>
      <p:sp>
        <p:nvSpPr>
          <p:cNvPr id="9" name="Text 7"/>
          <p:cNvSpPr txBox="1"/>
          <p:nvPr/>
        </p:nvSpPr>
        <p:spPr>
          <a:xfrm>
            <a:off x="978408" y="2752344"/>
            <a:ext cx="2651760" cy="301752"/>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19 October</a:t>
            </a:r>
            <a:endParaRPr lang="en-US" sz="1300" dirty="0"/>
          </a:p>
        </p:txBody>
      </p:sp>
      <p:sp>
        <p:nvSpPr>
          <p:cNvPr id="10" name="Text 8"/>
          <p:cNvSpPr txBox="1"/>
          <p:nvPr/>
        </p:nvSpPr>
        <p:spPr>
          <a:xfrm>
            <a:off x="3721608" y="2752344"/>
            <a:ext cx="7863840" cy="512064"/>
          </a:xfrm>
          <a:prstGeom prst="rect">
            <a:avLst/>
          </a:prstGeom>
          <a:noFill/>
          <a:ln/>
        </p:spPr>
        <p:txBody>
          <a:bodyPr wrap="square" lIns="0" tIns="0" rIns="0" bIns="0" rtlCol="0" anchor="ctr"/>
          <a:lstStyle/>
          <a:p>
            <a:pPr indent="0" marL="0">
              <a:lnSpc>
                <a:spcPts val="1600"/>
              </a:lnSpc>
              <a:buNone/>
            </a:pPr>
            <a:r>
              <a:rPr lang="en-US" sz="1250" dirty="0">
                <a:solidFill>
                  <a:srgbClr val="9FB3D1"/>
                </a:solidFill>
                <a:latin typeface="Calibri" pitchFamily="34" charset="0"/>
                <a:ea typeface="Calibri" pitchFamily="34" charset="-122"/>
                <a:cs typeface="Calibri" pitchFamily="34" charset="-120"/>
              </a:rPr>
              <a:t>Delft3D User Days abstract.</a:t>
            </a:r>
            <a:endParaRPr lang="en-US" sz="1250" dirty="0"/>
          </a:p>
        </p:txBody>
      </p:sp>
      <p:sp>
        <p:nvSpPr>
          <p:cNvPr id="11" name="Shape 9"/>
          <p:cNvSpPr/>
          <p:nvPr/>
        </p:nvSpPr>
        <p:spPr>
          <a:xfrm>
            <a:off x="612648" y="3630168"/>
            <a:ext cx="155448" cy="155448"/>
          </a:xfrm>
          <a:prstGeom prst="ellipse">
            <a:avLst/>
          </a:prstGeom>
          <a:solidFill>
            <a:srgbClr val="CADCFC"/>
          </a:solidFill>
          <a:ln/>
        </p:spPr>
      </p:sp>
      <p:sp>
        <p:nvSpPr>
          <p:cNvPr id="12" name="Text 10"/>
          <p:cNvSpPr txBox="1"/>
          <p:nvPr/>
        </p:nvSpPr>
        <p:spPr>
          <a:xfrm>
            <a:off x="978408" y="3538728"/>
            <a:ext cx="2651760" cy="30175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Early October</a:t>
            </a:r>
            <a:endParaRPr lang="en-US" sz="1300" dirty="0"/>
          </a:p>
        </p:txBody>
      </p:sp>
      <p:sp>
        <p:nvSpPr>
          <p:cNvPr id="13" name="Text 11"/>
          <p:cNvSpPr txBox="1"/>
          <p:nvPr/>
        </p:nvSpPr>
        <p:spPr>
          <a:xfrm>
            <a:off x="3721608" y="3538728"/>
            <a:ext cx="7863840" cy="512064"/>
          </a:xfrm>
          <a:prstGeom prst="rect">
            <a:avLst/>
          </a:prstGeom>
          <a:noFill/>
          <a:ln/>
        </p:spPr>
        <p:txBody>
          <a:bodyPr wrap="square" lIns="0" tIns="0" rIns="0" bIns="0" rtlCol="0" anchor="ctr"/>
          <a:lstStyle/>
          <a:p>
            <a:pPr indent="0" marL="0">
              <a:lnSpc>
                <a:spcPts val="1600"/>
              </a:lnSpc>
              <a:buNone/>
            </a:pPr>
            <a:r>
              <a:rPr lang="en-US" sz="1250" dirty="0">
                <a:solidFill>
                  <a:srgbClr val="9FB3D1"/>
                </a:solidFill>
                <a:latin typeface="Calibri" pitchFamily="34" charset="0"/>
                <a:ea typeface="Calibri" pitchFamily="34" charset="-122"/>
                <a:cs typeface="Calibri" pitchFamily="34" charset="-120"/>
              </a:rPr>
              <a:t>Merged bathymetry over the domain, gaps intersected with the coastline.</a:t>
            </a:r>
            <a:endParaRPr lang="en-US" sz="1250" dirty="0"/>
          </a:p>
        </p:txBody>
      </p:sp>
      <p:sp>
        <p:nvSpPr>
          <p:cNvPr id="14" name="Shape 12"/>
          <p:cNvSpPr/>
          <p:nvPr/>
        </p:nvSpPr>
        <p:spPr>
          <a:xfrm>
            <a:off x="612648" y="4416552"/>
            <a:ext cx="155448" cy="155448"/>
          </a:xfrm>
          <a:prstGeom prst="ellipse">
            <a:avLst/>
          </a:prstGeom>
          <a:solidFill>
            <a:srgbClr val="CADCFC"/>
          </a:solidFill>
          <a:ln/>
        </p:spPr>
      </p:sp>
      <p:sp>
        <p:nvSpPr>
          <p:cNvPr id="15" name="Text 13"/>
          <p:cNvSpPr txBox="1"/>
          <p:nvPr/>
        </p:nvSpPr>
        <p:spPr>
          <a:xfrm>
            <a:off x="978408" y="4325112"/>
            <a:ext cx="2651760" cy="30175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 to 4 November</a:t>
            </a:r>
            <a:endParaRPr lang="en-US" sz="1300" dirty="0"/>
          </a:p>
        </p:txBody>
      </p:sp>
      <p:sp>
        <p:nvSpPr>
          <p:cNvPr id="16" name="Text 14"/>
          <p:cNvSpPr txBox="1"/>
          <p:nvPr/>
        </p:nvSpPr>
        <p:spPr>
          <a:xfrm>
            <a:off x="3721608" y="4325112"/>
            <a:ext cx="7863840" cy="512064"/>
          </a:xfrm>
          <a:prstGeom prst="rect">
            <a:avLst/>
          </a:prstGeom>
          <a:noFill/>
          <a:ln/>
        </p:spPr>
        <p:txBody>
          <a:bodyPr wrap="square" lIns="0" tIns="0" rIns="0" bIns="0" rtlCol="0" anchor="ctr"/>
          <a:lstStyle/>
          <a:p>
            <a:pPr indent="0" marL="0">
              <a:lnSpc>
                <a:spcPts val="1600"/>
              </a:lnSpc>
              <a:buNone/>
            </a:pPr>
            <a:r>
              <a:rPr lang="en-US" sz="1250" dirty="0">
                <a:solidFill>
                  <a:srgbClr val="9FB3D1"/>
                </a:solidFill>
                <a:latin typeface="Calibri" pitchFamily="34" charset="0"/>
                <a:ea typeface="Calibri" pitchFamily="34" charset="-122"/>
                <a:cs typeface="Calibri" pitchFamily="34" charset="-120"/>
              </a:rPr>
              <a:t>Delft3D User Days at Deltares, with the four configuration questions.</a:t>
            </a:r>
            <a:endParaRPr lang="en-US" sz="1250" dirty="0"/>
          </a:p>
        </p:txBody>
      </p:sp>
      <p:sp>
        <p:nvSpPr>
          <p:cNvPr id="17" name="Shape 15"/>
          <p:cNvSpPr/>
          <p:nvPr/>
        </p:nvSpPr>
        <p:spPr>
          <a:xfrm>
            <a:off x="612648" y="5202936"/>
            <a:ext cx="155448" cy="155448"/>
          </a:xfrm>
          <a:prstGeom prst="ellipse">
            <a:avLst/>
          </a:prstGeom>
          <a:solidFill>
            <a:srgbClr val="CADCFC"/>
          </a:solidFill>
          <a:ln/>
        </p:spPr>
      </p:sp>
      <p:sp>
        <p:nvSpPr>
          <p:cNvPr id="18" name="Text 16"/>
          <p:cNvSpPr txBox="1"/>
          <p:nvPr/>
        </p:nvSpPr>
        <p:spPr>
          <a:xfrm>
            <a:off x="978408" y="5111496"/>
            <a:ext cx="2651760" cy="30175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Late October to November</a:t>
            </a:r>
            <a:endParaRPr lang="en-US" sz="1300" dirty="0"/>
          </a:p>
        </p:txBody>
      </p:sp>
      <p:sp>
        <p:nvSpPr>
          <p:cNvPr id="19" name="Text 17"/>
          <p:cNvSpPr txBox="1"/>
          <p:nvPr/>
        </p:nvSpPr>
        <p:spPr>
          <a:xfrm>
            <a:off x="3721608" y="5111496"/>
            <a:ext cx="7863840" cy="512064"/>
          </a:xfrm>
          <a:prstGeom prst="rect">
            <a:avLst/>
          </a:prstGeom>
          <a:noFill/>
          <a:ln/>
        </p:spPr>
        <p:txBody>
          <a:bodyPr wrap="square" lIns="0" tIns="0" rIns="0" bIns="0" rtlCol="0" anchor="ctr"/>
          <a:lstStyle/>
          <a:p>
            <a:pPr indent="0" marL="0">
              <a:lnSpc>
                <a:spcPts val="1600"/>
              </a:lnSpc>
              <a:buNone/>
            </a:pPr>
            <a:r>
              <a:rPr lang="en-US" sz="1250" dirty="0">
                <a:solidFill>
                  <a:srgbClr val="9FB3D1"/>
                </a:solidFill>
                <a:latin typeface="Calibri" pitchFamily="34" charset="0"/>
                <a:ea typeface="Calibri" pitchFamily="34" charset="-122"/>
                <a:cs typeface="Calibri" pitchFamily="34" charset="-120"/>
              </a:rPr>
              <a:t>Mesh, Riemann boundary verified by synthetic pulse, first runs.</a:t>
            </a:r>
            <a:endParaRPr lang="en-US" sz="1250" dirty="0"/>
          </a:p>
        </p:txBody>
      </p:sp>
      <p:sp>
        <p:nvSpPr>
          <p:cNvPr id="20" name="Text 18"/>
          <p:cNvSpPr txBox="1"/>
          <p:nvPr/>
        </p:nvSpPr>
        <p:spPr>
          <a:xfrm>
            <a:off x="566928" y="6144768"/>
            <a:ext cx="10058400" cy="274320"/>
          </a:xfrm>
          <a:prstGeom prst="rect">
            <a:avLst/>
          </a:prstGeom>
          <a:noFill/>
          <a:ln/>
        </p:spPr>
        <p:txBody>
          <a:bodyPr wrap="square" lIns="0" tIns="0" rIns="0" bIns="0" rtlCol="0" anchor="ctr"/>
          <a:lstStyle/>
          <a:p>
            <a:pPr indent="0" marL="0">
              <a:buNone/>
            </a:pPr>
            <a:r>
              <a:rPr lang="en-US" sz="1100" i="1" dirty="0">
                <a:solidFill>
                  <a:srgbClr val="7F93B3"/>
                </a:solidFill>
                <a:latin typeface="Calibri" pitchFamily="34" charset="0"/>
                <a:ea typeface="Calibri" pitchFamily="34" charset="-122"/>
                <a:cs typeface="Calibri" pitchFamily="34" charset="-120"/>
              </a:rPr>
              <a:t>Documents, figures and the reproducible analysis are in the project repository.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Valletta harbour system: model concept</dc:title>
  <dc:subject>PptxGenJS Presentation</dc:subject>
  <dc:creator>Cicero Martins Jr</dc:creator>
  <cp:lastModifiedBy>Cicero Martins Jr</cp:lastModifiedBy>
  <cp:revision>1</cp:revision>
  <dcterms:created xsi:type="dcterms:W3CDTF">2026-09-25T08:34:10Z</dcterms:created>
  <dcterms:modified xsi:type="dcterms:W3CDTF">2026-09-25T08:34:10Z</dcterms:modified>
</cp:coreProperties>
</file>