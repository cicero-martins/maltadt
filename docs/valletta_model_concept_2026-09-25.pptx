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covers the intended model and the matters to be settled before its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The thesis contribution is framework reusability, and Valletta constitutes the harder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data came from the group's own contribution to EMODnet. The public product gives the inlets one to three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was tested against its two plausible failures, the Helmholtz idealisation and excitation below resonance. The domain follows from this table. One correction is outstanding and it is not conservative: the coastline carries the St Elmo breakwater as a detached polygon of 378 m, so the mouth is not the single 400 m opening assumed, and a smaller section lengthens the period toward the observed band. Whether the basins carry energy near 17 minutes no longer has to be inferred, since the Senglea gauge inside the Grand Harbour has recorded at five seconds since June 2021 and a spectrum from it settles the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 The wave nest was sized from the width of the harbour entrances and landed within a quarter of the resolution the group already uses on this coast, which is an independent check on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claimed as a capability the group lacks. The relocatability requirement in the design report corresponds to the framework-transfer argument of the thesis, and the porting log is the evidence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a proposal rather than a decision. Whether the group has work of its own planned on the generation side, and how the effort would then be divided, should be put to them directly. The applied companion is a map of exposure by inlet and quay, and the renewal question, treated on the following slides, has independent standing under the Water Framework Directive.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framing is a response curve over the class of basin. The exact geometry of any proposed structure is neither needed nor used, and the exercise carries no assessment of the project now in consultation. Whether to pursue it at all is the first of the outstanding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sweep of six speeds by eight directions amounts to forty-eight runs, barotropic and uncoupled, and therefore inexpensive. The sensitivity of the preceding slide is a second evaluation of the same sweep over a modified mouth, which is why it is affordable within the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items determine what the study can be, and the remainder is resolvable by execution. One question is dropped from the six because the record now answers it in part: damage inside the port is documented for the wind-wave storms of February 2019 and February 2023, and what remains open is disruption attributable to long waves specifically, held by Transport Malta and the terminals.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B3 loses four working days to Delft and holds fifteen rather than nineteen. The EDITO deployment is conditional on the configuration proving stable in time, and it belongs to block B6 alongside the integration into the existing ocean.mt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503920" y="-1280160"/>
            <a:ext cx="5120640" cy="5120640"/>
          </a:xfrm>
          <a:prstGeom prst="ellipse">
            <a:avLst/>
          </a:prstGeom>
          <a:solidFill>
            <a:srgbClr val="065A82">
              <a:alpha val="45000"/>
            </a:srgbClr>
          </a:solidFill>
          <a:ln/>
        </p:spPr>
      </p:sp>
      <p:sp>
        <p:nvSpPr>
          <p:cNvPr id="3" name="Shape 1"/>
          <p:cNvSpPr/>
          <p:nvPr/>
        </p:nvSpPr>
        <p:spPr>
          <a:xfrm>
            <a:off x="10058400" y="3108960"/>
            <a:ext cx="2377440" cy="2377440"/>
          </a:xfrm>
          <a:prstGeom prst="ellipse">
            <a:avLst/>
          </a:prstGeom>
          <a:solidFill>
            <a:srgbClr val="EB6834">
              <a:alpha val="30000"/>
            </a:srgbClr>
          </a:solidFill>
          <a:ln/>
        </p:spPr>
      </p:sp>
      <p:sp>
        <p:nvSpPr>
          <p:cNvPr id="4" name="Text 2"/>
          <p:cNvSpPr txBox="1"/>
          <p:nvPr/>
        </p:nvSpPr>
        <p:spPr>
          <a:xfrm>
            <a:off x="566928" y="1371600"/>
            <a:ext cx="768096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WETWISE · WP3 · Maltese pilot</a:t>
            </a:r>
            <a:endParaRPr lang="en-US" sz="1200" dirty="0"/>
          </a:p>
        </p:txBody>
      </p:sp>
      <p:sp>
        <p:nvSpPr>
          <p:cNvPr id="5" name="Text 3"/>
          <p:cNvSpPr txBox="1"/>
          <p:nvPr/>
        </p:nvSpPr>
        <p:spPr>
          <a:xfrm>
            <a:off x="566928" y="1783080"/>
            <a:ext cx="786384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66928" y="2697480"/>
            <a:ext cx="7863840" cy="4572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Model concept, and the questions to settle</a:t>
            </a:r>
            <a:endParaRPr lang="en-US" sz="1900" dirty="0"/>
          </a:p>
        </p:txBody>
      </p:sp>
      <p:sp>
        <p:nvSpPr>
          <p:cNvPr id="7" name="Text 5"/>
          <p:cNvSpPr txBox="1"/>
          <p:nvPr/>
        </p:nvSpPr>
        <p:spPr>
          <a:xfrm>
            <a:off x="566928" y="3977640"/>
            <a:ext cx="78638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Cicero Martins Jr</a:t>
            </a:r>
            <a:pPr indent="0" marL="0">
              <a:buNone/>
            </a:pP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566928" y="4279392"/>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Research period at the Oceanography Malta Research Group, University of Malta</a:t>
            </a:r>
            <a:endParaRPr lang="en-US" sz="1200" dirty="0"/>
          </a:p>
        </p:txBody>
      </p:sp>
      <p:sp>
        <p:nvSpPr>
          <p:cNvPr id="9" name="Text 7"/>
          <p:cNvSpPr txBox="1"/>
          <p:nvPr/>
        </p:nvSpPr>
        <p:spPr>
          <a:xfrm>
            <a:off x="566928" y="4590288"/>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25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a:t>
            </a:r>
            <a:endParaRPr lang="en-US" sz="1450" dirty="0"/>
          </a:p>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establish little. A transfer to a deep engineered harbour establishes whether the pipeline is reusable or was fitted to one site.</a:t>
            </a:r>
            <a:endParaRPr lang="en-US" sz="1450" dirty="0"/>
          </a:p>
          <a:p>
            <a:pPr indent="0" marL="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constitute a finding about where the generality of the framework ends, and they are recorded as such.</a:t>
            </a:r>
            <a:endParaRPr lang="en-US" sz="14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gridCol w="1828800"/>
                <a:gridCol w="1828800"/>
              </a:tblGrid>
              <a:tr h="420624">
                <a:tc>
                  <a:txBody>
                    <a:bodyPr/>
                    <a:lstStyle/>
                    <a:p>
                      <a:pPr indent="0" marL="0">
                        <a:buNone/>
                      </a:pP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Supplied by the host group on 22 and 23 September.</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indent="0" marL="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than the public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r>
          <p:cNvPicPr>
            <a:picLocks noChangeAspect="1"/>
          </p:cNvPicPr>
          <p:nvPr/>
        </p:nvPicPr>
        <p:blipFill>
          <a:blip r:embed="rId1"/>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indent="0" marL="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milgħuba is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is resonant with disturbances of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From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Quarter-wave and Helmholtz estimates agree at 12 to 18 minutes.</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At Ciutadella, Menorca, the three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RESONANT PERIODS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harbours do not resonate in the observed band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Quarter-wave periods, T = 4L∕√(gh), against the 0.2 to 2 cph band reported by Drago.</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743200"/>
                <a:gridCol w="868680"/>
                <a:gridCol w="777240"/>
                <a:gridCol w="960120"/>
                <a:gridCol w="1051560"/>
                <a:gridCol w="137160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25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16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17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3.49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13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6" name="Shape 3"/>
          <p:cNvSpPr/>
          <p:nvPr/>
        </p:nvSpPr>
        <p:spPr>
          <a:xfrm>
            <a:off x="8641080" y="2286000"/>
            <a:ext cx="2980944" cy="2432304"/>
          </a:xfrm>
          <a:prstGeom prst="roundRect">
            <a:avLst>
              <a:gd name="adj" fmla="val 2256"/>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The consequence</a:t>
            </a:r>
            <a:endParaRPr lang="en-US" sz="1400" dirty="0"/>
          </a:p>
        </p:txBody>
      </p:sp>
      <p:sp>
        <p:nvSpPr>
          <p:cNvPr id="8" name="Text 5"/>
          <p:cNvSpPr txBox="1"/>
          <p:nvPr/>
        </p:nvSpPr>
        <p:spPr>
          <a:xfrm>
            <a:off x="8915400" y="2880360"/>
            <a:ext cx="2468880" cy="1737360"/>
          </a:xfrm>
          <a:prstGeom prst="rect">
            <a:avLst/>
          </a:prstGeom>
          <a:noFill/>
          <a:ln/>
        </p:spPr>
        <p:txBody>
          <a:bodyPr wrap="square" lIns="0" tIns="0" rIns="0" bIns="0" rtlCol="0" anchor="ctr"/>
          <a:lstStyle/>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The harbours respond to a shelf-scale oscillation rather than generating one.
</a:t>
            </a:r>
            <a:endParaRPr lang="en-US" sz="1150" dirty="0"/>
          </a:p>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holds no resonator in the band, and the available boundary product carries no energy there.
</a:t>
            </a:r>
            <a:endParaRPr lang="en-US" sz="1150" dirty="0"/>
          </a:p>
          <a:p>
            <a:pPr indent="0" marL="0">
              <a:lnSpc>
                <a:spcPts val="1500"/>
              </a:lnSpc>
              <a:buNone/>
            </a:pPr>
            <a:r>
              <a:rPr lang="en-US" sz="1150" b="1" dirty="0">
                <a:solidFill>
                  <a:srgbClr val="FFFFFF"/>
                </a:solidFill>
                <a:latin typeface="Calibri" pitchFamily="34" charset="0"/>
                <a:ea typeface="Calibri" pitchFamily="34" charset="-122"/>
                <a:cs typeface="Calibri" pitchFamily="34" charset="-120"/>
              </a:rPr>
              <a:t>The domain is therefore required to contain the plateau.</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 Helmholtz idealisation returns 12 to 18 minutes likewise. The 1910 breakwater partly closes the entrance, which lengthens the period, so the figure awaits the mesh.</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r>
          <p:cNvPicPr>
            <a:picLocks noChangeAspect="1"/>
          </p:cNvPicPr>
          <p:nvPr/>
        </p:nvPicPr>
        <p:blipFill>
          <a:blip r:embed="rId1"/>
          <a:stretch>
            <a:fillRect/>
          </a:stretch>
        </p:blipFill>
        <p:spPr>
          <a:xfrm>
            <a:off x="566928" y="1572768"/>
            <a:ext cx="11055096" cy="4956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geometry sets the resolution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 17-minute wave in 16 m of water is 12.8 km long. The planform of the inlets is what must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868680"/>
          </a:xfrm>
          <a:prstGeom prst="rect">
            <a:avLst/>
          </a:prstGeom>
          <a:noFill/>
          <a:ln/>
        </p:spPr>
        <p:txBody>
          <a:bodyPr wrap="square" lIns="0" tIns="0" rIns="0" bIns="0" rtlCol="0" anchor="ctr"/>
          <a:lstStyle/>
          <a:p>
            <a:pPr indent="0" marL="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
</a:t>
            </a:r>
            <a:endParaRPr lang="en-US" sz="1250" dirty="0"/>
          </a:p>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456432"/>
          <a:ext cx="4937760" cy="914400"/>
        </p:xfrm>
        <a:graphic>
          <a:graphicData uri="http://schemas.openxmlformats.org/drawingml/2006/table">
            <a:tbl>
              <a:tblPr/>
              <a:tblGrid>
                <a:gridCol w="3291840"/>
                <a:gridCol w="164592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Inlets and entrances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Harbour basins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Nearshore, within 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Coastal, 2 to 15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10" name="Text 7"/>
          <p:cNvSpPr txBox="1"/>
          <p:nvPr/>
        </p:nvSpPr>
        <p:spPr>
          <a:xfrm>
            <a:off x="6263640" y="2615184"/>
            <a:ext cx="5120640" cy="868680"/>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Approximately 28,500 cells. A time step of 6 to 12 s at Courant 5 to 10 in the finest cells, which samples a 17-minute wave about a hundred times per cycle. The 10 m of the source data is the floor;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Vertical, 12 to 15 sigma layers</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Sigma is defensible only because the domain stops short of the escarpment, where the plateau gradient is one part in a thousand.</a:t>
            </a:r>
            <a:endParaRPr lang="en-US" sz="1200" dirty="0"/>
          </a:p>
        </p:txBody>
      </p:sp>
      <p:sp>
        <p:nvSpPr>
          <p:cNvPr id="14" name="Text 11"/>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On the wave side, two nested SWAN grids at 1200 and 250 m. The finer agrees with the group's own downscaling at 1∕500°, arrived at independently.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PRIOR WORK AND SETTING</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exists, and what it leaves untreated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Grand Harbour has been modelled before, and the host group operates a forecasting system over the same waters.</a:t>
            </a:r>
            <a:endParaRPr lang="en-US" sz="1400" dirty="0"/>
          </a:p>
        </p:txBody>
      </p:sp>
      <p:sp>
        <p:nvSpPr>
          <p:cNvPr id="5" name="Text 3"/>
          <p:cNvSpPr txBox="1"/>
          <p:nvPr/>
        </p:nvSpPr>
        <p:spPr>
          <a:xfrm>
            <a:off x="566928" y="2103120"/>
            <a:ext cx="539496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The two studies that bear on the site</a:t>
            </a:r>
            <a:endParaRPr lang="en-US" sz="1400" dirty="0"/>
          </a:p>
        </p:txBody>
      </p:sp>
      <p:sp>
        <p:nvSpPr>
          <p:cNvPr id="6" name="Text 4"/>
          <p:cNvSpPr txBox="1"/>
          <p:nvPr/>
        </p:nvSpPr>
        <p:spPr>
          <a:xfrm>
            <a:off x="566928" y="2468880"/>
            <a:ext cx="5394960" cy="2651760"/>
          </a:xfrm>
          <a:prstGeom prst="rect">
            <a:avLst/>
          </a:prstGeom>
          <a:noFill/>
          <a:ln/>
        </p:spPr>
        <p:txBody>
          <a:bodyPr wrap="square" lIns="0" tIns="0" rIns="0" bIns="0" rtlCol="0" anchor="ctr"/>
          <a:lstStyle/>
          <a:p>
            <a:pPr indent="0" marL="0">
              <a:lnSpc>
                <a:spcPts val="1650"/>
              </a:lnSpc>
              <a:buNone/>
            </a:pPr>
            <a:r>
              <a:rPr lang="en-US" sz="1200" b="1" dirty="0">
                <a:solidFill>
                  <a:srgbClr val="1A1A1A"/>
                </a:solidFill>
                <a:latin typeface="Calibri" pitchFamily="34" charset="0"/>
                <a:ea typeface="Calibri" pitchFamily="34" charset="-122"/>
                <a:cs typeface="Calibri" pitchFamily="34" charset="-120"/>
              </a:rPr>
              <a:t>Mazas and Farrugia, ARTELIA and Infrastructure Malta. </a:t>
            </a:r>
            <a:pPr indent="0" marL="0">
              <a:lnSpc>
                <a:spcPts val="1650"/>
              </a:lnSpc>
              <a:spcAft>
                <a:spcPts val="1000"/>
              </a:spcAft>
              <a:buNone/>
            </a:pPr>
            <a:r>
              <a:rPr lang="en-US" sz="1200" dirty="0">
                <a:solidFill>
                  <a:srgbClr val="1A1A1A"/>
                </a:solidFill>
                <a:latin typeface="Calibri" pitchFamily="34" charset="0"/>
                <a:ea typeface="Calibri" pitchFamily="34" charset="-122"/>
                <a:cs typeface="Calibri" pitchFamily="34" charset="-120"/>
              </a:rPr>
              <a:t>The Grand Harbour modelled for wind-wave agitation in PHAROS, against a directional climate hindcast from 1992 to 2019. Damage in the port documented for the storms of February 2019 and February 2023.
</a:t>
            </a:r>
            <a:endParaRPr lang="en-US" sz="1200" dirty="0"/>
          </a:p>
          <a:p>
            <a:pPr indent="0" marL="0">
              <a:lnSpc>
                <a:spcPts val="1650"/>
              </a:lnSpc>
              <a:buNone/>
            </a:pPr>
            <a:r>
              <a:rPr lang="en-US" sz="1200" b="1" dirty="0">
                <a:solidFill>
                  <a:srgbClr val="1A1A1A"/>
                </a:solidFill>
                <a:latin typeface="Calibri" pitchFamily="34" charset="0"/>
                <a:ea typeface="Calibri" pitchFamily="34" charset="-122"/>
                <a:cs typeface="Calibri" pitchFamily="34" charset="-120"/>
              </a:rPr>
              <a:t>Drago, 2018, the design report of the host group. </a:t>
            </a:r>
            <a:pPr indent="0" marL="0">
              <a:lnSpc>
                <a:spcPts val="1650"/>
              </a:lnSpc>
              <a:buNone/>
            </a:pPr>
            <a:r>
              <a:rPr lang="en-US" sz="1200" dirty="0">
                <a:solidFill>
                  <a:srgbClr val="1A1A1A"/>
                </a:solidFill>
                <a:latin typeface="Calibri" pitchFamily="34" charset="0"/>
                <a:ea typeface="Calibri" pitchFamily="34" charset="-122"/>
                <a:cs typeface="Calibri" pitchFamily="34" charset="-120"/>
              </a:rPr>
              <a:t>A relocatable model setup is requested for ad hoc local domains, and harbour flushing at the five principal harbours appears among the process-model targets, with the Deltares suite among the families to review.</a:t>
            </a:r>
            <a:endParaRPr lang="en-US" sz="1200" dirty="0"/>
          </a:p>
        </p:txBody>
      </p:sp>
      <p:sp>
        <p:nvSpPr>
          <p:cNvPr id="7" name="Shape 5"/>
          <p:cNvSpPr/>
          <p:nvPr/>
        </p:nvSpPr>
        <p:spPr>
          <a:xfrm>
            <a:off x="6355080" y="2103120"/>
            <a:ext cx="5266944" cy="3035808"/>
          </a:xfrm>
          <a:prstGeom prst="roundRect">
            <a:avLst>
              <a:gd name="adj" fmla="val 1807"/>
            </a:avLst>
          </a:prstGeom>
          <a:solidFill>
            <a:srgbClr val="21295C"/>
          </a:solidFill>
          <a:ln/>
        </p:spPr>
      </p:sp>
      <p:sp>
        <p:nvSpPr>
          <p:cNvPr id="8" name="Text 6"/>
          <p:cNvSpPr txBox="1"/>
          <p:nvPr/>
        </p:nvSpPr>
        <p:spPr>
          <a:xfrm>
            <a:off x="6629400" y="2304288"/>
            <a:ext cx="475488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Operated by the host group</a:t>
            </a:r>
            <a:endParaRPr lang="en-US" sz="1400" dirty="0"/>
          </a:p>
        </p:txBody>
      </p:sp>
      <p:sp>
        <p:nvSpPr>
          <p:cNvPr id="9" name="Text 7"/>
          <p:cNvSpPr txBox="1"/>
          <p:nvPr/>
        </p:nvSpPr>
        <p:spPr>
          <a:xfrm>
            <a:off x="6629400" y="2651760"/>
            <a:ext cx="4754880" cy="233172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 Princeton Ocean Model, 1∕64° and 1∕96°, nested into CMEMS.</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SWAN downscaled to the embayments at 1∕500°, about 200 m.</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ROSARIO-SHYFEM, unstructured, three-dimensional, operational to a four-day forecast, from a few kilometres to 50 m at the coast, with Lagrangian particle tracking.</a:t>
            </a:r>
            <a:endParaRPr lang="en-US" sz="1150" dirty="0"/>
          </a:p>
          <a:p>
            <a:pPr marL="342900" indent="-342900">
              <a:lnSpc>
                <a:spcPts val="1500"/>
              </a:lnSpc>
              <a:buSzPct val="100000"/>
              <a:buChar char="•"/>
            </a:pPr>
            <a:r>
              <a:rPr lang="en-US" sz="1150" dirty="0">
                <a:solidFill>
                  <a:srgbClr val="CADCFC"/>
                </a:solidFill>
                <a:latin typeface="Calibri" pitchFamily="34" charset="0"/>
                <a:ea typeface="Calibri" pitchFamily="34" charset="-122"/>
                <a:cs typeface="Calibri" pitchFamily="34" charset="-120"/>
              </a:rPr>
              <a:t>Boundary conditions derived from CMEMS, which is what this project does also.</a:t>
            </a:r>
            <a:endParaRPr lang="en-US" sz="1150" dirty="0"/>
          </a:p>
        </p:txBody>
      </p:sp>
      <p:sp>
        <p:nvSpPr>
          <p:cNvPr id="10" name="Shape 8"/>
          <p:cNvSpPr/>
          <p:nvPr/>
        </p:nvSpPr>
        <p:spPr>
          <a:xfrm>
            <a:off x="566928" y="5321808"/>
            <a:ext cx="11055096" cy="841248"/>
          </a:xfrm>
          <a:prstGeom prst="roundRect">
            <a:avLst>
              <a:gd name="adj" fmla="val 6522"/>
            </a:avLst>
          </a:prstGeom>
          <a:solidFill>
            <a:srgbClr val="EEF3F6"/>
          </a:solidFill>
          <a:ln/>
        </p:spPr>
      </p:sp>
      <p:sp>
        <p:nvSpPr>
          <p:cNvPr id="11" name="Text 9"/>
          <p:cNvSpPr txBox="1"/>
          <p:nvPr/>
        </p:nvSpPr>
        <p:spPr>
          <a:xfrm>
            <a:off x="886968" y="5477256"/>
            <a:ext cx="10424160" cy="566928"/>
          </a:xfrm>
          <a:prstGeom prst="rect">
            <a:avLst/>
          </a:prstGeom>
          <a:noFill/>
          <a:ln/>
        </p:spPr>
        <p:txBody>
          <a:bodyPr wrap="square" lIns="0" tIns="0" rIns="0" bIns="0" rtlCol="0" anchor="ctr"/>
          <a:lstStyle/>
          <a:p>
            <a:pPr indent="0" marL="0">
              <a:lnSpc>
                <a:spcPts val="1600"/>
              </a:lnSpc>
              <a:buNone/>
            </a:pPr>
            <a:r>
              <a:rPr lang="en-US" sz="1200" b="1" dirty="0">
                <a:solidFill>
                  <a:srgbClr val="1A1A1A"/>
                </a:solidFill>
                <a:latin typeface="Calibri" pitchFamily="34" charset="0"/>
                <a:ea typeface="Calibri" pitchFamily="34" charset="-122"/>
                <a:cs typeface="Calibri" pitchFamily="34" charset="-120"/>
              </a:rPr>
              <a:t>The present work is an independent exercise for the research period. </a:t>
            </a:r>
            <a:pPr indent="0" marL="0">
              <a:lnSpc>
                <a:spcPts val="1600"/>
              </a:lnSpc>
              <a:buNone/>
            </a:pPr>
            <a:r>
              <a:rPr lang="en-US" sz="1200" dirty="0">
                <a:solidFill>
                  <a:srgbClr val="1A1A1A"/>
                </a:solidFill>
                <a:latin typeface="Calibri" pitchFamily="34" charset="0"/>
                <a:ea typeface="Calibri" pitchFamily="34" charset="-122"/>
                <a:cs typeface="Calibri" pitchFamily="34" charset="-120"/>
              </a:rPr>
              <a:t>It differs in the resolution inside the basins, 15 to 30 m against 50 m, in the coupling to a spectral wave model, and in the frequency band it addresses.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RESEARCH QUESTION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proposed question, for the group to judge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Drafted this week and put to the group before it is committed to.</a:t>
            </a:r>
            <a:endParaRPr lang="en-US" sz="1400" dirty="0"/>
          </a:p>
        </p:txBody>
      </p:sp>
      <p:sp>
        <p:nvSpPr>
          <p:cNvPr id="5" name="Shape 3"/>
          <p:cNvSpPr/>
          <p:nvPr/>
        </p:nvSpPr>
        <p:spPr>
          <a:xfrm>
            <a:off x="566928" y="2139696"/>
            <a:ext cx="11055096" cy="1298448"/>
          </a:xfrm>
          <a:prstGeom prst="roundRect">
            <a:avLst>
              <a:gd name="adj" fmla="val 4225"/>
            </a:avLst>
          </a:prstGeom>
          <a:solidFill>
            <a:srgbClr val="EEF3F6"/>
          </a:solidFill>
          <a:ln/>
        </p:spPr>
      </p:sp>
      <p:sp>
        <p:nvSpPr>
          <p:cNvPr id="6" name="Text 4"/>
          <p:cNvSpPr txBox="1"/>
          <p:nvPr/>
        </p:nvSpPr>
        <p:spPr>
          <a:xfrm>
            <a:off x="886968" y="2350008"/>
            <a:ext cx="10424160" cy="914400"/>
          </a:xfrm>
          <a:prstGeom prst="rect">
            <a:avLst/>
          </a:prstGeom>
          <a:noFill/>
          <a:ln/>
        </p:spPr>
        <p:txBody>
          <a:bodyPr wrap="square" lIns="0" tIns="0" rIns="0" bIns="0" rtlCol="0" anchor="ctr"/>
          <a:lstStyle/>
          <a:p>
            <a:pPr indent="0" marL="0">
              <a:lnSpc>
                <a:spcPts val="2100"/>
              </a:lnSpc>
              <a:buNone/>
            </a:pPr>
            <a:r>
              <a:rPr lang="en-US" sz="1500" i="1" dirty="0">
                <a:solidFill>
                  <a:srgbClr val="1A1A1A"/>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themselves, and which atmospheric disturbance speeds and directions maximise that chain?</a:t>
            </a:r>
            <a:endParaRPr lang="en-US" sz="1500" dirty="0"/>
          </a:p>
        </p:txBody>
      </p:sp>
      <p:sp>
        <p:nvSpPr>
          <p:cNvPr id="7" name="Text 5"/>
          <p:cNvSpPr txBox="1"/>
          <p:nvPr/>
        </p:nvSpPr>
        <p:spPr>
          <a:xfrm>
            <a:off x="566928" y="3721608"/>
            <a:ext cx="521208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Basis for the formulation</a:t>
            </a:r>
            <a:endParaRPr lang="en-US" sz="1400" dirty="0"/>
          </a:p>
        </p:txBody>
      </p:sp>
      <p:sp>
        <p:nvSpPr>
          <p:cNvPr id="8" name="Text 6"/>
          <p:cNvSpPr txBox="1"/>
          <p:nvPr/>
        </p:nvSpPr>
        <p:spPr>
          <a:xfrm>
            <a:off x="566928" y="4069080"/>
            <a:ext cx="521208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It is framed so that answering it requires a model. No arrangement of gauges separates the three stages of amplification from one another.</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It is framed so that it does not repeat the prior work, which treats the response of a basin to a wave already present at its boundary.</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Should the group judge the standing of that prior work differently, the formulation changes with it.</a:t>
            </a:r>
            <a:endParaRPr lang="en-US" sz="1200" dirty="0"/>
          </a:p>
        </p:txBody>
      </p:sp>
      <p:sp>
        <p:nvSpPr>
          <p:cNvPr id="9" name="Text 7"/>
          <p:cNvSpPr txBox="1"/>
          <p:nvPr/>
        </p:nvSpPr>
        <p:spPr>
          <a:xfrm>
            <a:off x="6355080" y="3721608"/>
            <a:ext cx="52120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What the prior work already covers</a:t>
            </a:r>
            <a:endParaRPr lang="en-US" sz="1400" dirty="0"/>
          </a:p>
        </p:txBody>
      </p:sp>
      <p:sp>
        <p:nvSpPr>
          <p:cNvPr id="10" name="Text 8"/>
          <p:cNvSpPr txBox="1"/>
          <p:nvPr/>
        </p:nvSpPr>
        <p:spPr>
          <a:xfrm>
            <a:off x="6355080" y="4069080"/>
            <a:ext cx="5266944"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Maltese coastal seiches were modelled in 2007, in a two-dimensional depth-averaged POM, for Mellieħa and St Paul's Bay, forced by a prescribed offshore long wave.</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The Grand Harbour itself was modelled by ARTELIA in PHAROS, for wind-wave agitation, against a directional climate hindcast from 1992 to 2019.</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What neither treats is the generation of the long wave, the circulation of the harbour, or its renewal.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A SECOND QUESTION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basin is sensitive to the geometry of its mouth</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An academic sensitivity on the class of basin, put to the group for judgement. No particular design is represented.</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6492240" cy="914400"/>
        </p:xfrm>
        <a:graphic>
          <a:graphicData uri="http://schemas.openxmlformats.org/drawingml/2006/table">
            <a:tbl>
              <a:tblPr/>
              <a:tblGrid>
                <a:gridCol w="2834640"/>
                <a:gridCol w="2011680"/>
                <a:gridCol w="1645920"/>
              </a:tblGrid>
              <a:tr h="36576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Restriction of the mouth section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Pumping period</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6576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12.4 to 17.5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25 per cent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+15.5 %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14.3 to 20.2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6576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50 per cent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+41.4 %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17.5 to 24.7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66 per cent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+71.5 %</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21.2 to 30.0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bl>
          </a:graphicData>
        </a:graphic>
      </p:graphicFrame>
      <p:sp>
        <p:nvSpPr>
          <p:cNvPr id="6" name="Text 3"/>
          <p:cNvSpPr txBox="1"/>
          <p:nvPr/>
        </p:nvSpPr>
        <p:spPr>
          <a:xfrm>
            <a:off x="566928" y="4224528"/>
            <a:ext cx="6492240" cy="731520"/>
          </a:xfrm>
          <a:prstGeom prst="rect">
            <a:avLst/>
          </a:prstGeom>
          <a:noFill/>
          <a:ln/>
        </p:spPr>
        <p:txBody>
          <a:bodyPr wrap="square" lIns="0" tIns="0" rIns="0" bIns="0" rtlCol="0" anchor="ctr"/>
          <a:lstStyle/>
          <a:p>
            <a:pPr indent="0" marL="0">
              <a:lnSpc>
                <a:spcPts val="1550"/>
              </a:lnSpc>
              <a:buNone/>
            </a:pPr>
            <a:r>
              <a:rPr lang="en-US" sz="1150" dirty="0">
                <a:solidFill>
                  <a:srgbClr val="5F6368"/>
                </a:solidFill>
                <a:latin typeface="Calibri" pitchFamily="34" charset="0"/>
                <a:ea typeface="Calibri" pitchFamily="34" charset="-122"/>
                <a:cs typeface="Calibri" pitchFamily="34" charset="-120"/>
              </a:rPr>
              <a:t>The period scales as the inverse square root of the open cross-section, so the shift is independent of basin area and of the length of the channel. Exchange scales with the section directly, and responds more strongly still.</a:t>
            </a:r>
            <a:endParaRPr lang="en-US" sz="1150" dirty="0"/>
          </a:p>
        </p:txBody>
      </p:sp>
      <p:sp>
        <p:nvSpPr>
          <p:cNvPr id="7" name="Shape 4"/>
          <p:cNvSpPr/>
          <p:nvPr/>
        </p:nvSpPr>
        <p:spPr>
          <a:xfrm>
            <a:off x="7360920" y="2286000"/>
            <a:ext cx="4261104" cy="1572768"/>
          </a:xfrm>
          <a:prstGeom prst="roundRect">
            <a:avLst>
              <a:gd name="adj" fmla="val 3488"/>
            </a:avLst>
          </a:prstGeom>
          <a:solidFill>
            <a:srgbClr val="EEF3F6"/>
          </a:solidFill>
          <a:ln/>
        </p:spPr>
      </p:sp>
      <p:sp>
        <p:nvSpPr>
          <p:cNvPr id="8" name="Text 5"/>
          <p:cNvSpPr txBox="1"/>
          <p:nvPr/>
        </p:nvSpPr>
        <p:spPr>
          <a:xfrm>
            <a:off x="7635240" y="2450592"/>
            <a:ext cx="3749040" cy="274320"/>
          </a:xfrm>
          <a:prstGeom prst="rect">
            <a:avLst/>
          </a:prstGeom>
          <a:noFill/>
          <a:ln/>
        </p:spPr>
        <p:txBody>
          <a:bodyPr wrap="square" lIns="0" tIns="0" rIns="0" bIns="0" rtlCol="0" anchor="ctr"/>
          <a:lstStyle/>
          <a:p>
            <a:pPr indent="0" marL="0">
              <a:buNone/>
            </a:pPr>
            <a:r>
              <a:rPr lang="en-US" sz="1350" b="1" dirty="0">
                <a:solidFill>
                  <a:srgbClr val="065A82"/>
                </a:solidFill>
                <a:latin typeface="Cambria" pitchFamily="34" charset="0"/>
                <a:ea typeface="Cambria" pitchFamily="34" charset="-122"/>
                <a:cs typeface="Cambria" pitchFamily="34" charset="-120"/>
              </a:rPr>
              <a:t>The magnitude in context</a:t>
            </a:r>
            <a:endParaRPr lang="en-US" sz="1350" dirty="0"/>
          </a:p>
        </p:txBody>
      </p:sp>
      <p:sp>
        <p:nvSpPr>
          <p:cNvPr id="9" name="Text 6"/>
          <p:cNvSpPr txBox="1"/>
          <p:nvPr/>
        </p:nvSpPr>
        <p:spPr>
          <a:xfrm>
            <a:off x="7635240" y="2779776"/>
            <a:ext cx="3749040" cy="960120"/>
          </a:xfrm>
          <a:prstGeom prst="rect">
            <a:avLst/>
          </a:prstGeom>
          <a:noFill/>
          <a:ln/>
        </p:spPr>
        <p:txBody>
          <a:bodyPr wrap="square" lIns="0" tIns="0" rIns="0" bIns="0" rtlCol="0" anchor="ctr"/>
          <a:lstStyle/>
          <a:p>
            <a:pPr indent="0" marL="0">
              <a:lnSpc>
                <a:spcPts val="1550"/>
              </a:lnSpc>
              <a:buNone/>
            </a:pPr>
            <a:r>
              <a:rPr lang="en-US" sz="1150" dirty="0">
                <a:solidFill>
                  <a:srgbClr val="1A1A1A"/>
                </a:solidFill>
                <a:latin typeface="Calibri" pitchFamily="34" charset="0"/>
                <a:ea typeface="Calibri" pitchFamily="34" charset="-122"/>
                <a:cs typeface="Calibri" pitchFamily="34" charset="-120"/>
              </a:rPr>
              <a:t>A metre of sea level rise displaces these modes by one to four per cent. A restriction of a quarter displaces them four times as far. The geometry of the mouth is the dominant control.</a:t>
            </a:r>
            <a:endParaRPr lang="en-US" sz="1150" dirty="0"/>
          </a:p>
        </p:txBody>
      </p:sp>
      <p:sp>
        <p:nvSpPr>
          <p:cNvPr id="10" name="Shape 7"/>
          <p:cNvSpPr/>
          <p:nvPr/>
        </p:nvSpPr>
        <p:spPr>
          <a:xfrm>
            <a:off x="7360920" y="4005072"/>
            <a:ext cx="4261104" cy="1572768"/>
          </a:xfrm>
          <a:prstGeom prst="roundRect">
            <a:avLst>
              <a:gd name="adj" fmla="val 3488"/>
            </a:avLst>
          </a:prstGeom>
          <a:solidFill>
            <a:srgbClr val="21295C"/>
          </a:solidFill>
          <a:ln/>
        </p:spPr>
      </p:sp>
      <p:sp>
        <p:nvSpPr>
          <p:cNvPr id="11" name="Text 8"/>
          <p:cNvSpPr txBox="1"/>
          <p:nvPr/>
        </p:nvSpPr>
        <p:spPr>
          <a:xfrm>
            <a:off x="7635240" y="4169664"/>
            <a:ext cx="3749040" cy="274320"/>
          </a:xfrm>
          <a:prstGeom prst="rect">
            <a:avLst/>
          </a:prstGeom>
          <a:noFill/>
          <a:ln/>
        </p:spPr>
        <p:txBody>
          <a:bodyPr wrap="square" lIns="0" tIns="0" rIns="0" bIns="0" rtlCol="0" anchor="ctr"/>
          <a:lstStyle/>
          <a:p>
            <a:pPr indent="0" marL="0">
              <a:buNone/>
            </a:pPr>
            <a:r>
              <a:rPr lang="en-US" sz="1350" b="1" dirty="0">
                <a:solidFill>
                  <a:srgbClr val="EB6834"/>
                </a:solidFill>
                <a:latin typeface="Cambria" pitchFamily="34" charset="0"/>
                <a:ea typeface="Cambria" pitchFamily="34" charset="-122"/>
                <a:cs typeface="Cambria" pitchFamily="34" charset="-120"/>
              </a:rPr>
              <a:t>The limit of the result</a:t>
            </a:r>
            <a:endParaRPr lang="en-US" sz="1350" dirty="0"/>
          </a:p>
        </p:txBody>
      </p:sp>
      <p:sp>
        <p:nvSpPr>
          <p:cNvPr id="12" name="Text 9"/>
          <p:cNvSpPr txBox="1"/>
          <p:nvPr/>
        </p:nvSpPr>
        <p:spPr>
          <a:xfrm>
            <a:off x="7635240" y="4498848"/>
            <a:ext cx="3749040" cy="960120"/>
          </a:xfrm>
          <a:prstGeom prst="rect">
            <a:avLst/>
          </a:prstGeom>
          <a:noFill/>
          <a:ln/>
        </p:spPr>
        <p:txBody>
          <a:bodyPr wrap="square" lIns="0" tIns="0" rIns="0" bIns="0" rtlCol="0" anchor="ctr"/>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Reaching the observed band would require the mouth to lose two thirds of its section. The conclusion that the harbours respond rather than resonate stands.</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cost is a second evaluation of the same sweep, with no new forcing, no new validation and no new configuration.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parametric sweep in place of a hindcast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that trigger the phenomenon, which has constituted the largest standing risk in the project.</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Impose a moving pressure disturbance and vary its speed, direction, width and duration.</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output is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Inversion of the observations</a:t>
            </a:r>
            <a:endParaRPr lang="en-US" sz="1450" dirty="0"/>
          </a:p>
        </p:txBody>
      </p:sp>
      <p:sp>
        <p:nvSpPr>
          <p:cNvPr id="16" name="Text 14"/>
          <p:cNvSpPr txBox="1"/>
          <p:nvPr/>
        </p:nvSpPr>
        <p:spPr>
          <a:xfrm>
            <a:off x="1188720" y="4965192"/>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observations cease to be the forcing and become the test, addressing whether recorded events occur under the conditions identified as resonant.</a:t>
            </a:r>
            <a:endParaRPr lang="en-US" sz="1250" dirty="0"/>
          </a:p>
        </p:txBody>
      </p:sp>
      <p:sp>
        <p:nvSpPr>
          <p:cNvPr id="17" name="Shape 15"/>
          <p:cNvSpPr/>
          <p:nvPr/>
        </p:nvSpPr>
        <p:spPr>
          <a:xfrm>
            <a:off x="7680960" y="2286000"/>
            <a:ext cx="3941064" cy="3108960"/>
          </a:xfrm>
          <a:prstGeom prst="roundRect">
            <a:avLst>
              <a:gd name="adj" fmla="val 1765"/>
            </a:avLst>
          </a:prstGeom>
          <a:solidFill>
            <a:srgbClr val="21295C"/>
          </a:solidFill>
          <a:ln/>
        </p:spPr>
      </p:sp>
      <p:sp>
        <p:nvSpPr>
          <p:cNvPr id="18" name="Text 16"/>
          <p:cNvSpPr txBox="1"/>
          <p:nvPr/>
        </p:nvSpPr>
        <p:spPr>
          <a:xfrm>
            <a:off x="7955280" y="2487168"/>
            <a:ext cx="3429000" cy="54864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Bearing beyond the present study</a:t>
            </a:r>
            <a:endParaRPr lang="en-US" sz="1400" dirty="0"/>
          </a:p>
        </p:txBody>
      </p:sp>
      <p:sp>
        <p:nvSpPr>
          <p:cNvPr id="19" name="Text 17"/>
          <p:cNvSpPr txBox="1"/>
          <p:nvPr/>
        </p:nvSpPr>
        <p:spPr>
          <a:xfrm>
            <a:off x="7955280" y="3063240"/>
            <a:ext cx="3429000" cy="2103120"/>
          </a:xfrm>
          <a:prstGeom prst="rect">
            <a:avLst/>
          </a:prstGeom>
          <a:noFill/>
          <a:ln/>
        </p:spPr>
        <p:txBody>
          <a:bodyPr wrap="square" lIns="0" tIns="0" rIns="0" bIns="0" rtlCol="0" anchor="ctr"/>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A response surface is a property of the geometry, whereas climate change acts on the distribution of the forcing.
</a:t>
            </a:r>
            <a:endParaRPr lang="en-US" sz="1150" dirty="0"/>
          </a:p>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The two separate, so the surface is computed once and any later study with synoptic projections may convolve them without repeating the hydrodynamics.
</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No climate scenario need be run through the model.</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milgħuba floods Msida, at the head of Msida Creek inside Marsamxett, together with Marsaskala, Xemxija, Marsaxlokk and Sliema.</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OUTSTANDING QUESTIONS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Six questions and their bearing on the study</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 sensitivity exercise on the harbour mouth one the group would consider appropriate?</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It is framed as a response curve over the class of basin, and it carries no assessment of the project now in consultation. The question is whether that framing is acceptable, not whether the physics holds.</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extent and availability of the Senglea record, and its device id on the TAD server?</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gauge inside the Grand Harbour has recorded at five seconds since June 2021, so the band is resolved and the question is one of access rather than existence. The retrieval route is the one the project already uses for Marettimo.</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Has the generation of the wave been modelled, or only its effect on a basin?</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2007 study imposes the long wave at the offshore boundary and computes the response. Modelling how the atmosphere produces that wave over the shelf is what this study proposes. Whether it is genuinely untouched is known only from a literature search.</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a current or stratification record inside the harbours, in any form?</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Sea level inside the basin is now covered by Senglea. What no instrument reports is the current field, the stratification of the inner inlets, or the mouth-to-head amplification, which one interior point cannot resolve.</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any wave record beyond the BLUE buoy?</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Wave validation presently rests on a single point 3.7 km offshore. The radar reports a derived product whose own accuracy was assessed against models, so it serves as a cross-check rather than a reference.</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levelling datum behind the bathymetry, and how does its zero relate to the tide gauges?</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files declare ellipsoidal heights while the data are orthometric. What remains to be established is the offset against the gauges used for validation.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737360" y="3840480"/>
            <a:ext cx="4754880" cy="4754880"/>
          </a:xfrm>
          <a:prstGeom prst="ellipse">
            <a:avLst/>
          </a:prstGeom>
          <a:solidFill>
            <a:srgbClr val="065A82">
              <a:alpha val="40000"/>
            </a:srgbClr>
          </a:solidFill>
          <a:ln/>
        </p:spPr>
      </p:sp>
      <p:sp>
        <p:nvSpPr>
          <p:cNvPr id="3" name="Text 1"/>
          <p:cNvSpPr txBox="1"/>
          <p:nvPr/>
        </p:nvSpPr>
        <p:spPr>
          <a:xfrm>
            <a:off x="566928" y="640080"/>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IMMEDIATE SEQUENCE</a:t>
            </a:r>
            <a:endParaRPr lang="en-US" sz="1200" dirty="0"/>
          </a:p>
        </p:txBody>
      </p:sp>
      <p:sp>
        <p:nvSpPr>
          <p:cNvPr id="4" name="Text 2"/>
          <p:cNvSpPr txBox="1"/>
          <p:nvPr/>
        </p:nvSpPr>
        <p:spPr>
          <a:xfrm>
            <a:off x="566928" y="96012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Before the mesh is built</a:t>
            </a:r>
            <a:endParaRPr lang="en-US" sz="3000" dirty="0"/>
          </a:p>
        </p:txBody>
      </p:sp>
      <p:sp>
        <p:nvSpPr>
          <p:cNvPr id="5" name="Shape 3"/>
          <p:cNvSpPr/>
          <p:nvPr/>
        </p:nvSpPr>
        <p:spPr>
          <a:xfrm>
            <a:off x="612648" y="2057400"/>
            <a:ext cx="155448" cy="155448"/>
          </a:xfrm>
          <a:prstGeom prst="ellipse">
            <a:avLst/>
          </a:prstGeom>
          <a:solidFill>
            <a:srgbClr val="CADCFC"/>
          </a:solidFill>
          <a:ln/>
        </p:spPr>
      </p:sp>
      <p:sp>
        <p:nvSpPr>
          <p:cNvPr id="6" name="Text 4"/>
          <p:cNvSpPr txBox="1"/>
          <p:nvPr/>
        </p:nvSpPr>
        <p:spPr>
          <a:xfrm>
            <a:off x="978408" y="1965960"/>
            <a:ext cx="233172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September</a:t>
            </a:r>
            <a:endParaRPr lang="en-US" sz="1300" dirty="0"/>
          </a:p>
        </p:txBody>
      </p:sp>
      <p:sp>
        <p:nvSpPr>
          <p:cNvPr id="7" name="Text 5"/>
          <p:cNvSpPr txBox="1"/>
          <p:nvPr/>
        </p:nvSpPr>
        <p:spPr>
          <a:xfrm>
            <a:off x="3401568" y="1965960"/>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Seiche climatology from Senglea, inside the harbour, against Portomaso outside. No model is required.</a:t>
            </a:r>
            <a:endParaRPr lang="en-US" sz="1200" dirty="0"/>
          </a:p>
        </p:txBody>
      </p:sp>
      <p:sp>
        <p:nvSpPr>
          <p:cNvPr id="8" name="Shape 6"/>
          <p:cNvSpPr/>
          <p:nvPr/>
        </p:nvSpPr>
        <p:spPr>
          <a:xfrm>
            <a:off x="612648" y="2898648"/>
            <a:ext cx="155448" cy="155448"/>
          </a:xfrm>
          <a:prstGeom prst="ellipse">
            <a:avLst/>
          </a:prstGeom>
          <a:solidFill>
            <a:srgbClr val="EB6834"/>
          </a:solidFill>
          <a:ln/>
        </p:spPr>
      </p:sp>
      <p:sp>
        <p:nvSpPr>
          <p:cNvPr id="9" name="Text 7"/>
          <p:cNvSpPr txBox="1"/>
          <p:nvPr/>
        </p:nvSpPr>
        <p:spPr>
          <a:xfrm>
            <a:off x="978408" y="2807208"/>
            <a:ext cx="2331720" cy="301752"/>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0" name="Text 8"/>
          <p:cNvSpPr txBox="1"/>
          <p:nvPr/>
        </p:nvSpPr>
        <p:spPr>
          <a:xfrm>
            <a:off x="3401568" y="2807208"/>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Delft3D User Days abstract.</a:t>
            </a:r>
            <a:endParaRPr lang="en-US" sz="1200" dirty="0"/>
          </a:p>
        </p:txBody>
      </p:sp>
      <p:sp>
        <p:nvSpPr>
          <p:cNvPr id="11" name="Shape 9"/>
          <p:cNvSpPr/>
          <p:nvPr/>
        </p:nvSpPr>
        <p:spPr>
          <a:xfrm>
            <a:off x="612648" y="3739896"/>
            <a:ext cx="155448" cy="155448"/>
          </a:xfrm>
          <a:prstGeom prst="ellipse">
            <a:avLst/>
          </a:prstGeom>
          <a:solidFill>
            <a:srgbClr val="CADCFC"/>
          </a:solidFill>
          <a:ln/>
        </p:spPr>
      </p:sp>
      <p:sp>
        <p:nvSpPr>
          <p:cNvPr id="12" name="Text 10"/>
          <p:cNvSpPr txBox="1"/>
          <p:nvPr/>
        </p:nvSpPr>
        <p:spPr>
          <a:xfrm>
            <a:off x="978408" y="3648456"/>
            <a:ext cx="233172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Early October</a:t>
            </a:r>
            <a:endParaRPr lang="en-US" sz="1300" dirty="0"/>
          </a:p>
        </p:txBody>
      </p:sp>
      <p:sp>
        <p:nvSpPr>
          <p:cNvPr id="13" name="Text 11"/>
          <p:cNvSpPr txBox="1"/>
          <p:nvPr/>
        </p:nvSpPr>
        <p:spPr>
          <a:xfrm>
            <a:off x="3401568" y="3648456"/>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Merged bathymetry over the domain, gaps intersected with the coastline.</a:t>
            </a:r>
            <a:endParaRPr lang="en-US" sz="1200" dirty="0"/>
          </a:p>
        </p:txBody>
      </p:sp>
      <p:sp>
        <p:nvSpPr>
          <p:cNvPr id="14" name="Shape 12"/>
          <p:cNvSpPr/>
          <p:nvPr/>
        </p:nvSpPr>
        <p:spPr>
          <a:xfrm>
            <a:off x="612648" y="4581144"/>
            <a:ext cx="155448" cy="155448"/>
          </a:xfrm>
          <a:prstGeom prst="ellipse">
            <a:avLst/>
          </a:prstGeom>
          <a:solidFill>
            <a:srgbClr val="CADCFC"/>
          </a:solidFill>
          <a:ln/>
        </p:spPr>
      </p:sp>
      <p:sp>
        <p:nvSpPr>
          <p:cNvPr id="15" name="Text 13"/>
          <p:cNvSpPr txBox="1"/>
          <p:nvPr/>
        </p:nvSpPr>
        <p:spPr>
          <a:xfrm>
            <a:off x="978408" y="4489704"/>
            <a:ext cx="233172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6" name="Text 14"/>
          <p:cNvSpPr txBox="1"/>
          <p:nvPr/>
        </p:nvSpPr>
        <p:spPr>
          <a:xfrm>
            <a:off x="3401568" y="4489704"/>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Delft3D User Days at Deltares, with the four configuration questions.</a:t>
            </a:r>
            <a:endParaRPr lang="en-US" sz="1200" dirty="0"/>
          </a:p>
        </p:txBody>
      </p:sp>
      <p:sp>
        <p:nvSpPr>
          <p:cNvPr id="17" name="Shape 15"/>
          <p:cNvSpPr/>
          <p:nvPr/>
        </p:nvSpPr>
        <p:spPr>
          <a:xfrm>
            <a:off x="612648" y="5422392"/>
            <a:ext cx="155448" cy="155448"/>
          </a:xfrm>
          <a:prstGeom prst="ellipse">
            <a:avLst/>
          </a:prstGeom>
          <a:solidFill>
            <a:srgbClr val="CADCFC"/>
          </a:solidFill>
          <a:ln/>
        </p:spPr>
      </p:sp>
      <p:sp>
        <p:nvSpPr>
          <p:cNvPr id="18" name="Text 16"/>
          <p:cNvSpPr txBox="1"/>
          <p:nvPr/>
        </p:nvSpPr>
        <p:spPr>
          <a:xfrm>
            <a:off x="978408" y="5330952"/>
            <a:ext cx="233172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October to November</a:t>
            </a:r>
            <a:endParaRPr lang="en-US" sz="1300" dirty="0"/>
          </a:p>
        </p:txBody>
      </p:sp>
      <p:sp>
        <p:nvSpPr>
          <p:cNvPr id="19" name="Text 17"/>
          <p:cNvSpPr txBox="1"/>
          <p:nvPr/>
        </p:nvSpPr>
        <p:spPr>
          <a:xfrm>
            <a:off x="3401568" y="5330952"/>
            <a:ext cx="3291840" cy="658368"/>
          </a:xfrm>
          <a:prstGeom prst="rect">
            <a:avLst/>
          </a:prstGeom>
          <a:noFill/>
          <a:ln/>
        </p:spPr>
        <p:txBody>
          <a:bodyPr wrap="square" lIns="0" tIns="0" rIns="0" bIns="0" rtlCol="0" anchor="ctr"/>
          <a:lstStyle/>
          <a:p>
            <a:pPr indent="0" marL="0">
              <a:lnSpc>
                <a:spcPts val="1500"/>
              </a:lnSpc>
              <a:buNone/>
            </a:pPr>
            <a:r>
              <a:rPr lang="en-US" sz="1200" dirty="0">
                <a:solidFill>
                  <a:srgbClr val="9FB3D1"/>
                </a:solidFill>
                <a:latin typeface="Calibri" pitchFamily="34" charset="0"/>
                <a:ea typeface="Calibri" pitchFamily="34" charset="-122"/>
                <a:cs typeface="Calibri" pitchFamily="34" charset="-120"/>
              </a:rPr>
              <a:t>Mesh, Riemann boundary verified by synthetic pulse, first runs.</a:t>
            </a:r>
            <a:endParaRPr lang="en-US" sz="1200" dirty="0"/>
          </a:p>
        </p:txBody>
      </p:sp>
      <p:sp>
        <p:nvSpPr>
          <p:cNvPr id="20" name="Shape 18"/>
          <p:cNvSpPr/>
          <p:nvPr/>
        </p:nvSpPr>
        <p:spPr>
          <a:xfrm>
            <a:off x="6858000" y="1965960"/>
            <a:ext cx="4764024" cy="3108960"/>
          </a:xfrm>
          <a:prstGeom prst="roundRect">
            <a:avLst>
              <a:gd name="adj" fmla="val 1765"/>
            </a:avLst>
          </a:prstGeom>
          <a:solidFill>
            <a:srgbClr val="065A82">
              <a:alpha val="70000"/>
            </a:srgbClr>
          </a:solidFill>
          <a:ln/>
        </p:spPr>
      </p:sp>
      <p:sp>
        <p:nvSpPr>
          <p:cNvPr id="21" name="Text 19"/>
          <p:cNvSpPr txBox="1"/>
          <p:nvPr/>
        </p:nvSpPr>
        <p:spPr>
          <a:xfrm>
            <a:off x="7132320" y="2176272"/>
            <a:ext cx="420624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2" name="Text 20"/>
          <p:cNvSpPr txBox="1"/>
          <p:nvPr/>
        </p:nvSpPr>
        <p:spPr>
          <a:xfrm>
            <a:off x="7132320" y="2542032"/>
            <a:ext cx="4206240" cy="2286000"/>
          </a:xfrm>
          <a:prstGeom prst="rect">
            <a:avLst/>
          </a:prstGeom>
          <a:noFill/>
          <a:ln/>
        </p:spPr>
        <p:txBody>
          <a:bodyPr wrap="square" lIns="0" tIns="0" rIns="0" bIns="0" rtlCol="0" anchor="ctr"/>
          <a:lstStyle/>
          <a:p>
            <a:pPr indent="0" marL="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
</a:t>
            </a:r>
            <a:endParaRPr lang="en-US" sz="1150" dirty="0"/>
          </a:p>
          <a:p>
            <a:pPr indent="0" marL="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A Valletta configuration would take the same route, so the deliverable is a running pilot rather than a set of figures.
</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That is the relocatable setup the design report asks for.</a:t>
            </a:r>
            <a:endParaRPr lang="en-US" sz="1150" dirty="0"/>
          </a:p>
        </p:txBody>
      </p:sp>
      <p:sp>
        <p:nvSpPr>
          <p:cNvPr id="23" name="Text 21"/>
          <p:cNvSpPr txBox="1"/>
          <p:nvPr/>
        </p:nvSpPr>
        <p:spPr>
          <a:xfrm>
            <a:off x="566928" y="6199632"/>
            <a:ext cx="5852160" cy="274320"/>
          </a:xfrm>
          <a:prstGeom prst="rect">
            <a:avLst/>
          </a:prstGeom>
          <a:noFill/>
          <a:ln/>
        </p:spPr>
        <p:txBody>
          <a:bodyPr wrap="square" lIns="0" tIns="0" rIns="0" bIns="0" rtlCol="0" anchor="ctr"/>
          <a:lstStyle/>
          <a:p>
            <a:pPr indent="0" marL="0">
              <a:buNone/>
            </a:pPr>
            <a:r>
              <a:rPr lang="en-US" sz="1100" i="1" dirty="0">
                <a:solidFill>
                  <a:srgbClr val="7F93B3"/>
                </a:solidFill>
                <a:latin typeface="Calibri" pitchFamily="34" charset="0"/>
                <a:ea typeface="Calibri" pitchFamily="34" charset="-122"/>
                <a:cs typeface="Calibri" pitchFamily="34" charset="-120"/>
              </a:rPr>
              <a:t>Documents, figures and the reproducible analysis are in the project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dc:title>
  <dc:subject>PptxGenJS Presentation</dc:subject>
  <dc:creator>Cicero Martins Jr</dc:creator>
  <cp:lastModifiedBy>Cicero Martins Jr</cp:lastModifiedBy>
  <cp:revision>1</cp:revision>
  <dcterms:created xsi:type="dcterms:W3CDTF">2026-09-25T16:05:35Z</dcterms:created>
  <dcterms:modified xsi:type="dcterms:W3CDTF">2026-09-25T16:05:35Z</dcterms:modified>
</cp:coreProperties>
</file>