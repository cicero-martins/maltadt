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22" d="100"/>
          <a:sy n="122" d="100"/>
        </p:scale>
        <p:origin x="114" y="1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311094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deck covers the intended model and the matters to be settled before its construction.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The thesis contribution is framework reusability, and Valletta constitutes the harder test.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10 m data came from the group's own contribution to EMODnet. The public product gives the inlets one to three cells.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three-stage chain organises the study and determines the domain.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estimate was tested against its two plausible failures, the Helmholtz idealisation and excitation below resonance. The domain follows from this table. Whether the group's harbour records carry energy near 17 minutes is the first outstanding question.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Domain B, roughly 86 by 66 km, east to 15 degrees, short of the escarpment. Stopping there is also what keeps sigma layers defensible.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question for Deltares concerns whether sigma holds from 15 m to 150 m, or whether a z-sigma hybrid is indicated.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 is a proposal rather than a decision. Whether the group has work of its own planned on the generation side, and how the effort should be divided if so, is worth putting directly. The applied companion is a map of exposure by inlet and quay, and the fallback, with independent value, is harbour renewal under the Water Framework Directive.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sweep of six speeds by eight directions amounts to forty-eight runs, barotropic and uncoupled, and therefore inexpensive.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items determine what the study can be, and the remainder is resolvable by execution. The question of whether the group has its own intentions on the generation side belongs with the preceding slide rather than here.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Block B3 loses four working days to Delft and holds fifteen rather than nineteen.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295C"/>
        </a:solidFill>
        <a:effectLst/>
      </p:bgPr>
    </p:bg>
    <p:spTree>
      <p:nvGrpSpPr>
        <p:cNvPr id="1" name=""/>
        <p:cNvGrpSpPr/>
        <p:nvPr/>
      </p:nvGrpSpPr>
      <p:grpSpPr>
        <a:xfrm>
          <a:off x="0" y="0"/>
          <a:ext cx="0" cy="0"/>
          <a:chOff x="0" y="0"/>
          <a:chExt cx="0" cy="0"/>
        </a:xfrm>
      </p:grpSpPr>
      <p:sp>
        <p:nvSpPr>
          <p:cNvPr id="2" name="Shape 0"/>
          <p:cNvSpPr/>
          <p:nvPr/>
        </p:nvSpPr>
        <p:spPr>
          <a:xfrm>
            <a:off x="8503920" y="-1280160"/>
            <a:ext cx="5120640" cy="5120640"/>
          </a:xfrm>
          <a:prstGeom prst="ellipse">
            <a:avLst/>
          </a:prstGeom>
          <a:solidFill>
            <a:srgbClr val="065A82">
              <a:alpha val="45000"/>
            </a:srgbClr>
          </a:solidFill>
          <a:ln/>
        </p:spPr>
        <p:txBody>
          <a:bodyPr/>
          <a:lstStyle/>
          <a:p>
            <a:endParaRPr lang="it-IT"/>
          </a:p>
        </p:txBody>
      </p:sp>
      <p:sp>
        <p:nvSpPr>
          <p:cNvPr id="3" name="Shape 1"/>
          <p:cNvSpPr/>
          <p:nvPr/>
        </p:nvSpPr>
        <p:spPr>
          <a:xfrm>
            <a:off x="10058400" y="3108960"/>
            <a:ext cx="2377440" cy="2377440"/>
          </a:xfrm>
          <a:prstGeom prst="ellipse">
            <a:avLst/>
          </a:prstGeom>
          <a:solidFill>
            <a:srgbClr val="EB6834">
              <a:alpha val="30000"/>
            </a:srgbClr>
          </a:solidFill>
          <a:ln/>
        </p:spPr>
        <p:txBody>
          <a:bodyPr/>
          <a:lstStyle/>
          <a:p>
            <a:endParaRPr lang="it-IT"/>
          </a:p>
        </p:txBody>
      </p:sp>
      <p:sp>
        <p:nvSpPr>
          <p:cNvPr id="4" name="Text 2"/>
          <p:cNvSpPr txBox="1"/>
          <p:nvPr/>
        </p:nvSpPr>
        <p:spPr>
          <a:xfrm>
            <a:off x="566928" y="1371600"/>
            <a:ext cx="768096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WETWISE · WP3 · Maltese pilot</a:t>
            </a:r>
            <a:endParaRPr lang="en-US" sz="1200" dirty="0"/>
          </a:p>
        </p:txBody>
      </p:sp>
      <p:sp>
        <p:nvSpPr>
          <p:cNvPr id="5" name="Text 3"/>
          <p:cNvSpPr txBox="1"/>
          <p:nvPr/>
        </p:nvSpPr>
        <p:spPr>
          <a:xfrm>
            <a:off x="566928" y="1783080"/>
            <a:ext cx="7863840" cy="868680"/>
          </a:xfrm>
          <a:prstGeom prst="rect">
            <a:avLst/>
          </a:prstGeom>
          <a:noFill/>
          <a:ln/>
        </p:spPr>
        <p:txBody>
          <a:bodyPr wrap="square" lIns="0" tIns="0" rIns="0" bIns="0"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The Valletta harbour system</a:t>
            </a:r>
            <a:endParaRPr lang="en-US" sz="4000" dirty="0"/>
          </a:p>
        </p:txBody>
      </p:sp>
      <p:sp>
        <p:nvSpPr>
          <p:cNvPr id="6" name="Text 4"/>
          <p:cNvSpPr txBox="1"/>
          <p:nvPr/>
        </p:nvSpPr>
        <p:spPr>
          <a:xfrm>
            <a:off x="566928" y="2697480"/>
            <a:ext cx="7863840" cy="457200"/>
          </a:xfrm>
          <a:prstGeom prst="rect">
            <a:avLst/>
          </a:prstGeom>
          <a:noFill/>
          <a:ln/>
        </p:spPr>
        <p:txBody>
          <a:bodyPr wrap="square" lIns="0" tIns="0" rIns="0" bIns="0" rtlCol="0" anchor="ctr"/>
          <a:lstStyle/>
          <a:p>
            <a:pPr marL="0" indent="0">
              <a:buNone/>
            </a:pPr>
            <a:r>
              <a:rPr lang="en-US" sz="1900" dirty="0">
                <a:solidFill>
                  <a:srgbClr val="CADCFC"/>
                </a:solidFill>
                <a:latin typeface="Calibri" pitchFamily="34" charset="0"/>
                <a:ea typeface="Calibri" pitchFamily="34" charset="-122"/>
                <a:cs typeface="Calibri" pitchFamily="34" charset="-120"/>
              </a:rPr>
              <a:t>Model concept, and the questions to settle</a:t>
            </a:r>
            <a:endParaRPr lang="en-US" sz="1900" dirty="0"/>
          </a:p>
        </p:txBody>
      </p:sp>
      <p:sp>
        <p:nvSpPr>
          <p:cNvPr id="7" name="Text 5"/>
          <p:cNvSpPr txBox="1"/>
          <p:nvPr/>
        </p:nvSpPr>
        <p:spPr>
          <a:xfrm>
            <a:off x="566928" y="3977640"/>
            <a:ext cx="7863840" cy="27432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Cicero Martins Jr</a:t>
            </a:r>
            <a:r>
              <a:rPr lang="en-US" sz="1300" dirty="0">
                <a:solidFill>
                  <a:srgbClr val="9FB3D1"/>
                </a:solidFill>
                <a:latin typeface="Calibri" pitchFamily="34" charset="0"/>
                <a:ea typeface="Calibri" pitchFamily="34" charset="-122"/>
                <a:cs typeface="Calibri" pitchFamily="34" charset="-120"/>
              </a:rPr>
              <a:t>   Università degli Studi di Palermo</a:t>
            </a:r>
            <a:endParaRPr lang="en-US" sz="1300" dirty="0"/>
          </a:p>
        </p:txBody>
      </p:sp>
      <p:sp>
        <p:nvSpPr>
          <p:cNvPr id="8" name="Text 6"/>
          <p:cNvSpPr txBox="1"/>
          <p:nvPr/>
        </p:nvSpPr>
        <p:spPr>
          <a:xfrm>
            <a:off x="566928" y="4279392"/>
            <a:ext cx="7863840" cy="274320"/>
          </a:xfrm>
          <a:prstGeom prst="rect">
            <a:avLst/>
          </a:prstGeom>
          <a:noFill/>
          <a:ln/>
        </p:spPr>
        <p:txBody>
          <a:bodyPr wrap="square" lIns="0" tIns="0" rIns="0" bIns="0" rtlCol="0" anchor="ctr"/>
          <a:lstStyle/>
          <a:p>
            <a:pPr marL="0" indent="0">
              <a:buNone/>
            </a:pPr>
            <a:r>
              <a:rPr lang="en-US" sz="1200" dirty="0">
                <a:solidFill>
                  <a:srgbClr val="9FB3D1"/>
                </a:solidFill>
                <a:latin typeface="Calibri" pitchFamily="34" charset="0"/>
                <a:ea typeface="Calibri" pitchFamily="34" charset="-122"/>
                <a:cs typeface="Calibri" pitchFamily="34" charset="-120"/>
              </a:rPr>
              <a:t>Research period at the Oceanography Malta Research Group, University of Malta</a:t>
            </a:r>
            <a:endParaRPr lang="en-US" sz="1200" dirty="0"/>
          </a:p>
        </p:txBody>
      </p:sp>
      <p:sp>
        <p:nvSpPr>
          <p:cNvPr id="9" name="Text 7"/>
          <p:cNvSpPr txBox="1"/>
          <p:nvPr/>
        </p:nvSpPr>
        <p:spPr>
          <a:xfrm>
            <a:off x="566928" y="4590288"/>
            <a:ext cx="7863840" cy="274320"/>
          </a:xfrm>
          <a:prstGeom prst="rect">
            <a:avLst/>
          </a:prstGeom>
          <a:noFill/>
          <a:ln/>
        </p:spPr>
        <p:txBody>
          <a:bodyPr wrap="square" lIns="0" tIns="0" rIns="0" bIns="0" rtlCol="0" anchor="ctr"/>
          <a:lstStyle/>
          <a:p>
            <a:pPr marL="0" indent="0">
              <a:buNone/>
            </a:pPr>
            <a:r>
              <a:rPr lang="en-US" sz="1200" dirty="0">
                <a:solidFill>
                  <a:srgbClr val="9FB3D1"/>
                </a:solidFill>
                <a:latin typeface="Calibri" pitchFamily="34" charset="0"/>
                <a:ea typeface="Calibri" pitchFamily="34" charset="-122"/>
                <a:cs typeface="Calibri" pitchFamily="34" charset="-120"/>
              </a:rPr>
              <a:t>25 September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ORIGIN</a:t>
            </a:r>
            <a:endParaRPr lang="en-US" sz="1200" dirty="0"/>
          </a:p>
        </p:txBody>
      </p:sp>
      <p:sp>
        <p:nvSpPr>
          <p:cNvPr id="3" name="Text 1"/>
          <p:cNvSpPr txBox="1"/>
          <p:nvPr/>
        </p:nvSpPr>
        <p:spPr>
          <a:xfrm>
            <a:off x="566928" y="749808"/>
            <a:ext cx="1042416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A framework, carried across archetype</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The solver and the assembly are unchanged, while the governing physics differs.</a:t>
            </a:r>
            <a:endParaRPr lang="en-US" sz="1400" dirty="0"/>
          </a:p>
        </p:txBody>
      </p:sp>
      <p:sp>
        <p:nvSpPr>
          <p:cNvPr id="5" name="Text 3"/>
          <p:cNvSpPr txBox="1"/>
          <p:nvPr/>
        </p:nvSpPr>
        <p:spPr>
          <a:xfrm>
            <a:off x="566928" y="2057400"/>
            <a:ext cx="5212080" cy="2743200"/>
          </a:xfrm>
          <a:prstGeom prst="rect">
            <a:avLst/>
          </a:prstGeom>
          <a:noFill/>
          <a:ln/>
        </p:spPr>
        <p:txBody>
          <a:bodyPr wrap="square" lIns="0" tIns="0" rIns="0" bIns="0" rtlCol="0" anchor="ctr"/>
          <a:lstStyle/>
          <a:p>
            <a:pPr marL="0" indent="0">
              <a:lnSpc>
                <a:spcPts val="2200"/>
              </a:lnSpc>
              <a:spcAft>
                <a:spcPts val="1000"/>
              </a:spcAft>
              <a:buNone/>
            </a:pPr>
            <a:r>
              <a:rPr lang="en-US" sz="1450" dirty="0">
                <a:solidFill>
                  <a:srgbClr val="1A1A1A"/>
                </a:solidFill>
                <a:latin typeface="Calibri" pitchFamily="34" charset="0"/>
                <a:ea typeface="Calibri" pitchFamily="34" charset="-122"/>
                <a:cs typeface="Calibri" pitchFamily="34" charset="-120"/>
              </a:rPr>
              <a:t>The framework originates in the Stagnone di Marsala digital twin, a coupled Delft3D FM and SWAN model of a shallow vegetated lagoon.</a:t>
            </a:r>
            <a:endParaRPr lang="en-US" sz="1450" dirty="0"/>
          </a:p>
          <a:p>
            <a:pPr marL="0" indent="0">
              <a:lnSpc>
                <a:spcPts val="2200"/>
              </a:lnSpc>
              <a:spcAft>
                <a:spcPts val="1000"/>
              </a:spcAft>
              <a:buNone/>
            </a:pPr>
            <a:r>
              <a:rPr lang="en-US" sz="1450" dirty="0">
                <a:solidFill>
                  <a:srgbClr val="1A1A1A"/>
                </a:solidFill>
                <a:latin typeface="Calibri" pitchFamily="34" charset="0"/>
                <a:ea typeface="Calibri" pitchFamily="34" charset="-122"/>
                <a:cs typeface="Calibri" pitchFamily="34" charset="-120"/>
              </a:rPr>
              <a:t>A transfer to a second lagoon would remain within a single archetype and would establish little. A transfer to a deep engineered harbour establishes whether the pipeline is reusable or was fitted to one site.</a:t>
            </a:r>
            <a:endParaRPr lang="en-US" sz="1450" dirty="0"/>
          </a:p>
          <a:p>
            <a:pPr marL="0" indent="0">
              <a:lnSpc>
                <a:spcPts val="2200"/>
              </a:lnSpc>
              <a:buNone/>
            </a:pPr>
            <a:r>
              <a:rPr lang="en-US" sz="1450" dirty="0">
                <a:solidFill>
                  <a:srgbClr val="1A1A1A"/>
                </a:solidFill>
                <a:latin typeface="Calibri" pitchFamily="34" charset="0"/>
                <a:ea typeface="Calibri" pitchFamily="34" charset="-122"/>
                <a:cs typeface="Calibri" pitchFamily="34" charset="-120"/>
              </a:rPr>
              <a:t>The stages that transfer constitute the reuse. Those that do not constitute a finding about where the generality of the framework ends, and they are recorded as such.</a:t>
            </a:r>
            <a:endParaRPr lang="en-US" sz="14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263640" y="2057400"/>
          <a:ext cx="5358384" cy="2103120"/>
        </p:xfrm>
        <a:graphic>
          <a:graphicData uri="http://schemas.openxmlformats.org/drawingml/2006/table">
            <a:tbl>
              <a:tblPr/>
              <a:tblGrid>
                <a:gridCol w="1700784">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420624">
                <a:tc>
                  <a:txBody>
                    <a:bodyPr/>
                    <a:lstStyle/>
                    <a:p>
                      <a:pPr marL="0" indent="0">
                        <a:buNone/>
                      </a:pPr>
                      <a:endParaRPr lang="en-US" sz="1250" dirty="0">
                        <a:latin typeface="Calibri" charset="0"/>
                        <a:ea typeface="Calibri" charset="0"/>
                        <a:cs typeface="Calibri" charset="0"/>
                      </a:endParaRPr>
                    </a:p>
                  </a:txBody>
                  <a:tcPr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065A82"/>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Stagnone</a:t>
                      </a:r>
                      <a:endParaRPr lang="en-US" sz="1250" dirty="0">
                        <a:latin typeface="Calibri" charset="0"/>
                        <a:ea typeface="Calibri" charset="0"/>
                        <a:cs typeface="Calibri" charset="0"/>
                      </a:endParaRPr>
                    </a:p>
                  </a:txBody>
                  <a:tcPr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065A82"/>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Valletta</a:t>
                      </a:r>
                      <a:endParaRPr lang="en-US" sz="1250" dirty="0">
                        <a:latin typeface="Calibri" charset="0"/>
                        <a:ea typeface="Calibri" charset="0"/>
                        <a:cs typeface="Calibri" charset="0"/>
                      </a:endParaRPr>
                    </a:p>
                  </a:txBody>
                  <a:tcPr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065A82"/>
                    </a:solidFill>
                  </a:tcPr>
                </a:tc>
                <a:extLst>
                  <a:ext uri="{0D108BD9-81ED-4DB2-BD59-A6C34878D82A}">
                    <a16:rowId xmlns:a16="http://schemas.microsoft.com/office/drawing/2014/main" val="10000"/>
                  </a:ext>
                </a:extLst>
              </a:tr>
              <a:tr h="420624">
                <a:tc>
                  <a:txBody>
                    <a:bodyPr/>
                    <a:lstStyle/>
                    <a:p>
                      <a:pPr marL="0" indent="0">
                        <a:buNone/>
                      </a:pPr>
                      <a:r>
                        <a:rPr lang="en-US" sz="1250" b="1" dirty="0">
                          <a:solidFill>
                            <a:srgbClr val="1A1A1A"/>
                          </a:solidFill>
                          <a:latin typeface="Calibri" pitchFamily="34" charset="0"/>
                          <a:ea typeface="Calibri" pitchFamily="34" charset="-122"/>
                          <a:cs typeface="Calibri" pitchFamily="34" charset="-120"/>
                        </a:rPr>
                        <a:t>Depth</a:t>
                      </a:r>
                      <a:endParaRPr lang="en-US" sz="1250" dirty="0">
                        <a:latin typeface="Calibri" charset="0"/>
                        <a:ea typeface="Calibri" charset="0"/>
                        <a:cs typeface="Calibri" charset="0"/>
                      </a:endParaRPr>
                    </a:p>
                  </a:txBody>
                  <a:tcPr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FFFFFF"/>
                    </a:solidFill>
                  </a:tcPr>
                </a:tc>
                <a:tc>
                  <a:txBody>
                    <a:bodyPr/>
                    <a:lstStyle/>
                    <a:p>
                      <a:pPr marL="0" indent="0">
                        <a:buNone/>
                      </a:pPr>
                      <a:r>
                        <a:rPr lang="en-US" sz="1250" dirty="0">
                          <a:solidFill>
                            <a:srgbClr val="1A1A1A"/>
                          </a:solidFill>
                          <a:latin typeface="Calibri" pitchFamily="34" charset="0"/>
                          <a:ea typeface="Calibri" pitchFamily="34" charset="-122"/>
                          <a:cs typeface="Calibri" pitchFamily="34" charset="-120"/>
                        </a:rPr>
                        <a:t>sub-metre</a:t>
                      </a:r>
                      <a:endParaRPr lang="en-US" sz="1250" dirty="0">
                        <a:latin typeface="Calibri" charset="0"/>
                        <a:ea typeface="Calibri" charset="0"/>
                        <a:cs typeface="Calibri" charset="0"/>
                      </a:endParaRPr>
                    </a:p>
                  </a:txBody>
                  <a:tcPr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FFFFFF"/>
                    </a:solidFill>
                  </a:tcPr>
                </a:tc>
                <a:tc>
                  <a:txBody>
                    <a:bodyPr/>
                    <a:lstStyle/>
                    <a:p>
                      <a:pPr marL="0" indent="0">
                        <a:buNone/>
                      </a:pPr>
                      <a:r>
                        <a:rPr lang="en-US" sz="1250" dirty="0">
                          <a:solidFill>
                            <a:srgbClr val="1A1A1A"/>
                          </a:solidFill>
                          <a:latin typeface="Calibri" pitchFamily="34" charset="0"/>
                          <a:ea typeface="Calibri" pitchFamily="34" charset="-122"/>
                          <a:cs typeface="Calibri" pitchFamily="34" charset="-120"/>
                        </a:rPr>
                        <a:t>12 to 20 m</a:t>
                      </a:r>
                      <a:endParaRPr lang="en-US" sz="1250" dirty="0">
                        <a:latin typeface="Calibri" charset="0"/>
                        <a:ea typeface="Calibri" charset="0"/>
                        <a:cs typeface="Calibri" charset="0"/>
                      </a:endParaRPr>
                    </a:p>
                  </a:txBody>
                  <a:tcPr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20624">
                <a:tc>
                  <a:txBody>
                    <a:bodyPr/>
                    <a:lstStyle/>
                    <a:p>
                      <a:pPr marL="0" indent="0">
                        <a:buNone/>
                      </a:pPr>
                      <a:r>
                        <a:rPr lang="en-US" sz="1250" b="1" dirty="0">
                          <a:solidFill>
                            <a:srgbClr val="1A1A1A"/>
                          </a:solidFill>
                          <a:latin typeface="Calibri" pitchFamily="34" charset="0"/>
                          <a:ea typeface="Calibri" pitchFamily="34" charset="-122"/>
                          <a:cs typeface="Calibri" pitchFamily="34" charset="-120"/>
                        </a:rPr>
                        <a:t>Bed</a:t>
                      </a:r>
                      <a:endParaRPr lang="en-US" sz="1250" dirty="0">
                        <a:latin typeface="Calibri" charset="0"/>
                        <a:ea typeface="Calibri" charset="0"/>
                        <a:cs typeface="Calibri" charset="0"/>
                      </a:endParaRPr>
                    </a:p>
                  </a:txBody>
                  <a:tcPr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EEF3F6"/>
                    </a:solidFill>
                  </a:tcPr>
                </a:tc>
                <a:tc>
                  <a:txBody>
                    <a:bodyPr/>
                    <a:lstStyle/>
                    <a:p>
                      <a:pPr marL="0" indent="0">
                        <a:buNone/>
                      </a:pPr>
                      <a:r>
                        <a:rPr lang="en-US" sz="1250" dirty="0">
                          <a:solidFill>
                            <a:srgbClr val="1A1A1A"/>
                          </a:solidFill>
                          <a:latin typeface="Calibri" pitchFamily="34" charset="0"/>
                          <a:ea typeface="Calibri" pitchFamily="34" charset="-122"/>
                          <a:cs typeface="Calibri" pitchFamily="34" charset="-120"/>
                        </a:rPr>
                        <a:t>seagrass canopy</a:t>
                      </a:r>
                      <a:endParaRPr lang="en-US" sz="1250" dirty="0">
                        <a:latin typeface="Calibri" charset="0"/>
                        <a:ea typeface="Calibri" charset="0"/>
                        <a:cs typeface="Calibri" charset="0"/>
                      </a:endParaRPr>
                    </a:p>
                  </a:txBody>
                  <a:tcPr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EEF3F6"/>
                    </a:solidFill>
                  </a:tcPr>
                </a:tc>
                <a:tc>
                  <a:txBody>
                    <a:bodyPr/>
                    <a:lstStyle/>
                    <a:p>
                      <a:pPr marL="0" indent="0">
                        <a:buNone/>
                      </a:pPr>
                      <a:r>
                        <a:rPr lang="en-US" sz="1250" dirty="0">
                          <a:solidFill>
                            <a:srgbClr val="1A1A1A"/>
                          </a:solidFill>
                          <a:latin typeface="Calibri" pitchFamily="34" charset="0"/>
                          <a:ea typeface="Calibri" pitchFamily="34" charset="-122"/>
                          <a:cs typeface="Calibri" pitchFamily="34" charset="-120"/>
                        </a:rPr>
                        <a:t>engineered, quay walls</a:t>
                      </a:r>
                      <a:endParaRPr lang="en-US" sz="1250" dirty="0">
                        <a:latin typeface="Calibri" charset="0"/>
                        <a:ea typeface="Calibri" charset="0"/>
                        <a:cs typeface="Calibri" charset="0"/>
                      </a:endParaRPr>
                    </a:p>
                  </a:txBody>
                  <a:tcPr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EEF3F6"/>
                    </a:solidFill>
                  </a:tcPr>
                </a:tc>
                <a:extLst>
                  <a:ext uri="{0D108BD9-81ED-4DB2-BD59-A6C34878D82A}">
                    <a16:rowId xmlns:a16="http://schemas.microsoft.com/office/drawing/2014/main" val="10002"/>
                  </a:ext>
                </a:extLst>
              </a:tr>
              <a:tr h="420624">
                <a:tc>
                  <a:txBody>
                    <a:bodyPr/>
                    <a:lstStyle/>
                    <a:p>
                      <a:pPr marL="0" indent="0">
                        <a:buNone/>
                      </a:pPr>
                      <a:r>
                        <a:rPr lang="en-US" sz="1250" b="1" dirty="0">
                          <a:solidFill>
                            <a:srgbClr val="1A1A1A"/>
                          </a:solidFill>
                          <a:latin typeface="Calibri" pitchFamily="34" charset="0"/>
                          <a:ea typeface="Calibri" pitchFamily="34" charset="-122"/>
                          <a:cs typeface="Calibri" pitchFamily="34" charset="-120"/>
                        </a:rPr>
                        <a:t>Boundary signal</a:t>
                      </a:r>
                      <a:endParaRPr lang="en-US" sz="1250" dirty="0">
                        <a:latin typeface="Calibri" charset="0"/>
                        <a:ea typeface="Calibri" charset="0"/>
                        <a:cs typeface="Calibri" charset="0"/>
                      </a:endParaRPr>
                    </a:p>
                  </a:txBody>
                  <a:tcPr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FFFFFF"/>
                    </a:solidFill>
                  </a:tcPr>
                </a:tc>
                <a:tc>
                  <a:txBody>
                    <a:bodyPr/>
                    <a:lstStyle/>
                    <a:p>
                      <a:pPr marL="0" indent="0">
                        <a:buNone/>
                      </a:pPr>
                      <a:r>
                        <a:rPr lang="en-US" sz="1250" dirty="0">
                          <a:solidFill>
                            <a:srgbClr val="1A1A1A"/>
                          </a:solidFill>
                          <a:latin typeface="Calibri" pitchFamily="34" charset="0"/>
                          <a:ea typeface="Calibri" pitchFamily="34" charset="-122"/>
                          <a:cs typeface="Calibri" pitchFamily="34" charset="-120"/>
                        </a:rPr>
                        <a:t>tide</a:t>
                      </a:r>
                      <a:endParaRPr lang="en-US" sz="1250" dirty="0">
                        <a:latin typeface="Calibri" charset="0"/>
                        <a:ea typeface="Calibri" charset="0"/>
                        <a:cs typeface="Calibri" charset="0"/>
                      </a:endParaRPr>
                    </a:p>
                  </a:txBody>
                  <a:tcPr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FFFFFF"/>
                    </a:solidFill>
                  </a:tcPr>
                </a:tc>
                <a:tc>
                  <a:txBody>
                    <a:bodyPr/>
                    <a:lstStyle/>
                    <a:p>
                      <a:pPr marL="0" indent="0">
                        <a:buNone/>
                      </a:pPr>
                      <a:r>
                        <a:rPr lang="en-US" sz="1250" dirty="0">
                          <a:solidFill>
                            <a:srgbClr val="1A1A1A"/>
                          </a:solidFill>
                          <a:latin typeface="Calibri" pitchFamily="34" charset="0"/>
                          <a:ea typeface="Calibri" pitchFamily="34" charset="-122"/>
                          <a:cs typeface="Calibri" pitchFamily="34" charset="-120"/>
                        </a:rPr>
                        <a:t>long wave, atmospheric</a:t>
                      </a:r>
                      <a:endParaRPr lang="en-US" sz="1250" dirty="0">
                        <a:latin typeface="Calibri" charset="0"/>
                        <a:ea typeface="Calibri" charset="0"/>
                        <a:cs typeface="Calibri" charset="0"/>
                      </a:endParaRPr>
                    </a:p>
                  </a:txBody>
                  <a:tcPr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20624">
                <a:tc>
                  <a:txBody>
                    <a:bodyPr/>
                    <a:lstStyle/>
                    <a:p>
                      <a:pPr marL="0" indent="0">
                        <a:buNone/>
                      </a:pPr>
                      <a:r>
                        <a:rPr lang="en-US" sz="1250" b="1" dirty="0">
                          <a:solidFill>
                            <a:srgbClr val="1A1A1A"/>
                          </a:solidFill>
                          <a:latin typeface="Calibri" pitchFamily="34" charset="0"/>
                          <a:ea typeface="Calibri" pitchFamily="34" charset="-122"/>
                          <a:cs typeface="Calibri" pitchFamily="34" charset="-120"/>
                        </a:rPr>
                        <a:t>Circulation driver</a:t>
                      </a:r>
                      <a:endParaRPr lang="en-US" sz="1250" dirty="0">
                        <a:latin typeface="Calibri" charset="0"/>
                        <a:ea typeface="Calibri" charset="0"/>
                        <a:cs typeface="Calibri" charset="0"/>
                      </a:endParaRPr>
                    </a:p>
                  </a:txBody>
                  <a:tcPr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EEF3F6"/>
                    </a:solidFill>
                  </a:tcPr>
                </a:tc>
                <a:tc>
                  <a:txBody>
                    <a:bodyPr/>
                    <a:lstStyle/>
                    <a:p>
                      <a:pPr marL="0" indent="0">
                        <a:buNone/>
                      </a:pPr>
                      <a:r>
                        <a:rPr lang="en-US" sz="1250" dirty="0">
                          <a:solidFill>
                            <a:srgbClr val="1A1A1A"/>
                          </a:solidFill>
                          <a:latin typeface="Calibri" pitchFamily="34" charset="0"/>
                          <a:ea typeface="Calibri" pitchFamily="34" charset="-122"/>
                          <a:cs typeface="Calibri" pitchFamily="34" charset="-120"/>
                        </a:rPr>
                        <a:t>wind</a:t>
                      </a:r>
                      <a:endParaRPr lang="en-US" sz="1250" dirty="0">
                        <a:latin typeface="Calibri" charset="0"/>
                        <a:ea typeface="Calibri" charset="0"/>
                        <a:cs typeface="Calibri" charset="0"/>
                      </a:endParaRPr>
                    </a:p>
                  </a:txBody>
                  <a:tcPr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EEF3F6"/>
                    </a:solidFill>
                  </a:tcPr>
                </a:tc>
                <a:tc>
                  <a:txBody>
                    <a:bodyPr/>
                    <a:lstStyle/>
                    <a:p>
                      <a:pPr marL="0" indent="0">
                        <a:buNone/>
                      </a:pPr>
                      <a:r>
                        <a:rPr lang="en-US" sz="1250" dirty="0">
                          <a:solidFill>
                            <a:srgbClr val="1A1A1A"/>
                          </a:solidFill>
                          <a:latin typeface="Calibri" pitchFamily="34" charset="0"/>
                          <a:ea typeface="Calibri" pitchFamily="34" charset="-122"/>
                          <a:cs typeface="Calibri" pitchFamily="34" charset="-120"/>
                        </a:rPr>
                        <a:t>the same long wave</a:t>
                      </a:r>
                      <a:endParaRPr lang="en-US" sz="1250" dirty="0">
                        <a:latin typeface="Calibri" charset="0"/>
                        <a:ea typeface="Calibri" charset="0"/>
                        <a:cs typeface="Calibri" charset="0"/>
                      </a:endParaRPr>
                    </a:p>
                  </a:txBody>
                  <a:tcPr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EEF3F6"/>
                    </a:solidFill>
                  </a:tcPr>
                </a:tc>
                <a:extLst>
                  <a:ext uri="{0D108BD9-81ED-4DB2-BD59-A6C34878D82A}">
                    <a16:rowId xmlns:a16="http://schemas.microsoft.com/office/drawing/2014/main" val="10004"/>
                  </a:ext>
                </a:extLst>
              </a:tr>
            </a:tbl>
          </a:graphicData>
        </a:graphic>
      </p:graphicFrame>
      <p:sp>
        <p:nvSpPr>
          <p:cNvPr id="7" name="Text 4"/>
          <p:cNvSpPr txBox="1"/>
          <p:nvPr/>
        </p:nvSpPr>
        <p:spPr>
          <a:xfrm>
            <a:off x="566928" y="6053328"/>
            <a:ext cx="11055096" cy="310896"/>
          </a:xfrm>
          <a:prstGeom prst="rect">
            <a:avLst/>
          </a:prstGeom>
          <a:noFill/>
          <a:ln/>
        </p:spPr>
        <p:txBody>
          <a:bodyPr wrap="square" lIns="0" tIns="0" rIns="0" bIns="0" rtlCol="0" anchor="ctr"/>
          <a:lstStyle/>
          <a:p>
            <a:pPr marL="0" indent="0">
              <a:buNone/>
            </a:pPr>
            <a:r>
              <a:rPr lang="en-US" sz="1050" i="1" dirty="0">
                <a:solidFill>
                  <a:srgbClr val="5F6368"/>
                </a:solidFill>
                <a:latin typeface="Calibri" pitchFamily="34" charset="0"/>
                <a:ea typeface="Calibri" pitchFamily="34" charset="-122"/>
                <a:cs typeface="Calibri" pitchFamily="34" charset="-120"/>
              </a:rPr>
              <a:t>The transfer effort is logged stage by stage as transferred, re-parameterised or not applicable. That log constitutes the methodological result.</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AVAILABLE DATA</a:t>
            </a:r>
            <a:endParaRPr lang="en-US" sz="1200" dirty="0"/>
          </a:p>
        </p:txBody>
      </p:sp>
      <p:sp>
        <p:nvSpPr>
          <p:cNvPr id="3" name="Text 1"/>
          <p:cNvSpPr txBox="1"/>
          <p:nvPr/>
        </p:nvSpPr>
        <p:spPr>
          <a:xfrm>
            <a:off x="566928" y="749808"/>
            <a:ext cx="1042416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Bathymetry and coastline, co-registered</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Supplied by the host group on 22 and 23 September.</a:t>
            </a:r>
            <a:endParaRPr lang="en-US" sz="1400" dirty="0"/>
          </a:p>
        </p:txBody>
      </p:sp>
      <p:sp>
        <p:nvSpPr>
          <p:cNvPr id="5" name="Text 3"/>
          <p:cNvSpPr txBox="1"/>
          <p:nvPr/>
        </p:nvSpPr>
        <p:spPr>
          <a:xfrm>
            <a:off x="566928" y="2057400"/>
            <a:ext cx="2286000" cy="475488"/>
          </a:xfrm>
          <a:prstGeom prst="rect">
            <a:avLst/>
          </a:prstGeom>
          <a:noFill/>
          <a:ln/>
        </p:spPr>
        <p:txBody>
          <a:bodyPr wrap="square" lIns="0" tIns="0" rIns="0" bIns="0" rtlCol="0" anchor="ctr"/>
          <a:lstStyle/>
          <a:p>
            <a:pPr marL="0" indent="0">
              <a:buNone/>
            </a:pPr>
            <a:r>
              <a:rPr lang="en-US" sz="2700" b="1" dirty="0">
                <a:solidFill>
                  <a:srgbClr val="065A82"/>
                </a:solidFill>
                <a:latin typeface="Cambria" pitchFamily="34" charset="0"/>
                <a:ea typeface="Cambria" pitchFamily="34" charset="-122"/>
                <a:cs typeface="Cambria" pitchFamily="34" charset="-120"/>
              </a:rPr>
              <a:t>10 m</a:t>
            </a:r>
            <a:endParaRPr lang="en-US" sz="2700" dirty="0"/>
          </a:p>
        </p:txBody>
      </p:sp>
      <p:sp>
        <p:nvSpPr>
          <p:cNvPr id="6" name="Text 4"/>
          <p:cNvSpPr txBox="1"/>
          <p:nvPr/>
        </p:nvSpPr>
        <p:spPr>
          <a:xfrm>
            <a:off x="566928" y="2532888"/>
            <a:ext cx="3108960" cy="548640"/>
          </a:xfrm>
          <a:prstGeom prst="rect">
            <a:avLst/>
          </a:prstGeom>
          <a:noFill/>
          <a:ln/>
        </p:spPr>
        <p:txBody>
          <a:bodyPr wrap="square" lIns="0" tIns="0" rIns="0" bIns="0" rtlCol="0" anchor="ctr"/>
          <a:lstStyle/>
          <a:p>
            <a:pPr marL="0" indent="0">
              <a:buNone/>
            </a:pPr>
            <a:r>
              <a:rPr lang="en-US" sz="1200" dirty="0">
                <a:solidFill>
                  <a:srgbClr val="5F6368"/>
                </a:solidFill>
                <a:latin typeface="Calibri" pitchFamily="34" charset="0"/>
                <a:ea typeface="Calibri" pitchFamily="34" charset="-122"/>
                <a:cs typeface="Calibri" pitchFamily="34" charset="-120"/>
              </a:rPr>
              <a:t>merged LiDAR and sonar,</a:t>
            </a:r>
            <a:endParaRPr lang="en-US" sz="1200" dirty="0"/>
          </a:p>
          <a:p>
            <a:pPr marL="0" indent="0">
              <a:buNone/>
            </a:pPr>
            <a:r>
              <a:rPr lang="en-US" sz="1200" dirty="0">
                <a:solidFill>
                  <a:srgbClr val="5F6368"/>
                </a:solidFill>
                <a:latin typeface="Calibri" pitchFamily="34" charset="0"/>
                <a:ea typeface="Calibri" pitchFamily="34" charset="-122"/>
                <a:cs typeface="Calibri" pitchFamily="34" charset="-120"/>
              </a:rPr>
              <a:t>CDI 4036_MEPA</a:t>
            </a:r>
            <a:endParaRPr lang="en-US" sz="1200" dirty="0"/>
          </a:p>
        </p:txBody>
      </p:sp>
      <p:sp>
        <p:nvSpPr>
          <p:cNvPr id="7" name="Text 5"/>
          <p:cNvSpPr txBox="1"/>
          <p:nvPr/>
        </p:nvSpPr>
        <p:spPr>
          <a:xfrm>
            <a:off x="566928" y="3227832"/>
            <a:ext cx="2286000" cy="475488"/>
          </a:xfrm>
          <a:prstGeom prst="rect">
            <a:avLst/>
          </a:prstGeom>
          <a:noFill/>
          <a:ln/>
        </p:spPr>
        <p:txBody>
          <a:bodyPr wrap="square" lIns="0" tIns="0" rIns="0" bIns="0" rtlCol="0" anchor="ctr"/>
          <a:lstStyle/>
          <a:p>
            <a:pPr marL="0" indent="0">
              <a:buNone/>
            </a:pPr>
            <a:r>
              <a:rPr lang="en-US" sz="2700" b="1" dirty="0">
                <a:solidFill>
                  <a:srgbClr val="EB6834"/>
                </a:solidFill>
                <a:latin typeface="Cambria" pitchFamily="34" charset="0"/>
                <a:ea typeface="Cambria" pitchFamily="34" charset="-122"/>
                <a:cs typeface="Cambria" pitchFamily="34" charset="-120"/>
              </a:rPr>
              <a:t>174 to 256×</a:t>
            </a:r>
            <a:endParaRPr lang="en-US" sz="2700" dirty="0"/>
          </a:p>
        </p:txBody>
      </p:sp>
      <p:sp>
        <p:nvSpPr>
          <p:cNvPr id="8" name="Text 6"/>
          <p:cNvSpPr txBox="1"/>
          <p:nvPr/>
        </p:nvSpPr>
        <p:spPr>
          <a:xfrm>
            <a:off x="566928" y="3703320"/>
            <a:ext cx="3108960" cy="548640"/>
          </a:xfrm>
          <a:prstGeom prst="rect">
            <a:avLst/>
          </a:prstGeom>
          <a:noFill/>
          <a:ln/>
        </p:spPr>
        <p:txBody>
          <a:bodyPr wrap="square" lIns="0" tIns="0" rIns="0" bIns="0" rtlCol="0" anchor="ctr"/>
          <a:lstStyle/>
          <a:p>
            <a:pPr marL="0" indent="0">
              <a:buNone/>
            </a:pPr>
            <a:r>
              <a:rPr lang="en-US" sz="1200" dirty="0">
                <a:solidFill>
                  <a:srgbClr val="5F6368"/>
                </a:solidFill>
                <a:latin typeface="Calibri" pitchFamily="34" charset="0"/>
                <a:ea typeface="Calibri" pitchFamily="34" charset="-122"/>
                <a:cs typeface="Calibri" pitchFamily="34" charset="-120"/>
              </a:rPr>
              <a:t>more resolved water cells</a:t>
            </a:r>
            <a:endParaRPr lang="en-US" sz="1200" dirty="0"/>
          </a:p>
          <a:p>
            <a:pPr marL="0" indent="0">
              <a:buNone/>
            </a:pPr>
            <a:r>
              <a:rPr lang="en-US" sz="1200" dirty="0">
                <a:solidFill>
                  <a:srgbClr val="5F6368"/>
                </a:solidFill>
                <a:latin typeface="Calibri" pitchFamily="34" charset="0"/>
                <a:ea typeface="Calibri" pitchFamily="34" charset="-122"/>
                <a:cs typeface="Calibri" pitchFamily="34" charset="-120"/>
              </a:rPr>
              <a:t>than the public product</a:t>
            </a:r>
            <a:endParaRPr lang="en-US" sz="1200" dirty="0"/>
          </a:p>
        </p:txBody>
      </p:sp>
      <p:sp>
        <p:nvSpPr>
          <p:cNvPr id="9" name="Text 7"/>
          <p:cNvSpPr txBox="1"/>
          <p:nvPr/>
        </p:nvSpPr>
        <p:spPr>
          <a:xfrm>
            <a:off x="566928" y="4398264"/>
            <a:ext cx="2286000" cy="475488"/>
          </a:xfrm>
          <a:prstGeom prst="rect">
            <a:avLst/>
          </a:prstGeom>
          <a:noFill/>
          <a:ln/>
        </p:spPr>
        <p:txBody>
          <a:bodyPr wrap="square" lIns="0" tIns="0" rIns="0" bIns="0" rtlCol="0" anchor="ctr"/>
          <a:lstStyle/>
          <a:p>
            <a:pPr marL="0" indent="0">
              <a:buNone/>
            </a:pPr>
            <a:r>
              <a:rPr lang="en-US" sz="2700" b="1" dirty="0">
                <a:solidFill>
                  <a:srgbClr val="065A82"/>
                </a:solidFill>
                <a:latin typeface="Cambria" pitchFamily="34" charset="0"/>
                <a:ea typeface="Cambria" pitchFamily="34" charset="-122"/>
                <a:cs typeface="Cambria" pitchFamily="34" charset="-120"/>
              </a:rPr>
              <a:t>99.5 %</a:t>
            </a:r>
            <a:endParaRPr lang="en-US" sz="2700" dirty="0"/>
          </a:p>
        </p:txBody>
      </p:sp>
      <p:sp>
        <p:nvSpPr>
          <p:cNvPr id="10" name="Text 8"/>
          <p:cNvSpPr txBox="1"/>
          <p:nvPr/>
        </p:nvSpPr>
        <p:spPr>
          <a:xfrm>
            <a:off x="566928" y="4873752"/>
            <a:ext cx="3108960" cy="548640"/>
          </a:xfrm>
          <a:prstGeom prst="rect">
            <a:avLst/>
          </a:prstGeom>
          <a:noFill/>
          <a:ln/>
        </p:spPr>
        <p:txBody>
          <a:bodyPr wrap="square" lIns="0" tIns="0" rIns="0" bIns="0" rtlCol="0" anchor="ctr"/>
          <a:lstStyle/>
          <a:p>
            <a:pPr marL="0" indent="0">
              <a:buNone/>
            </a:pPr>
            <a:r>
              <a:rPr lang="en-US" sz="1200" dirty="0">
                <a:solidFill>
                  <a:srgbClr val="5F6368"/>
                </a:solidFill>
                <a:latin typeface="Calibri" pitchFamily="34" charset="0"/>
                <a:ea typeface="Calibri" pitchFamily="34" charset="-122"/>
                <a:cs typeface="Calibri" pitchFamily="34" charset="-120"/>
              </a:rPr>
              <a:t>land and water agreement</a:t>
            </a:r>
            <a:endParaRPr lang="en-US" sz="1200" dirty="0"/>
          </a:p>
          <a:p>
            <a:pPr marL="0" indent="0">
              <a:buNone/>
            </a:pPr>
            <a:r>
              <a:rPr lang="en-US" sz="1200" dirty="0">
                <a:solidFill>
                  <a:srgbClr val="5F6368"/>
                </a:solidFill>
                <a:latin typeface="Calibri" pitchFamily="34" charset="0"/>
                <a:ea typeface="Calibri" pitchFamily="34" charset="-122"/>
                <a:cs typeface="Calibri" pitchFamily="34" charset="-120"/>
              </a:rPr>
              <a:t>with the coastline</a:t>
            </a:r>
            <a:endParaRPr lang="en-US" sz="1200" dirty="0"/>
          </a:p>
        </p:txBody>
      </p:sp>
      <p:pic>
        <p:nvPicPr>
          <p:cNvPr id="11" name="Image 0" descr="C:\Users\Unipa\Documents\MaltaDT\figures\bathymetry_overview.png"/>
          <p:cNvPicPr>
            <a:picLocks noChangeAspect="1"/>
          </p:cNvPicPr>
          <p:nvPr/>
        </p:nvPicPr>
        <p:blipFill>
          <a:blip r:embed="rId3"/>
          <a:stretch>
            <a:fillRect/>
          </a:stretch>
        </p:blipFill>
        <p:spPr>
          <a:xfrm>
            <a:off x="4160520" y="1783080"/>
            <a:ext cx="4754880" cy="4059936"/>
          </a:xfrm>
          <a:prstGeom prst="rect">
            <a:avLst/>
          </a:prstGeom>
        </p:spPr>
      </p:pic>
      <p:sp>
        <p:nvSpPr>
          <p:cNvPr id="12" name="Text 9"/>
          <p:cNvSpPr txBox="1"/>
          <p:nvPr/>
        </p:nvSpPr>
        <p:spPr>
          <a:xfrm>
            <a:off x="9189720" y="2377440"/>
            <a:ext cx="2468880" cy="2011680"/>
          </a:xfrm>
          <a:prstGeom prst="rect">
            <a:avLst/>
          </a:prstGeom>
          <a:noFill/>
          <a:ln/>
        </p:spPr>
        <p:txBody>
          <a:bodyPr wrap="square" lIns="0" tIns="0" rIns="0" bIns="0" rtlCol="0" anchor="ctr"/>
          <a:lstStyle/>
          <a:p>
            <a:pPr marL="0" indent="0">
              <a:lnSpc>
                <a:spcPts val="1600"/>
              </a:lnSpc>
              <a:buNone/>
            </a:pPr>
            <a:r>
              <a:rPr lang="en-US" sz="1150" b="1" dirty="0">
                <a:solidFill>
                  <a:srgbClr val="1A1A1A"/>
                </a:solidFill>
                <a:latin typeface="Calibri" pitchFamily="34" charset="0"/>
                <a:ea typeface="Calibri" pitchFamily="34" charset="-122"/>
                <a:cs typeface="Calibri" pitchFamily="34" charset="-120"/>
              </a:rPr>
              <a:t>Two coordinate reference conditions
</a:t>
            </a:r>
            <a:endParaRPr lang="en-US" sz="1150" dirty="0"/>
          </a:p>
          <a:p>
            <a:pPr marL="0" indent="0">
              <a:lnSpc>
                <a:spcPts val="1600"/>
              </a:lnSpc>
              <a:buNone/>
            </a:pPr>
            <a:r>
              <a:rPr lang="en-US" sz="1150" dirty="0">
                <a:solidFill>
                  <a:srgbClr val="5F6368"/>
                </a:solidFill>
                <a:latin typeface="Calibri" pitchFamily="34" charset="0"/>
                <a:ea typeface="Calibri" pitchFamily="34" charset="-122"/>
                <a:cs typeface="Calibri" pitchFamily="34" charset="-120"/>
              </a:rPr>
              <a:t>The grids do not encode their datum. Interpreted as WGS84 they are displaced by 197 m, and no error is raised.
</a:t>
            </a:r>
            <a:endParaRPr lang="en-US" sz="1150" dirty="0"/>
          </a:p>
          <a:p>
            <a:pPr marL="0" indent="0">
              <a:lnSpc>
                <a:spcPts val="1600"/>
              </a:lnSpc>
              <a:buNone/>
            </a:pPr>
            <a:r>
              <a:rPr lang="en-US" sz="1150" dirty="0">
                <a:solidFill>
                  <a:srgbClr val="5F6368"/>
                </a:solidFill>
                <a:latin typeface="Calibri" pitchFamily="34" charset="0"/>
                <a:ea typeface="Calibri" pitchFamily="34" charset="-122"/>
                <a:cs typeface="Calibri" pitchFamily="34" charset="-120"/>
              </a:rPr>
              <a:t>The bathymetry is ED50 and the coastline is WGS84, so neither overlays the other without a datum transformation.</a:t>
            </a:r>
            <a:endParaRPr lang="en-US" sz="1150" dirty="0"/>
          </a:p>
        </p:txBody>
      </p:sp>
      <p:sp>
        <p:nvSpPr>
          <p:cNvPr id="13" name="Text 10"/>
          <p:cNvSpPr txBox="1"/>
          <p:nvPr/>
        </p:nvSpPr>
        <p:spPr>
          <a:xfrm>
            <a:off x="566928" y="6053328"/>
            <a:ext cx="11055096" cy="310896"/>
          </a:xfrm>
          <a:prstGeom prst="rect">
            <a:avLst/>
          </a:prstGeom>
          <a:noFill/>
          <a:ln/>
        </p:spPr>
        <p:txBody>
          <a:bodyPr wrap="square" lIns="0" tIns="0" rIns="0" bIns="0" rtlCol="0" anchor="ctr"/>
          <a:lstStyle/>
          <a:p>
            <a:pPr marL="0" indent="0">
              <a:buNone/>
            </a:pPr>
            <a:r>
              <a:rPr lang="en-US" sz="1050" i="1" dirty="0">
                <a:solidFill>
                  <a:srgbClr val="5F6368"/>
                </a:solidFill>
                <a:latin typeface="Calibri" pitchFamily="34" charset="0"/>
                <a:ea typeface="Calibri" pitchFamily="34" charset="-122"/>
                <a:cs typeface="Calibri" pitchFamily="34" charset="-120"/>
              </a:rPr>
              <a:t>Grand Harbour 1.64 km², mean depth 15.9 m. Marsamxett 1.32 km², mean depth 13.3 m.</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THE PHENOMENON</a:t>
            </a:r>
            <a:endParaRPr lang="en-US" sz="1200" dirty="0"/>
          </a:p>
        </p:txBody>
      </p:sp>
      <p:sp>
        <p:nvSpPr>
          <p:cNvPr id="3" name="Text 1"/>
          <p:cNvSpPr txBox="1"/>
          <p:nvPr/>
        </p:nvSpPr>
        <p:spPr>
          <a:xfrm>
            <a:off x="566928" y="749808"/>
            <a:ext cx="1042416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The milgħuba is a meteotsunami</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An atmospherically generated long wave, known as rissaga in the Balearics and as marrobbio on the Sicilian shelf.</a:t>
            </a:r>
            <a:endParaRPr lang="en-US" sz="1400" dirty="0"/>
          </a:p>
        </p:txBody>
      </p:sp>
      <p:sp>
        <p:nvSpPr>
          <p:cNvPr id="5" name="Shape 3"/>
          <p:cNvSpPr/>
          <p:nvPr/>
        </p:nvSpPr>
        <p:spPr>
          <a:xfrm>
            <a:off x="566928" y="2487168"/>
            <a:ext cx="3520440" cy="2286000"/>
          </a:xfrm>
          <a:prstGeom prst="roundRect">
            <a:avLst>
              <a:gd name="adj" fmla="val 2400"/>
            </a:avLst>
          </a:prstGeom>
          <a:solidFill>
            <a:srgbClr val="EEF3F6"/>
          </a:solidFill>
          <a:ln/>
        </p:spPr>
        <p:txBody>
          <a:bodyPr/>
          <a:lstStyle/>
          <a:p>
            <a:endParaRPr lang="it-IT"/>
          </a:p>
        </p:txBody>
      </p:sp>
      <p:sp>
        <p:nvSpPr>
          <p:cNvPr id="6" name="Shape 4"/>
          <p:cNvSpPr/>
          <p:nvPr/>
        </p:nvSpPr>
        <p:spPr>
          <a:xfrm>
            <a:off x="822960" y="2212848"/>
            <a:ext cx="402336" cy="402336"/>
          </a:xfrm>
          <a:prstGeom prst="ellipse">
            <a:avLst/>
          </a:prstGeom>
          <a:solidFill>
            <a:srgbClr val="EB6834"/>
          </a:solidFill>
          <a:ln/>
        </p:spPr>
        <p:txBody>
          <a:bodyPr/>
          <a:lstStyle/>
          <a:p>
            <a:endParaRPr lang="it-IT"/>
          </a:p>
        </p:txBody>
      </p:sp>
      <p:sp>
        <p:nvSpPr>
          <p:cNvPr id="7" name="Text 5"/>
          <p:cNvSpPr txBox="1"/>
          <p:nvPr/>
        </p:nvSpPr>
        <p:spPr>
          <a:xfrm>
            <a:off x="822960" y="2212848"/>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8" name="Text 6"/>
          <p:cNvSpPr txBox="1"/>
          <p:nvPr/>
        </p:nvSpPr>
        <p:spPr>
          <a:xfrm>
            <a:off x="822960" y="2788920"/>
            <a:ext cx="3017520" cy="329184"/>
          </a:xfrm>
          <a:prstGeom prst="rect">
            <a:avLst/>
          </a:prstGeom>
          <a:noFill/>
          <a:ln/>
        </p:spPr>
        <p:txBody>
          <a:bodyPr wrap="square" lIns="0" tIns="0" rIns="0" bIns="0" rtlCol="0" anchor="ctr"/>
          <a:lstStyle/>
          <a:p>
            <a:pPr marL="0" indent="0">
              <a:buNone/>
            </a:pPr>
            <a:r>
              <a:rPr lang="en-US" sz="1550" b="1" dirty="0">
                <a:solidFill>
                  <a:srgbClr val="1A1A1A"/>
                </a:solidFill>
                <a:latin typeface="Cambria" pitchFamily="34" charset="0"/>
                <a:ea typeface="Cambria" pitchFamily="34" charset="-122"/>
                <a:cs typeface="Cambria" pitchFamily="34" charset="-120"/>
              </a:rPr>
              <a:t>Proudman resonance</a:t>
            </a:r>
            <a:endParaRPr lang="en-US" sz="1550" dirty="0"/>
          </a:p>
        </p:txBody>
      </p:sp>
      <p:sp>
        <p:nvSpPr>
          <p:cNvPr id="9" name="Text 7"/>
          <p:cNvSpPr txBox="1"/>
          <p:nvPr/>
        </p:nvSpPr>
        <p:spPr>
          <a:xfrm>
            <a:off x="822960" y="3145536"/>
            <a:ext cx="3017520" cy="749808"/>
          </a:xfrm>
          <a:prstGeom prst="rect">
            <a:avLst/>
          </a:prstGeom>
          <a:noFill/>
          <a:ln/>
        </p:spPr>
        <p:txBody>
          <a:bodyPr wrap="square" lIns="0" tIns="0" rIns="0" bIns="0" rtlCol="0" anchor="ctr"/>
          <a:lstStyle/>
          <a:p>
            <a:pPr marL="0" indent="0">
              <a:lnSpc>
                <a:spcPts val="1600"/>
              </a:lnSpc>
              <a:buNone/>
            </a:pPr>
            <a:r>
              <a:rPr lang="en-US" sz="1200" dirty="0">
                <a:solidFill>
                  <a:srgbClr val="1A1A1A"/>
                </a:solidFill>
                <a:latin typeface="Calibri" pitchFamily="34" charset="0"/>
                <a:ea typeface="Calibri" pitchFamily="34" charset="-122"/>
                <a:cs typeface="Calibri" pitchFamily="34" charset="-120"/>
              </a:rPr>
              <a:t>Energy transfers most efficiently when the atmospheric disturbance travels at the celerity of the long wave beneath it.</a:t>
            </a:r>
            <a:endParaRPr lang="en-US" sz="1200" dirty="0"/>
          </a:p>
        </p:txBody>
      </p:sp>
      <p:sp>
        <p:nvSpPr>
          <p:cNvPr id="10" name="Text 8"/>
          <p:cNvSpPr txBox="1"/>
          <p:nvPr/>
        </p:nvSpPr>
        <p:spPr>
          <a:xfrm>
            <a:off x="822960" y="3950208"/>
            <a:ext cx="3017520" cy="731520"/>
          </a:xfrm>
          <a:prstGeom prst="rect">
            <a:avLst/>
          </a:prstGeom>
          <a:noFill/>
          <a:ln/>
        </p:spPr>
        <p:txBody>
          <a:bodyPr wrap="square" lIns="0" tIns="0" rIns="0" bIns="0" rtlCol="0" anchor="ctr"/>
          <a:lstStyle/>
          <a:p>
            <a:pPr marL="0" indent="0">
              <a:lnSpc>
                <a:spcPts val="1500"/>
              </a:lnSpc>
              <a:buNone/>
            </a:pPr>
            <a:r>
              <a:rPr lang="en-US" sz="1100" b="1" dirty="0">
                <a:solidFill>
                  <a:srgbClr val="1C7293"/>
                </a:solidFill>
                <a:latin typeface="Calibri" pitchFamily="34" charset="0"/>
                <a:ea typeface="Calibri" pitchFamily="34" charset="-122"/>
                <a:cs typeface="Calibri" pitchFamily="34" charset="-120"/>
              </a:rPr>
              <a:t>The Malta Plateau, 99 to 190 m, is resonant with disturbances of 94 to 155 km h⁻¹.</a:t>
            </a:r>
            <a:endParaRPr lang="en-US" sz="1100" dirty="0"/>
          </a:p>
        </p:txBody>
      </p:sp>
      <p:sp>
        <p:nvSpPr>
          <p:cNvPr id="11" name="Shape 9"/>
          <p:cNvSpPr/>
          <p:nvPr/>
        </p:nvSpPr>
        <p:spPr>
          <a:xfrm>
            <a:off x="4334256" y="2487168"/>
            <a:ext cx="3520440" cy="2286000"/>
          </a:xfrm>
          <a:prstGeom prst="roundRect">
            <a:avLst>
              <a:gd name="adj" fmla="val 2400"/>
            </a:avLst>
          </a:prstGeom>
          <a:solidFill>
            <a:srgbClr val="EEF3F6"/>
          </a:solidFill>
          <a:ln/>
        </p:spPr>
        <p:txBody>
          <a:bodyPr/>
          <a:lstStyle/>
          <a:p>
            <a:endParaRPr lang="it-IT"/>
          </a:p>
        </p:txBody>
      </p:sp>
      <p:sp>
        <p:nvSpPr>
          <p:cNvPr id="12" name="Shape 10"/>
          <p:cNvSpPr/>
          <p:nvPr/>
        </p:nvSpPr>
        <p:spPr>
          <a:xfrm>
            <a:off x="4590288" y="2212848"/>
            <a:ext cx="402336" cy="402336"/>
          </a:xfrm>
          <a:prstGeom prst="ellipse">
            <a:avLst/>
          </a:prstGeom>
          <a:solidFill>
            <a:srgbClr val="065A82"/>
          </a:solidFill>
          <a:ln/>
        </p:spPr>
        <p:txBody>
          <a:bodyPr/>
          <a:lstStyle/>
          <a:p>
            <a:endParaRPr lang="it-IT"/>
          </a:p>
        </p:txBody>
      </p:sp>
      <p:sp>
        <p:nvSpPr>
          <p:cNvPr id="13" name="Text 11"/>
          <p:cNvSpPr txBox="1"/>
          <p:nvPr/>
        </p:nvSpPr>
        <p:spPr>
          <a:xfrm>
            <a:off x="4590288" y="2212848"/>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4" name="Text 12"/>
          <p:cNvSpPr txBox="1"/>
          <p:nvPr/>
        </p:nvSpPr>
        <p:spPr>
          <a:xfrm>
            <a:off x="4590288" y="2788920"/>
            <a:ext cx="3017520" cy="329184"/>
          </a:xfrm>
          <a:prstGeom prst="rect">
            <a:avLst/>
          </a:prstGeom>
          <a:noFill/>
          <a:ln/>
        </p:spPr>
        <p:txBody>
          <a:bodyPr wrap="square" lIns="0" tIns="0" rIns="0" bIns="0" rtlCol="0" anchor="ctr"/>
          <a:lstStyle/>
          <a:p>
            <a:pPr marL="0" indent="0">
              <a:buNone/>
            </a:pPr>
            <a:r>
              <a:rPr lang="en-US" sz="1550" b="1" dirty="0">
                <a:solidFill>
                  <a:srgbClr val="1A1A1A"/>
                </a:solidFill>
                <a:latin typeface="Cambria" pitchFamily="34" charset="0"/>
                <a:ea typeface="Cambria" pitchFamily="34" charset="-122"/>
                <a:cs typeface="Cambria" pitchFamily="34" charset="-120"/>
              </a:rPr>
              <a:t>Shoaling</a:t>
            </a:r>
            <a:endParaRPr lang="en-US" sz="1550" dirty="0"/>
          </a:p>
        </p:txBody>
      </p:sp>
      <p:sp>
        <p:nvSpPr>
          <p:cNvPr id="15" name="Text 13"/>
          <p:cNvSpPr txBox="1"/>
          <p:nvPr/>
        </p:nvSpPr>
        <p:spPr>
          <a:xfrm>
            <a:off x="4590288" y="3145536"/>
            <a:ext cx="3017520" cy="749808"/>
          </a:xfrm>
          <a:prstGeom prst="rect">
            <a:avLst/>
          </a:prstGeom>
          <a:noFill/>
          <a:ln/>
        </p:spPr>
        <p:txBody>
          <a:bodyPr wrap="square" lIns="0" tIns="0" rIns="0" bIns="0" rtlCol="0" anchor="ctr"/>
          <a:lstStyle/>
          <a:p>
            <a:pPr marL="0" indent="0">
              <a:lnSpc>
                <a:spcPts val="1600"/>
              </a:lnSpc>
              <a:buNone/>
            </a:pPr>
            <a:r>
              <a:rPr lang="en-US" sz="1200" dirty="0">
                <a:solidFill>
                  <a:srgbClr val="1A1A1A"/>
                </a:solidFill>
                <a:latin typeface="Calibri" pitchFamily="34" charset="0"/>
                <a:ea typeface="Calibri" pitchFamily="34" charset="-122"/>
                <a:cs typeface="Calibri" pitchFamily="34" charset="-120"/>
              </a:rPr>
              <a:t>Green's law governs the amplification of the wave over the shoaling approach.</a:t>
            </a:r>
            <a:endParaRPr lang="en-US" sz="1200" dirty="0"/>
          </a:p>
        </p:txBody>
      </p:sp>
      <p:sp>
        <p:nvSpPr>
          <p:cNvPr id="16" name="Text 14"/>
          <p:cNvSpPr txBox="1"/>
          <p:nvPr/>
        </p:nvSpPr>
        <p:spPr>
          <a:xfrm>
            <a:off x="4590288" y="3950208"/>
            <a:ext cx="3017520" cy="731520"/>
          </a:xfrm>
          <a:prstGeom prst="rect">
            <a:avLst/>
          </a:prstGeom>
          <a:noFill/>
          <a:ln/>
        </p:spPr>
        <p:txBody>
          <a:bodyPr wrap="square" lIns="0" tIns="0" rIns="0" bIns="0" rtlCol="0" anchor="ctr"/>
          <a:lstStyle/>
          <a:p>
            <a:pPr marL="0" indent="0">
              <a:lnSpc>
                <a:spcPts val="1500"/>
              </a:lnSpc>
              <a:buNone/>
            </a:pPr>
            <a:r>
              <a:rPr lang="en-US" sz="1100" b="1" dirty="0">
                <a:solidFill>
                  <a:srgbClr val="1C7293"/>
                </a:solidFill>
                <a:latin typeface="Calibri" pitchFamily="34" charset="0"/>
                <a:ea typeface="Calibri" pitchFamily="34" charset="-122"/>
                <a:cs typeface="Calibri" pitchFamily="34" charset="-120"/>
              </a:rPr>
              <a:t>From the plateau into the harbours, a factor of 1.75 to 1.84.</a:t>
            </a:r>
            <a:endParaRPr lang="en-US" sz="1100" dirty="0"/>
          </a:p>
        </p:txBody>
      </p:sp>
      <p:sp>
        <p:nvSpPr>
          <p:cNvPr id="17" name="Shape 15"/>
          <p:cNvSpPr/>
          <p:nvPr/>
        </p:nvSpPr>
        <p:spPr>
          <a:xfrm>
            <a:off x="8101584" y="2487168"/>
            <a:ext cx="3520440" cy="2286000"/>
          </a:xfrm>
          <a:prstGeom prst="roundRect">
            <a:avLst>
              <a:gd name="adj" fmla="val 2400"/>
            </a:avLst>
          </a:prstGeom>
          <a:solidFill>
            <a:srgbClr val="EEF3F6"/>
          </a:solidFill>
          <a:ln/>
        </p:spPr>
        <p:txBody>
          <a:bodyPr/>
          <a:lstStyle/>
          <a:p>
            <a:endParaRPr lang="it-IT"/>
          </a:p>
        </p:txBody>
      </p:sp>
      <p:sp>
        <p:nvSpPr>
          <p:cNvPr id="18" name="Shape 16"/>
          <p:cNvSpPr/>
          <p:nvPr/>
        </p:nvSpPr>
        <p:spPr>
          <a:xfrm>
            <a:off x="8357616" y="2212848"/>
            <a:ext cx="402336" cy="402336"/>
          </a:xfrm>
          <a:prstGeom prst="ellipse">
            <a:avLst/>
          </a:prstGeom>
          <a:solidFill>
            <a:srgbClr val="065A82"/>
          </a:solidFill>
          <a:ln/>
        </p:spPr>
        <p:txBody>
          <a:bodyPr/>
          <a:lstStyle/>
          <a:p>
            <a:endParaRPr lang="it-IT"/>
          </a:p>
        </p:txBody>
      </p:sp>
      <p:sp>
        <p:nvSpPr>
          <p:cNvPr id="19" name="Text 17"/>
          <p:cNvSpPr txBox="1"/>
          <p:nvPr/>
        </p:nvSpPr>
        <p:spPr>
          <a:xfrm>
            <a:off x="8357616" y="2212848"/>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0" name="Text 18"/>
          <p:cNvSpPr txBox="1"/>
          <p:nvPr/>
        </p:nvSpPr>
        <p:spPr>
          <a:xfrm>
            <a:off x="8357616" y="2788920"/>
            <a:ext cx="3017520" cy="329184"/>
          </a:xfrm>
          <a:prstGeom prst="rect">
            <a:avLst/>
          </a:prstGeom>
          <a:noFill/>
          <a:ln/>
        </p:spPr>
        <p:txBody>
          <a:bodyPr wrap="square" lIns="0" tIns="0" rIns="0" bIns="0" rtlCol="0" anchor="ctr"/>
          <a:lstStyle/>
          <a:p>
            <a:pPr marL="0" indent="0">
              <a:buNone/>
            </a:pPr>
            <a:r>
              <a:rPr lang="en-US" sz="1550" b="1" dirty="0">
                <a:solidFill>
                  <a:srgbClr val="1A1A1A"/>
                </a:solidFill>
                <a:latin typeface="Cambria" pitchFamily="34" charset="0"/>
                <a:ea typeface="Cambria" pitchFamily="34" charset="-122"/>
                <a:cs typeface="Cambria" pitchFamily="34" charset="-120"/>
              </a:rPr>
              <a:t>Basin resonance</a:t>
            </a:r>
            <a:endParaRPr lang="en-US" sz="1550" dirty="0"/>
          </a:p>
        </p:txBody>
      </p:sp>
      <p:sp>
        <p:nvSpPr>
          <p:cNvPr id="21" name="Text 19"/>
          <p:cNvSpPr txBox="1"/>
          <p:nvPr/>
        </p:nvSpPr>
        <p:spPr>
          <a:xfrm>
            <a:off x="8357616" y="3145536"/>
            <a:ext cx="3017520" cy="749808"/>
          </a:xfrm>
          <a:prstGeom prst="rect">
            <a:avLst/>
          </a:prstGeom>
          <a:noFill/>
          <a:ln/>
        </p:spPr>
        <p:txBody>
          <a:bodyPr wrap="square" lIns="0" tIns="0" rIns="0" bIns="0" rtlCol="0" anchor="ctr"/>
          <a:lstStyle/>
          <a:p>
            <a:pPr marL="0" indent="0">
              <a:lnSpc>
                <a:spcPts val="1600"/>
              </a:lnSpc>
              <a:buNone/>
            </a:pPr>
            <a:r>
              <a:rPr lang="en-US" sz="1200" dirty="0">
                <a:solidFill>
                  <a:srgbClr val="1A1A1A"/>
                </a:solidFill>
                <a:latin typeface="Calibri" pitchFamily="34" charset="0"/>
                <a:ea typeface="Calibri" pitchFamily="34" charset="-122"/>
                <a:cs typeface="Calibri" pitchFamily="34" charset="-120"/>
              </a:rPr>
              <a:t>The geometry of the basin amplifies the wave arriving at its mouth.</a:t>
            </a:r>
            <a:endParaRPr lang="en-US" sz="1200" dirty="0"/>
          </a:p>
        </p:txBody>
      </p:sp>
      <p:sp>
        <p:nvSpPr>
          <p:cNvPr id="22" name="Text 20"/>
          <p:cNvSpPr txBox="1"/>
          <p:nvPr/>
        </p:nvSpPr>
        <p:spPr>
          <a:xfrm>
            <a:off x="8357616" y="3950208"/>
            <a:ext cx="3017520" cy="731520"/>
          </a:xfrm>
          <a:prstGeom prst="rect">
            <a:avLst/>
          </a:prstGeom>
          <a:noFill/>
          <a:ln/>
        </p:spPr>
        <p:txBody>
          <a:bodyPr wrap="square" lIns="0" tIns="0" rIns="0" bIns="0" rtlCol="0" anchor="ctr"/>
          <a:lstStyle/>
          <a:p>
            <a:pPr marL="0" indent="0">
              <a:lnSpc>
                <a:spcPts val="1500"/>
              </a:lnSpc>
              <a:buNone/>
            </a:pPr>
            <a:r>
              <a:rPr lang="en-US" sz="1100" b="1" dirty="0">
                <a:solidFill>
                  <a:srgbClr val="1C7293"/>
                </a:solidFill>
                <a:latin typeface="Calibri" pitchFamily="34" charset="0"/>
                <a:ea typeface="Calibri" pitchFamily="34" charset="-122"/>
                <a:cs typeface="Calibri" pitchFamily="34" charset="-120"/>
              </a:rPr>
              <a:t>Quarter-wave and Helmholtz estimates agree at 12 to 18 minutes.</a:t>
            </a:r>
            <a:endParaRPr lang="en-US" sz="1100" dirty="0"/>
          </a:p>
        </p:txBody>
      </p:sp>
      <p:sp>
        <p:nvSpPr>
          <p:cNvPr id="23" name="Text 21"/>
          <p:cNvSpPr txBox="1"/>
          <p:nvPr/>
        </p:nvSpPr>
        <p:spPr>
          <a:xfrm>
            <a:off x="566928" y="6053328"/>
            <a:ext cx="11055096" cy="310896"/>
          </a:xfrm>
          <a:prstGeom prst="rect">
            <a:avLst/>
          </a:prstGeom>
          <a:noFill/>
          <a:ln/>
        </p:spPr>
        <p:txBody>
          <a:bodyPr wrap="square" lIns="0" tIns="0" rIns="0" bIns="0" rtlCol="0" anchor="ctr"/>
          <a:lstStyle/>
          <a:p>
            <a:pPr marL="0" indent="0">
              <a:buNone/>
            </a:pPr>
            <a:r>
              <a:rPr lang="en-US" sz="1050" i="1" dirty="0">
                <a:solidFill>
                  <a:srgbClr val="5F6368"/>
                </a:solidFill>
                <a:latin typeface="Calibri" pitchFamily="34" charset="0"/>
                <a:ea typeface="Calibri" pitchFamily="34" charset="-122"/>
                <a:cs typeface="Calibri" pitchFamily="34" charset="-120"/>
              </a:rPr>
              <a:t>At Ciutadella, Menorca, the three compound to an order of magnitude. No equivalent decomposition has been published for Malta.</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RESONANT PERIODS</a:t>
            </a:r>
            <a:endParaRPr lang="en-US" sz="1200" dirty="0"/>
          </a:p>
        </p:txBody>
      </p:sp>
      <p:sp>
        <p:nvSpPr>
          <p:cNvPr id="3" name="Text 1"/>
          <p:cNvSpPr txBox="1"/>
          <p:nvPr/>
        </p:nvSpPr>
        <p:spPr>
          <a:xfrm>
            <a:off x="566928" y="749808"/>
            <a:ext cx="1042416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The harbours do not resonate in the observed band</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Quarter-wave periods, T = 4L∕√(gh), against the 0.2 to 2 cph band reported by Drago.</a:t>
            </a:r>
            <a:endParaRPr lang="en-US" sz="1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66928" y="2286000"/>
          <a:ext cx="7772400" cy="2400300"/>
        </p:xfrm>
        <a:graphic>
          <a:graphicData uri="http://schemas.openxmlformats.org/drawingml/2006/table">
            <a:tbl>
              <a:tblPr/>
              <a:tblGrid>
                <a:gridCol w="2743200">
                  <a:extLst>
                    <a:ext uri="{9D8B030D-6E8A-4147-A177-3AD203B41FA5}">
                      <a16:colId xmlns:a16="http://schemas.microsoft.com/office/drawing/2014/main" val="20000"/>
                    </a:ext>
                  </a:extLst>
                </a:gridCol>
                <a:gridCol w="868680">
                  <a:extLst>
                    <a:ext uri="{9D8B030D-6E8A-4147-A177-3AD203B41FA5}">
                      <a16:colId xmlns:a16="http://schemas.microsoft.com/office/drawing/2014/main" val="20001"/>
                    </a:ext>
                  </a:extLst>
                </a:gridCol>
                <a:gridCol w="777240">
                  <a:extLst>
                    <a:ext uri="{9D8B030D-6E8A-4147-A177-3AD203B41FA5}">
                      <a16:colId xmlns:a16="http://schemas.microsoft.com/office/drawing/2014/main" val="20002"/>
                    </a:ext>
                  </a:extLst>
                </a:gridCol>
                <a:gridCol w="960120">
                  <a:extLst>
                    <a:ext uri="{9D8B030D-6E8A-4147-A177-3AD203B41FA5}">
                      <a16:colId xmlns:a16="http://schemas.microsoft.com/office/drawing/2014/main" val="20003"/>
                    </a:ext>
                  </a:extLst>
                </a:gridCol>
                <a:gridCol w="105156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342900">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Element</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r">
                        <a:buNone/>
                      </a:pPr>
                      <a:r>
                        <a:rPr lang="en-US" sz="1200" b="1" dirty="0">
                          <a:solidFill>
                            <a:srgbClr val="FFFFFF"/>
                          </a:solidFill>
                          <a:latin typeface="Calibri" pitchFamily="34" charset="0"/>
                          <a:ea typeface="Calibri" pitchFamily="34" charset="-122"/>
                          <a:cs typeface="Calibri" pitchFamily="34" charset="-120"/>
                        </a:rPr>
                        <a:t>L</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r">
                        <a:buNone/>
                      </a:pPr>
                      <a:r>
                        <a:rPr lang="en-US" sz="1200" b="1" dirty="0">
                          <a:solidFill>
                            <a:srgbClr val="FFFFFF"/>
                          </a:solidFill>
                          <a:latin typeface="Calibri" pitchFamily="34" charset="0"/>
                          <a:ea typeface="Calibri" pitchFamily="34" charset="-122"/>
                          <a:cs typeface="Calibri" pitchFamily="34" charset="-120"/>
                        </a:rPr>
                        <a:t>h</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r">
                        <a:buNone/>
                      </a:pPr>
                      <a:r>
                        <a:rPr lang="en-US" sz="1200" b="1" dirty="0">
                          <a:solidFill>
                            <a:srgbClr val="FFFFFF"/>
                          </a:solidFill>
                          <a:latin typeface="Calibri" pitchFamily="34" charset="0"/>
                          <a:ea typeface="Calibri" pitchFamily="34" charset="-122"/>
                          <a:cs typeface="Calibri" pitchFamily="34" charset="-120"/>
                        </a:rPr>
                        <a:t>Period</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r">
                        <a:buNone/>
                      </a:pPr>
                      <a:r>
                        <a:rPr lang="en-US" sz="1200" b="1" dirty="0">
                          <a:solidFill>
                            <a:srgbClr val="FFFFFF"/>
                          </a:solidFill>
                          <a:latin typeface="Calibri" pitchFamily="34" charset="0"/>
                          <a:ea typeface="Calibri" pitchFamily="34" charset="-122"/>
                          <a:cs typeface="Calibri" pitchFamily="34" charset="-120"/>
                        </a:rPr>
                        <a:t>Frequency</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l">
                        <a:buNone/>
                      </a:pP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extLst>
                  <a:ext uri="{0D108BD9-81ED-4DB2-BD59-A6C34878D82A}">
                    <a16:rowId xmlns:a16="http://schemas.microsoft.com/office/drawing/2014/main" val="10000"/>
                  </a:ext>
                </a:extLst>
              </a:tr>
              <a:tr h="342900">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Plateau to Sicily, quarter wave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90 km</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150 m</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156 min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0.38 cph</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l">
                        <a:buNone/>
                      </a:pPr>
                      <a:r>
                        <a:rPr lang="en-US" sz="1200" b="1" dirty="0">
                          <a:solidFill>
                            <a:srgbClr val="EB6834"/>
                          </a:solidFill>
                          <a:latin typeface="Calibri" pitchFamily="34" charset="0"/>
                          <a:ea typeface="Calibri" pitchFamily="34" charset="-122"/>
                          <a:cs typeface="Calibri" pitchFamily="34" charset="-120"/>
                        </a:rPr>
                        <a:t>within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extLst>
                  <a:ext uri="{0D108BD9-81ED-4DB2-BD59-A6C34878D82A}">
                    <a16:rowId xmlns:a16="http://schemas.microsoft.com/office/drawing/2014/main" val="10001"/>
                  </a:ext>
                </a:extLst>
              </a:tr>
              <a:tr h="342900">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Plateau to Sicily, half wave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90 km</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150 m</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78 min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0.77 cph</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l">
                        <a:buNone/>
                      </a:pPr>
                      <a:r>
                        <a:rPr lang="en-US" sz="1200" b="1" dirty="0">
                          <a:solidFill>
                            <a:srgbClr val="EB6834"/>
                          </a:solidFill>
                          <a:latin typeface="Calibri" pitchFamily="34" charset="0"/>
                          <a:ea typeface="Calibri" pitchFamily="34" charset="-122"/>
                          <a:cs typeface="Calibri" pitchFamily="34" charset="-120"/>
                        </a:rPr>
                        <a:t>within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extLst>
                  <a:ext uri="{0D108BD9-81ED-4DB2-BD59-A6C34878D82A}">
                    <a16:rowId xmlns:a16="http://schemas.microsoft.com/office/drawing/2014/main" val="10002"/>
                  </a:ext>
                </a:extLst>
              </a:tr>
              <a:tr h="342900">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Near plateau</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25 km</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120 m</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49 min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1.24 cph</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l">
                        <a:buNone/>
                      </a:pPr>
                      <a:r>
                        <a:rPr lang="en-US" sz="1200" b="1" dirty="0">
                          <a:solidFill>
                            <a:srgbClr val="EB6834"/>
                          </a:solidFill>
                          <a:latin typeface="Calibri" pitchFamily="34" charset="0"/>
                          <a:ea typeface="Calibri" pitchFamily="34" charset="-122"/>
                          <a:cs typeface="Calibri" pitchFamily="34" charset="-120"/>
                        </a:rPr>
                        <a:t>within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extLst>
                  <a:ext uri="{0D108BD9-81ED-4DB2-BD59-A6C34878D82A}">
                    <a16:rowId xmlns:a16="http://schemas.microsoft.com/office/drawing/2014/main" val="10003"/>
                  </a:ext>
                </a:extLst>
              </a:tr>
              <a:tr h="342900">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Grand Harbour</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3.2 km</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16 m</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17 min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3.49 cph</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5F6368"/>
                          </a:solidFill>
                          <a:latin typeface="Calibri" pitchFamily="34" charset="0"/>
                          <a:ea typeface="Calibri" pitchFamily="34" charset="-122"/>
                          <a:cs typeface="Calibri" pitchFamily="34" charset="-120"/>
                        </a:rPr>
                        <a:t>outside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42900">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Marsamxett</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3.2 km</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13 m</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18 min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3.26 cph</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5F6368"/>
                          </a:solidFill>
                          <a:latin typeface="Calibri" pitchFamily="34" charset="0"/>
                          <a:ea typeface="Calibri" pitchFamily="34" charset="-122"/>
                          <a:cs typeface="Calibri" pitchFamily="34" charset="-120"/>
                        </a:rPr>
                        <a:t>outside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42900">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A 1 km inlet</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1.0 km</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12 m</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6 min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9.76 cph</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5F6368"/>
                          </a:solidFill>
                          <a:latin typeface="Calibri" pitchFamily="34" charset="0"/>
                          <a:ea typeface="Calibri" pitchFamily="34" charset="-122"/>
                          <a:cs typeface="Calibri" pitchFamily="34" charset="-120"/>
                        </a:rPr>
                        <a:t>outside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5" name="Shape 3"/>
          <p:cNvSpPr/>
          <p:nvPr/>
        </p:nvSpPr>
        <p:spPr>
          <a:xfrm>
            <a:off x="8641080" y="2286000"/>
            <a:ext cx="2980944" cy="2432304"/>
          </a:xfrm>
          <a:prstGeom prst="roundRect">
            <a:avLst>
              <a:gd name="adj" fmla="val 2256"/>
            </a:avLst>
          </a:prstGeom>
          <a:solidFill>
            <a:srgbClr val="21295C"/>
          </a:solidFill>
          <a:ln/>
        </p:spPr>
        <p:txBody>
          <a:bodyPr/>
          <a:lstStyle/>
          <a:p>
            <a:endParaRPr lang="it-IT"/>
          </a:p>
        </p:txBody>
      </p:sp>
      <p:sp>
        <p:nvSpPr>
          <p:cNvPr id="7" name="Text 4"/>
          <p:cNvSpPr txBox="1"/>
          <p:nvPr/>
        </p:nvSpPr>
        <p:spPr>
          <a:xfrm>
            <a:off x="8915400" y="2514600"/>
            <a:ext cx="2468880" cy="292608"/>
          </a:xfrm>
          <a:prstGeom prst="rect">
            <a:avLst/>
          </a:prstGeom>
          <a:noFill/>
          <a:ln/>
        </p:spPr>
        <p:txBody>
          <a:bodyPr wrap="square" lIns="0" tIns="0" rIns="0" bIns="0" rtlCol="0" anchor="ctr"/>
          <a:lstStyle/>
          <a:p>
            <a:pPr marL="0" indent="0">
              <a:buNone/>
            </a:pPr>
            <a:r>
              <a:rPr lang="en-US" sz="1400" b="1" dirty="0">
                <a:solidFill>
                  <a:srgbClr val="EB6834"/>
                </a:solidFill>
                <a:latin typeface="Cambria" pitchFamily="34" charset="0"/>
                <a:ea typeface="Cambria" pitchFamily="34" charset="-122"/>
                <a:cs typeface="Cambria" pitchFamily="34" charset="-120"/>
              </a:rPr>
              <a:t>The consequence</a:t>
            </a:r>
            <a:endParaRPr lang="en-US" sz="1400" dirty="0"/>
          </a:p>
        </p:txBody>
      </p:sp>
      <p:sp>
        <p:nvSpPr>
          <p:cNvPr id="8" name="Text 5"/>
          <p:cNvSpPr txBox="1"/>
          <p:nvPr/>
        </p:nvSpPr>
        <p:spPr>
          <a:xfrm>
            <a:off x="8915400" y="2880360"/>
            <a:ext cx="2468880" cy="1737360"/>
          </a:xfrm>
          <a:prstGeom prst="rect">
            <a:avLst/>
          </a:prstGeom>
          <a:noFill/>
          <a:ln/>
        </p:spPr>
        <p:txBody>
          <a:bodyPr wrap="square" lIns="0" tIns="0" rIns="0" bIns="0" rtlCol="0" anchor="ctr"/>
          <a:lstStyle/>
          <a:p>
            <a:pPr marL="0" indent="0">
              <a:lnSpc>
                <a:spcPts val="1500"/>
              </a:lnSpc>
              <a:buNone/>
            </a:pPr>
            <a:r>
              <a:rPr lang="en-US" sz="1150" dirty="0">
                <a:solidFill>
                  <a:srgbClr val="CADCFC"/>
                </a:solidFill>
                <a:latin typeface="Calibri" pitchFamily="34" charset="0"/>
                <a:ea typeface="Calibri" pitchFamily="34" charset="-122"/>
                <a:cs typeface="Calibri" pitchFamily="34" charset="-120"/>
              </a:rPr>
              <a:t>The harbours respond to a shelf-scale oscillation rather than generating one.
</a:t>
            </a:r>
            <a:endParaRPr lang="en-US" sz="1150" dirty="0"/>
          </a:p>
          <a:p>
            <a:pPr marL="0" indent="0">
              <a:lnSpc>
                <a:spcPts val="1500"/>
              </a:lnSpc>
              <a:buNone/>
            </a:pPr>
            <a:r>
              <a:rPr lang="en-US" sz="1150" dirty="0">
                <a:solidFill>
                  <a:srgbClr val="CADCFC"/>
                </a:solidFill>
                <a:latin typeface="Calibri" pitchFamily="34" charset="0"/>
                <a:ea typeface="Calibri" pitchFamily="34" charset="-122"/>
                <a:cs typeface="Calibri" pitchFamily="34" charset="-120"/>
              </a:rPr>
              <a:t>A domain confined to the harbours holds no resonator in the band, and the available boundary product carries no energy there.
</a:t>
            </a:r>
            <a:endParaRPr lang="en-US" sz="1150" dirty="0"/>
          </a:p>
          <a:p>
            <a:pPr marL="0" indent="0">
              <a:lnSpc>
                <a:spcPts val="1500"/>
              </a:lnSpc>
              <a:buNone/>
            </a:pPr>
            <a:r>
              <a:rPr lang="en-US" sz="1150" b="1" dirty="0">
                <a:solidFill>
                  <a:srgbClr val="FFFFFF"/>
                </a:solidFill>
                <a:latin typeface="Calibri" pitchFamily="34" charset="0"/>
                <a:ea typeface="Calibri" pitchFamily="34" charset="-122"/>
                <a:cs typeface="Calibri" pitchFamily="34" charset="-120"/>
              </a:rPr>
              <a:t>The domain is therefore required to contain the plateau.</a:t>
            </a:r>
            <a:endParaRPr lang="en-US" sz="1150" dirty="0"/>
          </a:p>
        </p:txBody>
      </p:sp>
      <p:sp>
        <p:nvSpPr>
          <p:cNvPr id="9" name="Text 6"/>
          <p:cNvSpPr txBox="1"/>
          <p:nvPr/>
        </p:nvSpPr>
        <p:spPr>
          <a:xfrm>
            <a:off x="566928" y="6053328"/>
            <a:ext cx="11055096" cy="310896"/>
          </a:xfrm>
          <a:prstGeom prst="rect">
            <a:avLst/>
          </a:prstGeom>
          <a:noFill/>
          <a:ln/>
        </p:spPr>
        <p:txBody>
          <a:bodyPr wrap="square" lIns="0" tIns="0" rIns="0" bIns="0" rtlCol="0" anchor="ctr"/>
          <a:lstStyle/>
          <a:p>
            <a:pPr marL="0" indent="0">
              <a:buNone/>
            </a:pPr>
            <a:r>
              <a:rPr lang="en-US" sz="1050" i="1" dirty="0">
                <a:solidFill>
                  <a:srgbClr val="5F6368"/>
                </a:solidFill>
                <a:latin typeface="Calibri" pitchFamily="34" charset="0"/>
                <a:ea typeface="Calibri" pitchFamily="34" charset="-122"/>
                <a:cs typeface="Calibri" pitchFamily="34" charset="-120"/>
              </a:rPr>
              <a:t>A Helmholtz idealisation returns 12 to 18 minutes likewise, and the harbours amplify by less than a tenth across the band.</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MODEL CONCEPT, EXTENT</a:t>
            </a:r>
            <a:endParaRPr lang="en-US" sz="1200" dirty="0"/>
          </a:p>
        </p:txBody>
      </p:sp>
      <p:sp>
        <p:nvSpPr>
          <p:cNvPr id="3" name="Text 1"/>
          <p:cNvSpPr txBox="1"/>
          <p:nvPr/>
        </p:nvSpPr>
        <p:spPr>
          <a:xfrm>
            <a:off x="566928" y="749808"/>
            <a:ext cx="1042416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Extent over the plateau, and its cost</a:t>
            </a:r>
            <a:endParaRPr lang="en-US" sz="3200" dirty="0"/>
          </a:p>
        </p:txBody>
      </p:sp>
      <p:pic>
        <p:nvPicPr>
          <p:cNvPr id="4" name="Image 0" descr="C:\Users\Unipa\Documents\MaltaDT\figures\domain_design.png"/>
          <p:cNvPicPr>
            <a:picLocks noChangeAspect="1"/>
          </p:cNvPicPr>
          <p:nvPr/>
        </p:nvPicPr>
        <p:blipFill>
          <a:blip r:embed="rId3"/>
          <a:stretch>
            <a:fillRect/>
          </a:stretch>
        </p:blipFill>
        <p:spPr>
          <a:xfrm>
            <a:off x="566928" y="1572768"/>
            <a:ext cx="11055096" cy="4956048"/>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MODEL CONCEPT, DISCRETISATION</a:t>
            </a:r>
            <a:endParaRPr lang="en-US" sz="1200" dirty="0"/>
          </a:p>
        </p:txBody>
      </p:sp>
      <p:sp>
        <p:nvSpPr>
          <p:cNvPr id="3" name="Text 1"/>
          <p:cNvSpPr txBox="1"/>
          <p:nvPr/>
        </p:nvSpPr>
        <p:spPr>
          <a:xfrm>
            <a:off x="566928" y="749808"/>
            <a:ext cx="1042416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The geometry sets the resolution</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A 17-minute wave in 16 m of water is 12.8 km long. The planform of the inlets is what must be resolved.</a:t>
            </a:r>
            <a:endParaRPr lang="en-US" sz="1400" dirty="0"/>
          </a:p>
        </p:txBody>
      </p:sp>
      <p:sp>
        <p:nvSpPr>
          <p:cNvPr id="5" name="Text 3"/>
          <p:cNvSpPr txBox="1"/>
          <p:nvPr/>
        </p:nvSpPr>
        <p:spPr>
          <a:xfrm>
            <a:off x="566928" y="2103120"/>
            <a:ext cx="5029200" cy="292608"/>
          </a:xfrm>
          <a:prstGeom prst="rect">
            <a:avLst/>
          </a:prstGeom>
          <a:noFill/>
          <a:ln/>
        </p:spPr>
        <p:txBody>
          <a:bodyPr wrap="square" lIns="0" tIns="0" rIns="0" bIns="0" rtlCol="0" anchor="ctr"/>
          <a:lstStyle/>
          <a:p>
            <a:pPr marL="0" indent="0">
              <a:buNone/>
            </a:pPr>
            <a:r>
              <a:rPr lang="en-US" sz="1400" b="1" dirty="0">
                <a:solidFill>
                  <a:srgbClr val="065A82"/>
                </a:solidFill>
                <a:latin typeface="Cambria" pitchFamily="34" charset="0"/>
                <a:ea typeface="Cambria" pitchFamily="34" charset="-122"/>
                <a:cs typeface="Cambria" pitchFamily="34" charset="-120"/>
              </a:rPr>
              <a:t>Measured channel width</a:t>
            </a:r>
            <a:endParaRPr lang="en-US" sz="1400" dirty="0"/>
          </a:p>
        </p:txBody>
      </p:sp>
      <p:sp>
        <p:nvSpPr>
          <p:cNvPr id="6" name="Text 4"/>
          <p:cNvSpPr txBox="1"/>
          <p:nvPr/>
        </p:nvSpPr>
        <p:spPr>
          <a:xfrm>
            <a:off x="566928" y="2450592"/>
            <a:ext cx="4937760" cy="868680"/>
          </a:xfrm>
          <a:prstGeom prst="rect">
            <a:avLst/>
          </a:prstGeom>
          <a:noFill/>
          <a:ln/>
        </p:spPr>
        <p:txBody>
          <a:bodyPr wrap="square" lIns="0" tIns="0" rIns="0" bIns="0" rtlCol="0" anchor="ctr"/>
          <a:lstStyle/>
          <a:p>
            <a:pPr marL="0" indent="0">
              <a:lnSpc>
                <a:spcPts val="1700"/>
              </a:lnSpc>
              <a:spcAft>
                <a:spcPts val="800"/>
              </a:spcAft>
              <a:buNone/>
            </a:pPr>
            <a:r>
              <a:rPr lang="en-US" sz="1250" dirty="0">
                <a:solidFill>
                  <a:srgbClr val="1A1A1A"/>
                </a:solidFill>
                <a:latin typeface="Calibri" pitchFamily="34" charset="0"/>
                <a:ea typeface="Calibri" pitchFamily="34" charset="-122"/>
                <a:cs typeface="Calibri" pitchFamily="34" charset="-120"/>
              </a:rPr>
              <a:t>Half the channel length of Marsamxett is narrower than 135 m, and a third narrower than 50 m.
</a:t>
            </a:r>
            <a:endParaRPr lang="en-US" sz="1250" dirty="0"/>
          </a:p>
          <a:p>
            <a:pPr marL="0" indent="0">
              <a:lnSpc>
                <a:spcPts val="1700"/>
              </a:lnSpc>
              <a:buNone/>
            </a:pPr>
            <a:r>
              <a:rPr lang="en-US" sz="1250" dirty="0">
                <a:solidFill>
                  <a:srgbClr val="1A1A1A"/>
                </a:solidFill>
                <a:latin typeface="Calibri" pitchFamily="34" charset="0"/>
                <a:ea typeface="Calibri" pitchFamily="34" charset="-122"/>
                <a:cs typeface="Calibri" pitchFamily="34" charset="-120"/>
              </a:rPr>
              <a:t>Four to five cells carry the conveyance of a channel, eight to ten resolve the flow across it.</a:t>
            </a:r>
            <a:endParaRPr lang="en-US" sz="12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3456432"/>
          <a:ext cx="4937760" cy="2057400"/>
        </p:xfrm>
        <a:graphic>
          <a:graphicData uri="http://schemas.openxmlformats.org/drawingml/2006/table">
            <a:tbl>
              <a:tblPr/>
              <a:tblGrid>
                <a:gridCol w="329184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tblGrid>
              <a:tr h="342900">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Zone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r">
                        <a:buNone/>
                      </a:pPr>
                      <a:r>
                        <a:rPr lang="en-US" sz="1200" b="1" dirty="0">
                          <a:solidFill>
                            <a:srgbClr val="FFFFFF"/>
                          </a:solidFill>
                          <a:latin typeface="Calibri" pitchFamily="34" charset="0"/>
                          <a:ea typeface="Calibri" pitchFamily="34" charset="-122"/>
                          <a:cs typeface="Calibri" pitchFamily="34" charset="-120"/>
                        </a:rPr>
                        <a:t>Target</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extLst>
                  <a:ext uri="{0D108BD9-81ED-4DB2-BD59-A6C34878D82A}">
                    <a16:rowId xmlns:a16="http://schemas.microsoft.com/office/drawing/2014/main" val="10000"/>
                  </a:ext>
                </a:extLst>
              </a:tr>
              <a:tr h="342900">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Inlets and entrances</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b="1" dirty="0">
                          <a:solidFill>
                            <a:srgbClr val="1A1A1A"/>
                          </a:solidFill>
                          <a:latin typeface="Calibri" pitchFamily="34" charset="0"/>
                          <a:ea typeface="Calibri" pitchFamily="34" charset="-122"/>
                          <a:cs typeface="Calibri" pitchFamily="34" charset="-120"/>
                        </a:rPr>
                        <a:t>15 m</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42900">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Harbour basins</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r">
                        <a:buNone/>
                      </a:pPr>
                      <a:r>
                        <a:rPr lang="en-US" sz="1200" b="1" dirty="0">
                          <a:solidFill>
                            <a:srgbClr val="1A1A1A"/>
                          </a:solidFill>
                          <a:latin typeface="Calibri" pitchFamily="34" charset="0"/>
                          <a:ea typeface="Calibri" pitchFamily="34" charset="-122"/>
                          <a:cs typeface="Calibri" pitchFamily="34" charset="-120"/>
                        </a:rPr>
                        <a:t>30 m</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extLst>
                  <a:ext uri="{0D108BD9-81ED-4DB2-BD59-A6C34878D82A}">
                    <a16:rowId xmlns:a16="http://schemas.microsoft.com/office/drawing/2014/main" val="10002"/>
                  </a:ext>
                </a:extLst>
              </a:tr>
              <a:tr h="342900">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Nearshore, within 2 km</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b="1" dirty="0">
                          <a:solidFill>
                            <a:srgbClr val="1A1A1A"/>
                          </a:solidFill>
                          <a:latin typeface="Calibri" pitchFamily="34" charset="0"/>
                          <a:ea typeface="Calibri" pitchFamily="34" charset="-122"/>
                          <a:cs typeface="Calibri" pitchFamily="34" charset="-120"/>
                        </a:rPr>
                        <a:t>100 m</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42900">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Coastal, 2 to 15 km</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r">
                        <a:buNone/>
                      </a:pPr>
                      <a:r>
                        <a:rPr lang="en-US" sz="1200" b="1" dirty="0">
                          <a:solidFill>
                            <a:srgbClr val="1A1A1A"/>
                          </a:solidFill>
                          <a:latin typeface="Calibri" pitchFamily="34" charset="0"/>
                          <a:ea typeface="Calibri" pitchFamily="34" charset="-122"/>
                          <a:cs typeface="Calibri" pitchFamily="34" charset="-120"/>
                        </a:rPr>
                        <a:t>300 m</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extLst>
                  <a:ext uri="{0D108BD9-81ED-4DB2-BD59-A6C34878D82A}">
                    <a16:rowId xmlns:a16="http://schemas.microsoft.com/office/drawing/2014/main" val="10004"/>
                  </a:ext>
                </a:extLst>
              </a:tr>
              <a:tr h="342900">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Open plateau</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b="1" dirty="0">
                          <a:solidFill>
                            <a:srgbClr val="1A1A1A"/>
                          </a:solidFill>
                          <a:latin typeface="Calibri" pitchFamily="34" charset="0"/>
                          <a:ea typeface="Calibri" pitchFamily="34" charset="-122"/>
                          <a:cs typeface="Calibri" pitchFamily="34" charset="-120"/>
                        </a:rPr>
                        <a:t>1500 m</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Shape 5"/>
          <p:cNvSpPr/>
          <p:nvPr/>
        </p:nvSpPr>
        <p:spPr>
          <a:xfrm>
            <a:off x="5989320" y="2103120"/>
            <a:ext cx="5632704" cy="1481328"/>
          </a:xfrm>
          <a:prstGeom prst="roundRect">
            <a:avLst>
              <a:gd name="adj" fmla="val 3704"/>
            </a:avLst>
          </a:prstGeom>
          <a:solidFill>
            <a:srgbClr val="EEF3F6"/>
          </a:solidFill>
          <a:ln/>
        </p:spPr>
        <p:txBody>
          <a:bodyPr/>
          <a:lstStyle/>
          <a:p>
            <a:endParaRPr lang="it-IT"/>
          </a:p>
        </p:txBody>
      </p:sp>
      <p:sp>
        <p:nvSpPr>
          <p:cNvPr id="9" name="Text 6"/>
          <p:cNvSpPr txBox="1"/>
          <p:nvPr/>
        </p:nvSpPr>
        <p:spPr>
          <a:xfrm>
            <a:off x="6263640" y="2286000"/>
            <a:ext cx="5120640" cy="274320"/>
          </a:xfrm>
          <a:prstGeom prst="rect">
            <a:avLst/>
          </a:prstGeom>
          <a:noFill/>
          <a:ln/>
        </p:spPr>
        <p:txBody>
          <a:bodyPr wrap="square" lIns="0" tIns="0" rIns="0" bIns="0" rtlCol="0" anchor="ctr"/>
          <a:lstStyle/>
          <a:p>
            <a:pPr marL="0" indent="0">
              <a:buNone/>
            </a:pPr>
            <a:r>
              <a:rPr lang="en-US" sz="1400" b="1" dirty="0">
                <a:solidFill>
                  <a:srgbClr val="065A82"/>
                </a:solidFill>
                <a:latin typeface="Cambria" pitchFamily="34" charset="0"/>
                <a:ea typeface="Cambria" pitchFamily="34" charset="-122"/>
                <a:cs typeface="Cambria" pitchFamily="34" charset="-120"/>
              </a:rPr>
              <a:t>Mesh and time step</a:t>
            </a:r>
            <a:endParaRPr lang="en-US" sz="1400" dirty="0"/>
          </a:p>
        </p:txBody>
      </p:sp>
      <p:sp>
        <p:nvSpPr>
          <p:cNvPr id="10" name="Text 7"/>
          <p:cNvSpPr txBox="1"/>
          <p:nvPr/>
        </p:nvSpPr>
        <p:spPr>
          <a:xfrm>
            <a:off x="6263640" y="2615184"/>
            <a:ext cx="5120640" cy="868680"/>
          </a:xfrm>
          <a:prstGeom prst="rect">
            <a:avLst/>
          </a:prstGeom>
          <a:noFill/>
          <a:ln/>
        </p:spPr>
        <p:txBody>
          <a:bodyPr wrap="square" lIns="0" tIns="0" rIns="0" bIns="0" rtlCol="0" anchor="ctr"/>
          <a:lstStyle/>
          <a:p>
            <a:pPr marL="0" indent="0">
              <a:lnSpc>
                <a:spcPts val="1600"/>
              </a:lnSpc>
              <a:buNone/>
            </a:pPr>
            <a:r>
              <a:rPr lang="en-US" sz="1200" dirty="0">
                <a:solidFill>
                  <a:srgbClr val="1A1A1A"/>
                </a:solidFill>
                <a:latin typeface="Calibri" pitchFamily="34" charset="0"/>
                <a:ea typeface="Calibri" pitchFamily="34" charset="-122"/>
                <a:cs typeface="Calibri" pitchFamily="34" charset="-120"/>
              </a:rPr>
              <a:t>Approximately 28,500 cells. A time step of 6 to 12 s at Courant 5 to 10 in the finest cells, which samples a 17-minute wave about a hundred times per cycle. The 10 m of the source data is the floor; below 15 m a mesh interpolates rather than resolves.</a:t>
            </a:r>
            <a:endParaRPr lang="en-US" sz="1200" dirty="0"/>
          </a:p>
        </p:txBody>
      </p:sp>
      <p:sp>
        <p:nvSpPr>
          <p:cNvPr id="11" name="Shape 8"/>
          <p:cNvSpPr/>
          <p:nvPr/>
        </p:nvSpPr>
        <p:spPr>
          <a:xfrm>
            <a:off x="5989320" y="3730752"/>
            <a:ext cx="5632704" cy="1874520"/>
          </a:xfrm>
          <a:prstGeom prst="roundRect">
            <a:avLst>
              <a:gd name="adj" fmla="val 2927"/>
            </a:avLst>
          </a:prstGeom>
          <a:solidFill>
            <a:srgbClr val="21295C"/>
          </a:solidFill>
          <a:ln/>
        </p:spPr>
        <p:txBody>
          <a:bodyPr/>
          <a:lstStyle/>
          <a:p>
            <a:endParaRPr lang="it-IT"/>
          </a:p>
        </p:txBody>
      </p:sp>
      <p:sp>
        <p:nvSpPr>
          <p:cNvPr id="12" name="Text 9"/>
          <p:cNvSpPr txBox="1"/>
          <p:nvPr/>
        </p:nvSpPr>
        <p:spPr>
          <a:xfrm>
            <a:off x="6263640" y="3913632"/>
            <a:ext cx="5120640" cy="274320"/>
          </a:xfrm>
          <a:prstGeom prst="rect">
            <a:avLst/>
          </a:prstGeom>
          <a:noFill/>
          <a:ln/>
        </p:spPr>
        <p:txBody>
          <a:bodyPr wrap="square" lIns="0" tIns="0" rIns="0" bIns="0" rtlCol="0" anchor="ctr"/>
          <a:lstStyle/>
          <a:p>
            <a:pPr marL="0" indent="0">
              <a:buNone/>
            </a:pPr>
            <a:r>
              <a:rPr lang="en-US" sz="1400" b="1" dirty="0">
                <a:solidFill>
                  <a:srgbClr val="EB6834"/>
                </a:solidFill>
                <a:latin typeface="Cambria" pitchFamily="34" charset="0"/>
                <a:ea typeface="Cambria" pitchFamily="34" charset="-122"/>
                <a:cs typeface="Cambria" pitchFamily="34" charset="-120"/>
              </a:rPr>
              <a:t>Vertical, 12 to 15 sigma layers</a:t>
            </a:r>
            <a:endParaRPr lang="en-US" sz="1400" dirty="0"/>
          </a:p>
        </p:txBody>
      </p:sp>
      <p:sp>
        <p:nvSpPr>
          <p:cNvPr id="13" name="Text 10"/>
          <p:cNvSpPr txBox="1"/>
          <p:nvPr/>
        </p:nvSpPr>
        <p:spPr>
          <a:xfrm>
            <a:off x="6263640" y="4242816"/>
            <a:ext cx="5120640" cy="1188720"/>
          </a:xfrm>
          <a:prstGeom prst="rect">
            <a:avLst/>
          </a:prstGeom>
          <a:noFill/>
          <a:ln/>
        </p:spPr>
        <p:txBody>
          <a:bodyPr wrap="square" lIns="0" tIns="0" rIns="0" bIns="0" rtlCol="0" anchor="ctr"/>
          <a:lstStyle/>
          <a:p>
            <a:pPr marL="0" indent="0">
              <a:lnSpc>
                <a:spcPts val="1600"/>
              </a:lnSpc>
              <a:buNone/>
            </a:pPr>
            <a:r>
              <a:rPr lang="en-US" sz="1200" dirty="0">
                <a:solidFill>
                  <a:srgbClr val="CADCFC"/>
                </a:solidFill>
                <a:latin typeface="Calibri" pitchFamily="34" charset="0"/>
                <a:ea typeface="Calibri" pitchFamily="34" charset="-122"/>
                <a:cs typeface="Calibri" pitchFamily="34" charset="-120"/>
              </a:rPr>
              <a:t>The count is set by residence time, not by the seiche, which is barotropic. Fifteen layers give roughly one metre at the bed in the basins.
</a:t>
            </a:r>
            <a:endParaRPr lang="en-US" sz="1200" dirty="0"/>
          </a:p>
          <a:p>
            <a:pPr marL="0" indent="0">
              <a:lnSpc>
                <a:spcPts val="1600"/>
              </a:lnSpc>
              <a:buNone/>
            </a:pPr>
            <a:r>
              <a:rPr lang="en-US" sz="1200" dirty="0">
                <a:solidFill>
                  <a:srgbClr val="CADCFC"/>
                </a:solidFill>
                <a:latin typeface="Calibri" pitchFamily="34" charset="0"/>
                <a:ea typeface="Calibri" pitchFamily="34" charset="-122"/>
                <a:cs typeface="Calibri" pitchFamily="34" charset="-120"/>
              </a:rPr>
              <a:t>Sigma is defensible only because the domain stops short of the escarpment, where the plateau gradient is one part in a thousand.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RESEARCH QUESTION</a:t>
            </a:r>
            <a:endParaRPr lang="en-US" sz="1200" dirty="0"/>
          </a:p>
        </p:txBody>
      </p:sp>
      <p:sp>
        <p:nvSpPr>
          <p:cNvPr id="3" name="Text 1"/>
          <p:cNvSpPr txBox="1"/>
          <p:nvPr/>
        </p:nvSpPr>
        <p:spPr>
          <a:xfrm>
            <a:off x="566928" y="749808"/>
            <a:ext cx="1042416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A proposed question</a:t>
            </a:r>
          </a:p>
        </p:txBody>
      </p:sp>
      <p:sp>
        <p:nvSpPr>
          <p:cNvPr id="5" name="Shape 3"/>
          <p:cNvSpPr/>
          <p:nvPr/>
        </p:nvSpPr>
        <p:spPr>
          <a:xfrm>
            <a:off x="566928" y="2139696"/>
            <a:ext cx="11055096" cy="1298448"/>
          </a:xfrm>
          <a:prstGeom prst="roundRect">
            <a:avLst>
              <a:gd name="adj" fmla="val 4225"/>
            </a:avLst>
          </a:prstGeom>
          <a:solidFill>
            <a:srgbClr val="EEF3F6"/>
          </a:solidFill>
          <a:ln/>
        </p:spPr>
        <p:txBody>
          <a:bodyPr/>
          <a:lstStyle/>
          <a:p>
            <a:endParaRPr lang="it-IT"/>
          </a:p>
        </p:txBody>
      </p:sp>
      <p:sp>
        <p:nvSpPr>
          <p:cNvPr id="6" name="Text 4"/>
          <p:cNvSpPr txBox="1"/>
          <p:nvPr/>
        </p:nvSpPr>
        <p:spPr>
          <a:xfrm>
            <a:off x="886968" y="2350008"/>
            <a:ext cx="10424160" cy="914400"/>
          </a:xfrm>
          <a:prstGeom prst="rect">
            <a:avLst/>
          </a:prstGeom>
          <a:noFill/>
          <a:ln/>
        </p:spPr>
        <p:txBody>
          <a:bodyPr wrap="square" lIns="0" tIns="0" rIns="0" bIns="0" rtlCol="0" anchor="ctr"/>
          <a:lstStyle/>
          <a:p>
            <a:pPr marL="0" indent="0">
              <a:lnSpc>
                <a:spcPts val="2100"/>
              </a:lnSpc>
              <a:buNone/>
            </a:pPr>
            <a:r>
              <a:rPr lang="en-US" sz="1500" i="1" dirty="0">
                <a:solidFill>
                  <a:srgbClr val="1A1A1A"/>
                </a:solidFill>
                <a:latin typeface="Cambria" pitchFamily="34" charset="0"/>
                <a:ea typeface="Cambria" pitchFamily="34" charset="-122"/>
                <a:cs typeface="Cambria" pitchFamily="34" charset="-120"/>
              </a:rPr>
              <a:t>Of the amplification between the open sea and the heads of the Valletta harbours, how is it partitioned between Proudman resonance over the plateau, shoaling on the approach, and resonance of the basins themselves, and which atmospheric disturbance speeds and directions maximise that chain?</a:t>
            </a:r>
            <a:endParaRPr lang="en-US" sz="1500" dirty="0"/>
          </a:p>
        </p:txBody>
      </p:sp>
      <p:sp>
        <p:nvSpPr>
          <p:cNvPr id="7" name="Text 5"/>
          <p:cNvSpPr txBox="1"/>
          <p:nvPr/>
        </p:nvSpPr>
        <p:spPr>
          <a:xfrm>
            <a:off x="566928" y="3721608"/>
            <a:ext cx="5212080" cy="292608"/>
          </a:xfrm>
          <a:prstGeom prst="rect">
            <a:avLst/>
          </a:prstGeom>
          <a:noFill/>
          <a:ln/>
        </p:spPr>
        <p:txBody>
          <a:bodyPr wrap="square" lIns="0" tIns="0" rIns="0" bIns="0" rtlCol="0" anchor="ctr"/>
          <a:lstStyle/>
          <a:p>
            <a:pPr marL="0" indent="0">
              <a:buNone/>
            </a:pPr>
            <a:r>
              <a:rPr lang="en-US" sz="1400" b="1" dirty="0">
                <a:solidFill>
                  <a:srgbClr val="065A82"/>
                </a:solidFill>
                <a:latin typeface="Cambria" pitchFamily="34" charset="0"/>
                <a:ea typeface="Cambria" pitchFamily="34" charset="-122"/>
                <a:cs typeface="Cambria" pitchFamily="34" charset="-120"/>
              </a:rPr>
              <a:t>Basis for the formulation</a:t>
            </a:r>
            <a:endParaRPr lang="en-US" sz="1400" dirty="0"/>
          </a:p>
        </p:txBody>
      </p:sp>
      <p:sp>
        <p:nvSpPr>
          <p:cNvPr id="8" name="Text 6"/>
          <p:cNvSpPr txBox="1"/>
          <p:nvPr/>
        </p:nvSpPr>
        <p:spPr>
          <a:xfrm>
            <a:off x="566928" y="4069080"/>
            <a:ext cx="5212080" cy="1737360"/>
          </a:xfrm>
          <a:prstGeom prst="rect">
            <a:avLst/>
          </a:prstGeom>
          <a:noFill/>
          <a:ln/>
        </p:spPr>
        <p:txBody>
          <a:bodyPr wrap="square" lIns="0" tIns="0" rIns="0" bIns="0" rtlCol="0" anchor="ctr"/>
          <a:lstStyle/>
          <a:p>
            <a:pPr marL="342900" indent="-342900">
              <a:lnSpc>
                <a:spcPts val="1600"/>
              </a:lnSpc>
              <a:spcAft>
                <a:spcPts val="700"/>
              </a:spcAft>
              <a:buSzPct val="100000"/>
              <a:buChar char="•"/>
            </a:pPr>
            <a:r>
              <a:rPr lang="en-US" sz="1200" dirty="0">
                <a:solidFill>
                  <a:srgbClr val="1A1A1A"/>
                </a:solidFill>
                <a:latin typeface="Calibri" pitchFamily="34" charset="0"/>
                <a:ea typeface="Calibri" pitchFamily="34" charset="-122"/>
                <a:cs typeface="Calibri" pitchFamily="34" charset="-120"/>
              </a:rPr>
              <a:t>It is framed so that answering it requires a model. No arrangement of gauges separates the three stages of amplification from one another.</a:t>
            </a:r>
            <a:endParaRPr lang="en-US" sz="1200" dirty="0"/>
          </a:p>
          <a:p>
            <a:pPr marL="342900" indent="-342900">
              <a:lnSpc>
                <a:spcPts val="1600"/>
              </a:lnSpc>
              <a:spcAft>
                <a:spcPts val="700"/>
              </a:spcAft>
              <a:buSzPct val="100000"/>
              <a:buChar char="•"/>
            </a:pPr>
            <a:r>
              <a:rPr lang="en-US" sz="1200" dirty="0">
                <a:solidFill>
                  <a:srgbClr val="1A1A1A"/>
                </a:solidFill>
                <a:latin typeface="Calibri" pitchFamily="34" charset="0"/>
                <a:ea typeface="Calibri" pitchFamily="34" charset="-122"/>
                <a:cs typeface="Calibri" pitchFamily="34" charset="-120"/>
              </a:rPr>
              <a:t>It is framed so that it does not repeat the prior work, which treats the response of a basin to a wave already present at its boundary.</a:t>
            </a:r>
            <a:endParaRPr lang="en-US" sz="1200" dirty="0"/>
          </a:p>
          <a:p>
            <a:pPr marL="342900" indent="-342900">
              <a:lnSpc>
                <a:spcPts val="1600"/>
              </a:lnSpc>
              <a:buSzPct val="100000"/>
              <a:buChar char="•"/>
            </a:pPr>
            <a:r>
              <a:rPr lang="en-US" sz="1200" dirty="0">
                <a:solidFill>
                  <a:srgbClr val="1A1A1A"/>
                </a:solidFill>
                <a:latin typeface="Calibri" pitchFamily="34" charset="0"/>
                <a:ea typeface="Calibri" pitchFamily="34" charset="-122"/>
                <a:cs typeface="Calibri" pitchFamily="34" charset="-120"/>
              </a:rPr>
              <a:t>Should the group judge the standing of that prior work differently, the formulation changes with it.</a:t>
            </a:r>
            <a:endParaRPr lang="en-US" sz="1200" dirty="0"/>
          </a:p>
        </p:txBody>
      </p:sp>
      <p:sp>
        <p:nvSpPr>
          <p:cNvPr id="9" name="Text 7"/>
          <p:cNvSpPr txBox="1"/>
          <p:nvPr/>
        </p:nvSpPr>
        <p:spPr>
          <a:xfrm>
            <a:off x="6355080" y="3721608"/>
            <a:ext cx="5212080" cy="292608"/>
          </a:xfrm>
          <a:prstGeom prst="rect">
            <a:avLst/>
          </a:prstGeom>
          <a:noFill/>
          <a:ln/>
        </p:spPr>
        <p:txBody>
          <a:bodyPr wrap="square" lIns="0" tIns="0" rIns="0" bIns="0" rtlCol="0" anchor="ctr"/>
          <a:lstStyle/>
          <a:p>
            <a:pPr marL="0" indent="0">
              <a:buNone/>
            </a:pPr>
            <a:r>
              <a:rPr lang="en-US" sz="1400" b="1" dirty="0">
                <a:solidFill>
                  <a:srgbClr val="EB6834"/>
                </a:solidFill>
                <a:latin typeface="Cambria" pitchFamily="34" charset="0"/>
                <a:ea typeface="Cambria" pitchFamily="34" charset="-122"/>
                <a:cs typeface="Cambria" pitchFamily="34" charset="-120"/>
              </a:rPr>
              <a:t>Prior work the study must clear</a:t>
            </a:r>
            <a:endParaRPr lang="en-US" sz="1400" dirty="0"/>
          </a:p>
        </p:txBody>
      </p:sp>
      <p:sp>
        <p:nvSpPr>
          <p:cNvPr id="10" name="Text 8"/>
          <p:cNvSpPr txBox="1"/>
          <p:nvPr/>
        </p:nvSpPr>
        <p:spPr>
          <a:xfrm>
            <a:off x="6355080" y="4069080"/>
            <a:ext cx="5266944" cy="1737360"/>
          </a:xfrm>
          <a:prstGeom prst="rect">
            <a:avLst/>
          </a:prstGeom>
          <a:noFill/>
          <a:ln/>
        </p:spPr>
        <p:txBody>
          <a:bodyPr wrap="square" lIns="0" tIns="0" rIns="0" bIns="0" rtlCol="0" anchor="ctr"/>
          <a:lstStyle/>
          <a:p>
            <a:pPr marL="342900" indent="-342900">
              <a:lnSpc>
                <a:spcPts val="1600"/>
              </a:lnSpc>
              <a:spcAft>
                <a:spcPts val="700"/>
              </a:spcAft>
              <a:buSzPct val="100000"/>
              <a:buChar char="•"/>
            </a:pPr>
            <a:r>
              <a:rPr lang="en-US" sz="1200" dirty="0">
                <a:solidFill>
                  <a:srgbClr val="1A1A1A"/>
                </a:solidFill>
                <a:latin typeface="Calibri" pitchFamily="34" charset="0"/>
                <a:ea typeface="Calibri" pitchFamily="34" charset="-122"/>
                <a:cs typeface="Calibri" pitchFamily="34" charset="-120"/>
              </a:rPr>
              <a:t>Maltese coastal seiches were modelled in 2007, in a two-dimensional depth-averaged POM, for Mellieħa and St Paul's Bay, forced by a prescribed offshore long wave.</a:t>
            </a:r>
            <a:endParaRPr lang="en-US" sz="1200" dirty="0"/>
          </a:p>
          <a:p>
            <a:pPr marL="342900" indent="-342900">
              <a:lnSpc>
                <a:spcPts val="1600"/>
              </a:lnSpc>
              <a:spcAft>
                <a:spcPts val="700"/>
              </a:spcAft>
              <a:buSzPct val="100000"/>
              <a:buChar char="•"/>
            </a:pPr>
            <a:r>
              <a:rPr lang="en-US" sz="1200" dirty="0">
                <a:solidFill>
                  <a:srgbClr val="1A1A1A"/>
                </a:solidFill>
                <a:latin typeface="Calibri" pitchFamily="34" charset="0"/>
                <a:ea typeface="Calibri" pitchFamily="34" charset="-122"/>
                <a:cs typeface="Calibri" pitchFamily="34" charset="-120"/>
              </a:rPr>
              <a:t>A repetition at Valletta in three dimensions would be incremental.</a:t>
            </a:r>
            <a:endParaRPr lang="en-US" sz="1200" dirty="0"/>
          </a:p>
          <a:p>
            <a:pPr marL="342900" indent="-342900">
              <a:lnSpc>
                <a:spcPts val="1600"/>
              </a:lnSpc>
              <a:buSzPct val="100000"/>
              <a:buChar char="•"/>
            </a:pPr>
            <a:r>
              <a:rPr lang="en-US" sz="1200" dirty="0">
                <a:solidFill>
                  <a:srgbClr val="1A1A1A"/>
                </a:solidFill>
                <a:latin typeface="Calibri" pitchFamily="34" charset="0"/>
                <a:ea typeface="Calibri" pitchFamily="34" charset="-122"/>
                <a:cs typeface="Calibri" pitchFamily="34" charset="-120"/>
              </a:rPr>
              <a:t>The generation side is untreated, since the prior work imposes the offshore wave rather than producing it.</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EXPERIMENTAL DESIGN</a:t>
            </a:r>
            <a:endParaRPr lang="en-US" sz="1200" dirty="0"/>
          </a:p>
        </p:txBody>
      </p:sp>
      <p:sp>
        <p:nvSpPr>
          <p:cNvPr id="3" name="Text 1"/>
          <p:cNvSpPr txBox="1"/>
          <p:nvPr/>
        </p:nvSpPr>
        <p:spPr>
          <a:xfrm>
            <a:off x="566928" y="749808"/>
            <a:ext cx="1042416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A parametric sweep in place of a hindcast</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ERA5 does not resolve the atmospheric gravity waves that trigger the phenomenon, which has constituted the largest standing risk in the project.</a:t>
            </a:r>
            <a:endParaRPr lang="en-US" sz="1400" dirty="0"/>
          </a:p>
        </p:txBody>
      </p:sp>
      <p:sp>
        <p:nvSpPr>
          <p:cNvPr id="5" name="Shape 3"/>
          <p:cNvSpPr/>
          <p:nvPr/>
        </p:nvSpPr>
        <p:spPr>
          <a:xfrm>
            <a:off x="566928" y="2331720"/>
            <a:ext cx="402336" cy="402336"/>
          </a:xfrm>
          <a:prstGeom prst="ellipse">
            <a:avLst/>
          </a:prstGeom>
          <a:solidFill>
            <a:srgbClr val="065A82"/>
          </a:solidFill>
          <a:ln/>
        </p:spPr>
        <p:txBody>
          <a:bodyPr/>
          <a:lstStyle/>
          <a:p>
            <a:endParaRPr lang="it-IT"/>
          </a:p>
        </p:txBody>
      </p:sp>
      <p:sp>
        <p:nvSpPr>
          <p:cNvPr id="6" name="Text 4"/>
          <p:cNvSpPr txBox="1"/>
          <p:nvPr/>
        </p:nvSpPr>
        <p:spPr>
          <a:xfrm>
            <a:off x="566928" y="2331720"/>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txBox="1"/>
          <p:nvPr/>
        </p:nvSpPr>
        <p:spPr>
          <a:xfrm>
            <a:off x="1188720" y="2313432"/>
            <a:ext cx="3383280" cy="292608"/>
          </a:xfrm>
          <a:prstGeom prst="rect">
            <a:avLst/>
          </a:prstGeom>
          <a:noFill/>
          <a:ln/>
        </p:spPr>
        <p:txBody>
          <a:bodyPr wrap="square" lIns="0" tIns="0" rIns="0" bIns="0" rtlCol="0" anchor="ctr"/>
          <a:lstStyle/>
          <a:p>
            <a:pPr marL="0" indent="0">
              <a:buNone/>
            </a:pPr>
            <a:r>
              <a:rPr lang="en-US" sz="1450" b="1" dirty="0">
                <a:solidFill>
                  <a:srgbClr val="1A1A1A"/>
                </a:solidFill>
                <a:latin typeface="Cambria" pitchFamily="34" charset="0"/>
                <a:ea typeface="Cambria" pitchFamily="34" charset="-122"/>
                <a:cs typeface="Cambria" pitchFamily="34" charset="-120"/>
              </a:rPr>
              <a:t>Sweep</a:t>
            </a:r>
            <a:endParaRPr lang="en-US" sz="1450" dirty="0"/>
          </a:p>
        </p:txBody>
      </p:sp>
      <p:sp>
        <p:nvSpPr>
          <p:cNvPr id="8" name="Text 6"/>
          <p:cNvSpPr txBox="1"/>
          <p:nvPr/>
        </p:nvSpPr>
        <p:spPr>
          <a:xfrm>
            <a:off x="1188720" y="2624328"/>
            <a:ext cx="6035040" cy="658368"/>
          </a:xfrm>
          <a:prstGeom prst="rect">
            <a:avLst/>
          </a:prstGeom>
          <a:noFill/>
          <a:ln/>
        </p:spPr>
        <p:txBody>
          <a:bodyPr wrap="square" lIns="0" tIns="0" rIns="0" bIns="0" rtlCol="0" anchor="ctr"/>
          <a:lstStyle/>
          <a:p>
            <a:pPr marL="0" indent="0">
              <a:lnSpc>
                <a:spcPts val="1700"/>
              </a:lnSpc>
              <a:buNone/>
            </a:pPr>
            <a:r>
              <a:rPr lang="en-US" sz="1250" dirty="0">
                <a:solidFill>
                  <a:srgbClr val="5F6368"/>
                </a:solidFill>
                <a:latin typeface="Calibri" pitchFamily="34" charset="0"/>
                <a:ea typeface="Calibri" pitchFamily="34" charset="-122"/>
                <a:cs typeface="Calibri" pitchFamily="34" charset="-120"/>
              </a:rPr>
              <a:t>Impose a moving pressure disturbance and vary its speed, direction, width and duration.</a:t>
            </a:r>
            <a:endParaRPr lang="en-US" sz="1250" dirty="0"/>
          </a:p>
        </p:txBody>
      </p:sp>
      <p:sp>
        <p:nvSpPr>
          <p:cNvPr id="9" name="Shape 7"/>
          <p:cNvSpPr/>
          <p:nvPr/>
        </p:nvSpPr>
        <p:spPr>
          <a:xfrm>
            <a:off x="566928" y="3502152"/>
            <a:ext cx="402336" cy="402336"/>
          </a:xfrm>
          <a:prstGeom prst="ellipse">
            <a:avLst/>
          </a:prstGeom>
          <a:solidFill>
            <a:srgbClr val="065A82"/>
          </a:solidFill>
          <a:ln/>
        </p:spPr>
        <p:txBody>
          <a:bodyPr/>
          <a:lstStyle/>
          <a:p>
            <a:endParaRPr lang="it-IT"/>
          </a:p>
        </p:txBody>
      </p:sp>
      <p:sp>
        <p:nvSpPr>
          <p:cNvPr id="10" name="Text 8"/>
          <p:cNvSpPr txBox="1"/>
          <p:nvPr/>
        </p:nvSpPr>
        <p:spPr>
          <a:xfrm>
            <a:off x="566928" y="3502152"/>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1" name="Text 9"/>
          <p:cNvSpPr txBox="1"/>
          <p:nvPr/>
        </p:nvSpPr>
        <p:spPr>
          <a:xfrm>
            <a:off x="1188720" y="3483864"/>
            <a:ext cx="3383280" cy="292608"/>
          </a:xfrm>
          <a:prstGeom prst="rect">
            <a:avLst/>
          </a:prstGeom>
          <a:noFill/>
          <a:ln/>
        </p:spPr>
        <p:txBody>
          <a:bodyPr wrap="square" lIns="0" tIns="0" rIns="0" bIns="0" rtlCol="0" anchor="ctr"/>
          <a:lstStyle/>
          <a:p>
            <a:pPr marL="0" indent="0">
              <a:buNone/>
            </a:pPr>
            <a:r>
              <a:rPr lang="en-US" sz="1450" b="1" dirty="0">
                <a:solidFill>
                  <a:srgbClr val="1A1A1A"/>
                </a:solidFill>
                <a:latin typeface="Cambria" pitchFamily="34" charset="0"/>
                <a:ea typeface="Cambria" pitchFamily="34" charset="-122"/>
                <a:cs typeface="Cambria" pitchFamily="34" charset="-120"/>
              </a:rPr>
              <a:t>Response surface</a:t>
            </a:r>
            <a:endParaRPr lang="en-US" sz="1450" dirty="0"/>
          </a:p>
        </p:txBody>
      </p:sp>
      <p:sp>
        <p:nvSpPr>
          <p:cNvPr id="12" name="Text 10"/>
          <p:cNvSpPr txBox="1"/>
          <p:nvPr/>
        </p:nvSpPr>
        <p:spPr>
          <a:xfrm>
            <a:off x="1188720" y="3794760"/>
            <a:ext cx="6035040" cy="658368"/>
          </a:xfrm>
          <a:prstGeom prst="rect">
            <a:avLst/>
          </a:prstGeom>
          <a:noFill/>
          <a:ln/>
        </p:spPr>
        <p:txBody>
          <a:bodyPr wrap="square" lIns="0" tIns="0" rIns="0" bIns="0" rtlCol="0" anchor="ctr"/>
          <a:lstStyle/>
          <a:p>
            <a:pPr marL="0" indent="0">
              <a:lnSpc>
                <a:spcPts val="1700"/>
              </a:lnSpc>
              <a:buNone/>
            </a:pPr>
            <a:r>
              <a:rPr lang="en-US" sz="1250" dirty="0">
                <a:solidFill>
                  <a:srgbClr val="5F6368"/>
                </a:solidFill>
                <a:latin typeface="Calibri" pitchFamily="34" charset="0"/>
                <a:ea typeface="Calibri" pitchFamily="34" charset="-122"/>
                <a:cs typeface="Calibri" pitchFamily="34" charset="-120"/>
              </a:rPr>
              <a:t>The output is a transfer function of the geometry, independent of any particular storm.</a:t>
            </a:r>
            <a:endParaRPr lang="en-US" sz="1250" dirty="0"/>
          </a:p>
        </p:txBody>
      </p:sp>
      <p:sp>
        <p:nvSpPr>
          <p:cNvPr id="13" name="Shape 11"/>
          <p:cNvSpPr/>
          <p:nvPr/>
        </p:nvSpPr>
        <p:spPr>
          <a:xfrm>
            <a:off x="566928" y="4672584"/>
            <a:ext cx="402336" cy="402336"/>
          </a:xfrm>
          <a:prstGeom prst="ellipse">
            <a:avLst/>
          </a:prstGeom>
          <a:solidFill>
            <a:srgbClr val="EB6834"/>
          </a:solidFill>
          <a:ln/>
        </p:spPr>
        <p:txBody>
          <a:bodyPr/>
          <a:lstStyle/>
          <a:p>
            <a:endParaRPr lang="it-IT"/>
          </a:p>
        </p:txBody>
      </p:sp>
      <p:sp>
        <p:nvSpPr>
          <p:cNvPr id="14" name="Text 12"/>
          <p:cNvSpPr txBox="1"/>
          <p:nvPr/>
        </p:nvSpPr>
        <p:spPr>
          <a:xfrm>
            <a:off x="566928" y="4672584"/>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5" name="Text 13"/>
          <p:cNvSpPr txBox="1"/>
          <p:nvPr/>
        </p:nvSpPr>
        <p:spPr>
          <a:xfrm>
            <a:off x="1188720" y="4654296"/>
            <a:ext cx="3383280" cy="292608"/>
          </a:xfrm>
          <a:prstGeom prst="rect">
            <a:avLst/>
          </a:prstGeom>
          <a:noFill/>
          <a:ln/>
        </p:spPr>
        <p:txBody>
          <a:bodyPr wrap="square" lIns="0" tIns="0" rIns="0" bIns="0" rtlCol="0" anchor="ctr"/>
          <a:lstStyle/>
          <a:p>
            <a:pPr marL="0" indent="0">
              <a:buNone/>
            </a:pPr>
            <a:r>
              <a:rPr lang="en-US" sz="1450" b="1" dirty="0">
                <a:solidFill>
                  <a:srgbClr val="1A1A1A"/>
                </a:solidFill>
                <a:latin typeface="Cambria" pitchFamily="34" charset="0"/>
                <a:ea typeface="Cambria" pitchFamily="34" charset="-122"/>
                <a:cs typeface="Cambria" pitchFamily="34" charset="-120"/>
              </a:rPr>
              <a:t>Inversion of the observations</a:t>
            </a:r>
            <a:endParaRPr lang="en-US" sz="1450" dirty="0"/>
          </a:p>
        </p:txBody>
      </p:sp>
      <p:sp>
        <p:nvSpPr>
          <p:cNvPr id="16" name="Text 14"/>
          <p:cNvSpPr txBox="1"/>
          <p:nvPr/>
        </p:nvSpPr>
        <p:spPr>
          <a:xfrm>
            <a:off x="1188720" y="4965192"/>
            <a:ext cx="6035040" cy="658368"/>
          </a:xfrm>
          <a:prstGeom prst="rect">
            <a:avLst/>
          </a:prstGeom>
          <a:noFill/>
          <a:ln/>
        </p:spPr>
        <p:txBody>
          <a:bodyPr wrap="square" lIns="0" tIns="0" rIns="0" bIns="0" rtlCol="0" anchor="ctr"/>
          <a:lstStyle/>
          <a:p>
            <a:pPr marL="0" indent="0">
              <a:lnSpc>
                <a:spcPts val="1700"/>
              </a:lnSpc>
              <a:buNone/>
            </a:pPr>
            <a:r>
              <a:rPr lang="en-US" sz="1250" dirty="0">
                <a:solidFill>
                  <a:srgbClr val="5F6368"/>
                </a:solidFill>
                <a:latin typeface="Calibri" pitchFamily="34" charset="0"/>
                <a:ea typeface="Calibri" pitchFamily="34" charset="-122"/>
                <a:cs typeface="Calibri" pitchFamily="34" charset="-120"/>
              </a:rPr>
              <a:t>The observations cease to be the forcing and become the test, addressing whether recorded events occur under the conditions identified as resonant.</a:t>
            </a:r>
            <a:endParaRPr lang="en-US" sz="1250" dirty="0"/>
          </a:p>
        </p:txBody>
      </p:sp>
      <p:sp>
        <p:nvSpPr>
          <p:cNvPr id="17" name="Shape 15"/>
          <p:cNvSpPr/>
          <p:nvPr/>
        </p:nvSpPr>
        <p:spPr>
          <a:xfrm>
            <a:off x="7680960" y="2286000"/>
            <a:ext cx="3941064" cy="3108960"/>
          </a:xfrm>
          <a:prstGeom prst="roundRect">
            <a:avLst>
              <a:gd name="adj" fmla="val 1765"/>
            </a:avLst>
          </a:prstGeom>
          <a:solidFill>
            <a:srgbClr val="21295C"/>
          </a:solidFill>
          <a:ln/>
        </p:spPr>
        <p:txBody>
          <a:bodyPr/>
          <a:lstStyle/>
          <a:p>
            <a:endParaRPr lang="it-IT"/>
          </a:p>
        </p:txBody>
      </p:sp>
      <p:sp>
        <p:nvSpPr>
          <p:cNvPr id="18" name="Text 16"/>
          <p:cNvSpPr txBox="1"/>
          <p:nvPr/>
        </p:nvSpPr>
        <p:spPr>
          <a:xfrm>
            <a:off x="7955280" y="2487168"/>
            <a:ext cx="3429000" cy="548640"/>
          </a:xfrm>
          <a:prstGeom prst="rect">
            <a:avLst/>
          </a:prstGeom>
          <a:noFill/>
          <a:ln/>
        </p:spPr>
        <p:txBody>
          <a:bodyPr wrap="square" lIns="0" tIns="0" rIns="0" bIns="0" rtlCol="0" anchor="ctr"/>
          <a:lstStyle/>
          <a:p>
            <a:pPr marL="0" indent="0">
              <a:buNone/>
            </a:pPr>
            <a:r>
              <a:rPr lang="en-US" sz="1400" b="1" dirty="0">
                <a:solidFill>
                  <a:srgbClr val="EB6834"/>
                </a:solidFill>
                <a:latin typeface="Cambria" pitchFamily="34" charset="0"/>
                <a:ea typeface="Cambria" pitchFamily="34" charset="-122"/>
                <a:cs typeface="Cambria" pitchFamily="34" charset="-120"/>
              </a:rPr>
              <a:t>Bearing beyond the present study</a:t>
            </a:r>
            <a:endParaRPr lang="en-US" sz="1400" dirty="0"/>
          </a:p>
        </p:txBody>
      </p:sp>
      <p:sp>
        <p:nvSpPr>
          <p:cNvPr id="19" name="Text 17"/>
          <p:cNvSpPr txBox="1"/>
          <p:nvPr/>
        </p:nvSpPr>
        <p:spPr>
          <a:xfrm>
            <a:off x="7955280" y="3063240"/>
            <a:ext cx="3429000" cy="2103120"/>
          </a:xfrm>
          <a:prstGeom prst="rect">
            <a:avLst/>
          </a:prstGeom>
          <a:noFill/>
          <a:ln/>
        </p:spPr>
        <p:txBody>
          <a:bodyPr wrap="square" lIns="0" tIns="0" rIns="0" bIns="0" rtlCol="0" anchor="ctr"/>
          <a:lstStyle/>
          <a:p>
            <a:pPr marL="0" indent="0">
              <a:lnSpc>
                <a:spcPts val="1550"/>
              </a:lnSpc>
              <a:buNone/>
            </a:pPr>
            <a:r>
              <a:rPr lang="en-US" sz="1150" dirty="0">
                <a:solidFill>
                  <a:srgbClr val="CADCFC"/>
                </a:solidFill>
                <a:latin typeface="Calibri" pitchFamily="34" charset="0"/>
                <a:ea typeface="Calibri" pitchFamily="34" charset="-122"/>
                <a:cs typeface="Calibri" pitchFamily="34" charset="-120"/>
              </a:rPr>
              <a:t>A response surface is a property of the geometry, whereas climate change acts on the distribution of the forcing.
</a:t>
            </a:r>
            <a:endParaRPr lang="en-US" sz="1150" dirty="0"/>
          </a:p>
          <a:p>
            <a:pPr marL="0" indent="0">
              <a:lnSpc>
                <a:spcPts val="1550"/>
              </a:lnSpc>
              <a:buNone/>
            </a:pPr>
            <a:r>
              <a:rPr lang="en-US" sz="1150" dirty="0">
                <a:solidFill>
                  <a:srgbClr val="CADCFC"/>
                </a:solidFill>
                <a:latin typeface="Calibri" pitchFamily="34" charset="0"/>
                <a:ea typeface="Calibri" pitchFamily="34" charset="-122"/>
                <a:cs typeface="Calibri" pitchFamily="34" charset="-120"/>
              </a:rPr>
              <a:t>The two separate, so the surface is computed once and any later study with synoptic projections may convolve them without repeating the hydrodynamics.
</a:t>
            </a:r>
            <a:endParaRPr lang="en-US" sz="1150" dirty="0"/>
          </a:p>
          <a:p>
            <a:pPr marL="0" indent="0">
              <a:lnSpc>
                <a:spcPts val="1550"/>
              </a:lnSpc>
              <a:buNone/>
            </a:pPr>
            <a:r>
              <a:rPr lang="en-US" sz="1150" b="1" dirty="0">
                <a:solidFill>
                  <a:srgbClr val="FFFFFF"/>
                </a:solidFill>
                <a:latin typeface="Calibri" pitchFamily="34" charset="0"/>
                <a:ea typeface="Calibri" pitchFamily="34" charset="-122"/>
                <a:cs typeface="Calibri" pitchFamily="34" charset="-120"/>
              </a:rPr>
              <a:t>No climate scenario need be run through the model.</a:t>
            </a:r>
            <a:endParaRPr lang="en-US" sz="1150" dirty="0"/>
          </a:p>
        </p:txBody>
      </p:sp>
      <p:sp>
        <p:nvSpPr>
          <p:cNvPr id="20" name="Text 18"/>
          <p:cNvSpPr txBox="1"/>
          <p:nvPr/>
        </p:nvSpPr>
        <p:spPr>
          <a:xfrm>
            <a:off x="566928" y="6053328"/>
            <a:ext cx="11055096" cy="310896"/>
          </a:xfrm>
          <a:prstGeom prst="rect">
            <a:avLst/>
          </a:prstGeom>
          <a:noFill/>
          <a:ln/>
        </p:spPr>
        <p:txBody>
          <a:bodyPr wrap="square" lIns="0" tIns="0" rIns="0" bIns="0" rtlCol="0" anchor="ctr"/>
          <a:lstStyle/>
          <a:p>
            <a:pPr marL="0" indent="0">
              <a:buNone/>
            </a:pPr>
            <a:r>
              <a:rPr lang="en-US" sz="1050" i="1" dirty="0">
                <a:solidFill>
                  <a:srgbClr val="5F6368"/>
                </a:solidFill>
                <a:latin typeface="Calibri" pitchFamily="34" charset="0"/>
                <a:ea typeface="Calibri" pitchFamily="34" charset="-122"/>
                <a:cs typeface="Calibri" pitchFamily="34" charset="-120"/>
              </a:rPr>
              <a:t>The milgħuba floods Msida, at the head of Msida Creek inside Marsamxett, together with Marsaskala, Xemxija, Marsaxlokk and Sliema.</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OUTSTANDING QUESTIONS</a:t>
            </a:r>
            <a:endParaRPr lang="en-US" sz="1200" dirty="0"/>
          </a:p>
        </p:txBody>
      </p:sp>
      <p:sp>
        <p:nvSpPr>
          <p:cNvPr id="3" name="Text 1"/>
          <p:cNvSpPr txBox="1"/>
          <p:nvPr/>
        </p:nvSpPr>
        <p:spPr>
          <a:xfrm>
            <a:off x="566928" y="749808"/>
            <a:ext cx="1042416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Six questions and their bearing on the study</a:t>
            </a:r>
            <a:endParaRPr lang="en-US" sz="3200" dirty="0"/>
          </a:p>
        </p:txBody>
      </p:sp>
      <p:sp>
        <p:nvSpPr>
          <p:cNvPr id="4" name="Shape 2"/>
          <p:cNvSpPr/>
          <p:nvPr/>
        </p:nvSpPr>
        <p:spPr>
          <a:xfrm>
            <a:off x="566928" y="1874520"/>
            <a:ext cx="402336" cy="402336"/>
          </a:xfrm>
          <a:prstGeom prst="ellipse">
            <a:avLst/>
          </a:prstGeom>
          <a:solidFill>
            <a:srgbClr val="065A82"/>
          </a:solidFill>
          <a:ln/>
        </p:spPr>
        <p:txBody>
          <a:bodyPr/>
          <a:lstStyle/>
          <a:p>
            <a:endParaRPr lang="it-IT"/>
          </a:p>
        </p:txBody>
      </p:sp>
      <p:sp>
        <p:nvSpPr>
          <p:cNvPr id="5" name="Text 3"/>
          <p:cNvSpPr txBox="1"/>
          <p:nvPr/>
        </p:nvSpPr>
        <p:spPr>
          <a:xfrm>
            <a:off x="566928" y="1874520"/>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133856" y="1847088"/>
            <a:ext cx="4828032" cy="475488"/>
          </a:xfrm>
          <a:prstGeom prst="rect">
            <a:avLst/>
          </a:prstGeom>
          <a:noFill/>
          <a:ln/>
        </p:spPr>
        <p:txBody>
          <a:bodyPr wrap="square" lIns="0" tIns="0" rIns="0" bIns="0" rtlCol="0" anchor="ctr"/>
          <a:lstStyle/>
          <a:p>
            <a:pPr marL="0" indent="0">
              <a:lnSpc>
                <a:spcPts val="1600"/>
              </a:lnSpc>
              <a:buNone/>
            </a:pPr>
            <a:r>
              <a:rPr lang="en-US" sz="1280" b="1" dirty="0">
                <a:solidFill>
                  <a:srgbClr val="1A1A1A"/>
                </a:solidFill>
                <a:latin typeface="Calibri" pitchFamily="34" charset="0"/>
                <a:ea typeface="Calibri" pitchFamily="34" charset="-122"/>
                <a:cs typeface="Calibri" pitchFamily="34" charset="-120"/>
              </a:rPr>
              <a:t>Is there a sea level record inside the Grand Harbour, and at what sampling interval?</a:t>
            </a:r>
            <a:endParaRPr lang="en-US" sz="1280" dirty="0"/>
          </a:p>
        </p:txBody>
      </p:sp>
      <p:sp>
        <p:nvSpPr>
          <p:cNvPr id="7" name="Text 5"/>
          <p:cNvSpPr txBox="1"/>
          <p:nvPr/>
        </p:nvSpPr>
        <p:spPr>
          <a:xfrm>
            <a:off x="1133856" y="2331720"/>
            <a:ext cx="4828032" cy="896112"/>
          </a:xfrm>
          <a:prstGeom prst="rect">
            <a:avLst/>
          </a:prstGeom>
          <a:noFill/>
          <a:ln/>
        </p:spPr>
        <p:txBody>
          <a:bodyPr wrap="square" lIns="0" tIns="0" rIns="0" bIns="0" rtlCol="0" anchor="ctr"/>
          <a:lstStyle/>
          <a:p>
            <a:pPr marL="0" indent="0">
              <a:lnSpc>
                <a:spcPts val="1450"/>
              </a:lnSpc>
              <a:buNone/>
            </a:pPr>
            <a:r>
              <a:rPr lang="en-US" sz="1100" dirty="0">
                <a:solidFill>
                  <a:srgbClr val="5F6368"/>
                </a:solidFill>
                <a:latin typeface="Calibri" pitchFamily="34" charset="0"/>
                <a:ea typeface="Calibri" pitchFamily="34" charset="-122"/>
                <a:cs typeface="Calibri" pitchFamily="34" charset="-120"/>
              </a:rPr>
              <a:t>A spectrum would establish whether the basins carry energy near 17 minutes. The 0.2 to 2 cph band is observed at Mellieħa, on another coast, so the present analysis can only infer the Valletta response.</a:t>
            </a:r>
            <a:endParaRPr lang="en-US" sz="1100" dirty="0"/>
          </a:p>
        </p:txBody>
      </p:sp>
      <p:sp>
        <p:nvSpPr>
          <p:cNvPr id="8" name="Shape 6"/>
          <p:cNvSpPr/>
          <p:nvPr/>
        </p:nvSpPr>
        <p:spPr>
          <a:xfrm>
            <a:off x="6126480" y="1874520"/>
            <a:ext cx="402336" cy="402336"/>
          </a:xfrm>
          <a:prstGeom prst="ellipse">
            <a:avLst/>
          </a:prstGeom>
          <a:solidFill>
            <a:srgbClr val="1C7293"/>
          </a:solidFill>
          <a:ln/>
        </p:spPr>
        <p:txBody>
          <a:bodyPr/>
          <a:lstStyle/>
          <a:p>
            <a:endParaRPr lang="it-IT"/>
          </a:p>
        </p:txBody>
      </p:sp>
      <p:sp>
        <p:nvSpPr>
          <p:cNvPr id="9" name="Text 7"/>
          <p:cNvSpPr txBox="1"/>
          <p:nvPr/>
        </p:nvSpPr>
        <p:spPr>
          <a:xfrm>
            <a:off x="6126480" y="1874520"/>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0" name="Text 8"/>
          <p:cNvSpPr txBox="1"/>
          <p:nvPr/>
        </p:nvSpPr>
        <p:spPr>
          <a:xfrm>
            <a:off x="6693408" y="1847088"/>
            <a:ext cx="4828032" cy="475488"/>
          </a:xfrm>
          <a:prstGeom prst="rect">
            <a:avLst/>
          </a:prstGeom>
          <a:noFill/>
          <a:ln/>
        </p:spPr>
        <p:txBody>
          <a:bodyPr wrap="square" lIns="0" tIns="0" rIns="0" bIns="0" rtlCol="0" anchor="ctr"/>
          <a:lstStyle/>
          <a:p>
            <a:pPr marL="0" indent="0">
              <a:lnSpc>
                <a:spcPts val="1600"/>
              </a:lnSpc>
              <a:buNone/>
            </a:pPr>
            <a:r>
              <a:rPr lang="en-US" sz="1280" b="1" dirty="0">
                <a:solidFill>
                  <a:srgbClr val="1A1A1A"/>
                </a:solidFill>
                <a:latin typeface="Calibri" pitchFamily="34" charset="0"/>
                <a:ea typeface="Calibri" pitchFamily="34" charset="-122"/>
                <a:cs typeface="Calibri" pitchFamily="34" charset="-120"/>
              </a:rPr>
              <a:t>Has the generation of the wave been modelled, or only its effect on a basin?</a:t>
            </a:r>
            <a:endParaRPr lang="en-US" sz="1280" dirty="0"/>
          </a:p>
        </p:txBody>
      </p:sp>
      <p:sp>
        <p:nvSpPr>
          <p:cNvPr id="11" name="Text 9"/>
          <p:cNvSpPr txBox="1"/>
          <p:nvPr/>
        </p:nvSpPr>
        <p:spPr>
          <a:xfrm>
            <a:off x="6693408" y="2331720"/>
            <a:ext cx="4828032" cy="896112"/>
          </a:xfrm>
          <a:prstGeom prst="rect">
            <a:avLst/>
          </a:prstGeom>
          <a:noFill/>
          <a:ln/>
        </p:spPr>
        <p:txBody>
          <a:bodyPr wrap="square" lIns="0" tIns="0" rIns="0" bIns="0" rtlCol="0" anchor="ctr"/>
          <a:lstStyle/>
          <a:p>
            <a:pPr marL="0" indent="0">
              <a:lnSpc>
                <a:spcPts val="1450"/>
              </a:lnSpc>
              <a:buNone/>
            </a:pPr>
            <a:r>
              <a:rPr lang="en-US" sz="1100" dirty="0">
                <a:solidFill>
                  <a:srgbClr val="5F6368"/>
                </a:solidFill>
                <a:latin typeface="Calibri" pitchFamily="34" charset="0"/>
                <a:ea typeface="Calibri" pitchFamily="34" charset="-122"/>
                <a:cs typeface="Calibri" pitchFamily="34" charset="-120"/>
              </a:rPr>
              <a:t>The 2007 study imposes the long wave at the offshore boundary and computes the response. Modelling how the atmosphere produces that wave over the shelf is what this study proposes. Whether it is genuinely untouched is known only from a literature search.</a:t>
            </a:r>
            <a:endParaRPr lang="en-US" sz="1100" dirty="0"/>
          </a:p>
        </p:txBody>
      </p:sp>
      <p:sp>
        <p:nvSpPr>
          <p:cNvPr id="12" name="Shape 10"/>
          <p:cNvSpPr/>
          <p:nvPr/>
        </p:nvSpPr>
        <p:spPr>
          <a:xfrm>
            <a:off x="566928" y="3355848"/>
            <a:ext cx="402336" cy="402336"/>
          </a:xfrm>
          <a:prstGeom prst="ellipse">
            <a:avLst/>
          </a:prstGeom>
          <a:solidFill>
            <a:srgbClr val="065A82"/>
          </a:solidFill>
          <a:ln/>
        </p:spPr>
        <p:txBody>
          <a:bodyPr/>
          <a:lstStyle/>
          <a:p>
            <a:endParaRPr lang="it-IT"/>
          </a:p>
        </p:txBody>
      </p:sp>
      <p:sp>
        <p:nvSpPr>
          <p:cNvPr id="13" name="Text 11"/>
          <p:cNvSpPr txBox="1"/>
          <p:nvPr/>
        </p:nvSpPr>
        <p:spPr>
          <a:xfrm>
            <a:off x="566928" y="3355848"/>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4" name="Text 12"/>
          <p:cNvSpPr txBox="1"/>
          <p:nvPr/>
        </p:nvSpPr>
        <p:spPr>
          <a:xfrm>
            <a:off x="1133856" y="3328416"/>
            <a:ext cx="4828032" cy="475488"/>
          </a:xfrm>
          <a:prstGeom prst="rect">
            <a:avLst/>
          </a:prstGeom>
          <a:noFill/>
          <a:ln/>
        </p:spPr>
        <p:txBody>
          <a:bodyPr wrap="square" lIns="0" tIns="0" rIns="0" bIns="0" rtlCol="0" anchor="ctr"/>
          <a:lstStyle/>
          <a:p>
            <a:pPr marL="0" indent="0">
              <a:lnSpc>
                <a:spcPts val="1600"/>
              </a:lnSpc>
              <a:buNone/>
            </a:pPr>
            <a:r>
              <a:rPr lang="en-US" sz="1280" b="1" dirty="0">
                <a:solidFill>
                  <a:srgbClr val="1A1A1A"/>
                </a:solidFill>
                <a:latin typeface="Calibri" pitchFamily="34" charset="0"/>
                <a:ea typeface="Calibri" pitchFamily="34" charset="-122"/>
                <a:cs typeface="Calibri" pitchFamily="34" charset="-120"/>
              </a:rPr>
              <a:t>What is the sampling interval of the PORTO sea level stations?</a:t>
            </a:r>
            <a:endParaRPr lang="en-US" sz="1280" dirty="0"/>
          </a:p>
        </p:txBody>
      </p:sp>
      <p:sp>
        <p:nvSpPr>
          <p:cNvPr id="15" name="Text 13"/>
          <p:cNvSpPr txBox="1"/>
          <p:nvPr/>
        </p:nvSpPr>
        <p:spPr>
          <a:xfrm>
            <a:off x="1133856" y="3813048"/>
            <a:ext cx="4828032" cy="896112"/>
          </a:xfrm>
          <a:prstGeom prst="rect">
            <a:avLst/>
          </a:prstGeom>
          <a:noFill/>
          <a:ln/>
        </p:spPr>
        <p:txBody>
          <a:bodyPr wrap="square" lIns="0" tIns="0" rIns="0" bIns="0" rtlCol="0" anchor="ctr"/>
          <a:lstStyle/>
          <a:p>
            <a:pPr marL="0" indent="0">
              <a:lnSpc>
                <a:spcPts val="1450"/>
              </a:lnSpc>
              <a:buNone/>
            </a:pPr>
            <a:r>
              <a:rPr lang="en-US" sz="1100" dirty="0">
                <a:solidFill>
                  <a:srgbClr val="5F6368"/>
                </a:solidFill>
                <a:latin typeface="Calibri" pitchFamily="34" charset="0"/>
                <a:ea typeface="Calibri" pitchFamily="34" charset="-122"/>
                <a:cs typeface="Calibri" pitchFamily="34" charset="-120"/>
              </a:rPr>
              <a:t>The seiche band is 0.2 to 2 cph. At an interval coarser than one minute the model has no observational target within its own frequency range.</a:t>
            </a:r>
            <a:endParaRPr lang="en-US" sz="1100" dirty="0"/>
          </a:p>
        </p:txBody>
      </p:sp>
      <p:sp>
        <p:nvSpPr>
          <p:cNvPr id="16" name="Shape 14"/>
          <p:cNvSpPr/>
          <p:nvPr/>
        </p:nvSpPr>
        <p:spPr>
          <a:xfrm>
            <a:off x="6126480" y="3355848"/>
            <a:ext cx="402336" cy="402336"/>
          </a:xfrm>
          <a:prstGeom prst="ellipse">
            <a:avLst/>
          </a:prstGeom>
          <a:solidFill>
            <a:srgbClr val="1C7293"/>
          </a:solidFill>
          <a:ln/>
        </p:spPr>
        <p:txBody>
          <a:bodyPr/>
          <a:lstStyle/>
          <a:p>
            <a:endParaRPr lang="it-IT"/>
          </a:p>
        </p:txBody>
      </p:sp>
      <p:sp>
        <p:nvSpPr>
          <p:cNvPr id="17" name="Text 15"/>
          <p:cNvSpPr txBox="1"/>
          <p:nvPr/>
        </p:nvSpPr>
        <p:spPr>
          <a:xfrm>
            <a:off x="6126480" y="3355848"/>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8" name="Text 16"/>
          <p:cNvSpPr txBox="1"/>
          <p:nvPr/>
        </p:nvSpPr>
        <p:spPr>
          <a:xfrm>
            <a:off x="6693408" y="3328416"/>
            <a:ext cx="4828032" cy="475488"/>
          </a:xfrm>
          <a:prstGeom prst="rect">
            <a:avLst/>
          </a:prstGeom>
          <a:noFill/>
          <a:ln/>
        </p:spPr>
        <p:txBody>
          <a:bodyPr wrap="square" lIns="0" tIns="0" rIns="0" bIns="0" rtlCol="0" anchor="ctr"/>
          <a:lstStyle/>
          <a:p>
            <a:pPr marL="0" indent="0">
              <a:lnSpc>
                <a:spcPts val="1600"/>
              </a:lnSpc>
              <a:buNone/>
            </a:pPr>
            <a:r>
              <a:rPr lang="en-US" sz="1280" b="1" dirty="0">
                <a:solidFill>
                  <a:srgbClr val="1A1A1A"/>
                </a:solidFill>
                <a:latin typeface="Calibri" pitchFamily="34" charset="0"/>
                <a:ea typeface="Calibri" pitchFamily="34" charset="-122"/>
                <a:cs typeface="Calibri" pitchFamily="34" charset="-120"/>
              </a:rPr>
              <a:t>Is there documented damage or disruption inside the commercial port?</a:t>
            </a:r>
            <a:endParaRPr lang="en-US" sz="1280" dirty="0"/>
          </a:p>
        </p:txBody>
      </p:sp>
      <p:sp>
        <p:nvSpPr>
          <p:cNvPr id="19" name="Text 17"/>
          <p:cNvSpPr txBox="1"/>
          <p:nvPr/>
        </p:nvSpPr>
        <p:spPr>
          <a:xfrm>
            <a:off x="6693408" y="3813048"/>
            <a:ext cx="4828032" cy="896112"/>
          </a:xfrm>
          <a:prstGeom prst="rect">
            <a:avLst/>
          </a:prstGeom>
          <a:noFill/>
          <a:ln/>
        </p:spPr>
        <p:txBody>
          <a:bodyPr wrap="square" lIns="0" tIns="0" rIns="0" bIns="0" rtlCol="0" anchor="ctr"/>
          <a:lstStyle/>
          <a:p>
            <a:pPr marL="0" indent="0">
              <a:lnSpc>
                <a:spcPts val="1450"/>
              </a:lnSpc>
              <a:buNone/>
            </a:pPr>
            <a:r>
              <a:rPr lang="en-US" sz="1100" dirty="0">
                <a:solidFill>
                  <a:srgbClr val="5F6368"/>
                </a:solidFill>
                <a:latin typeface="Calibri" pitchFamily="34" charset="0"/>
                <a:ea typeface="Calibri" pitchFamily="34" charset="-122"/>
                <a:cs typeface="Calibri" pitchFamily="34" charset="-120"/>
              </a:rPr>
              <a:t>Flooding is documented at Msida and elsewhere. Records of mooring failure or interrupted operations would be held by Transport Malta and the terminals.</a:t>
            </a:r>
            <a:endParaRPr lang="en-US" sz="1100" dirty="0"/>
          </a:p>
        </p:txBody>
      </p:sp>
      <p:sp>
        <p:nvSpPr>
          <p:cNvPr id="20" name="Shape 18"/>
          <p:cNvSpPr/>
          <p:nvPr/>
        </p:nvSpPr>
        <p:spPr>
          <a:xfrm>
            <a:off x="566928" y="4837176"/>
            <a:ext cx="402336" cy="402336"/>
          </a:xfrm>
          <a:prstGeom prst="ellipse">
            <a:avLst/>
          </a:prstGeom>
          <a:solidFill>
            <a:srgbClr val="065A82"/>
          </a:solidFill>
          <a:ln/>
        </p:spPr>
        <p:txBody>
          <a:bodyPr/>
          <a:lstStyle/>
          <a:p>
            <a:endParaRPr lang="it-IT"/>
          </a:p>
        </p:txBody>
      </p:sp>
      <p:sp>
        <p:nvSpPr>
          <p:cNvPr id="21" name="Text 19"/>
          <p:cNvSpPr txBox="1"/>
          <p:nvPr/>
        </p:nvSpPr>
        <p:spPr>
          <a:xfrm>
            <a:off x="566928" y="4837176"/>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2" name="Text 20"/>
          <p:cNvSpPr txBox="1"/>
          <p:nvPr/>
        </p:nvSpPr>
        <p:spPr>
          <a:xfrm>
            <a:off x="1133856" y="4809744"/>
            <a:ext cx="4828032" cy="475488"/>
          </a:xfrm>
          <a:prstGeom prst="rect">
            <a:avLst/>
          </a:prstGeom>
          <a:noFill/>
          <a:ln/>
        </p:spPr>
        <p:txBody>
          <a:bodyPr wrap="square" lIns="0" tIns="0" rIns="0" bIns="0" rtlCol="0" anchor="ctr"/>
          <a:lstStyle/>
          <a:p>
            <a:pPr marL="0" indent="0">
              <a:lnSpc>
                <a:spcPts val="1600"/>
              </a:lnSpc>
              <a:buNone/>
            </a:pPr>
            <a:r>
              <a:rPr lang="en-US" sz="1280" b="1" dirty="0">
                <a:solidFill>
                  <a:srgbClr val="1A1A1A"/>
                </a:solidFill>
                <a:latin typeface="Calibri" pitchFamily="34" charset="0"/>
                <a:ea typeface="Calibri" pitchFamily="34" charset="-122"/>
                <a:cs typeface="Calibri" pitchFamily="34" charset="-120"/>
              </a:rPr>
              <a:t>What is the levelling datum behind the bathymetry, and how does its zero relate to the tide gauges?</a:t>
            </a:r>
            <a:endParaRPr lang="en-US" sz="1280" dirty="0"/>
          </a:p>
        </p:txBody>
      </p:sp>
      <p:sp>
        <p:nvSpPr>
          <p:cNvPr id="23" name="Text 21"/>
          <p:cNvSpPr txBox="1"/>
          <p:nvPr/>
        </p:nvSpPr>
        <p:spPr>
          <a:xfrm>
            <a:off x="1133856" y="5294376"/>
            <a:ext cx="4828032" cy="896112"/>
          </a:xfrm>
          <a:prstGeom prst="rect">
            <a:avLst/>
          </a:prstGeom>
          <a:noFill/>
          <a:ln/>
        </p:spPr>
        <p:txBody>
          <a:bodyPr wrap="square" lIns="0" tIns="0" rIns="0" bIns="0" rtlCol="0" anchor="ctr"/>
          <a:lstStyle/>
          <a:p>
            <a:pPr marL="0" indent="0">
              <a:lnSpc>
                <a:spcPts val="1450"/>
              </a:lnSpc>
              <a:buNone/>
            </a:pPr>
            <a:r>
              <a:rPr lang="en-US" sz="1100" dirty="0">
                <a:solidFill>
                  <a:srgbClr val="5F6368"/>
                </a:solidFill>
                <a:latin typeface="Calibri" pitchFamily="34" charset="0"/>
                <a:ea typeface="Calibri" pitchFamily="34" charset="-122"/>
                <a:cs typeface="Calibri" pitchFamily="34" charset="-120"/>
              </a:rPr>
              <a:t>The files declare ellipsoidal heights while the data are orthometric. What remains to be established is the offset against the gauges used for validation.</a:t>
            </a:r>
            <a:endParaRPr lang="en-US" sz="1100" dirty="0"/>
          </a:p>
        </p:txBody>
      </p:sp>
      <p:sp>
        <p:nvSpPr>
          <p:cNvPr id="24" name="Shape 22"/>
          <p:cNvSpPr/>
          <p:nvPr/>
        </p:nvSpPr>
        <p:spPr>
          <a:xfrm>
            <a:off x="6126480" y="4837176"/>
            <a:ext cx="402336" cy="402336"/>
          </a:xfrm>
          <a:prstGeom prst="ellipse">
            <a:avLst/>
          </a:prstGeom>
          <a:solidFill>
            <a:srgbClr val="1C7293"/>
          </a:solidFill>
          <a:ln/>
        </p:spPr>
        <p:txBody>
          <a:bodyPr/>
          <a:lstStyle/>
          <a:p>
            <a:endParaRPr lang="it-IT"/>
          </a:p>
        </p:txBody>
      </p:sp>
      <p:sp>
        <p:nvSpPr>
          <p:cNvPr id="25" name="Text 23"/>
          <p:cNvSpPr txBox="1"/>
          <p:nvPr/>
        </p:nvSpPr>
        <p:spPr>
          <a:xfrm>
            <a:off x="6126480" y="4837176"/>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6" name="Text 24"/>
          <p:cNvSpPr txBox="1"/>
          <p:nvPr/>
        </p:nvSpPr>
        <p:spPr>
          <a:xfrm>
            <a:off x="6693408" y="4809744"/>
            <a:ext cx="4828032" cy="475488"/>
          </a:xfrm>
          <a:prstGeom prst="rect">
            <a:avLst/>
          </a:prstGeom>
          <a:noFill/>
          <a:ln/>
        </p:spPr>
        <p:txBody>
          <a:bodyPr wrap="square" lIns="0" tIns="0" rIns="0" bIns="0" rtlCol="0" anchor="ctr"/>
          <a:lstStyle/>
          <a:p>
            <a:pPr marL="0" indent="0">
              <a:lnSpc>
                <a:spcPts val="1600"/>
              </a:lnSpc>
              <a:buNone/>
            </a:pPr>
            <a:r>
              <a:rPr lang="en-US" sz="1280" b="1" dirty="0">
                <a:solidFill>
                  <a:srgbClr val="1A1A1A"/>
                </a:solidFill>
                <a:latin typeface="Calibri" pitchFamily="34" charset="0"/>
                <a:ea typeface="Calibri" pitchFamily="34" charset="-122"/>
                <a:cs typeface="Calibri" pitchFamily="34" charset="-120"/>
              </a:rPr>
              <a:t>Is there any wave record beyond the BLUE buoy?</a:t>
            </a:r>
            <a:endParaRPr lang="en-US" sz="1280" dirty="0"/>
          </a:p>
        </p:txBody>
      </p:sp>
      <p:sp>
        <p:nvSpPr>
          <p:cNvPr id="27" name="Text 25"/>
          <p:cNvSpPr txBox="1"/>
          <p:nvPr/>
        </p:nvSpPr>
        <p:spPr>
          <a:xfrm>
            <a:off x="6693408" y="5294376"/>
            <a:ext cx="4828032" cy="896112"/>
          </a:xfrm>
          <a:prstGeom prst="rect">
            <a:avLst/>
          </a:prstGeom>
          <a:noFill/>
          <a:ln/>
        </p:spPr>
        <p:txBody>
          <a:bodyPr wrap="square" lIns="0" tIns="0" rIns="0" bIns="0" rtlCol="0" anchor="ctr"/>
          <a:lstStyle/>
          <a:p>
            <a:pPr marL="0" indent="0">
              <a:lnSpc>
                <a:spcPts val="1450"/>
              </a:lnSpc>
              <a:buNone/>
            </a:pPr>
            <a:r>
              <a:rPr lang="en-US" sz="1100" dirty="0">
                <a:solidFill>
                  <a:srgbClr val="5F6368"/>
                </a:solidFill>
                <a:latin typeface="Calibri" pitchFamily="34" charset="0"/>
                <a:ea typeface="Calibri" pitchFamily="34" charset="-122"/>
                <a:cs typeface="Calibri" pitchFamily="34" charset="-120"/>
              </a:rPr>
              <a:t>Wave validation presently rests on a single point 3.7 km offshore. The radar reports a derived product whose own accuracy was assessed against models, so it serves as a cross-check rather than a reference.</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21295C"/>
        </a:solidFill>
        <a:effectLst/>
      </p:bgPr>
    </p:bg>
    <p:spTree>
      <p:nvGrpSpPr>
        <p:cNvPr id="1" name=""/>
        <p:cNvGrpSpPr/>
        <p:nvPr/>
      </p:nvGrpSpPr>
      <p:grpSpPr>
        <a:xfrm>
          <a:off x="0" y="0"/>
          <a:ext cx="0" cy="0"/>
          <a:chOff x="0" y="0"/>
          <a:chExt cx="0" cy="0"/>
        </a:xfrm>
      </p:grpSpPr>
      <p:sp>
        <p:nvSpPr>
          <p:cNvPr id="2" name="Shape 0"/>
          <p:cNvSpPr/>
          <p:nvPr/>
        </p:nvSpPr>
        <p:spPr>
          <a:xfrm>
            <a:off x="-1737360" y="3840480"/>
            <a:ext cx="4754880" cy="4754880"/>
          </a:xfrm>
          <a:prstGeom prst="ellipse">
            <a:avLst/>
          </a:prstGeom>
          <a:solidFill>
            <a:srgbClr val="065A82">
              <a:alpha val="40000"/>
            </a:srgbClr>
          </a:solidFill>
          <a:ln/>
        </p:spPr>
        <p:txBody>
          <a:bodyPr/>
          <a:lstStyle/>
          <a:p>
            <a:endParaRPr lang="it-IT"/>
          </a:p>
        </p:txBody>
      </p:sp>
      <p:sp>
        <p:nvSpPr>
          <p:cNvPr id="3" name="Text 1"/>
          <p:cNvSpPr txBox="1"/>
          <p:nvPr/>
        </p:nvSpPr>
        <p:spPr>
          <a:xfrm>
            <a:off x="566928" y="640080"/>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IMMEDIATE SEQUENCE</a:t>
            </a:r>
            <a:endParaRPr lang="en-US" sz="1200" dirty="0"/>
          </a:p>
        </p:txBody>
      </p:sp>
      <p:sp>
        <p:nvSpPr>
          <p:cNvPr id="4" name="Text 2"/>
          <p:cNvSpPr txBox="1"/>
          <p:nvPr/>
        </p:nvSpPr>
        <p:spPr>
          <a:xfrm>
            <a:off x="566928" y="960120"/>
            <a:ext cx="9144000" cy="64008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Before the mesh is built</a:t>
            </a:r>
            <a:endParaRPr lang="en-US" sz="3000" dirty="0"/>
          </a:p>
        </p:txBody>
      </p:sp>
      <p:sp>
        <p:nvSpPr>
          <p:cNvPr id="5" name="Shape 3"/>
          <p:cNvSpPr/>
          <p:nvPr/>
        </p:nvSpPr>
        <p:spPr>
          <a:xfrm>
            <a:off x="612648" y="2057400"/>
            <a:ext cx="155448" cy="155448"/>
          </a:xfrm>
          <a:prstGeom prst="ellipse">
            <a:avLst/>
          </a:prstGeom>
          <a:solidFill>
            <a:srgbClr val="CADCFC"/>
          </a:solidFill>
          <a:ln/>
        </p:spPr>
        <p:txBody>
          <a:bodyPr/>
          <a:lstStyle/>
          <a:p>
            <a:endParaRPr lang="it-IT"/>
          </a:p>
        </p:txBody>
      </p:sp>
      <p:sp>
        <p:nvSpPr>
          <p:cNvPr id="6" name="Text 4"/>
          <p:cNvSpPr txBox="1"/>
          <p:nvPr/>
        </p:nvSpPr>
        <p:spPr>
          <a:xfrm>
            <a:off x="978408" y="1965960"/>
            <a:ext cx="2651760" cy="301752"/>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Late September</a:t>
            </a:r>
            <a:endParaRPr lang="en-US" sz="1300" dirty="0"/>
          </a:p>
        </p:txBody>
      </p:sp>
      <p:sp>
        <p:nvSpPr>
          <p:cNvPr id="7" name="Text 5"/>
          <p:cNvSpPr txBox="1"/>
          <p:nvPr/>
        </p:nvSpPr>
        <p:spPr>
          <a:xfrm>
            <a:off x="3721608" y="1965960"/>
            <a:ext cx="7863840" cy="512064"/>
          </a:xfrm>
          <a:prstGeom prst="rect">
            <a:avLst/>
          </a:prstGeom>
          <a:noFill/>
          <a:ln/>
        </p:spPr>
        <p:txBody>
          <a:bodyPr wrap="square" lIns="0" tIns="0" rIns="0" bIns="0" rtlCol="0" anchor="ctr"/>
          <a:lstStyle/>
          <a:p>
            <a:pPr marL="0" indent="0">
              <a:lnSpc>
                <a:spcPts val="1600"/>
              </a:lnSpc>
              <a:buNone/>
            </a:pPr>
            <a:r>
              <a:rPr lang="en-US" sz="1250" dirty="0">
                <a:solidFill>
                  <a:srgbClr val="9FB3D1"/>
                </a:solidFill>
                <a:latin typeface="Calibri" pitchFamily="34" charset="0"/>
                <a:ea typeface="Calibri" pitchFamily="34" charset="-122"/>
                <a:cs typeface="Calibri" pitchFamily="34" charset="-120"/>
              </a:rPr>
              <a:t>Seiche climatology from the Portomaso and PORTO archives. No model is required.</a:t>
            </a:r>
            <a:endParaRPr lang="en-US" sz="1250" dirty="0"/>
          </a:p>
        </p:txBody>
      </p:sp>
      <p:sp>
        <p:nvSpPr>
          <p:cNvPr id="8" name="Shape 6"/>
          <p:cNvSpPr/>
          <p:nvPr/>
        </p:nvSpPr>
        <p:spPr>
          <a:xfrm>
            <a:off x="612648" y="2843784"/>
            <a:ext cx="155448" cy="155448"/>
          </a:xfrm>
          <a:prstGeom prst="ellipse">
            <a:avLst/>
          </a:prstGeom>
          <a:solidFill>
            <a:srgbClr val="EB6834"/>
          </a:solidFill>
          <a:ln/>
        </p:spPr>
        <p:txBody>
          <a:bodyPr/>
          <a:lstStyle/>
          <a:p>
            <a:endParaRPr lang="it-IT"/>
          </a:p>
        </p:txBody>
      </p:sp>
      <p:sp>
        <p:nvSpPr>
          <p:cNvPr id="9" name="Text 7"/>
          <p:cNvSpPr txBox="1"/>
          <p:nvPr/>
        </p:nvSpPr>
        <p:spPr>
          <a:xfrm>
            <a:off x="978408" y="2752344"/>
            <a:ext cx="2651760" cy="301752"/>
          </a:xfrm>
          <a:prstGeom prst="rect">
            <a:avLst/>
          </a:prstGeom>
          <a:noFill/>
          <a:ln/>
        </p:spPr>
        <p:txBody>
          <a:bodyPr wrap="square" lIns="0" tIns="0" rIns="0" bIns="0" rtlCol="0" anchor="ctr"/>
          <a:lstStyle/>
          <a:p>
            <a:pPr marL="0" indent="0">
              <a:buNone/>
            </a:pPr>
            <a:r>
              <a:rPr lang="en-US" sz="1300" b="1" dirty="0">
                <a:solidFill>
                  <a:srgbClr val="EB6834"/>
                </a:solidFill>
                <a:latin typeface="Calibri" pitchFamily="34" charset="0"/>
                <a:ea typeface="Calibri" pitchFamily="34" charset="-122"/>
                <a:cs typeface="Calibri" pitchFamily="34" charset="-120"/>
              </a:rPr>
              <a:t>19 October</a:t>
            </a:r>
            <a:endParaRPr lang="en-US" sz="1300" dirty="0"/>
          </a:p>
        </p:txBody>
      </p:sp>
      <p:sp>
        <p:nvSpPr>
          <p:cNvPr id="10" name="Text 8"/>
          <p:cNvSpPr txBox="1"/>
          <p:nvPr/>
        </p:nvSpPr>
        <p:spPr>
          <a:xfrm>
            <a:off x="3721608" y="2752344"/>
            <a:ext cx="7863840" cy="512064"/>
          </a:xfrm>
          <a:prstGeom prst="rect">
            <a:avLst/>
          </a:prstGeom>
          <a:noFill/>
          <a:ln/>
        </p:spPr>
        <p:txBody>
          <a:bodyPr wrap="square" lIns="0" tIns="0" rIns="0" bIns="0" rtlCol="0" anchor="ctr"/>
          <a:lstStyle/>
          <a:p>
            <a:pPr marL="0" indent="0">
              <a:lnSpc>
                <a:spcPts val="1600"/>
              </a:lnSpc>
              <a:buNone/>
            </a:pPr>
            <a:r>
              <a:rPr lang="en-US" sz="1250" dirty="0">
                <a:solidFill>
                  <a:srgbClr val="9FB3D1"/>
                </a:solidFill>
                <a:latin typeface="Calibri" pitchFamily="34" charset="0"/>
                <a:ea typeface="Calibri" pitchFamily="34" charset="-122"/>
                <a:cs typeface="Calibri" pitchFamily="34" charset="-120"/>
              </a:rPr>
              <a:t>Delft3D User Days abstract.</a:t>
            </a:r>
            <a:endParaRPr lang="en-US" sz="1250" dirty="0"/>
          </a:p>
        </p:txBody>
      </p:sp>
      <p:sp>
        <p:nvSpPr>
          <p:cNvPr id="11" name="Shape 9"/>
          <p:cNvSpPr/>
          <p:nvPr/>
        </p:nvSpPr>
        <p:spPr>
          <a:xfrm>
            <a:off x="612648" y="3630168"/>
            <a:ext cx="155448" cy="155448"/>
          </a:xfrm>
          <a:prstGeom prst="ellipse">
            <a:avLst/>
          </a:prstGeom>
          <a:solidFill>
            <a:srgbClr val="CADCFC"/>
          </a:solidFill>
          <a:ln/>
        </p:spPr>
        <p:txBody>
          <a:bodyPr/>
          <a:lstStyle/>
          <a:p>
            <a:endParaRPr lang="it-IT"/>
          </a:p>
        </p:txBody>
      </p:sp>
      <p:sp>
        <p:nvSpPr>
          <p:cNvPr id="12" name="Text 10"/>
          <p:cNvSpPr txBox="1"/>
          <p:nvPr/>
        </p:nvSpPr>
        <p:spPr>
          <a:xfrm>
            <a:off x="978408" y="3538728"/>
            <a:ext cx="2651760" cy="301752"/>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Early October</a:t>
            </a:r>
            <a:endParaRPr lang="en-US" sz="1300" dirty="0"/>
          </a:p>
        </p:txBody>
      </p:sp>
      <p:sp>
        <p:nvSpPr>
          <p:cNvPr id="13" name="Text 11"/>
          <p:cNvSpPr txBox="1"/>
          <p:nvPr/>
        </p:nvSpPr>
        <p:spPr>
          <a:xfrm>
            <a:off x="3721608" y="3538728"/>
            <a:ext cx="7863840" cy="512064"/>
          </a:xfrm>
          <a:prstGeom prst="rect">
            <a:avLst/>
          </a:prstGeom>
          <a:noFill/>
          <a:ln/>
        </p:spPr>
        <p:txBody>
          <a:bodyPr wrap="square" lIns="0" tIns="0" rIns="0" bIns="0" rtlCol="0" anchor="ctr"/>
          <a:lstStyle/>
          <a:p>
            <a:pPr marL="0" indent="0">
              <a:lnSpc>
                <a:spcPts val="1600"/>
              </a:lnSpc>
              <a:buNone/>
            </a:pPr>
            <a:r>
              <a:rPr lang="en-US" sz="1250" dirty="0">
                <a:solidFill>
                  <a:srgbClr val="9FB3D1"/>
                </a:solidFill>
                <a:latin typeface="Calibri" pitchFamily="34" charset="0"/>
                <a:ea typeface="Calibri" pitchFamily="34" charset="-122"/>
                <a:cs typeface="Calibri" pitchFamily="34" charset="-120"/>
              </a:rPr>
              <a:t>Merged bathymetry over the domain, gaps intersected with the coastline.</a:t>
            </a:r>
            <a:endParaRPr lang="en-US" sz="1250" dirty="0"/>
          </a:p>
        </p:txBody>
      </p:sp>
      <p:sp>
        <p:nvSpPr>
          <p:cNvPr id="14" name="Shape 12"/>
          <p:cNvSpPr/>
          <p:nvPr/>
        </p:nvSpPr>
        <p:spPr>
          <a:xfrm>
            <a:off x="612648" y="4416552"/>
            <a:ext cx="155448" cy="155448"/>
          </a:xfrm>
          <a:prstGeom prst="ellipse">
            <a:avLst/>
          </a:prstGeom>
          <a:solidFill>
            <a:srgbClr val="CADCFC"/>
          </a:solidFill>
          <a:ln/>
        </p:spPr>
        <p:txBody>
          <a:bodyPr/>
          <a:lstStyle/>
          <a:p>
            <a:endParaRPr lang="it-IT"/>
          </a:p>
        </p:txBody>
      </p:sp>
      <p:sp>
        <p:nvSpPr>
          <p:cNvPr id="15" name="Text 13"/>
          <p:cNvSpPr txBox="1"/>
          <p:nvPr/>
        </p:nvSpPr>
        <p:spPr>
          <a:xfrm>
            <a:off x="978408" y="4325112"/>
            <a:ext cx="2651760" cy="301752"/>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2 to 4 November</a:t>
            </a:r>
            <a:endParaRPr lang="en-US" sz="1300" dirty="0"/>
          </a:p>
        </p:txBody>
      </p:sp>
      <p:sp>
        <p:nvSpPr>
          <p:cNvPr id="16" name="Text 14"/>
          <p:cNvSpPr txBox="1"/>
          <p:nvPr/>
        </p:nvSpPr>
        <p:spPr>
          <a:xfrm>
            <a:off x="3721608" y="4325112"/>
            <a:ext cx="7863840" cy="512064"/>
          </a:xfrm>
          <a:prstGeom prst="rect">
            <a:avLst/>
          </a:prstGeom>
          <a:noFill/>
          <a:ln/>
        </p:spPr>
        <p:txBody>
          <a:bodyPr wrap="square" lIns="0" tIns="0" rIns="0" bIns="0" rtlCol="0" anchor="ctr"/>
          <a:lstStyle/>
          <a:p>
            <a:pPr marL="0" indent="0">
              <a:lnSpc>
                <a:spcPts val="1600"/>
              </a:lnSpc>
              <a:buNone/>
            </a:pPr>
            <a:r>
              <a:rPr lang="en-US" sz="1250" dirty="0">
                <a:solidFill>
                  <a:srgbClr val="9FB3D1"/>
                </a:solidFill>
                <a:latin typeface="Calibri" pitchFamily="34" charset="0"/>
                <a:ea typeface="Calibri" pitchFamily="34" charset="-122"/>
                <a:cs typeface="Calibri" pitchFamily="34" charset="-120"/>
              </a:rPr>
              <a:t>Delft3D User Days at Deltares, with the four configuration questions.</a:t>
            </a:r>
            <a:endParaRPr lang="en-US" sz="1250" dirty="0"/>
          </a:p>
        </p:txBody>
      </p:sp>
      <p:sp>
        <p:nvSpPr>
          <p:cNvPr id="17" name="Shape 15"/>
          <p:cNvSpPr/>
          <p:nvPr/>
        </p:nvSpPr>
        <p:spPr>
          <a:xfrm>
            <a:off x="612648" y="5202936"/>
            <a:ext cx="155448" cy="155448"/>
          </a:xfrm>
          <a:prstGeom prst="ellipse">
            <a:avLst/>
          </a:prstGeom>
          <a:solidFill>
            <a:srgbClr val="CADCFC"/>
          </a:solidFill>
          <a:ln/>
        </p:spPr>
        <p:txBody>
          <a:bodyPr/>
          <a:lstStyle/>
          <a:p>
            <a:endParaRPr lang="it-IT"/>
          </a:p>
        </p:txBody>
      </p:sp>
      <p:sp>
        <p:nvSpPr>
          <p:cNvPr id="18" name="Text 16"/>
          <p:cNvSpPr txBox="1"/>
          <p:nvPr/>
        </p:nvSpPr>
        <p:spPr>
          <a:xfrm>
            <a:off x="978408" y="5111496"/>
            <a:ext cx="2651760" cy="301752"/>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Late October to November</a:t>
            </a:r>
            <a:endParaRPr lang="en-US" sz="1300" dirty="0"/>
          </a:p>
        </p:txBody>
      </p:sp>
      <p:sp>
        <p:nvSpPr>
          <p:cNvPr id="19" name="Text 17"/>
          <p:cNvSpPr txBox="1"/>
          <p:nvPr/>
        </p:nvSpPr>
        <p:spPr>
          <a:xfrm>
            <a:off x="3721608" y="5111496"/>
            <a:ext cx="7863840" cy="512064"/>
          </a:xfrm>
          <a:prstGeom prst="rect">
            <a:avLst/>
          </a:prstGeom>
          <a:noFill/>
          <a:ln/>
        </p:spPr>
        <p:txBody>
          <a:bodyPr wrap="square" lIns="0" tIns="0" rIns="0" bIns="0" rtlCol="0" anchor="ctr"/>
          <a:lstStyle/>
          <a:p>
            <a:pPr marL="0" indent="0">
              <a:lnSpc>
                <a:spcPts val="1600"/>
              </a:lnSpc>
              <a:buNone/>
            </a:pPr>
            <a:r>
              <a:rPr lang="en-US" sz="1250" dirty="0">
                <a:solidFill>
                  <a:srgbClr val="9FB3D1"/>
                </a:solidFill>
                <a:latin typeface="Calibri" pitchFamily="34" charset="0"/>
                <a:ea typeface="Calibri" pitchFamily="34" charset="-122"/>
                <a:cs typeface="Calibri" pitchFamily="34" charset="-120"/>
              </a:rPr>
              <a:t>Mesh, Riemann boundary verified by synthetic pulse, first runs.</a:t>
            </a:r>
            <a:endParaRPr lang="en-US" sz="1250" dirty="0"/>
          </a:p>
        </p:txBody>
      </p:sp>
      <p:sp>
        <p:nvSpPr>
          <p:cNvPr id="20" name="Text 18"/>
          <p:cNvSpPr txBox="1"/>
          <p:nvPr/>
        </p:nvSpPr>
        <p:spPr>
          <a:xfrm>
            <a:off x="566928" y="6144768"/>
            <a:ext cx="10058400" cy="274320"/>
          </a:xfrm>
          <a:prstGeom prst="rect">
            <a:avLst/>
          </a:prstGeom>
          <a:noFill/>
          <a:ln/>
        </p:spPr>
        <p:txBody>
          <a:bodyPr wrap="square" lIns="0" tIns="0" rIns="0" bIns="0" rtlCol="0" anchor="ctr"/>
          <a:lstStyle/>
          <a:p>
            <a:pPr marL="0" indent="0">
              <a:buNone/>
            </a:pPr>
            <a:r>
              <a:rPr lang="en-US" sz="1100" i="1" dirty="0">
                <a:solidFill>
                  <a:srgbClr val="7F93B3"/>
                </a:solidFill>
                <a:latin typeface="Calibri" pitchFamily="34" charset="0"/>
                <a:ea typeface="Calibri" pitchFamily="34" charset="-122"/>
                <a:cs typeface="Calibri" pitchFamily="34" charset="-120"/>
              </a:rPr>
              <a:t>Documents, figures and the reproducible analysis are in the project repository.</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140</TotalTime>
  <Words>1989</Words>
  <Application>Microsoft Office PowerPoint</Application>
  <PresentationFormat>Widescreen</PresentationFormat>
  <Paragraphs>216</Paragraphs>
  <Slides>11</Slides>
  <Notes>11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Valletta harbour system: model concept</dc:title>
  <dc:subject>PptxGenJS Presentation</dc:subject>
  <dc:creator>Cicero Martins Jr</dc:creator>
  <cp:lastModifiedBy>CICERO MARTINS JUNIOR</cp:lastModifiedBy>
  <cp:revision>2</cp:revision>
  <dcterms:created xsi:type="dcterms:W3CDTF">2026-09-25T10:18:49Z</dcterms:created>
  <dcterms:modified xsi:type="dcterms:W3CDTF">2026-09-25T12:43:03Z</dcterms:modified>
</cp:coreProperties>
</file>