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what the model is meant to be, and what has to be settled with the group before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of context. The thesis contribution is framework reusability; Valletta is the harder and therefore better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data came from the group's own contribution to EMODnet. The public product gives the inlets one to three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is the organising idea of the whole study. It is also what sets the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decides the domain. Ask whether the group's own harbour records show energy near 17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Deltares question: whether sigma holds from 15 m to 150 m, or whether z-sigma is indicated.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applied companion is a map of exposure by inlet and quay. The fallback, with independent value, is harbour renewal under the Water Framework Directive.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sweep of six speeds by eight directions is forty-eight runs, barotropic and uncoupled, therefore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items that change what the study can be. Everything else can be resolved by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B3 loses four working days to Delft and holds fifteen rather than nineteen.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sp>
      <p:sp>
        <p:nvSpPr>
          <p:cNvPr id="3" name="Shape 1"/>
          <p:cNvSpPr/>
          <p:nvPr/>
        </p:nvSpPr>
        <p:spPr>
          <a:xfrm>
            <a:off x="10058400" y="3108960"/>
            <a:ext cx="2377440" cy="2377440"/>
          </a:xfrm>
          <a:prstGeom prst="ellipse">
            <a:avLst/>
          </a:prstGeom>
          <a:solidFill>
            <a:srgbClr val="EB6834">
              <a:alpha val="30000"/>
            </a:srgbClr>
          </a:solidFill>
          <a:ln/>
        </p:spPr>
      </p:sp>
      <p:sp>
        <p:nvSpPr>
          <p:cNvPr id="4" name="Text 2"/>
          <p:cNvSpPr txBox="1"/>
          <p:nvPr/>
        </p:nvSpPr>
        <p:spPr>
          <a:xfrm>
            <a:off x="566928" y="1371600"/>
            <a:ext cx="768096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Model concept, and the questions to settle</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Cicero Martins Jr</a:t>
            </a:r>
            <a:pPr indent="0" marL="0">
              <a:buNone/>
            </a:pP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Research period at the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25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POINT OF DEPARTURE</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solver and the assembly are unchanged. The physics is not.</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comes from the Stagnone di Marsala digital twin, where a coupled Delft3D FM and SWAN model was built for a shallow vegetated lagoon.</a:t>
            </a:r>
            <a:endParaRPr lang="en-US" sz="1450" dirty="0"/>
          </a:p>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Carrying it to a second lagoon would test little. A reviewer could anticipate the outcome. Carrying it to a deep engineered harbour tests whether the pipeline is reusable or was fitted to one site.</a:t>
            </a:r>
            <a:endParaRPr lang="en-US" sz="1450" dirty="0"/>
          </a:p>
          <a:p>
            <a:pPr indent="0" marL="0">
              <a:lnSpc>
                <a:spcPts val="2200"/>
              </a:lnSpc>
              <a:buNone/>
            </a:pPr>
            <a:r>
              <a:rPr lang="en-US" sz="1450" dirty="0">
                <a:solidFill>
                  <a:srgbClr val="1A1A1A"/>
                </a:solidFill>
                <a:latin typeface="Calibri" pitchFamily="34" charset="0"/>
                <a:ea typeface="Calibri" pitchFamily="34" charset="-122"/>
                <a:cs typeface="Calibri" pitchFamily="34" charset="-120"/>
              </a:rPr>
              <a:t>What transfers is the assembly. What does not transfer is itself a result, and it is recorded rather than hidden.</a:t>
            </a:r>
            <a:endParaRPr lang="en-US" sz="14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gridCol w="1828800"/>
                <a:gridCol w="1828800"/>
              </a:tblGrid>
              <a:tr h="420624">
                <a:tc>
                  <a:txBody>
                    <a:bodyPr/>
                    <a:lstStyle/>
                    <a:p>
                      <a:pPr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is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ALREADY IN HAND</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Supplied by the host group on 22 and 23 September.</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indent="0" marL="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than the public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r>
          <p:cNvPicPr>
            <a:picLocks noChangeAspect="1"/>
          </p:cNvPicPr>
          <p:nvPr/>
        </p:nvPicPr>
        <p:blipFill>
          <a:blip r:embed="rId1"/>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indent="0" marL="0">
              <a:lnSpc>
                <a:spcPts val="1600"/>
              </a:lnSpc>
              <a:buNone/>
            </a:pPr>
            <a:r>
              <a:rPr lang="en-US" sz="1150" b="1" dirty="0">
                <a:solidFill>
                  <a:srgbClr val="1A1A1A"/>
                </a:solidFill>
                <a:latin typeface="Calibri" pitchFamily="34" charset="0"/>
                <a:ea typeface="Calibri" pitchFamily="34" charset="-122"/>
                <a:cs typeface="Calibri" pitchFamily="34" charset="-120"/>
              </a:rPr>
              <a:t>Two hazards already found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grids carry no datum. Read as WGS84 they land 197 m out, silently.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Bathymetry is ED50, the coastline is WGS84. Neither overlays the other untransformed.</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milgħuba is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Rissaga in the Balearics, marrobbio on the Sicilian shelf. Not basin sloshing in general.</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An atmospheric disturbance travelling at √(gh) pumps the sea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Green's law amplifies the wave as it climbs the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From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harbour geometry amplifies what arrives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Quarter-wave and Helmholtz estimates agree at 12 to 18 minutes.</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At Ciutadella, Menorca, the three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WHAT THE GEOMETRY SAYS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harbours do not resonate in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Quarter-wave periods, T = 4L∕√(gh), against the 0.2 to 2 cph band reported by Drago.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743200"/>
                <a:gridCol w="868680"/>
                <a:gridCol w="777240"/>
                <a:gridCol w="960120"/>
                <a:gridCol w="1051560"/>
                <a:gridCol w="137160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16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3.49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13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286000"/>
            <a:ext cx="2980944" cy="2432304"/>
          </a:xfrm>
          <a:prstGeom prst="roundRect">
            <a:avLst>
              <a:gd name="adj" fmla="val 2256"/>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The consequence</a:t>
            </a:r>
            <a:endParaRPr lang="en-US" sz="1400" dirty="0"/>
          </a:p>
        </p:txBody>
      </p:sp>
      <p:sp>
        <p:nvSpPr>
          <p:cNvPr id="8" name="Text 5"/>
          <p:cNvSpPr txBox="1"/>
          <p:nvPr/>
        </p:nvSpPr>
        <p:spPr>
          <a:xfrm>
            <a:off x="8915400" y="2880360"/>
            <a:ext cx="2468880" cy="173736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available boundary product carries no energy there.
</a:t>
            </a:r>
            <a:endParaRPr lang="en-US" sz="1150" dirty="0"/>
          </a:p>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The domain must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Tested against its two plausible failures. A Helmholtz idealisation returns 12 to 18 minutes also, and the harbours amplify by less than a tenth across most of the band.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plateau costs a tenth more cells</a:t>
            </a:r>
            <a:endParaRPr lang="en-US" sz="3200" dirty="0"/>
          </a:p>
        </p:txBody>
      </p:sp>
      <p:pic>
        <p:nvPicPr>
          <p:cNvPr id="4" name="Image 0" descr="C:\Users\Unipa\Documents\MaltaDT\figures\domain_design.png">    </p:cNvPr>
          <p:cNvPicPr>
            <a:picLocks noChangeAspect="1"/>
          </p:cNvPicPr>
          <p:nvPr/>
        </p:nvPicPr>
        <p:blipFill>
          <a:blip r:embed="rId1"/>
          <a:stretch>
            <a:fillRect/>
          </a:stretch>
        </p:blipFill>
        <p:spPr>
          <a:xfrm>
            <a:off x="566928" y="1572768"/>
            <a:ext cx="11055096" cy="4956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Geometry sets the resolution, not the wave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17-minute wave in 16 m of water is 12.8 km long. The planform of the inlets is what must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868680"/>
          </a:xfrm>
          <a:prstGeom prst="rect">
            <a:avLst/>
          </a:prstGeom>
          <a:noFill/>
          <a:ln/>
        </p:spPr>
        <p:txBody>
          <a:bodyPr wrap="square" lIns="0" tIns="0" rIns="0" bIns="0" rtlCol="0" anchor="ctr"/>
          <a:lstStyle/>
          <a:p>
            <a:pPr indent="0" marL="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
</a:t>
            </a:r>
            <a:endParaRPr lang="en-US" sz="1250" dirty="0"/>
          </a:p>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456432"/>
          <a:ext cx="4937760" cy="914400"/>
        </p:xfrm>
        <a:graphic>
          <a:graphicData uri="http://schemas.openxmlformats.org/drawingml/2006/table">
            <a:tbl>
              <a:tblPr/>
              <a:tblGrid>
                <a:gridCol w="3291840"/>
                <a:gridCol w="164592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Inlets and entrances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basins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Nearshore, within 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Coastal, 2 to 15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Approximately 28,500 cells. A time step of 6 to 12 s at Courant 5 to 10 in the finest cells, which samples a 17-minute wave about a hundred times per cycle. The 10 m of the source data is the floor;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WHAT THE STUDY ASKS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Attribution, not verification</a:t>
            </a:r>
            <a:endParaRPr lang="en-US" sz="3200" dirty="0"/>
          </a:p>
        </p:txBody>
      </p:sp>
      <p:sp>
        <p:nvSpPr>
          <p:cNvPr id="4" name="Shape 2"/>
          <p:cNvSpPr/>
          <p:nvPr/>
        </p:nvSpPr>
        <p:spPr>
          <a:xfrm>
            <a:off x="566928" y="1874520"/>
            <a:ext cx="11055096" cy="1298448"/>
          </a:xfrm>
          <a:prstGeom prst="roundRect">
            <a:avLst>
              <a:gd name="adj" fmla="val 4225"/>
            </a:avLst>
          </a:prstGeom>
          <a:solidFill>
            <a:srgbClr val="EEF3F6"/>
          </a:solidFill>
          <a:ln/>
        </p:spPr>
      </p:sp>
      <p:sp>
        <p:nvSpPr>
          <p:cNvPr id="5" name="Text 3"/>
          <p:cNvSpPr txBox="1"/>
          <p:nvPr/>
        </p:nvSpPr>
        <p:spPr>
          <a:xfrm>
            <a:off x="886968" y="2084832"/>
            <a:ext cx="10424160" cy="914400"/>
          </a:xfrm>
          <a:prstGeom prst="rect">
            <a:avLst/>
          </a:prstGeom>
          <a:noFill/>
          <a:ln/>
        </p:spPr>
        <p:txBody>
          <a:bodyPr wrap="square" lIns="0" tIns="0" rIns="0" bIns="0" rtlCol="0" anchor="ctr"/>
          <a:lstStyle/>
          <a:p>
            <a:pPr indent="0" marL="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6" name="Text 4"/>
          <p:cNvSpPr txBox="1"/>
          <p:nvPr/>
        </p:nvSpPr>
        <p:spPr>
          <a:xfrm>
            <a:off x="566928" y="3456432"/>
            <a:ext cx="521208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Why not the obvious question</a:t>
            </a:r>
            <a:endParaRPr lang="en-US" sz="1400" dirty="0"/>
          </a:p>
        </p:txBody>
      </p:sp>
      <p:sp>
        <p:nvSpPr>
          <p:cNvPr id="7" name="Text 5"/>
          <p:cNvSpPr txBox="1"/>
          <p:nvPr/>
        </p:nvSpPr>
        <p:spPr>
          <a:xfrm>
            <a:off x="566928" y="3803904"/>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Whether the model reproduces the observed signal is binary and asymmetric. Affirmed, it confirms what is expected of a mature solver. Denied, it is blamed on the configuration.</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interrogates the instrument rather than the system, and has no constituency beyond modellers.</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It is now a section of the methods, where it belongs.</a:t>
            </a:r>
            <a:endParaRPr lang="en-US" sz="1200" dirty="0"/>
          </a:p>
        </p:txBody>
      </p:sp>
      <p:sp>
        <p:nvSpPr>
          <p:cNvPr id="8" name="Text 6"/>
          <p:cNvSpPr txBox="1"/>
          <p:nvPr/>
        </p:nvSpPr>
        <p:spPr>
          <a:xfrm>
            <a:off x="6355080" y="3456432"/>
            <a:ext cx="52120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What the prior work already settled</a:t>
            </a:r>
            <a:endParaRPr lang="en-US" sz="1400" dirty="0"/>
          </a:p>
        </p:txBody>
      </p:sp>
      <p:sp>
        <p:nvSpPr>
          <p:cNvPr id="9" name="Text 7"/>
          <p:cNvSpPr txBox="1"/>
          <p:nvPr/>
        </p:nvSpPr>
        <p:spPr>
          <a:xfrm>
            <a:off x="6355080" y="3803904"/>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Repeating that at Valletta in three dimensions would be incremental.</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The generation side is untouched, because the prior work imposes the wave rather than producing it. That is the open ground.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parametric sweep, not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That has been the largest standing risk.</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237744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Impose a moving pressure disturbance and vary its speed, direction, width and duration.</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237744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237744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Observations invert</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They cease to be the forcing and become the test: do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Why this matters beyond the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Climate change acts on the distribution of the forcing.
</a:t>
            </a:r>
            <a:endParaRPr lang="en-US" sz="1150" dirty="0"/>
          </a:p>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WHAT WE NEED FROM THE GROUP</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Six questions, and why each one matters</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 sea level record inside the Grand Harbour, and at what sampling interval?</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A spectrum would settle whether the basins carry energy near 17 minutes. The 0.2 to 2 cph band is observed at Mellieħa, on another coast, and the present analysis can only infer.</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full extent of prior work on the milgħuba, published or not?</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contribution rests on the generation side being open. That claim comes from a literature search, not from the authors, who are in this room.</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sampling interval of the PORTO sea level stations?</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seiche band is 0.2 to 2 cph. Coarser than one minute and the model loses its observational target in its own frequency range.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documented damage or disruption inside the commercial port?</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Flooding is documented at Msida and elsewhere. Mooring failure or interrupted operations would be held by Transport Malta and the terminals.</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levelling datum behind the bathymetry, and how does its zero relate to the tide gauges?</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and the data are orthometric. What remains is the offset against the gauges used for validation.</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Would the group regard the attribution question as a contribution, or as their own intention?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Better asked now than discovered later.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WHAT HAPPENS NEXT</a:t>
            </a:r>
            <a:endParaRPr lang="en-US" sz="1200" dirty="0"/>
          </a:p>
        </p:txBody>
      </p:sp>
      <p:sp>
        <p:nvSpPr>
          <p:cNvPr id="4" name="Text 2"/>
          <p:cNvSpPr txBox="1"/>
          <p:nvPr/>
        </p:nvSpPr>
        <p:spPr>
          <a:xfrm>
            <a:off x="566928" y="96012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Before the mesh is built</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September</a:t>
            </a:r>
            <a:endParaRPr lang="en-US" sz="1300" dirty="0"/>
          </a:p>
        </p:txBody>
      </p:sp>
      <p:sp>
        <p:nvSpPr>
          <p:cNvPr id="7" name="Text 5"/>
          <p:cNvSpPr txBox="1"/>
          <p:nvPr/>
        </p:nvSpPr>
        <p:spPr>
          <a:xfrm>
            <a:off x="3721608" y="1965960"/>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Seiche climatology from the Portomaso and PORTO archives. No model required.</a:t>
            </a:r>
            <a:endParaRPr lang="en-US" sz="1250" dirty="0"/>
          </a:p>
        </p:txBody>
      </p:sp>
      <p:sp>
        <p:nvSpPr>
          <p:cNvPr id="8" name="Shape 6"/>
          <p:cNvSpPr/>
          <p:nvPr/>
        </p:nvSpPr>
        <p:spPr>
          <a:xfrm>
            <a:off x="612648" y="2843784"/>
            <a:ext cx="155448" cy="155448"/>
          </a:xfrm>
          <a:prstGeom prst="ellipse">
            <a:avLst/>
          </a:prstGeom>
          <a:solidFill>
            <a:srgbClr val="EB6834"/>
          </a:solidFill>
          <a:ln/>
        </p:spPr>
      </p:sp>
      <p:sp>
        <p:nvSpPr>
          <p:cNvPr id="9" name="Text 7"/>
          <p:cNvSpPr txBox="1"/>
          <p:nvPr/>
        </p:nvSpPr>
        <p:spPr>
          <a:xfrm>
            <a:off x="978408" y="2752344"/>
            <a:ext cx="2651760" cy="301752"/>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0" name="Text 8"/>
          <p:cNvSpPr txBox="1"/>
          <p:nvPr/>
        </p:nvSpPr>
        <p:spPr>
          <a:xfrm>
            <a:off x="3721608" y="2752344"/>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Delft3D User Days abstract.</a:t>
            </a:r>
            <a:endParaRPr lang="en-US" sz="1250" dirty="0"/>
          </a:p>
        </p:txBody>
      </p:sp>
      <p:sp>
        <p:nvSpPr>
          <p:cNvPr id="11" name="Shape 9"/>
          <p:cNvSpPr/>
          <p:nvPr/>
        </p:nvSpPr>
        <p:spPr>
          <a:xfrm>
            <a:off x="612648" y="3630168"/>
            <a:ext cx="155448" cy="155448"/>
          </a:xfrm>
          <a:prstGeom prst="ellipse">
            <a:avLst/>
          </a:prstGeom>
          <a:solidFill>
            <a:srgbClr val="CADCFC"/>
          </a:solidFill>
          <a:ln/>
        </p:spPr>
      </p:sp>
      <p:sp>
        <p:nvSpPr>
          <p:cNvPr id="12" name="Text 10"/>
          <p:cNvSpPr txBox="1"/>
          <p:nvPr/>
        </p:nvSpPr>
        <p:spPr>
          <a:xfrm>
            <a:off x="978408" y="3538728"/>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Early October</a:t>
            </a:r>
            <a:endParaRPr lang="en-US" sz="1300" dirty="0"/>
          </a:p>
        </p:txBody>
      </p:sp>
      <p:sp>
        <p:nvSpPr>
          <p:cNvPr id="13" name="Text 11"/>
          <p:cNvSpPr txBox="1"/>
          <p:nvPr/>
        </p:nvSpPr>
        <p:spPr>
          <a:xfrm>
            <a:off x="3721608" y="3538728"/>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Merged bathymetry over the domain, gaps intersected with the coastline.</a:t>
            </a:r>
            <a:endParaRPr lang="en-US" sz="1250" dirty="0"/>
          </a:p>
        </p:txBody>
      </p:sp>
      <p:sp>
        <p:nvSpPr>
          <p:cNvPr id="14" name="Shape 12"/>
          <p:cNvSpPr/>
          <p:nvPr/>
        </p:nvSpPr>
        <p:spPr>
          <a:xfrm>
            <a:off x="612648" y="4416552"/>
            <a:ext cx="155448" cy="155448"/>
          </a:xfrm>
          <a:prstGeom prst="ellipse">
            <a:avLst/>
          </a:prstGeom>
          <a:solidFill>
            <a:srgbClr val="CADCFC"/>
          </a:solidFill>
          <a:ln/>
        </p:spPr>
      </p:sp>
      <p:sp>
        <p:nvSpPr>
          <p:cNvPr id="15" name="Text 13"/>
          <p:cNvSpPr txBox="1"/>
          <p:nvPr/>
        </p:nvSpPr>
        <p:spPr>
          <a:xfrm>
            <a:off x="978408" y="4325112"/>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721608" y="4325112"/>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Delft3D User Days at Deltares, with the four configuration questions.</a:t>
            </a:r>
            <a:endParaRPr lang="en-US" sz="1250" dirty="0"/>
          </a:p>
        </p:txBody>
      </p:sp>
      <p:sp>
        <p:nvSpPr>
          <p:cNvPr id="17" name="Shape 15"/>
          <p:cNvSpPr/>
          <p:nvPr/>
        </p:nvSpPr>
        <p:spPr>
          <a:xfrm>
            <a:off x="612648" y="5202936"/>
            <a:ext cx="155448" cy="155448"/>
          </a:xfrm>
          <a:prstGeom prst="ellipse">
            <a:avLst/>
          </a:prstGeom>
          <a:solidFill>
            <a:srgbClr val="CADCFC"/>
          </a:solidFill>
          <a:ln/>
        </p:spPr>
      </p:sp>
      <p:sp>
        <p:nvSpPr>
          <p:cNvPr id="18" name="Text 16"/>
          <p:cNvSpPr txBox="1"/>
          <p:nvPr/>
        </p:nvSpPr>
        <p:spPr>
          <a:xfrm>
            <a:off x="978408" y="5111496"/>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October to November</a:t>
            </a:r>
            <a:endParaRPr lang="en-US" sz="1300" dirty="0"/>
          </a:p>
        </p:txBody>
      </p:sp>
      <p:sp>
        <p:nvSpPr>
          <p:cNvPr id="19" name="Text 17"/>
          <p:cNvSpPr txBox="1"/>
          <p:nvPr/>
        </p:nvSpPr>
        <p:spPr>
          <a:xfrm>
            <a:off x="3721608" y="5111496"/>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Mesh, Riemann boundary verified by synthetic pulse, first runs.</a:t>
            </a:r>
            <a:endParaRPr lang="en-US" sz="1250" dirty="0"/>
          </a:p>
        </p:txBody>
      </p:sp>
      <p:sp>
        <p:nvSpPr>
          <p:cNvPr id="20" name="Text 18"/>
          <p:cNvSpPr txBox="1"/>
          <p:nvPr/>
        </p:nvSpPr>
        <p:spPr>
          <a:xfrm>
            <a:off x="566928" y="6144768"/>
            <a:ext cx="10058400" cy="274320"/>
          </a:xfrm>
          <a:prstGeom prst="rect">
            <a:avLst/>
          </a:prstGeom>
          <a:noFill/>
          <a:ln/>
        </p:spPr>
        <p:txBody>
          <a:bodyPr wrap="square" lIns="0" tIns="0" rIns="0" bIns="0" rtlCol="0" anchor="ctr"/>
          <a:lstStyle/>
          <a:p>
            <a:pPr indent="0" marL="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dc:title>
  <dc:subject>PptxGenJS Presentation</dc:subject>
  <dc:creator>Cicero Martins Jr</dc:creator>
  <cp:lastModifiedBy>Cicero Martins Jr</cp:lastModifiedBy>
  <cp:revision>1</cp:revision>
  <dcterms:created xsi:type="dcterms:W3CDTF">2026-09-25T08:05:33Z</dcterms:created>
  <dcterms:modified xsi:type="dcterms:W3CDTF">2026-09-25T08:05:33Z</dcterms:modified>
</cp:coreProperties>
</file>